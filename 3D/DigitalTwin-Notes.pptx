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0" r:id="rId4"/>
    <p:sldId id="266" r:id="rId5"/>
    <p:sldId id="263" r:id="rId6"/>
    <p:sldId id="261" r:id="rId7"/>
    <p:sldId id="262" r:id="rId8"/>
    <p:sldId id="264" r:id="rId9"/>
    <p:sldId id="272" r:id="rId10"/>
    <p:sldId id="265" r:id="rId11"/>
    <p:sldId id="273" r:id="rId12"/>
    <p:sldId id="276" r:id="rId13"/>
    <p:sldId id="275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49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1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0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9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image" Target="file:///C:\Users\1V994W2\PycharmProjects\PPT_Background_Generation/pic_temp/pic_half_lef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7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5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2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4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1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97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6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5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6.png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126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7.png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497959" y="2269779"/>
            <a:ext cx="4783725" cy="1437323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515781" y="3770646"/>
            <a:ext cx="4783725" cy="56261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4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3889058" y="3153093"/>
            <a:ext cx="4414520" cy="1167765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accent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920684" y="4364036"/>
            <a:ext cx="6350635" cy="1340077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1397000"/>
            <a:ext cx="3612445" cy="4064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988042" y="3831771"/>
            <a:ext cx="4472976" cy="50800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888982" y="2555240"/>
            <a:ext cx="4572036" cy="1172210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99012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99012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526982" y="0"/>
            <a:ext cx="665018" cy="914400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1620202" cy="222777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0571797" y="0"/>
            <a:ext cx="1620202" cy="222863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2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46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145.xml"/><Relationship Id="rId3" Type="http://schemas.openxmlformats.org/officeDocument/2006/relationships/image" Target="file:///C:\Users\1V994W2\PycharmProjects\PPT_Background_Generation/pic_temp/0_pic_quater_right_up.png" TargetMode="External"/><Relationship Id="rId2" Type="http://schemas.openxmlformats.org/officeDocument/2006/relationships/image" Target="../media/image2.png"/><Relationship Id="rId1" Type="http://schemas.openxmlformats.org/officeDocument/2006/relationships/tags" Target="../tags/tag1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1" Type="http://schemas.openxmlformats.org/officeDocument/2006/relationships/tags" Target="../tags/tag14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>
                <a:solidFill>
                  <a:schemeClr val="accent1">
                    <a:lumMod val="75000"/>
                  </a:schemeClr>
                </a:solidFill>
              </a:rPr>
              <a:t>Digital Twin Notes</a:t>
            </a:r>
            <a:endParaRPr lang="en-US" altLang="zh-CN" sz="5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2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400">
                <a:solidFill>
                  <a:schemeClr val="dk1">
                    <a:lumMod val="85000"/>
                    <a:lumOff val="15000"/>
                  </a:schemeClr>
                </a:solidFill>
              </a:rPr>
              <a:t>Last Updated：2/20/2024</a:t>
            </a:r>
            <a:endParaRPr lang="en-US" altLang="zh-CN" sz="240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https://www2.deloitte.com/us/en/insights/focus/industry-4-0/digital-twin-technology-smart-factory.html</a:t>
            </a:r>
            <a:endParaRPr lang="zh-CN" altLang="en-US"/>
          </a:p>
          <a:p>
            <a:r>
              <a:rPr lang="zh-CN" altLang="en-US"/>
              <a:t>https://www.digitaltwinconsortium.org/2023/11/understanding-dtcs-digital-twin-platform-stack-architectural-framework/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Overview 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5506720" cy="5388610"/>
          </a:xfrm>
        </p:spPr>
        <p:txBody>
          <a:bodyPr/>
          <a:p>
            <a:r>
              <a:rPr lang="en-US" altLang="zh-CN"/>
              <a:t>Definition</a:t>
            </a:r>
            <a:endParaRPr lang="en-US" altLang="zh-CN"/>
          </a:p>
          <a:p>
            <a:pPr lvl="1"/>
            <a:r>
              <a:rPr lang="en-US" altLang="zh-CN"/>
              <a:t>A digital twin can be defined, fundamentally, as an evolving digital profile of the historical and current behavior of a physical object or process that helps optimize business performance.</a:t>
            </a:r>
            <a:endParaRPr lang="en-US" altLang="zh-CN"/>
          </a:p>
          <a:p>
            <a:r>
              <a:rPr lang="en-US" altLang="zh-CN"/>
              <a:t>Benefit</a:t>
            </a:r>
            <a:endParaRPr lang="en-US" altLang="zh-CN"/>
          </a:p>
          <a:p>
            <a:pPr lvl="1"/>
            <a:r>
              <a:rPr lang="en-US" altLang="zh-CN"/>
              <a:t>it can provide a near-real-time comprehensive linkage between the physical and digital worlds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76645" y="443230"/>
            <a:ext cx="5836920" cy="1798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405" y="2242820"/>
            <a:ext cx="4471670" cy="46151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Overview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5425440" cy="5388610"/>
          </a:xfrm>
        </p:spPr>
        <p:txBody>
          <a:bodyPr>
            <a:normAutofit lnSpcReduction="10000"/>
          </a:bodyPr>
          <a:p>
            <a:r>
              <a:rPr lang="en-US" altLang="zh-CN"/>
              <a:t>Considerations</a:t>
            </a:r>
            <a:endParaRPr lang="en-US" altLang="zh-CN"/>
          </a:p>
          <a:p>
            <a:pPr lvl="1"/>
            <a:r>
              <a:rPr lang="en-US" altLang="zh-CN" sz="1400"/>
              <a:t>Availability and integration of live data from physical systems;</a:t>
            </a:r>
            <a:endParaRPr lang="en-US" altLang="zh-CN" sz="1400"/>
          </a:p>
          <a:p>
            <a:pPr lvl="1"/>
            <a:r>
              <a:rPr lang="en-US" altLang="zh-CN" sz="1400"/>
              <a:t>Flexibility in distributed definition and operation of applications and services;</a:t>
            </a:r>
            <a:endParaRPr lang="en-US" altLang="zh-CN" sz="1400"/>
          </a:p>
          <a:p>
            <a:pPr lvl="1"/>
            <a:r>
              <a:rPr lang="en-US" altLang="zh-CN" sz="1400"/>
              <a:t>Generic capabilities for communication and coordination;</a:t>
            </a:r>
            <a:endParaRPr lang="en-US" altLang="zh-CN" sz="1400"/>
          </a:p>
          <a:p>
            <a:pPr lvl="1"/>
            <a:r>
              <a:rPr lang="en-US" altLang="zh-CN" sz="1400"/>
              <a:t>Modularity and extensibility.</a:t>
            </a:r>
            <a:endParaRPr lang="en-US" altLang="zh-CN" sz="1400"/>
          </a:p>
          <a:p>
            <a:pPr lvl="0"/>
            <a:r>
              <a:rPr lang="en-US" altLang="zh-CN" sz="1400"/>
              <a:t>Enabling Technologies</a:t>
            </a:r>
            <a:endParaRPr lang="en-US" altLang="zh-CN" sz="1400"/>
          </a:p>
          <a:p>
            <a:pPr lvl="1"/>
            <a:r>
              <a:rPr lang="en-US" altLang="zh-CN" sz="1400"/>
              <a:t>Data acquisition: SCADA/PMU</a:t>
            </a:r>
            <a:endParaRPr lang="en-US" altLang="zh-CN" sz="1400"/>
          </a:p>
          <a:p>
            <a:pPr lvl="1"/>
            <a:r>
              <a:rPr lang="en-US" altLang="zh-CN" sz="1400"/>
              <a:t>Modeling: system identification, model reduction</a:t>
            </a:r>
            <a:endParaRPr lang="en-US" altLang="zh-CN" sz="1400"/>
          </a:p>
          <a:p>
            <a:pPr lvl="1"/>
            <a:r>
              <a:rPr lang="en-US" altLang="zh-CN" sz="1400"/>
              <a:t>Communication</a:t>
            </a:r>
            <a:endParaRPr lang="en-US" altLang="zh-CN" sz="1400"/>
          </a:p>
          <a:p>
            <a:pPr lvl="1"/>
            <a:r>
              <a:rPr lang="en-US" altLang="zh-CN" sz="1400"/>
              <a:t>Computing: cloud computing, edge computing</a:t>
            </a:r>
            <a:endParaRPr lang="en-US" altLang="zh-CN" sz="1400"/>
          </a:p>
          <a:p>
            <a:pPr lvl="1"/>
            <a:r>
              <a:rPr lang="en-US" altLang="zh-CN" sz="1400"/>
              <a:t>Data analysis: machine learning</a:t>
            </a:r>
            <a:endParaRPr lang="en-US" altLang="zh-CN" sz="1400"/>
          </a:p>
          <a:p>
            <a:pPr lvl="1"/>
            <a:endParaRPr lang="en-US" altLang="zh-CN" sz="1400"/>
          </a:p>
        </p:txBody>
      </p:sp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2" r:link="rId3" cstate="email"/>
          <a:stretch>
            <a:fillRect/>
          </a:stretch>
        </p:blipFill>
        <p:spPr>
          <a:xfrm>
            <a:off x="11471910" y="0"/>
            <a:ext cx="720090" cy="99012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4"/>
            </p:custDataLst>
          </p:nvPr>
        </p:nvPicPr>
        <p:blipFill>
          <a:blip r:embed="rId5" r:link="rId6" cstate="email"/>
          <a:stretch>
            <a:fillRect/>
          </a:stretch>
        </p:blipFill>
        <p:spPr>
          <a:xfrm>
            <a:off x="0" y="5867497"/>
            <a:ext cx="720090" cy="990504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Architecture 1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1350010"/>
            <a:ext cx="819150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Architecture 2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270" y="973455"/>
            <a:ext cx="6318250" cy="5484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Architecture 3</a:t>
            </a:r>
            <a:endParaRPr lang="en-US" altLang="zh-CN"/>
          </a:p>
        </p:txBody>
      </p:sp>
      <p:pic>
        <p:nvPicPr>
          <p:cNvPr id="105" name="图片 10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86890" y="902335"/>
            <a:ext cx="8995410" cy="5103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421130" y="6090920"/>
            <a:ext cx="9530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Source: </a:t>
            </a:r>
            <a:r>
              <a:rPr lang="zh-CN" altLang="en-US"/>
              <a:t>https://www.digitaltwinconsortium.org/2023/11/understanding-dtcs-digital-twin-platform-stack-architectural-framework/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Business Values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53945" y="952500"/>
            <a:ext cx="7483475" cy="53886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Frameworks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31520" y="1173480"/>
          <a:ext cx="108889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660"/>
                <a:gridCol w="3548380"/>
                <a:gridCol w="4472940"/>
              </a:tblGrid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/>
                        <a:t>Name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Author/Organization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Link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 anchor="ctr" anchorCtr="0"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Eclipse Ditto  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Eclipse Foundation &amp; Bosch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https://www.eclipse.org/ditto/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Equinox Murat Artim 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https://github.com/muratartim/Equinox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AASX Package Explorer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Industrial Digital Twin Association (IDTA) 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https://github.com/admin-shell-io/aasx_x0002_package-explorer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PYI40AAS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RWTH Aachen 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https://git.rwth-aachen.de/acplt/pyi40aas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SAP I4.0 AAS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SAP 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https://github.com/SAP/i40-aas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Eclipse Basyx  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Eclipse / Bosch / Fraunhofer Institute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https://projects.eclipse.org/projects/technology.basyx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NOVA AAS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NOVA School of Science and Technology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(NOVA University Lisbon)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https://gitlab.com/gidouninova/novaas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CPS-Twinning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SBA Research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https://github.com/sbaresearch/cps-twinning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Twined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Octue Ltd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https://github.com/octue/twined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Azure Digital Twins Definition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Language (DTDL)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Microsoft Azure 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https://github.com/Azure/opendigitaltwins_x0002_dtdl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iTwin.js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Bentley Systems, Incorporated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https://www.itwinjs.org/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Digital Twin Cities Centre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Platform (DTCC)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Chalmers University of Technology 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https://gitlab.com/dtcc-platform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TerriaJS (NSW Digital Twin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implementation)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New South Wales State, Australia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https://nsw.digitaltwin.terria.io/about.html</a:t>
                      </a:r>
                      <a:endParaRPr lang="zh-CN" altLang="en-US" sz="1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https://github.com/TerriaJS/terriajs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INTO-CPS Co-simulation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Framework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INTO-CPS Association 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https://into-cps-association.readthedocs.io/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en/latest/</a:t>
                      </a: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成熟度模型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等级</a:t>
            </a:r>
            <a:endParaRPr lang="zh-CN" altLang="en-US"/>
          </a:p>
          <a:p>
            <a:pPr lvl="1"/>
            <a:r>
              <a:rPr lang="en-US" altLang="zh-CN"/>
              <a:t>L0</a:t>
            </a:r>
            <a:r>
              <a:t>：以虚仿实</a:t>
            </a:r>
          </a:p>
          <a:p>
            <a:pPr lvl="1"/>
            <a:r>
              <a:rPr lang="en-US" altLang="zh-CN"/>
              <a:t>L1</a:t>
            </a:r>
            <a:r>
              <a:t>：以虚映实</a:t>
            </a:r>
          </a:p>
          <a:p>
            <a:pPr lvl="2"/>
            <a:r>
              <a:t>单向映射（实</a:t>
            </a:r>
            <a:r>
              <a:rPr lang="en-US" altLang="zh-CN"/>
              <a:t>-</a:t>
            </a:r>
            <a:r>
              <a:t>》虚）、动态可视</a:t>
            </a:r>
          </a:p>
          <a:p>
            <a:pPr lvl="1"/>
            <a:r>
              <a:rPr lang="en-US" altLang="zh-CN"/>
              <a:t>L2</a:t>
            </a:r>
            <a:r>
              <a:t>：以虚控实</a:t>
            </a:r>
          </a:p>
          <a:p>
            <a:pPr lvl="2"/>
            <a:r>
              <a:t>双向交互、闭环迭代</a:t>
            </a:r>
          </a:p>
          <a:p>
            <a:pPr lvl="1"/>
            <a:r>
              <a:rPr lang="en-US" altLang="zh-CN"/>
              <a:t>L3</a:t>
            </a:r>
            <a:r>
              <a:t>：以虚预实</a:t>
            </a:r>
          </a:p>
          <a:p>
            <a:pPr lvl="2"/>
            <a:r>
              <a:t>时效分析、孪生预演</a:t>
            </a:r>
          </a:p>
          <a:p>
            <a:pPr lvl="1"/>
            <a:r>
              <a:rPr lang="en-US" altLang="zh-CN"/>
              <a:t>L4</a:t>
            </a:r>
            <a:r>
              <a:t>：以虚优实</a:t>
            </a:r>
          </a:p>
          <a:p>
            <a:pPr lvl="2"/>
            <a:r>
              <a:t>决策优化、智能管控</a:t>
            </a:r>
          </a:p>
          <a:p>
            <a:pPr lvl="1"/>
            <a:r>
              <a:rPr lang="en-US" altLang="zh-CN"/>
              <a:t>L5</a:t>
            </a:r>
            <a:r>
              <a:t>：虚实共生</a:t>
            </a:r>
          </a:p>
          <a:p>
            <a:pPr lvl="2"/>
            <a:r>
              <a:t>动态重构、自主孪生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Demos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https://stevenfeng.cn/threejs-demo/</a:t>
            </a:r>
            <a:endParaRPr lang="zh-CN" altLang="en-US"/>
          </a:p>
          <a:p>
            <a:pPr lvl="1"/>
            <a:r>
              <a:rPr lang="en-US" altLang="zh-CN"/>
              <a:t>three.js</a:t>
            </a:r>
            <a:endParaRPr lang="zh-CN" altLang="en-US"/>
          </a:p>
          <a:p>
            <a:r>
              <a:rPr lang="zh-CN" altLang="en-US"/>
              <a:t>https://www.sovitjs.com/demo_3d.html</a:t>
            </a:r>
            <a:endParaRPr lang="zh-CN" altLang="en-US"/>
          </a:p>
          <a:p>
            <a:pPr lvl="1"/>
            <a:r>
              <a:t>低代码平台</a:t>
            </a:r>
          </a:p>
          <a:p>
            <a:pPr lvl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</p:tagLst>
</file>

<file path=ppt/tags/tag7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80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2"/>
</p:tagLst>
</file>

<file path=ppt/tags/tag81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88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9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9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10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10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114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125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2"/>
</p:tagLst>
</file>

<file path=ppt/tags/tag126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7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73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573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18、19、20、22、25、28、33、37、39、40、4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UNIT_PRESET_TEXT" val="商业发布会"/>
  <p:tag name="KSO_WM_TEMPLATE_CATEGORY" val="custom"/>
  <p:tag name="KSO_WM_TEMPLATE_INDEX" val="20204573"/>
  <p:tag name="KSO_WM_UNIT_ID" val="custom20204573_1*a*1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"/>
  <p:tag name="KSO_WM_TEMPLATE_CATEGORY" val="custom"/>
  <p:tag name="KSO_WM_TEMPLATE_INDEX" val="20204573"/>
  <p:tag name="KSO_WM_UNIT_ID" val="custom20204573_1*b*1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40.xml><?xml version="1.0" encoding="utf-8"?>
<p:tagLst xmlns:p="http://schemas.openxmlformats.org/presentationml/2006/main">
  <p:tag name="KSO_WM_TEMPLATE_THUMBS_INDEX" val="1、4、7、9、12、16、18、19、20、22、25、28、33、37、39、40、41"/>
  <p:tag name="KSO_WM_TEMPLATE_CATEGORY" val="custom"/>
  <p:tag name="KSO_WM_TEMPLATE_INDEX" val="20204573"/>
  <p:tag name="KSO_WM_TAG_VERSION" val="1.0"/>
  <p:tag name="KSO_WM_SLIDE_ID" val="custom20204573_1"/>
  <p:tag name="KSO_WM_SLIDE_INDEX" val="1"/>
  <p:tag name="KSO_WM_SLIDE_ITEM_CNT" val="0"/>
  <p:tag name="KSO_WM_SLIDE_LAYOUT" val="a_b"/>
  <p:tag name="KSO_WM_SLIDE_LAYOUT_CNT" val="1_1"/>
  <p:tag name="KSO_WM_SLIDE_TYPE" val="title"/>
  <p:tag name="KSO_WM_BEAUTIFY_FLAG" val="#wm#"/>
  <p:tag name="KSO_WM_TEMPLATE_SUBCATEGORY" val="0"/>
  <p:tag name="KSO_WM_TEMPLATE_MASTER_TYPE" val="1"/>
  <p:tag name="KSO_WM_TEMPLATE_COLOR_TYPE" val="1"/>
  <p:tag name="KSO_WM_SLIDE_SUBTYPE" val="pureTxt"/>
  <p:tag name="KSO_WM_TEMPLATE_MASTER_THUMB_INDEX" val="12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4573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4573"/>
</p:tagLst>
</file>

<file path=ppt/tags/tag14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  <p:tag name="KSO_WM_UNIT_TYPE" val="i"/>
</p:tagLst>
</file>

<file path=ppt/tags/tag14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  <p:tag name="KSO_WM_UNIT_TYPE" val="i"/>
</p:tagLst>
</file>

<file path=ppt/tags/tag14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TABLE_ENDDRAG_ORIGIN_RECT" val="857*314"/>
  <p:tag name="TABLE_ENDDRAG_RECT" val="57*92*857*314"/>
</p:tagLst>
</file>

<file path=ppt/tags/tag149.xml><?xml version="1.0" encoding="utf-8"?>
<p:tagLst xmlns:p="http://schemas.openxmlformats.org/presentationml/2006/main">
  <p:tag name="commondata" val="eyJoZGlkIjoiYjRhZjQ5NWVmZmQxNmM3NmNkNDYxNWRmNzNmMjA1Z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DCEEF9"/>
      </a:dk2>
      <a:lt2>
        <a:srgbClr val="FFFFFF"/>
      </a:lt2>
      <a:accent1>
        <a:srgbClr val="59C1ED"/>
      </a:accent1>
      <a:accent2>
        <a:srgbClr val="79ACED"/>
      </a:accent2>
      <a:accent3>
        <a:srgbClr val="9695E6"/>
      </a:accent3>
      <a:accent4>
        <a:srgbClr val="E77BC3"/>
      </a:accent4>
      <a:accent5>
        <a:srgbClr val="FF8D61"/>
      </a:accent5>
      <a:accent6>
        <a:srgbClr val="BDD12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2648</Words>
  <Application>WPS 演示</Application>
  <PresentationFormat>宽屏</PresentationFormat>
  <Paragraphs>163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汉仪旗黑-85S</vt:lpstr>
      <vt:lpstr>黑体</vt:lpstr>
      <vt:lpstr>Arial Unicode MS</vt:lpstr>
      <vt:lpstr>Calibri</vt:lpstr>
      <vt:lpstr>WPS</vt:lpstr>
      <vt:lpstr>1_Office 主题​​</vt:lpstr>
      <vt:lpstr>Digital Twin Notes</vt:lpstr>
      <vt:lpstr>References</vt:lpstr>
      <vt:lpstr>Overview 1</vt:lpstr>
      <vt:lpstr>Overview 2</vt:lpstr>
      <vt:lpstr>Architecture 1</vt:lpstr>
      <vt:lpstr>Architecture 2</vt:lpstr>
      <vt:lpstr>Architecture 3</vt:lpstr>
      <vt:lpstr>Business Values</vt:lpstr>
      <vt:lpstr>Frameworks</vt:lpstr>
      <vt:lpstr>PowerPoint 演示文稿</vt:lpstr>
      <vt:lpstr>Demos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Sparks Lu</dc:creator>
  <cp:lastModifiedBy>VhuanTech</cp:lastModifiedBy>
  <cp:revision>48</cp:revision>
  <dcterms:created xsi:type="dcterms:W3CDTF">2023-08-09T12:44:00Z</dcterms:created>
  <dcterms:modified xsi:type="dcterms:W3CDTF">2024-03-07T06:02:12Z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2052-12.1.0.16250</vt:lpwstr>
  </property>
</Properties>
</file>