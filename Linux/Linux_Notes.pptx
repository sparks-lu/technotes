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5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71"/>
  </p:handoutMasterIdLst>
  <p:sldIdLst>
    <p:sldId id="256" r:id="rId3"/>
    <p:sldId id="329" r:id="rId5"/>
    <p:sldId id="641" r:id="rId6"/>
    <p:sldId id="642" r:id="rId7"/>
    <p:sldId id="271" r:id="rId8"/>
    <p:sldId id="570" r:id="rId9"/>
    <p:sldId id="571" r:id="rId10"/>
    <p:sldId id="572" r:id="rId11"/>
    <p:sldId id="573" r:id="rId12"/>
    <p:sldId id="574" r:id="rId13"/>
    <p:sldId id="629" r:id="rId14"/>
    <p:sldId id="575" r:id="rId15"/>
    <p:sldId id="636" r:id="rId16"/>
    <p:sldId id="576" r:id="rId17"/>
    <p:sldId id="587" r:id="rId18"/>
    <p:sldId id="577" r:id="rId19"/>
    <p:sldId id="578" r:id="rId20"/>
    <p:sldId id="637" r:id="rId21"/>
    <p:sldId id="579" r:id="rId22"/>
    <p:sldId id="580" r:id="rId23"/>
    <p:sldId id="581" r:id="rId24"/>
    <p:sldId id="582" r:id="rId25"/>
    <p:sldId id="583" r:id="rId26"/>
    <p:sldId id="584" r:id="rId27"/>
    <p:sldId id="585" r:id="rId28"/>
    <p:sldId id="586" r:id="rId29"/>
    <p:sldId id="635" r:id="rId30"/>
    <p:sldId id="567" r:id="rId31"/>
    <p:sldId id="257" r:id="rId32"/>
    <p:sldId id="258" r:id="rId33"/>
    <p:sldId id="287" r:id="rId34"/>
    <p:sldId id="626" r:id="rId35"/>
    <p:sldId id="259" r:id="rId36"/>
    <p:sldId id="302" r:id="rId37"/>
    <p:sldId id="568" r:id="rId38"/>
    <p:sldId id="451" r:id="rId39"/>
    <p:sldId id="632" r:id="rId40"/>
    <p:sldId id="633" r:id="rId41"/>
    <p:sldId id="450" r:id="rId42"/>
    <p:sldId id="634" r:id="rId43"/>
    <p:sldId id="631" r:id="rId44"/>
    <p:sldId id="630" r:id="rId45"/>
    <p:sldId id="569" r:id="rId46"/>
    <p:sldId id="541" r:id="rId47"/>
    <p:sldId id="455" r:id="rId48"/>
    <p:sldId id="474" r:id="rId49"/>
    <p:sldId id="475" r:id="rId50"/>
    <p:sldId id="476" r:id="rId51"/>
    <p:sldId id="508" r:id="rId52"/>
    <p:sldId id="628" r:id="rId53"/>
    <p:sldId id="449" r:id="rId54"/>
    <p:sldId id="372" r:id="rId55"/>
    <p:sldId id="643" r:id="rId56"/>
    <p:sldId id="268" r:id="rId57"/>
    <p:sldId id="266" r:id="rId58"/>
    <p:sldId id="322" r:id="rId59"/>
    <p:sldId id="360" r:id="rId60"/>
    <p:sldId id="638" r:id="rId61"/>
    <p:sldId id="394" r:id="rId62"/>
    <p:sldId id="351" r:id="rId63"/>
    <p:sldId id="316" r:id="rId64"/>
    <p:sldId id="424" r:id="rId65"/>
    <p:sldId id="627" r:id="rId66"/>
    <p:sldId id="639" r:id="rId67"/>
    <p:sldId id="640" r:id="rId68"/>
    <p:sldId id="267" r:id="rId69"/>
    <p:sldId id="407" r:id="rId70"/>
  </p:sldIdLst>
  <p:sldSz cx="12192000" cy="6858000"/>
  <p:notesSz cx="6858000" cy="9144000"/>
  <p:custDataLst>
    <p:tags r:id="rId7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F0F0F0"/>
    <a:srgbClr val="E6E6E6"/>
    <a:srgbClr val="C8C8C8"/>
    <a:srgbClr val="FFFFFF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654" y="54"/>
      </p:cViewPr>
      <p:guideLst>
        <p:guide orient="horz" pos="2196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5" Type="http://schemas.openxmlformats.org/officeDocument/2006/relationships/tags" Target="tags/tag88.xml"/><Relationship Id="rId74" Type="http://schemas.openxmlformats.org/officeDocument/2006/relationships/tableStyles" Target="tableStyles.xml"/><Relationship Id="rId73" Type="http://schemas.openxmlformats.org/officeDocument/2006/relationships/viewProps" Target="viewProps.xml"/><Relationship Id="rId72" Type="http://schemas.openxmlformats.org/officeDocument/2006/relationships/presProps" Target="presProps.xml"/><Relationship Id="rId71" Type="http://schemas.openxmlformats.org/officeDocument/2006/relationships/handoutMaster" Target="handoutMasters/handoutMaster1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8.xml"/><Relationship Id="rId5" Type="http://schemas.openxmlformats.org/officeDocument/2006/relationships/slide" Target="slide51.xml"/><Relationship Id="rId4" Type="http://schemas.openxmlformats.org/officeDocument/2006/relationships/slide" Target="slide43.xml"/><Relationship Id="rId3" Type="http://schemas.openxmlformats.org/officeDocument/2006/relationships/slide" Target="slide35.xml"/><Relationship Id="rId2" Type="http://schemas.openxmlformats.org/officeDocument/2006/relationships/slide" Target="slide28.xml"/><Relationship Id="rId1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6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image" Target="../media/image5.webp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33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.xml"/><Relationship Id="rId1" Type="http://schemas.openxmlformats.org/officeDocument/2006/relationships/tags" Target="../tags/tag3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9.xml"/><Relationship Id="rId1" Type="http://schemas.openxmlformats.org/officeDocument/2006/relationships/tags" Target="../tags/tag3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1.xml"/><Relationship Id="rId1" Type="http://schemas.openxmlformats.org/officeDocument/2006/relationships/tags" Target="../tags/tag4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3.xml"/><Relationship Id="rId1" Type="http://schemas.openxmlformats.org/officeDocument/2006/relationships/tags" Target="../tags/tag4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4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8.xml"/><Relationship Id="rId1" Type="http://schemas.openxmlformats.org/officeDocument/2006/relationships/tags" Target="../tags/tag4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50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5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7.xml"/><Relationship Id="rId1" Type="http://schemas.openxmlformats.org/officeDocument/2006/relationships/tags" Target="../tags/tag5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4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0.xml"/><Relationship Id="rId2" Type="http://schemas.openxmlformats.org/officeDocument/2006/relationships/image" Target="../media/image10.jpeg"/><Relationship Id="rId1" Type="http://schemas.openxmlformats.org/officeDocument/2006/relationships/tags" Target="../tags/tag5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2.xml"/><Relationship Id="rId1" Type="http://schemas.openxmlformats.org/officeDocument/2006/relationships/tags" Target="../tags/tag6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tags" Target="../tags/tag6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1.xml"/><Relationship Id="rId1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7.xml"/><Relationship Id="rId1" Type="http://schemas.openxmlformats.org/officeDocument/2006/relationships/tags" Target="../tags/tag7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/Relationships>
</file>

<file path=ppt/slides/_rels/slide6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0.xml"/><Relationship Id="rId2" Type="http://schemas.openxmlformats.org/officeDocument/2006/relationships/image" Target="../media/image13.svg"/><Relationship Id="rId1" Type="http://schemas.openxmlformats.org/officeDocument/2006/relationships/image" Target="../media/image1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4.xml"/><Relationship Id="rId1" Type="http://schemas.openxmlformats.org/officeDocument/2006/relationships/image" Target="../media/image14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zh-CN"/>
              <a:t>Linux Notes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299075"/>
            <a:ext cx="9144000" cy="688975"/>
          </a:xfrm>
        </p:spPr>
        <p:txBody>
          <a:bodyPr>
            <a:normAutofit fontScale="65000"/>
          </a:bodyPr>
          <a:lstStyle/>
          <a:p>
            <a:r>
              <a:rPr lang="en-US" altLang="zh-CN"/>
              <a:t>Sparks Lu</a:t>
            </a:r>
            <a:endParaRPr lang="en-US" altLang="zh-CN"/>
          </a:p>
          <a:p>
            <a:r>
              <a:rPr lang="en-US" altLang="zh-CN"/>
              <a:t>Last updated: 3/15/2022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History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10/10/2021</a:t>
            </a:r>
            <a:endParaRPr lang="en-US" altLang="zh-CN"/>
          </a:p>
          <a:p>
            <a:pPr lvl="1"/>
            <a:r>
              <a:rPr lang="en-US" altLang="zh-CN"/>
              <a:t>Added network monitoring commands</a:t>
            </a:r>
            <a:endParaRPr lang="en-US" altLang="zh-CN"/>
          </a:p>
          <a:p>
            <a:pPr lvl="0"/>
            <a:r>
              <a:rPr lang="en-US" altLang="zh-CN"/>
              <a:t>10/18/2021</a:t>
            </a:r>
            <a:endParaRPr lang="en-US" altLang="zh-CN"/>
          </a:p>
          <a:p>
            <a:pPr lvl="1"/>
            <a:r>
              <a:rPr lang="en-US" altLang="zh-CN"/>
              <a:t>Added slide for “git stash”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Contents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>
                <a:hlinkClick r:id="rId1" tooltip="" action="ppaction://hlinksldjump"/>
              </a:rPr>
              <a:t>Basic</a:t>
            </a:r>
            <a:endParaRPr lang="en-US" altLang="zh-CN"/>
          </a:p>
          <a:p>
            <a:r>
              <a:rPr lang="en-US" altLang="zh-CN">
                <a:hlinkClick r:id="rId2" tooltip="" action="ppaction://hlinksldjump"/>
              </a:rPr>
              <a:t>Bash</a:t>
            </a:r>
            <a:endParaRPr lang="en-US" altLang="zh-CN"/>
          </a:p>
          <a:p>
            <a:r>
              <a:rPr lang="en-US" altLang="zh-CN">
                <a:hlinkClick r:id="rId3" tooltip="" action="ppaction://hlinksldjump"/>
              </a:rPr>
              <a:t>Vim</a:t>
            </a:r>
            <a:endParaRPr lang="en-US" altLang="zh-CN"/>
          </a:p>
          <a:p>
            <a:r>
              <a:rPr lang="en-US" altLang="zh-CN">
                <a:hlinkClick r:id="rId4" tooltip="" action="ppaction://hlinksldjump"/>
              </a:rPr>
              <a:t>Image Utilities</a:t>
            </a:r>
            <a:endParaRPr lang="en-US" altLang="zh-CN"/>
          </a:p>
          <a:p>
            <a:r>
              <a:rPr lang="en-US" altLang="zh-CN">
                <a:hlinkClick r:id="rId5" tooltip="" action="ppaction://hlinksldjump"/>
              </a:rPr>
              <a:t>Git</a:t>
            </a:r>
            <a:endParaRPr lang="en-US" altLang="zh-CN"/>
          </a:p>
        </p:txBody>
      </p:sp>
    </p:spTree>
    <p:custDataLst>
      <p:tags r:id="rId6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Basic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Chinese Fonts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en-US" altLang="zh-CN"/>
              <a:t>Install</a:t>
            </a:r>
            <a:endParaRPr lang="en-US" altLang="zh-CN"/>
          </a:p>
          <a:p>
            <a:pPr lvl="1"/>
            <a:r>
              <a:rPr lang="en-US" altLang="zh-CN"/>
              <a:t>sudo apt-get install ttf-wqy-microhei  #文泉驿-微米黑</a:t>
            </a:r>
            <a:endParaRPr lang="en-US" altLang="zh-CN"/>
          </a:p>
          <a:p>
            <a:pPr lvl="1"/>
            <a:r>
              <a:rPr lang="en-US" altLang="zh-CN"/>
              <a:t>sudo apt-get install ttf-wqy-zenhei  #文泉驿-正黑</a:t>
            </a:r>
            <a:endParaRPr lang="en-US" altLang="zh-CN"/>
          </a:p>
          <a:p>
            <a:pPr lvl="1"/>
            <a:r>
              <a:rPr lang="en-US" altLang="zh-CN"/>
              <a:t>sudo apt-get install xfonts-wqy #文泉驿-点阵宋体</a:t>
            </a:r>
            <a:endParaRPr lang="en-US" altLang="zh-CN"/>
          </a:p>
          <a:p>
            <a:pPr lvl="1"/>
            <a:r>
              <a:rPr lang="en-US" altLang="zh-CN"/>
              <a:t>fc-cache -fv	# </a:t>
            </a:r>
            <a:r>
              <a:rPr lang="zh-CN" altLang="en-US"/>
              <a:t>刷新字体缓存</a:t>
            </a:r>
            <a:endParaRPr lang="en-US" altLang="zh-CN"/>
          </a:p>
          <a:p>
            <a:pPr lvl="0"/>
            <a:r>
              <a:rPr lang="en-US" altLang="zh-CN"/>
              <a:t>List Installed Fonts</a:t>
            </a:r>
            <a:endParaRPr lang="en-US" altLang="zh-CN"/>
          </a:p>
          <a:p>
            <a:pPr lvl="1"/>
            <a:r>
              <a:rPr lang="en-US" altLang="zh-CN"/>
              <a:t>fc-list</a:t>
            </a:r>
            <a:endParaRPr lang="en-US" altLang="zh-CN"/>
          </a:p>
          <a:p>
            <a:pPr lvl="1"/>
            <a:r>
              <a:rPr lang="en-US" altLang="zh-CN"/>
              <a:t>fc-list -v</a:t>
            </a:r>
            <a:endParaRPr lang="en-US" altLang="zh-CN"/>
          </a:p>
          <a:p>
            <a:pPr lvl="1"/>
            <a:r>
              <a:rPr lang="en-US" altLang="zh-CN"/>
              <a:t>fc-list :lang=zh {file/family} 	# list Chinese fonts</a:t>
            </a:r>
            <a:endParaRPr lang="en-US" altLang="zh-CN"/>
          </a:p>
          <a:p>
            <a:pPr lvl="2"/>
            <a:r>
              <a:rPr lang="en-US" altLang="zh-CN"/>
              <a:t>font_file_path: font_family_names:style=style_names</a:t>
            </a:r>
            <a:endParaRPr lang="en-US" altLang="zh-CN"/>
          </a:p>
          <a:p>
            <a:pPr lvl="1"/>
            <a:r>
              <a:rPr lang="en-US" altLang="zh-CN"/>
              <a:t>/usr/share/fonts, ~/.fonts</a:t>
            </a:r>
            <a:endParaRPr lang="en-US" altLang="zh-CN"/>
          </a:p>
          <a:p>
            <a:pPr lvl="1"/>
            <a:r>
              <a:rPr lang="en-US" altLang="zh-CN"/>
              <a:t>/etc/fonts/fonts.conf</a:t>
            </a:r>
            <a:endParaRPr lang="en-US" altLang="zh-CN"/>
          </a:p>
          <a:p>
            <a:pPr lvl="1"/>
            <a:r>
              <a:rPr lang="en-US" altLang="zh-CN"/>
              <a:t>fc-match -f %{file} ‘font-name’	# list font path</a:t>
            </a:r>
            <a:endParaRPr lang="en-US" altLang="zh-CN"/>
          </a:p>
          <a:p>
            <a:pPr lvl="0"/>
            <a:r>
              <a:rPr lang="en-US" altLang="zh-CN"/>
              <a:t>Get font family name</a:t>
            </a:r>
            <a:endParaRPr lang="en-US" altLang="zh-CN"/>
          </a:p>
          <a:p>
            <a:pPr lvl="1"/>
            <a:r>
              <a:rPr lang="en-US" altLang="zh-CN"/>
              <a:t>fc-query -f '%{family}\n' font.ttf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Base64 Encoding/Decoding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Encode</a:t>
            </a:r>
            <a:endParaRPr lang="en-US" altLang="zh-CN"/>
          </a:p>
          <a:p>
            <a:pPr lvl="1"/>
            <a:r>
              <a:rPr lang="en-US" altLang="zh-CN"/>
              <a:t>base64 {input_filename} &gt; {output_filename}</a:t>
            </a:r>
            <a:endParaRPr lang="en-US" altLang="zh-CN"/>
          </a:p>
          <a:p>
            <a:pPr lvl="0"/>
            <a:r>
              <a:rPr lang="en-US" altLang="zh-CN"/>
              <a:t>Decode</a:t>
            </a:r>
            <a:endParaRPr lang="en-US" altLang="zh-CN"/>
          </a:p>
          <a:p>
            <a:pPr lvl="1"/>
            <a:r>
              <a:rPr lang="en-US" altLang="zh-CN"/>
              <a:t>base64 -d {input_filename} &gt; {output_filename}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System Info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182870" cy="4549140"/>
          </a:xfrm>
        </p:spPr>
        <p:txBody>
          <a:bodyPr>
            <a:normAutofit fontScale="90000" lnSpcReduction="10000"/>
          </a:bodyPr>
          <a:p>
            <a:r>
              <a:rPr lang="en-US" altLang="zh-CN" sz="1800"/>
              <a:t>cat /proc/cpuinfo</a:t>
            </a:r>
            <a:endParaRPr lang="en-US" altLang="zh-CN" sz="1800"/>
          </a:p>
          <a:p>
            <a:r>
              <a:rPr lang="en-US" altLang="zh-CN" sz="1800"/>
              <a:t>cat /etc/lsb-release</a:t>
            </a:r>
            <a:endParaRPr lang="en-US" altLang="zh-CN" sz="1800"/>
          </a:p>
          <a:p>
            <a:r>
              <a:rPr lang="en-US" altLang="zh-CN" sz="1800"/>
              <a:t>cat /etc/centos-release</a:t>
            </a:r>
            <a:endParaRPr lang="en-US" altLang="zh-CN" sz="1800"/>
          </a:p>
          <a:p>
            <a:r>
              <a:rPr lang="en-US" altLang="zh-CN" sz="1800"/>
              <a:t>cat /etc/hostname</a:t>
            </a:r>
            <a:endParaRPr lang="en-US" altLang="zh-CN" sz="1800"/>
          </a:p>
          <a:p>
            <a:pPr lvl="1"/>
            <a:r>
              <a:rPr lang="en-US" altLang="zh-CN" sz="1600"/>
              <a:t>After change, take effect after reboot</a:t>
            </a:r>
            <a:endParaRPr lang="en-US" altLang="zh-CN" sz="1600"/>
          </a:p>
          <a:p>
            <a:pPr lvl="1"/>
            <a:r>
              <a:rPr lang="en-US" altLang="zh-CN" sz="1600"/>
              <a:t>sudo hostname {hostname}</a:t>
            </a:r>
            <a:endParaRPr lang="en-US" altLang="zh-CN" sz="1600"/>
          </a:p>
          <a:p>
            <a:r>
              <a:rPr lang="en-US" altLang="zh-CN" sz="1800"/>
              <a:t>hostnamectl set-hostname {your-new-hostname}</a:t>
            </a:r>
            <a:endParaRPr lang="en-US" altLang="zh-CN" sz="1800"/>
          </a:p>
          <a:p>
            <a:r>
              <a:rPr lang="en-US" altLang="zh-CN" sz="1800"/>
              <a:t>pstree</a:t>
            </a:r>
            <a:endParaRPr lang="en-US" altLang="zh-CN" sz="1800"/>
          </a:p>
          <a:p>
            <a:r>
              <a:rPr lang="en-US" altLang="zh-CN" sz="1800"/>
              <a:t>Disk usage</a:t>
            </a:r>
            <a:endParaRPr lang="en-US" altLang="zh-CN" sz="1800"/>
          </a:p>
          <a:p>
            <a:pPr lvl="1"/>
            <a:r>
              <a:rPr lang="en-US" altLang="zh-CN" sz="1600"/>
              <a:t>ncdu</a:t>
            </a:r>
            <a:endParaRPr lang="en-US" altLang="zh-CN" sz="1600"/>
          </a:p>
          <a:p>
            <a:pPr lvl="2"/>
            <a:r>
              <a:rPr lang="en-US" altLang="zh-CN" sz="1400"/>
              <a:t>sudo apt install ncdu</a:t>
            </a:r>
            <a:endParaRPr lang="en-US" altLang="zh-CN" sz="1400"/>
          </a:p>
          <a:p>
            <a:pPr lvl="2"/>
            <a:r>
              <a:rPr lang="en-US" altLang="zh-CN" sz="1400"/>
              <a:t>ncdu .</a:t>
            </a:r>
            <a:endParaRPr lang="en-US" altLang="zh-CN" sz="1400"/>
          </a:p>
          <a:p>
            <a:pPr lvl="0"/>
            <a:r>
              <a:rPr lang="en-US" altLang="zh-CN" sz="1865"/>
              <a:t>GPU related</a:t>
            </a:r>
            <a:endParaRPr lang="en-US" altLang="zh-CN" sz="1865"/>
          </a:p>
          <a:p>
            <a:pPr lvl="1"/>
            <a:r>
              <a:rPr lang="en-US" altLang="zh-CN" sz="1550"/>
              <a:t>nvidia-smi</a:t>
            </a:r>
            <a:endParaRPr lang="en-US" altLang="zh-CN" sz="1550"/>
          </a:p>
          <a:p>
            <a:pPr lvl="1"/>
            <a:r>
              <a:rPr lang="en-US" altLang="zh-CN" sz="1550"/>
              <a:t>nvidia-smi --query-compute-apps=pid,process_name,used_memory,gpu_uuid --format=csv    # show which processes is using gpu</a:t>
            </a:r>
            <a:endParaRPr lang="en-US" altLang="zh-CN" sz="1550"/>
          </a:p>
          <a:p>
            <a:pPr lvl="1"/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Admin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144135" cy="5339715"/>
          </a:xfrm>
        </p:spPr>
        <p:txBody>
          <a:bodyPr>
            <a:normAutofit fontScale="50000"/>
          </a:bodyPr>
          <a:p>
            <a:r>
              <a:rPr lang="en-US" altLang="zh-CN"/>
              <a:t>/etc/sudoers</a:t>
            </a:r>
            <a:endParaRPr lang="en-US" altLang="zh-CN"/>
          </a:p>
          <a:p>
            <a:r>
              <a:rPr lang="en-US" altLang="zh-CN"/>
              <a:t>Delete files older than 7 days</a:t>
            </a:r>
            <a:endParaRPr lang="en-US" altLang="zh-CN"/>
          </a:p>
          <a:p>
            <a:pPr lvl="1"/>
            <a:r>
              <a:rPr lang="en-US" altLang="zh-CN"/>
              <a:t>find /path/to/files* -mtime +7 -exec rm {} \;</a:t>
            </a:r>
            <a:endParaRPr lang="en-US" altLang="zh-CN"/>
          </a:p>
          <a:p>
            <a:pPr lvl="0"/>
            <a:r>
              <a:rPr lang="en-US" altLang="zh-CN"/>
              <a:t>Find file modified within 1 day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find /path/to/files* -mtime -1</a:t>
            </a:r>
            <a:endParaRPr lang="en-US" altLang="zh-CN"/>
          </a:p>
          <a:p>
            <a:pPr lvl="0"/>
            <a:r>
              <a:rPr lang="en-US" altLang="zh-CN"/>
              <a:t>Delete empty folders</a:t>
            </a:r>
            <a:endParaRPr lang="en-US" altLang="zh-CN"/>
          </a:p>
          <a:p>
            <a:pPr lvl="1"/>
            <a:r>
              <a:rPr lang="en-US" altLang="zh-CN"/>
              <a:t>find /path/to/dir -empty -type d -delete</a:t>
            </a:r>
            <a:endParaRPr lang="en-US" altLang="zh-CN"/>
          </a:p>
          <a:p>
            <a:pPr lvl="0"/>
            <a:r>
              <a:rPr lang="en-US" altLang="zh-CN"/>
              <a:t>View network traffic</a:t>
            </a:r>
            <a:endParaRPr lang="en-US" altLang="zh-CN"/>
          </a:p>
          <a:p>
            <a:pPr lvl="1"/>
            <a:r>
              <a:rPr lang="en-US" altLang="zh-CN"/>
              <a:t>iftop</a:t>
            </a:r>
            <a:endParaRPr lang="en-US" altLang="zh-CN"/>
          </a:p>
          <a:p>
            <a:pPr lvl="1"/>
            <a:r>
              <a:rPr lang="en-US" altLang="zh-CN"/>
              <a:t>iptraf-ng</a:t>
            </a:r>
            <a:endParaRPr lang="en-US" altLang="zh-CN"/>
          </a:p>
          <a:p>
            <a:pPr lvl="1"/>
            <a:r>
              <a:rPr lang="en-US" altLang="zh-CN"/>
              <a:t>nload</a:t>
            </a:r>
            <a:endParaRPr lang="en-US" altLang="zh-CN"/>
          </a:p>
          <a:p>
            <a:pPr lvl="1"/>
            <a:r>
              <a:rPr lang="en-US" altLang="zh-CN"/>
              <a:t>nethogs</a:t>
            </a:r>
            <a:endParaRPr lang="en-US" altLang="zh-CN"/>
          </a:p>
          <a:p>
            <a:pPr lvl="1"/>
            <a:r>
              <a:rPr lang="en-US" altLang="zh-CN"/>
              <a:t>sudo speedometer -t eth0</a:t>
            </a:r>
            <a:endParaRPr lang="en-US" altLang="zh-CN"/>
          </a:p>
          <a:p>
            <a:pPr lvl="1"/>
            <a:r>
              <a:rPr lang="en-US" altLang="zh-CN" b="1"/>
              <a:t>netstat -ano | grep :8080</a:t>
            </a:r>
            <a:endParaRPr lang="en-US" altLang="zh-CN" b="1"/>
          </a:p>
          <a:p>
            <a:pPr lvl="0"/>
            <a:r>
              <a:rPr lang="en-US" altLang="zh-CN" sz="2400"/>
              <a:t>View I/O stat</a:t>
            </a:r>
            <a:endParaRPr lang="en-US" altLang="zh-CN" sz="2400"/>
          </a:p>
          <a:p>
            <a:pPr lvl="1"/>
            <a:r>
              <a:rPr lang="en-US" altLang="zh-CN" sz="2000"/>
              <a:t>sudo apt install iotop</a:t>
            </a:r>
            <a:endParaRPr lang="en-US" altLang="zh-CN"/>
          </a:p>
          <a:p>
            <a:pPr lvl="0"/>
            <a:r>
              <a:rPr lang="en-US" altLang="zh-CN"/>
              <a:t>Rename files</a:t>
            </a:r>
            <a:endParaRPr lang="en-US" altLang="zh-CN"/>
          </a:p>
          <a:p>
            <a:pPr lvl="1"/>
            <a:r>
              <a:rPr lang="en-US" altLang="zh-CN"/>
              <a:t>rename [options] 's/[filename element]/[replacement]/' [filename]</a:t>
            </a:r>
            <a:endParaRPr lang="en-US" altLang="zh-CN"/>
          </a:p>
          <a:p>
            <a:pPr lvl="0"/>
            <a:r>
              <a:rPr lang="en-US" altLang="zh-CN"/>
              <a:t>Copy files</a:t>
            </a:r>
            <a:endParaRPr lang="en-US" altLang="zh-CN"/>
          </a:p>
          <a:p>
            <a:pPr lvl="1"/>
            <a:r>
              <a:rPr lang="en-US" altLang="zh-CN"/>
              <a:t>rsync -ah --size-only --info=progress2,name src/ dst/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209665" y="1211580"/>
            <a:ext cx="5144135" cy="4884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0000" lnSpcReduction="1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/>
              <a:t>/etc/sudoers</a:t>
            </a:r>
            <a:endParaRPr lang="en-US" altLang="zh-CN" sz="1800"/>
          </a:p>
          <a:p>
            <a:pPr lvl="0"/>
            <a:r>
              <a:rPr lang="en-US" altLang="zh-CN" sz="1800"/>
              <a:t>/tmp</a:t>
            </a:r>
            <a:endParaRPr lang="en-US" altLang="zh-CN" sz="1800"/>
          </a:p>
          <a:p>
            <a:pPr lvl="1"/>
            <a:r>
              <a:rPr lang="en-US" altLang="zh-CN" sz="1600"/>
              <a:t>add to /etc/fstab</a:t>
            </a:r>
            <a:endParaRPr lang="en-US" altLang="zh-CN" sz="1600"/>
          </a:p>
          <a:p>
            <a:pPr lvl="2"/>
            <a:r>
              <a:rPr lang="en-US" altLang="zh-CN" sz="1400"/>
              <a:t>tmpfs /tmp tmpfs defaults,noatime,nosuid,nodev,size=1G 0 0</a:t>
            </a:r>
            <a:endParaRPr lang="en-US" altLang="zh-CN" sz="1400"/>
          </a:p>
          <a:p>
            <a:pPr lvl="1"/>
            <a:r>
              <a:rPr lang="en-US" altLang="zh-CN" sz="1600"/>
              <a:t>sudo mount -a</a:t>
            </a:r>
            <a:endParaRPr lang="en-US" altLang="zh-CN" sz="1600"/>
          </a:p>
          <a:p>
            <a:pPr lvl="1"/>
            <a:r>
              <a:rPr lang="en-US" altLang="zh-CN" sz="1600"/>
              <a:t>sudo mount -o remount /tmp</a:t>
            </a:r>
            <a:endParaRPr lang="en-US" altLang="zh-CN" sz="1600"/>
          </a:p>
          <a:p>
            <a:pPr lvl="1"/>
            <a:r>
              <a:rPr lang="en-US" altLang="zh-CN" sz="1600"/>
              <a:t>df -Th /tmp</a:t>
            </a:r>
            <a:endParaRPr lang="en-US" altLang="zh-CN" sz="1600"/>
          </a:p>
          <a:p>
            <a:pPr lvl="0"/>
            <a:r>
              <a:rPr lang="en-US" altLang="zh-CN" sz="1920"/>
              <a:t>/etc/fstab</a:t>
            </a:r>
            <a:endParaRPr lang="en-US" altLang="zh-CN" sz="1920"/>
          </a:p>
          <a:p>
            <a:pPr lvl="1"/>
            <a:r>
              <a:rPr lang="en-US" altLang="zh-CN" sz="1600"/>
              <a:t>sudo blkid /dev/vdb1	# get UUID of the partition</a:t>
            </a:r>
            <a:endParaRPr lang="en-US" altLang="zh-CN" sz="1600"/>
          </a:p>
          <a:p>
            <a:pPr lvl="1"/>
            <a:r>
              <a:rPr lang="en-US" altLang="zh-CN" sz="1600"/>
              <a:t>entry: &lt;device&gt; &lt;mount_point&gt; &lt;filesystem_type&gt; &lt;options&gt; &lt;dump&gt; &lt;pass&gt;</a:t>
            </a:r>
            <a:endParaRPr lang="en-US" altLang="zh-CN" sz="1600"/>
          </a:p>
          <a:p>
            <a:pPr lvl="2"/>
            <a:r>
              <a:rPr lang="en-US" altLang="zh-CN" sz="1440"/>
              <a:t>e.g., UUID=a1b2c3d4-e5f6-7890-g1h2-i3j4k5l6m7n8 /data ext4 defaults 0 2</a:t>
            </a:r>
            <a:endParaRPr lang="en-US" altLang="zh-CN" sz="1440"/>
          </a:p>
          <a:p>
            <a:pPr lvl="2"/>
            <a:r>
              <a:rPr lang="en-US" altLang="zh-CN" sz="1440"/>
              <a:t>defaults: rw,suid,dev,exec,auto,nouser,async</a:t>
            </a:r>
            <a:endParaRPr lang="en-US" altLang="zh-CN" sz="1440"/>
          </a:p>
          <a:p>
            <a:pPr lvl="0"/>
            <a:r>
              <a:rPr lang="en-US" altLang="zh-CN" sz="1920"/>
              <a:t>When / filesystem is full</a:t>
            </a:r>
            <a:endParaRPr lang="en-US" altLang="zh-CN" sz="1920"/>
          </a:p>
          <a:p>
            <a:pPr lvl="1"/>
            <a:r>
              <a:rPr lang="en-US" altLang="zh-CN" sz="1600"/>
              <a:t>Clean apt cache</a:t>
            </a:r>
            <a:endParaRPr lang="en-US" altLang="zh-CN" sz="1600"/>
          </a:p>
          <a:p>
            <a:pPr lvl="2"/>
            <a:r>
              <a:rPr lang="en-US" altLang="zh-CN" sz="1440"/>
              <a:t>sudo apt clean</a:t>
            </a:r>
            <a:endParaRPr lang="en-US" altLang="zh-CN" sz="1440"/>
          </a:p>
          <a:p>
            <a:pPr lvl="2"/>
            <a:r>
              <a:rPr lang="en-US" altLang="zh-CN" sz="1440"/>
              <a:t>sudo apt autoremove --purge</a:t>
            </a:r>
            <a:endParaRPr lang="en-US" altLang="zh-CN" sz="1440"/>
          </a:p>
          <a:p>
            <a:pPr lvl="1"/>
            <a:r>
              <a:rPr lang="en-US" altLang="zh-CN" sz="1600"/>
              <a:t>sudo journalctl --vacuum-size=100M</a:t>
            </a:r>
            <a:endParaRPr lang="en-US" altLang="zh-CN" sz="160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Swap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339715" cy="5135245"/>
          </a:xfrm>
        </p:spPr>
        <p:txBody>
          <a:bodyPr>
            <a:normAutofit/>
          </a:bodyPr>
          <a:p>
            <a:r>
              <a:rPr lang="en-US" altLang="zh-CN"/>
              <a:t>Check swap enabled or not</a:t>
            </a:r>
            <a:endParaRPr lang="en-US" altLang="zh-CN"/>
          </a:p>
          <a:p>
            <a:pPr lvl="1"/>
            <a:r>
              <a:rPr lang="en-US" altLang="zh-CN"/>
              <a:t>sudo swapon -s</a:t>
            </a:r>
            <a:endParaRPr lang="en-US" altLang="zh-CN"/>
          </a:p>
          <a:p>
            <a:pPr lvl="0"/>
            <a:r>
              <a:rPr lang="en-US" altLang="zh-CN"/>
              <a:t>Create swap manually</a:t>
            </a:r>
            <a:endParaRPr lang="en-US" altLang="zh-CN"/>
          </a:p>
          <a:p>
            <a:pPr lvl="1"/>
            <a:r>
              <a:rPr lang="en-US" altLang="zh-CN"/>
              <a:t>Create swap file</a:t>
            </a:r>
            <a:endParaRPr lang="en-US" altLang="zh-CN"/>
          </a:p>
          <a:p>
            <a:pPr lvl="2"/>
            <a:r>
              <a:rPr lang="en-US" altLang="zh-CN"/>
              <a:t>swap_size = 2 * mem_size</a:t>
            </a:r>
            <a:endParaRPr lang="en-US" altLang="zh-CN"/>
          </a:p>
          <a:p>
            <a:pPr lvl="2"/>
            <a:r>
              <a:rPr lang="en-US" altLang="zh-CN"/>
              <a:t>sudo fallocate -l 4G /swapfile</a:t>
            </a:r>
            <a:endParaRPr lang="en-US" altLang="zh-CN"/>
          </a:p>
          <a:p>
            <a:pPr lvl="2"/>
            <a:r>
              <a:rPr lang="en-US" altLang="zh-CN"/>
              <a:t>sudo chmod 600 /swapfile</a:t>
            </a:r>
            <a:endParaRPr lang="en-US" altLang="zh-CN"/>
          </a:p>
          <a:p>
            <a:pPr lvl="1"/>
            <a:r>
              <a:rPr lang="en-US" altLang="zh-CN"/>
              <a:t>Make it swap</a:t>
            </a:r>
            <a:endParaRPr lang="en-US" altLang="zh-CN"/>
          </a:p>
          <a:p>
            <a:pPr lvl="2"/>
            <a:r>
              <a:rPr lang="en-US" altLang="zh-CN"/>
              <a:t>sudo mkswap /swapfile</a:t>
            </a:r>
            <a:endParaRPr lang="en-US" altLang="zh-CN"/>
          </a:p>
          <a:p>
            <a:pPr lvl="1"/>
            <a:r>
              <a:rPr lang="en-US" altLang="zh-CN"/>
              <a:t>Enable swap</a:t>
            </a:r>
            <a:endParaRPr lang="en-US" altLang="zh-CN"/>
          </a:p>
          <a:p>
            <a:pPr lvl="2"/>
            <a:r>
              <a:rPr lang="en-US" altLang="zh-CN"/>
              <a:t>sudo swapon /swapfile</a:t>
            </a:r>
            <a:endParaRPr lang="en-US" altLang="zh-CN"/>
          </a:p>
          <a:p>
            <a:pPr lvl="1"/>
            <a:r>
              <a:rPr lang="en-US" altLang="zh-CN"/>
              <a:t>Disable swap</a:t>
            </a:r>
            <a:endParaRPr lang="en-US" altLang="zh-CN"/>
          </a:p>
          <a:p>
            <a:pPr lvl="2"/>
            <a:r>
              <a:rPr lang="en-US" altLang="zh-CN" sz="1800"/>
              <a:t>sudo swapoff /swapfile</a:t>
            </a:r>
            <a:endParaRPr lang="en-US" altLang="zh-CN" sz="1800"/>
          </a:p>
          <a:p>
            <a:pPr lvl="2"/>
            <a:r>
              <a:rPr lang="en-US" altLang="zh-CN"/>
              <a:t>sudo swapoff -a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53810" y="1198245"/>
            <a:ext cx="5339715" cy="5135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2400">
                <a:sym typeface="+mn-ea"/>
              </a:rPr>
              <a:t>Setup swap perment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/etc/fstab</a:t>
            </a:r>
            <a:endParaRPr lang="en-US" altLang="zh-CN" sz="2400"/>
          </a:p>
          <a:p>
            <a:pPr lvl="2"/>
            <a:r>
              <a:rPr lang="en-US" altLang="zh-CN" sz="2400">
                <a:sym typeface="+mn-ea"/>
              </a:rPr>
              <a:t>/swapfile none swap sw 0 0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/etc/sysctl.conf</a:t>
            </a:r>
            <a:endParaRPr lang="en-US" altLang="zh-CN" sz="2400"/>
          </a:p>
          <a:p>
            <a:pPr lvl="2"/>
            <a:r>
              <a:rPr lang="en-US" altLang="zh-CN" sz="2400">
                <a:sym typeface="+mn-ea"/>
              </a:rPr>
              <a:t>vm.swappiness=10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sudo sysctl -p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Apt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497070" cy="4549140"/>
          </a:xfrm>
        </p:spPr>
        <p:txBody>
          <a:bodyPr>
            <a:normAutofit fontScale="60000"/>
          </a:bodyPr>
          <a:p>
            <a:r>
              <a:rPr lang="en-US" altLang="zh-CN"/>
              <a:t>Search package</a:t>
            </a:r>
            <a:endParaRPr lang="en-US" altLang="zh-CN"/>
          </a:p>
          <a:p>
            <a:pPr lvl="1"/>
            <a:r>
              <a:rPr lang="en-US" altLang="zh-CN"/>
              <a:t>apt-cache madison/showpkg pkg-name-part</a:t>
            </a:r>
            <a:endParaRPr lang="en-US" altLang="zh-CN"/>
          </a:p>
          <a:p>
            <a:pPr lvl="1"/>
            <a:r>
              <a:rPr lang="en-US" altLang="zh-CN"/>
              <a:t>apt-cache policy {package-name}</a:t>
            </a:r>
            <a:endParaRPr lang="en-US" altLang="zh-CN"/>
          </a:p>
          <a:p>
            <a:pPr lvl="1"/>
            <a:r>
              <a:rPr lang="en-US" altLang="zh-CN"/>
              <a:t>apt-cache depends hugin-tools</a:t>
            </a:r>
            <a:endParaRPr lang="en-US" altLang="zh-CN"/>
          </a:p>
          <a:p>
            <a:r>
              <a:rPr lang="en-US" altLang="zh-CN"/>
              <a:t>Install package</a:t>
            </a:r>
            <a:endParaRPr lang="en-US" altLang="zh-CN"/>
          </a:p>
          <a:p>
            <a:pPr lvl="1"/>
            <a:r>
              <a:rPr lang="en-US" altLang="zh-CN" sz="2000"/>
              <a:t>apt install package=version -V</a:t>
            </a:r>
            <a:endParaRPr lang="en-US" altLang="zh-CN"/>
          </a:p>
          <a:p>
            <a:r>
              <a:rPr lang="en-US" altLang="zh-CN"/>
              <a:t>dpkg -l	// List installed packages</a:t>
            </a:r>
            <a:endParaRPr lang="en-US" altLang="zh-CN"/>
          </a:p>
          <a:p>
            <a:r>
              <a:rPr lang="en-US" altLang="zh-CN"/>
              <a:t>dpkg-query -L &lt;package_name&gt; // List files installed by a package</a:t>
            </a:r>
            <a:endParaRPr lang="en-US" altLang="zh-CN"/>
          </a:p>
          <a:p>
            <a:r>
              <a:rPr lang="en-US" altLang="zh-CN"/>
              <a:t>/etc/apt/sources.list</a:t>
            </a:r>
            <a:endParaRPr lang="en-US" altLang="zh-CN"/>
          </a:p>
          <a:p>
            <a:r>
              <a:rPr lang="zh-CN" altLang="en-US"/>
              <a:t>阿里云</a:t>
            </a:r>
            <a:endParaRPr lang="zh-CN" altLang="en-US"/>
          </a:p>
          <a:p>
            <a:pPr lvl="1"/>
            <a:r>
              <a:rPr lang="en-US" altLang="zh-CN"/>
              <a:t>mirrors.aliyun.com</a:t>
            </a:r>
            <a:endParaRPr lang="en-US" altLang="zh-CN"/>
          </a:p>
          <a:p>
            <a:pPr lvl="0"/>
            <a:r>
              <a:rPr lang="zh-CN" altLang="en-US"/>
              <a:t>腾讯云内网</a:t>
            </a:r>
            <a:endParaRPr lang="zh-CN" altLang="en-US"/>
          </a:p>
          <a:p>
            <a:pPr lvl="1"/>
            <a:r>
              <a:rPr lang="en-US" altLang="zh-CN"/>
              <a:t>mirros.tencentyun.com</a:t>
            </a:r>
            <a:endParaRPr lang="en-US" altLang="zh-CN"/>
          </a:p>
          <a:p>
            <a:pPr lvl="0"/>
            <a:r>
              <a:rPr lang="en-US" altLang="zh-CN"/>
              <a:t>apt-get --download-only &lt;package&gt;</a:t>
            </a:r>
            <a:endParaRPr lang="en-US" altLang="zh-CN"/>
          </a:p>
          <a:p>
            <a:pPr lvl="1"/>
            <a:r>
              <a:rPr lang="en-US" altLang="zh-CN"/>
              <a:t>download to /var/cache/apt/archives/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5441315" y="1060450"/>
            <a:ext cx="6443980" cy="212280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 sz="1200"/>
              <a:t>deb http://mirrors.aliyun.com/ubuntu/ xenial main restricted universe multiverse</a:t>
            </a:r>
            <a:endParaRPr lang="zh-CN" altLang="en-US" sz="1200"/>
          </a:p>
          <a:p>
            <a:r>
              <a:rPr lang="zh-CN" altLang="en-US" sz="1200"/>
              <a:t>deb http://mirrors.aliyun.com/ubuntu/ xenial-security main restricted universe multiverse</a:t>
            </a:r>
            <a:endParaRPr lang="zh-CN" altLang="en-US" sz="1200"/>
          </a:p>
          <a:p>
            <a:r>
              <a:rPr lang="zh-CN" altLang="en-US" sz="1200"/>
              <a:t>deb http://mirrors.aliyun.com/ubuntu/ xenial-updates main restricted universe multiverse</a:t>
            </a:r>
            <a:endParaRPr lang="zh-CN" altLang="en-US" sz="1200"/>
          </a:p>
          <a:p>
            <a:r>
              <a:rPr lang="zh-CN" altLang="en-US" sz="1200"/>
              <a:t>deb http://mirrors.aliyun.com/ubuntu/ xenial-proposed main restricted universe multiverse</a:t>
            </a:r>
            <a:endParaRPr lang="zh-CN" altLang="en-US" sz="1200"/>
          </a:p>
          <a:p>
            <a:r>
              <a:rPr lang="zh-CN" altLang="en-US" sz="1200"/>
              <a:t>deb http://mirrors.aliyun.com/ubuntu/ xenial-backports main restricted universe multiverse</a:t>
            </a:r>
            <a:endParaRPr lang="zh-CN" altLang="en-US" sz="1200"/>
          </a:p>
          <a:p>
            <a:r>
              <a:rPr lang="zh-CN" altLang="en-US" sz="1200"/>
              <a:t>deb-src http://mirrors.aliyun.com/ubuntu/ xenial main restricted universe multiverse</a:t>
            </a:r>
            <a:endParaRPr lang="zh-CN" altLang="en-US" sz="1200"/>
          </a:p>
          <a:p>
            <a:r>
              <a:rPr lang="zh-CN" altLang="en-US" sz="1200"/>
              <a:t>deb-src http://mirrors.aliyun.com/ubuntu/ xenial-security main restricted universe multiverse</a:t>
            </a:r>
            <a:endParaRPr lang="zh-CN" altLang="en-US" sz="1200"/>
          </a:p>
          <a:p>
            <a:r>
              <a:rPr lang="zh-CN" altLang="en-US" sz="1200"/>
              <a:t>deb-src http://mirrors.aliyun.com/ubuntu/ xenial-updates main restricted universe multiverse</a:t>
            </a:r>
            <a:endParaRPr lang="zh-CN" altLang="en-US" sz="1200"/>
          </a:p>
          <a:p>
            <a:r>
              <a:rPr lang="zh-CN" altLang="en-US" sz="1200"/>
              <a:t>deb-src http://mirrors.aliyun.com/ubuntu/ xenial-proposed main restricted universe multiverse</a:t>
            </a:r>
            <a:endParaRPr lang="zh-CN" altLang="en-US" sz="1200"/>
          </a:p>
          <a:p>
            <a:r>
              <a:rPr lang="zh-CN" altLang="en-US" sz="1200"/>
              <a:t>deb-src http://mirrors.aliyun.com/ubuntu/ xenial-backports main restricted universe multiverse </a:t>
            </a:r>
            <a:endParaRPr lang="zh-CN" altLang="en-US" sz="1200"/>
          </a:p>
        </p:txBody>
      </p:sp>
      <p:sp>
        <p:nvSpPr>
          <p:cNvPr id="5" name="文本框 4"/>
          <p:cNvSpPr txBox="1"/>
          <p:nvPr/>
        </p:nvSpPr>
        <p:spPr>
          <a:xfrm>
            <a:off x="5441315" y="3144520"/>
            <a:ext cx="6443345" cy="212280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 sz="1200"/>
              <a:t>deb http://mirrors.aliyun.com/ubuntu/ bionic main restricted universe multiverse</a:t>
            </a:r>
            <a:endParaRPr lang="zh-CN" altLang="en-US" sz="1200"/>
          </a:p>
          <a:p>
            <a:r>
              <a:rPr lang="zh-CN" altLang="en-US" sz="1200"/>
              <a:t>deb http://mirrors.aliyun.com/ubuntu/ bionic-security main restricted universe multiverse</a:t>
            </a:r>
            <a:endParaRPr lang="zh-CN" altLang="en-US" sz="1200"/>
          </a:p>
          <a:p>
            <a:r>
              <a:rPr lang="zh-CN" altLang="en-US" sz="1200"/>
              <a:t>deb http://mirrors.aliyun.com/ubuntu/ bionic-updates main restricted universe multiverse</a:t>
            </a:r>
            <a:endParaRPr lang="zh-CN" altLang="en-US" sz="1200"/>
          </a:p>
          <a:p>
            <a:r>
              <a:rPr lang="zh-CN" altLang="en-US" sz="1200"/>
              <a:t>deb http://mirrors.aliyun.com/ubuntu/ bionic-proposed main restricted universe multiverse</a:t>
            </a:r>
            <a:endParaRPr lang="zh-CN" altLang="en-US" sz="1200"/>
          </a:p>
          <a:p>
            <a:r>
              <a:rPr lang="zh-CN" altLang="en-US" sz="1200"/>
              <a:t>deb http://mirrors.aliyun.com/ubuntu/ bionic-backports main restricted universe multiverse</a:t>
            </a:r>
            <a:endParaRPr lang="zh-CN" altLang="en-US" sz="1200"/>
          </a:p>
          <a:p>
            <a:r>
              <a:rPr lang="zh-CN" altLang="en-US" sz="1200"/>
              <a:t>deb-src http://mirrors.aliyun.com/ubuntu/ bionic main restricted universe multiverse</a:t>
            </a:r>
            <a:endParaRPr lang="zh-CN" altLang="en-US" sz="1200"/>
          </a:p>
          <a:p>
            <a:r>
              <a:rPr lang="zh-CN" altLang="en-US" sz="1200"/>
              <a:t>deb-src http://mirrors.aliyun.com/ubuntu/ bionic-security main restricted universe multiverse</a:t>
            </a:r>
            <a:endParaRPr lang="zh-CN" altLang="en-US" sz="1200"/>
          </a:p>
          <a:p>
            <a:r>
              <a:rPr lang="zh-CN" altLang="en-US" sz="1200"/>
              <a:t>deb-src http://mirrors.aliyun.com/ubuntu/ bionic-updates main restricted universe multiverse</a:t>
            </a:r>
            <a:endParaRPr lang="zh-CN" altLang="en-US" sz="1200"/>
          </a:p>
          <a:p>
            <a:r>
              <a:rPr lang="zh-CN" altLang="en-US" sz="1200"/>
              <a:t>deb-src http://mirrors.aliyun.com/ubuntu/ bionic-proposed main restricted universe multiverse</a:t>
            </a:r>
            <a:endParaRPr lang="zh-CN" altLang="en-US" sz="1200"/>
          </a:p>
          <a:p>
            <a:r>
              <a:rPr lang="zh-CN" altLang="en-US" sz="1200"/>
              <a:t>deb-src http://mirrors.aliyun.com/ubuntu/ bionic-backports main restricted universe multiverse 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Terminal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16245" cy="4549140"/>
          </a:xfrm>
        </p:spPr>
        <p:txBody>
          <a:bodyPr/>
          <a:p>
            <a:r>
              <a:rPr lang="en-US" altLang="zh-CN"/>
              <a:t>Color code (ANSI escape codes)</a:t>
            </a:r>
            <a:endParaRPr lang="en-US" altLang="zh-CN"/>
          </a:p>
          <a:p>
            <a:pPr lvl="1"/>
            <a:r>
              <a:rPr lang="en-US" altLang="zh-CN"/>
              <a:t>print("\033[31mThis is red text\033[0m")</a:t>
            </a:r>
            <a:endParaRPr lang="en-US" altLang="zh-CN"/>
          </a:p>
          <a:p>
            <a:pPr lvl="1"/>
            <a:r>
              <a:rPr lang="en-US" altLang="zh-CN"/>
              <a:t>\033: Esc control char</a:t>
            </a:r>
            <a:endParaRPr lang="en-US" altLang="zh-CN"/>
          </a:p>
          <a:p>
            <a:pPr lvl="1"/>
            <a:r>
              <a:rPr lang="en-US" altLang="zh-CN"/>
              <a:t>\033[0m</a:t>
            </a:r>
            <a:r>
              <a:rPr lang="zh-CN" altLang="en-US"/>
              <a:t>：</a:t>
            </a:r>
            <a:r>
              <a:rPr lang="en-US" altLang="zh-CN"/>
              <a:t>Reset</a:t>
            </a:r>
            <a:endParaRPr lang="en-US" altLang="zh-CN"/>
          </a:p>
          <a:p>
            <a:pPr lvl="1"/>
            <a:r>
              <a:rPr lang="en-US" altLang="zh-CN"/>
              <a:t>vim</a:t>
            </a:r>
            <a:endParaRPr lang="en-US" altLang="zh-CN"/>
          </a:p>
          <a:p>
            <a:pPr lvl="2"/>
            <a:r>
              <a:rPr lang="en-US" altLang="zh-CN" sz="1800"/>
              <a:t>download https://github.com/chrisbra/Colorizer and copy to ~/.vim/ folder</a:t>
            </a:r>
            <a:endParaRPr lang="en-US" altLang="zh-CN" sz="1800"/>
          </a:p>
          <a:p>
            <a:pPr lvl="2"/>
            <a:r>
              <a:rPr lang="en-US" altLang="zh-CN"/>
              <a:t>let g:colorizer_auto_color = 1</a:t>
            </a:r>
            <a:endParaRPr lang="en-US" altLang="zh-CN"/>
          </a:p>
          <a:p>
            <a:pPr lvl="1"/>
            <a:endParaRPr lang="en-US" altLang="zh-CN"/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9100820" y="458470"/>
            <a:ext cx="2591435" cy="2867660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9100820" y="3326131"/>
            <a:ext cx="1645920" cy="1996439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3D Support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sudo apt install libglu1-mesa-dev freeglut3-dev mesa-common-dev</a:t>
            </a:r>
            <a:endParaRPr lang="en-US" altLang="zh-CN"/>
          </a:p>
          <a:p>
            <a:r>
              <a:rPr lang="en-US" altLang="zh-CN"/>
              <a:t>glxinfo |grep opengl -i</a:t>
            </a:r>
            <a:endParaRPr lang="en-US" altLang="zh-CN"/>
          </a:p>
          <a:p>
            <a:r>
              <a:rPr lang="en-US" altLang="zh-CN"/>
              <a:t>glxgears</a:t>
            </a:r>
            <a:endParaRPr lang="en-US" altLang="zh-CN"/>
          </a:p>
          <a:p>
            <a:r>
              <a:rPr lang="en-US" altLang="zh-CN"/>
              <a:t>Headless</a:t>
            </a:r>
            <a:endParaRPr lang="en-US" altLang="zh-CN"/>
          </a:p>
          <a:p>
            <a:pPr lvl="1"/>
            <a:r>
              <a:rPr lang="en-US" altLang="zh-CN"/>
              <a:t>Xvfb :5 -screen 0 800x600x24 &amp;</a:t>
            </a:r>
            <a:endParaRPr lang="en-US" altLang="zh-CN"/>
          </a:p>
          <a:p>
            <a:pPr lvl="1"/>
            <a:r>
              <a:rPr lang="en-US" altLang="zh-CN"/>
              <a:t>export DISPLAY=:5</a:t>
            </a:r>
            <a:endParaRPr lang="en-US" altLang="zh-CN"/>
          </a:p>
          <a:p>
            <a:pPr lvl="1"/>
            <a:r>
              <a:rPr lang="en-US" altLang="zh-CN"/>
              <a:t>glxgears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GLibc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ldd --version</a:t>
            </a:r>
            <a:endParaRPr lang="en-US" altLang="zh-CN"/>
          </a:p>
          <a:p>
            <a:pPr lvl="1"/>
            <a:r>
              <a:rPr lang="en-US" altLang="zh-CN" sz="2000"/>
              <a:t>view current glibc version</a:t>
            </a:r>
            <a:endParaRPr lang="en-US" altLang="zh-CN"/>
          </a:p>
          <a:p>
            <a:r>
              <a:rPr lang="en-US" altLang="zh-CN"/>
              <a:t>Ubuntu 20</a:t>
            </a:r>
            <a:endParaRPr lang="en-US" altLang="zh-CN"/>
          </a:p>
          <a:p>
            <a:pPr lvl="1"/>
            <a:r>
              <a:rPr lang="en-US" altLang="zh-CN"/>
              <a:t>Glibc 2.31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CMake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20000"/>
          </a:bodyPr>
          <a:p>
            <a:r>
              <a:rPr lang="en-US" altLang="zh-CN"/>
              <a:t>cmake -LA</a:t>
            </a:r>
            <a:endParaRPr lang="en-US" altLang="zh-CN"/>
          </a:p>
          <a:p>
            <a:pPr lvl="1"/>
            <a:r>
              <a:rPr lang="en-US" altLang="zh-CN"/>
              <a:t>list all config options</a:t>
            </a:r>
            <a:endParaRPr lang="en-US" altLang="zh-CN"/>
          </a:p>
          <a:p>
            <a:pPr lvl="1"/>
            <a:r>
              <a:rPr lang="en-US" altLang="zh-CN"/>
              <a:t>must execute in build folder</a:t>
            </a:r>
            <a:endParaRPr lang="en-US" altLang="zh-CN"/>
          </a:p>
          <a:p>
            <a:pPr lvl="0"/>
            <a:r>
              <a:rPr lang="en-US" altLang="zh-CN"/>
              <a:t>CMakeCache.txt</a:t>
            </a:r>
            <a:endParaRPr lang="en-US" altLang="zh-CN"/>
          </a:p>
          <a:p>
            <a:pPr lvl="0"/>
            <a:r>
              <a:rPr lang="en-US" altLang="zh-CN"/>
              <a:t>Install latest cmake version</a:t>
            </a:r>
            <a:endParaRPr lang="en-US" altLang="zh-CN"/>
          </a:p>
          <a:p>
            <a:pPr lvl="1"/>
            <a:r>
              <a:rPr lang="en-US" altLang="zh-CN"/>
              <a:t>sudo apt update</a:t>
            </a:r>
            <a:endParaRPr lang="en-US" altLang="zh-CN"/>
          </a:p>
          <a:p>
            <a:pPr lvl="1"/>
            <a:r>
              <a:rPr lang="en-US" altLang="zh-CN"/>
              <a:t>sudo apt install -y ca-certificates gnupg wget</a:t>
            </a:r>
            <a:endParaRPr lang="en-US" altLang="zh-CN"/>
          </a:p>
          <a:p>
            <a:pPr lvl="1"/>
            <a:r>
              <a:rPr lang="en-US" altLang="zh-CN"/>
              <a:t>wget -O - https://apt.kitware.com/keys/kitware-archive-latest.asc 2&gt;/dev/null | gpg --dearmor - | sudo tee /usr/share/keyrings/kitware-archive-keyring.gpg &gt;/dev/null</a:t>
            </a:r>
            <a:endParaRPr lang="en-US" altLang="zh-CN"/>
          </a:p>
          <a:p>
            <a:pPr lvl="1"/>
            <a:r>
              <a:rPr lang="en-US" altLang="zh-CN"/>
              <a:t>echo 'deb [signed-by=/usr/share/keyrings/kitware-archive-keyring.gpg] https://apt.kitware.com/ubuntu/ focal main' | sudo tee /etc/apt/sources.list.d/kitware.list &gt;/dev/null</a:t>
            </a:r>
            <a:endParaRPr lang="en-US" altLang="zh-CN"/>
          </a:p>
          <a:p>
            <a:pPr lvl="1"/>
            <a:r>
              <a:rPr lang="en-US" altLang="zh-CN"/>
              <a:t>sudo apt update</a:t>
            </a:r>
            <a:endParaRPr lang="en-US" altLang="zh-CN"/>
          </a:p>
          <a:p>
            <a:pPr lvl="1"/>
            <a:r>
              <a:rPr lang="en-US" altLang="zh-CN"/>
              <a:t>sudo apt install cmake</a:t>
            </a:r>
            <a:endParaRPr lang="en-US" altLang="zh-CN"/>
          </a:p>
          <a:p>
            <a:pPr lvl="0"/>
            <a:r>
              <a:rPr lang="en-US" altLang="zh-CN"/>
              <a:t>Usage tips</a:t>
            </a:r>
            <a:endParaRPr lang="en-US" altLang="zh-CN"/>
          </a:p>
          <a:p>
            <a:pPr lvl="1"/>
            <a:r>
              <a:rPr lang="en-US" altLang="zh-CN"/>
              <a:t>CMAKE_TLS_VERIFY=0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File/IO Utilities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404995" cy="5521960"/>
          </a:xfrm>
        </p:spPr>
        <p:txBody>
          <a:bodyPr>
            <a:normAutofit fontScale="50000"/>
          </a:bodyPr>
          <a:p>
            <a:pPr lvl="0"/>
            <a:r>
              <a:rPr lang="en-US" altLang="zh-CN" sz="2400">
                <a:sym typeface="+mn-ea"/>
              </a:rPr>
              <a:t>grep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grep -ri "hello" --include=*.{cc,h} --exclude-dir=dir1</a:t>
            </a:r>
            <a:endParaRPr lang="en-US" altLang="zh-CN"/>
          </a:p>
          <a:p>
            <a:pPr lvl="0"/>
            <a:r>
              <a:rPr lang="en-US" altLang="zh-CN" sz="2400">
                <a:sym typeface="+mn-ea"/>
              </a:rPr>
              <a:t>rename files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rename 's/.JPG/.jpg/' *.JPG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>
                <a:sym typeface="+mn-ea"/>
              </a:rPr>
              <a:t>patch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patch -p{num} &lt;patchfile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num: strip num leading / prefix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 sz="2400">
                <a:sym typeface="+mn-ea"/>
              </a:rPr>
              <a:t>du -sb | sort -nr</a:t>
            </a:r>
            <a:endParaRPr lang="en-US" altLang="zh-CN" sz="2400"/>
          </a:p>
          <a:p>
            <a:pPr lvl="0"/>
            <a:r>
              <a:rPr lang="en-US" altLang="zh-CN" sz="2400" b="1">
                <a:sym typeface="+mn-ea"/>
              </a:rPr>
              <a:t>ldconfig -p	// print loaded libraries</a:t>
            </a:r>
            <a:endParaRPr lang="en-US" altLang="zh-CN" sz="2400"/>
          </a:p>
          <a:p>
            <a:pPr lvl="0"/>
            <a:r>
              <a:rPr lang="en-US" altLang="zh-CN" sz="2400">
                <a:sym typeface="+mn-ea"/>
              </a:rPr>
              <a:t>locate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sudo apt install mlocate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updatedb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locate {sth}</a:t>
            </a:r>
            <a:endParaRPr lang="en-US" altLang="zh-CN"/>
          </a:p>
          <a:p>
            <a:pPr lvl="0"/>
            <a:r>
              <a:rPr lang="en-US" altLang="zh-CN" sz="2400">
                <a:sym typeface="+mn-ea"/>
              </a:rPr>
              <a:t>Format json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jq . input.json &gt; formated.json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/>
              <a:t>tar</a:t>
            </a:r>
            <a:endParaRPr lang="en-US" altLang="zh-CN"/>
          </a:p>
          <a:p>
            <a:pPr lvl="1"/>
            <a:r>
              <a:rPr lang="en-US" altLang="zh-CN"/>
              <a:t>tar -czvf backup.tar.gz --exclude-from='exclude_list.txt' my_project/</a:t>
            </a:r>
            <a:endParaRPr lang="en-US" altLang="zh-CN"/>
          </a:p>
          <a:p>
            <a:pPr lvl="1"/>
            <a:r>
              <a:rPr lang="en-US" altLang="zh-CN"/>
              <a:t>exclude_list.txt: node_modules.git *.log tmp/ build/ *.tmp</a:t>
            </a:r>
            <a:endParaRPr lang="en-US" altLang="zh-CN"/>
          </a:p>
          <a:p>
            <a:pPr lvl="0"/>
            <a:r>
              <a:rPr lang="en-US" altLang="zh-CN"/>
              <a:t>Convert markdown to docx</a:t>
            </a:r>
            <a:endParaRPr lang="en-US" altLang="zh-CN"/>
          </a:p>
          <a:p>
            <a:pPr lvl="1"/>
            <a:r>
              <a:rPr lang="en-US" altLang="zh-CN"/>
              <a:t>pandoc input.md -o output.docx</a:t>
            </a:r>
            <a:endParaRPr lang="en-US" altLang="zh-CN"/>
          </a:p>
          <a:p>
            <a:pPr lvl="0"/>
            <a:r>
              <a:rPr lang="en-US" altLang="zh-CN"/>
              <a:t>lsof</a:t>
            </a:r>
            <a:endParaRPr lang="en-US" altLang="zh-CN"/>
          </a:p>
          <a:p>
            <a:pPr lvl="1"/>
            <a:r>
              <a:rPr lang="en-US" altLang="zh-CN"/>
              <a:t>lsof /data  # List processes opening files in /data/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767195" y="1211580"/>
            <a:ext cx="4845050" cy="5267325"/>
          </a:xfrm>
          <a:prstGeom prst="rect">
            <a:avLst/>
          </a:prstGeom>
        </p:spPr>
        <p:txBody>
          <a:bodyPr vert="horz" lIns="91440" tIns="45720" rIns="91440" bIns="45720" rtlCol="0">
            <a:normAutofit fontScale="8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2000"/>
              <a:t>tree</a:t>
            </a:r>
            <a:endParaRPr lang="en-US" altLang="zh-CN" sz="2000"/>
          </a:p>
          <a:p>
            <a:pPr lvl="1"/>
            <a:r>
              <a:rPr lang="en-US" altLang="zh-CN" sz="1800"/>
              <a:t>tree -X {dir} &gt; tree.output</a:t>
            </a:r>
            <a:endParaRPr lang="en-US" altLang="zh-CN" sz="1800"/>
          </a:p>
          <a:p>
            <a:pPr lvl="2"/>
            <a:r>
              <a:rPr lang="en-US" altLang="zh-CN" sz="1600"/>
              <a:t>output as XML</a:t>
            </a:r>
            <a:endParaRPr lang="en-US" altLang="zh-CN" sz="1600"/>
          </a:p>
          <a:p>
            <a:pPr lvl="1"/>
            <a:r>
              <a:rPr lang="en-US" altLang="zh-CN" sz="1800"/>
              <a:t>tree -J {dir} &gt; tree.output</a:t>
            </a:r>
            <a:endParaRPr lang="en-US" altLang="zh-CN" sz="1800"/>
          </a:p>
          <a:p>
            <a:pPr lvl="2"/>
            <a:r>
              <a:rPr lang="en-US" altLang="zh-CN" sz="1600"/>
              <a:t>output as json</a:t>
            </a:r>
            <a:endParaRPr lang="en-US" altLang="zh-CN" sz="1600"/>
          </a:p>
          <a:p>
            <a:pPr lvl="0"/>
            <a:r>
              <a:rPr lang="en-US" altLang="zh-CN" sz="2000"/>
              <a:t>graph dot file</a:t>
            </a:r>
            <a:endParaRPr lang="en-US" altLang="zh-CN" sz="2000"/>
          </a:p>
          <a:p>
            <a:pPr lvl="1"/>
            <a:r>
              <a:rPr lang="en-US" altLang="zh-CN" sz="1800"/>
              <a:t>dot -Tpng input.dot -o output.png</a:t>
            </a:r>
            <a:endParaRPr lang="en-US" altLang="zh-CN" sz="1800"/>
          </a:p>
          <a:p>
            <a:pPr lvl="0"/>
            <a:r>
              <a:rPr lang="en-US" altLang="zh-CN" sz="2000"/>
              <a:t>disk io</a:t>
            </a:r>
            <a:endParaRPr lang="en-US" altLang="zh-CN" sz="2000"/>
          </a:p>
          <a:p>
            <a:pPr lvl="1"/>
            <a:r>
              <a:rPr lang="en-US" altLang="zh-CN" sz="1800"/>
              <a:t>iostat</a:t>
            </a:r>
            <a:endParaRPr lang="en-US" altLang="zh-CN" sz="1800"/>
          </a:p>
          <a:p>
            <a:pPr lvl="2"/>
            <a:r>
              <a:rPr lang="en-US" altLang="zh-CN" sz="1620"/>
              <a:t>sudo apt install sysstat</a:t>
            </a:r>
            <a:endParaRPr lang="en-US" altLang="zh-CN" sz="1620"/>
          </a:p>
          <a:p>
            <a:pPr lvl="2"/>
            <a:r>
              <a:rPr lang="en-US" altLang="zh-CN" sz="1620"/>
              <a:t>iostat -x 1</a:t>
            </a:r>
            <a:endParaRPr lang="en-US" altLang="zh-CN" sz="1620"/>
          </a:p>
          <a:p>
            <a:pPr lvl="1"/>
            <a:r>
              <a:rPr lang="en-US" altLang="zh-CN"/>
              <a:t>nmon</a:t>
            </a:r>
            <a:endParaRPr lang="en-US" altLang="zh-CN"/>
          </a:p>
          <a:p>
            <a:pPr lvl="2"/>
            <a:r>
              <a:rPr lang="en-US" altLang="zh-CN" sz="1800"/>
              <a:t>sudo apt install nmon</a:t>
            </a:r>
            <a:endParaRPr lang="en-US" altLang="zh-CN" sz="1800"/>
          </a:p>
          <a:p>
            <a:pPr lvl="1"/>
            <a:r>
              <a:rPr lang="en-US" altLang="zh-CN" sz="2000"/>
              <a:t>iotop</a:t>
            </a:r>
            <a:endParaRPr lang="en-US" altLang="zh-CN" sz="2000"/>
          </a:p>
          <a:p>
            <a:pPr lvl="2"/>
            <a:r>
              <a:rPr lang="en-US" altLang="zh-CN" sz="1800"/>
              <a:t>sudo apt install iotop</a:t>
            </a:r>
            <a:endParaRPr lang="en-US" altLang="zh-CN" sz="1800"/>
          </a:p>
          <a:p>
            <a:pPr lvl="0"/>
            <a:r>
              <a:rPr lang="en-US" altLang="zh-CN" sz="2000"/>
              <a:t>convert images to pdf</a:t>
            </a:r>
            <a:endParaRPr lang="en-US" altLang="zh-CN" sz="2000"/>
          </a:p>
          <a:p>
            <a:pPr lvl="1"/>
            <a:r>
              <a:rPr lang="en-US" altLang="zh-CN" sz="1665"/>
              <a:t>sudo apt install python3-img2pdf</a:t>
            </a:r>
            <a:endParaRPr lang="en-US" altLang="zh-CN" sz="1665"/>
          </a:p>
          <a:p>
            <a:pPr lvl="1"/>
            <a:r>
              <a:rPr lang="en-US" altLang="zh-CN" sz="1665"/>
              <a:t>find . -type f $ -iname "*.jpg" -o -iname "*.png" -o -iname "*.bmp" $ | sort | xargs img2pdf -o output.pdf</a:t>
            </a:r>
            <a:endParaRPr lang="en-US" altLang="zh-CN" sz="1665"/>
          </a:p>
          <a:p>
            <a:pPr lvl="1"/>
            <a:endParaRPr lang="en-US" altLang="zh-CN" sz="1800"/>
          </a:p>
          <a:p>
            <a:pPr lvl="0"/>
            <a:endParaRPr lang="en-US" altLang="zh-CN" sz="2800"/>
          </a:p>
          <a:p>
            <a:endParaRPr lang="en-US" altLang="zh-CN" sz="2800"/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Network Utilities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377180" cy="5458460"/>
          </a:xfrm>
        </p:spPr>
        <p:txBody>
          <a:bodyPr>
            <a:normAutofit fontScale="50000"/>
          </a:bodyPr>
          <a:p>
            <a:pPr lvl="0"/>
            <a:r>
              <a:rPr lang="en-US" altLang="zh-CN" sz="2600"/>
              <a:t>scp</a:t>
            </a:r>
            <a:endParaRPr lang="en-US" altLang="zh-CN" sz="2600"/>
          </a:p>
          <a:p>
            <a:pPr lvl="1"/>
            <a:r>
              <a:rPr lang="en-US" altLang="zh-CN" sz="2300"/>
              <a:t>scp -r user@host:/dir/ /local_dir/</a:t>
            </a:r>
            <a:endParaRPr lang="en-US" altLang="zh-CN" sz="2300"/>
          </a:p>
          <a:p>
            <a:pPr lvl="0"/>
            <a:r>
              <a:rPr lang="en-US" altLang="zh-CN" sz="2600"/>
              <a:t>rsync</a:t>
            </a:r>
            <a:endParaRPr lang="en-US" altLang="zh-CN"/>
          </a:p>
          <a:p>
            <a:pPr lvl="1"/>
            <a:r>
              <a:rPr lang="en-US" altLang="zh-CN" sz="2300"/>
              <a:t>rsync -av user@host:/src_dir/ /dst_dir/</a:t>
            </a:r>
            <a:endParaRPr lang="en-US" altLang="zh-CN" sz="2300"/>
          </a:p>
          <a:p>
            <a:pPr lvl="1"/>
            <a:r>
              <a:rPr lang="en-US" altLang="zh-CN" sz="2300"/>
              <a:t>-a archive mode</a:t>
            </a:r>
            <a:endParaRPr lang="en-US" altLang="zh-CN" sz="2300"/>
          </a:p>
          <a:p>
            <a:pPr lvl="1"/>
            <a:r>
              <a:rPr lang="en-US" altLang="zh-CN" sz="2300"/>
              <a:t>-v verbose</a:t>
            </a:r>
            <a:endParaRPr lang="en-US" altLang="zh-CN" sz="2300"/>
          </a:p>
          <a:p>
            <a:pPr lvl="1"/>
            <a:r>
              <a:rPr lang="en-US" altLang="zh-CN" sz="2300"/>
              <a:t>-r recursive</a:t>
            </a:r>
            <a:endParaRPr lang="en-US" altLang="zh-CN" sz="2300"/>
          </a:p>
          <a:p>
            <a:pPr lvl="1"/>
            <a:r>
              <a:rPr lang="en-US" altLang="zh-CN" sz="2300"/>
              <a:t>-z compress during the transfer</a:t>
            </a:r>
            <a:endParaRPr lang="en-US" altLang="zh-CN" sz="2300"/>
          </a:p>
          <a:p>
            <a:pPr lvl="1"/>
            <a:r>
              <a:rPr lang="en-US" altLang="zh-CN" sz="2300"/>
              <a:t>--exclude='.git/'</a:t>
            </a:r>
            <a:endParaRPr lang="en-US" altLang="zh-CN" sz="2300"/>
          </a:p>
          <a:p>
            <a:pPr lvl="0"/>
            <a:r>
              <a:rPr lang="en-US" altLang="zh-CN" sz="2600">
                <a:sym typeface="+mn-ea"/>
              </a:rPr>
              <a:t>wget</a:t>
            </a:r>
            <a:endParaRPr lang="en-US" altLang="zh-CN" sz="2600"/>
          </a:p>
          <a:p>
            <a:pPr lvl="1"/>
            <a:r>
              <a:rPr lang="en-US" altLang="zh-CN" sz="2300">
                <a:sym typeface="+mn-ea"/>
              </a:rPr>
              <a:t>wget --spider {url}	// get filesize of url</a:t>
            </a:r>
            <a:endParaRPr lang="en-US" altLang="zh-CN" sz="2300"/>
          </a:p>
          <a:p>
            <a:pPr lvl="0"/>
            <a:r>
              <a:rPr lang="en-US" altLang="zh-CN" sz="2600">
                <a:sym typeface="+mn-ea"/>
              </a:rPr>
              <a:t>Aria2</a:t>
            </a:r>
            <a:endParaRPr lang="en-US" altLang="zh-CN" sz="2600"/>
          </a:p>
          <a:p>
            <a:pPr lvl="1"/>
            <a:r>
              <a:rPr lang="en-US" altLang="zh-CN" sz="2300">
                <a:sym typeface="+mn-ea"/>
              </a:rPr>
              <a:t>sudo apt install aria2</a:t>
            </a:r>
            <a:endParaRPr lang="en-US" altLang="zh-CN" sz="2300"/>
          </a:p>
          <a:p>
            <a:pPr lvl="1"/>
            <a:r>
              <a:rPr lang="en-US" altLang="zh-CN" sz="2300">
                <a:sym typeface="+mn-ea"/>
              </a:rPr>
              <a:t>aria2c</a:t>
            </a:r>
            <a:endParaRPr lang="en-US" altLang="zh-CN" sz="2300"/>
          </a:p>
          <a:p>
            <a:pPr lvl="2"/>
            <a:r>
              <a:rPr lang="en-US" altLang="zh-CN" sz="2000">
                <a:sym typeface="+mn-ea"/>
              </a:rPr>
              <a:t>-c continue</a:t>
            </a:r>
            <a:endParaRPr lang="en-US" altLang="zh-CN" sz="2000"/>
          </a:p>
          <a:p>
            <a:pPr lvl="2"/>
            <a:r>
              <a:rPr lang="en-US" altLang="zh-CN" sz="2000">
                <a:sym typeface="+mn-ea"/>
              </a:rPr>
              <a:t>-s split</a:t>
            </a:r>
            <a:endParaRPr lang="en-US" altLang="zh-CN" sz="2000">
              <a:sym typeface="+mn-ea"/>
            </a:endParaRPr>
          </a:p>
          <a:p>
            <a:pPr lvl="0"/>
            <a:r>
              <a:rPr lang="en-US" altLang="zh-CN" sz="2660">
                <a:sym typeface="+mn-ea"/>
              </a:rPr>
              <a:t>netstat</a:t>
            </a:r>
            <a:endParaRPr lang="en-US" altLang="zh-CN" sz="2660">
              <a:sym typeface="+mn-ea"/>
            </a:endParaRPr>
          </a:p>
          <a:p>
            <a:pPr lvl="1"/>
            <a:r>
              <a:rPr lang="en-US" altLang="zh-CN" sz="2215">
                <a:sym typeface="+mn-ea"/>
              </a:rPr>
              <a:t>netstat -tuln</a:t>
            </a:r>
            <a:endParaRPr lang="en-US" altLang="zh-CN" sz="2215">
              <a:sym typeface="+mn-ea"/>
            </a:endParaRPr>
          </a:p>
          <a:p>
            <a:pPr lvl="0"/>
            <a:r>
              <a:rPr lang="en-US" altLang="zh-CN" sz="2655">
                <a:sym typeface="+mn-ea"/>
              </a:rPr>
              <a:t>iftop</a:t>
            </a:r>
            <a:endParaRPr lang="en-US" altLang="zh-CN" sz="2655">
              <a:sym typeface="+mn-ea"/>
            </a:endParaRPr>
          </a:p>
          <a:p>
            <a:pPr lvl="1"/>
            <a:r>
              <a:rPr lang="en-US" altLang="zh-CN"/>
              <a:t>sudo apt install iftop</a:t>
            </a:r>
            <a:endParaRPr lang="en-US" altLang="zh-CN"/>
          </a:p>
          <a:p>
            <a:pPr lvl="0"/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11265" y="1219835"/>
            <a:ext cx="5377180" cy="454914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/>
              <a:t>curl</a:t>
            </a:r>
            <a:endParaRPr lang="en-US" altLang="zh-CN" sz="1800"/>
          </a:p>
          <a:p>
            <a:pPr lvl="1"/>
            <a:r>
              <a:rPr lang="en-US" altLang="zh-CN" sz="1600"/>
              <a:t>https://linuxize.com/post/curl-post-request/</a:t>
            </a:r>
            <a:endParaRPr lang="en-US" altLang="zh-CN" sz="1600"/>
          </a:p>
          <a:p>
            <a:pPr lvl="1"/>
            <a:r>
              <a:rPr lang="en-US" altLang="zh-CN" sz="1600"/>
              <a:t>post multipart/form-data</a:t>
            </a:r>
            <a:endParaRPr lang="en-US" altLang="zh-CN" sz="1600"/>
          </a:p>
          <a:p>
            <a:pPr lvl="2"/>
            <a:r>
              <a:rPr lang="en-US" altLang="zh-CN" sz="1400"/>
              <a:t>curl -X POST -F 'name=linuxize' https://example.com/contact.php</a:t>
            </a:r>
            <a:endParaRPr lang="en-US" altLang="zh-CN" sz="1400"/>
          </a:p>
          <a:p>
            <a:pPr lvl="1"/>
            <a:r>
              <a:rPr lang="en-US" altLang="zh-CN" sz="1600"/>
              <a:t>post application/x-www-form-urlencoded</a:t>
            </a:r>
            <a:endParaRPr lang="en-US" altLang="zh-CN" sz="1600"/>
          </a:p>
          <a:p>
            <a:pPr lvl="2"/>
            <a:r>
              <a:rPr lang="en-US" altLang="zh-CN" sz="1400"/>
              <a:t>curl -X POST -d 'name=linuxize' https://example.com/contact.php</a:t>
            </a:r>
            <a:endParaRPr lang="en-US" altLang="zh-CN" sz="1400"/>
          </a:p>
          <a:p>
            <a:pPr lvl="1"/>
            <a:r>
              <a:rPr lang="en-US" altLang="zh-CN" sz="1600"/>
              <a:t>post application/json</a:t>
            </a:r>
            <a:endParaRPr lang="en-US" altLang="zh-CN" sz="1600"/>
          </a:p>
          <a:p>
            <a:pPr lvl="2"/>
            <a:r>
              <a:rPr lang="en-US" altLang="zh-CN" sz="1400"/>
              <a:t>curl -X POST -H "Content-Type: application/json" -d '{"name": "linuxize"}' https://example/contact</a:t>
            </a:r>
            <a:endParaRPr lang="en-US" altLang="zh-CN" sz="1400"/>
          </a:p>
          <a:p>
            <a:pPr lvl="0"/>
            <a:r>
              <a:rPr lang="en-US" altLang="zh-CN" sz="1800">
                <a:sym typeface="+mn-ea"/>
              </a:rPr>
              <a:t>screen</a:t>
            </a:r>
            <a:endParaRPr lang="en-US" altLang="zh-CN" sz="1800"/>
          </a:p>
          <a:p>
            <a:pPr lvl="1"/>
            <a:r>
              <a:rPr lang="en-US" altLang="zh-CN" sz="1600">
                <a:sym typeface="+mn-ea"/>
              </a:rPr>
              <a:t>sudo apt install screen</a:t>
            </a:r>
            <a:endParaRPr lang="en-US" altLang="zh-CN" sz="1600"/>
          </a:p>
          <a:p>
            <a:pPr lvl="1"/>
            <a:r>
              <a:rPr lang="en-US" altLang="zh-CN" sz="1600">
                <a:sym typeface="+mn-ea"/>
              </a:rPr>
              <a:t>screen -S {name}	// create a new session</a:t>
            </a:r>
            <a:endParaRPr lang="en-US" altLang="zh-CN" sz="1600"/>
          </a:p>
          <a:p>
            <a:pPr lvl="1"/>
            <a:r>
              <a:rPr lang="en-US" altLang="zh-CN" sz="1600">
                <a:sym typeface="+mn-ea"/>
              </a:rPr>
              <a:t>screen -ls	// list sessions</a:t>
            </a:r>
            <a:endParaRPr lang="en-US" altLang="zh-CN" sz="1600"/>
          </a:p>
          <a:p>
            <a:pPr lvl="1"/>
            <a:r>
              <a:rPr lang="en-US" altLang="zh-CN" sz="1600">
                <a:sym typeface="+mn-ea"/>
              </a:rPr>
              <a:t>screen -r {session_name_or_id}	// reattach to a session</a:t>
            </a:r>
            <a:endParaRPr lang="en-US" altLang="zh-CN" sz="1600"/>
          </a:p>
          <a:p>
            <a:pPr lvl="1"/>
            <a:r>
              <a:rPr lang="en-US" altLang="zh-CN" sz="1600">
                <a:sym typeface="+mn-ea"/>
              </a:rPr>
              <a:t>ctrl-a k	// exit but keep session alive</a:t>
            </a:r>
            <a:endParaRPr lang="en-US" altLang="zh-CN" sz="1600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Text Utilities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58435" cy="5076190"/>
          </a:xfrm>
        </p:spPr>
        <p:txBody>
          <a:bodyPr>
            <a:normAutofit fontScale="70000"/>
          </a:bodyPr>
          <a:p>
            <a:r>
              <a:rPr lang="en-US" altLang="zh-CN"/>
              <a:t>sed</a:t>
            </a:r>
            <a:endParaRPr lang="en-US" altLang="zh-CN"/>
          </a:p>
          <a:p>
            <a:pPr lvl="1"/>
            <a:r>
              <a:rPr lang="en-US" altLang="zh-CN"/>
              <a:t>select</a:t>
            </a:r>
            <a:endParaRPr lang="en-US" altLang="zh-CN"/>
          </a:p>
          <a:p>
            <a:pPr lvl="2"/>
            <a:r>
              <a:rPr lang="en-US" altLang="zh-CN"/>
              <a:t>sed -n '1,4p' coleridge.txt</a:t>
            </a:r>
            <a:endParaRPr lang="en-US" altLang="zh-CN"/>
          </a:p>
          <a:p>
            <a:pPr lvl="2"/>
            <a:r>
              <a:rPr lang="en-US" altLang="zh-CN"/>
              <a:t>sed -n '/^And /p' coleridge.txt</a:t>
            </a:r>
            <a:endParaRPr lang="en-US" altLang="zh-CN"/>
          </a:p>
          <a:p>
            <a:pPr lvl="1"/>
            <a:r>
              <a:rPr lang="en-US" altLang="zh-CN"/>
              <a:t>substitute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echo howtogonk | sed 's/gonk/geek/'</a:t>
            </a:r>
            <a:endParaRPr lang="en-US" altLang="zh-CN"/>
          </a:p>
          <a:p>
            <a:pPr lvl="2"/>
            <a:r>
              <a:rPr lang="en-US" altLang="zh-CN"/>
              <a:t>sed -n 's/day/week/gip' coleridge.txt</a:t>
            </a:r>
            <a:endParaRPr lang="en-US" altLang="zh-CN"/>
          </a:p>
          <a:p>
            <a:pPr lvl="3"/>
            <a:r>
              <a:rPr lang="en-US" altLang="zh-CN"/>
              <a:t>g: global, i: ignore case, p: print</a:t>
            </a:r>
            <a:endParaRPr lang="en-US" altLang="zh-CN"/>
          </a:p>
          <a:p>
            <a:pPr lvl="1"/>
            <a:r>
              <a:rPr lang="en-US" altLang="zh-CN"/>
              <a:t>insert</a:t>
            </a:r>
            <a:endParaRPr lang="en-US" altLang="zh-CN"/>
          </a:p>
          <a:p>
            <a:pPr lvl="2"/>
            <a:r>
              <a:rPr lang="en-US" altLang="zh-CN"/>
              <a:t>sed '/He/a --&gt; Inserted!' geeks.txt</a:t>
            </a:r>
            <a:endParaRPr lang="en-US" altLang="zh-CN"/>
          </a:p>
          <a:p>
            <a:pPr lvl="3"/>
            <a:r>
              <a:rPr lang="en-US" altLang="zh-CN"/>
              <a:t>append “--&gt; Inserted!” after “He” lines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sed '/He/i --&gt; Inserted!' geeks.txt</a:t>
            </a:r>
            <a:endParaRPr lang="en-US" altLang="zh-CN">
              <a:sym typeface="+mn-ea"/>
            </a:endParaRPr>
          </a:p>
          <a:p>
            <a:pPr lvl="3"/>
            <a:r>
              <a:rPr lang="en-US" altLang="zh-CN"/>
              <a:t>insert before</a:t>
            </a:r>
            <a:endParaRPr lang="en-US" altLang="zh-CN"/>
          </a:p>
          <a:p>
            <a:pPr lvl="2"/>
            <a:r>
              <a:rPr lang="en-US" altLang="zh-CN"/>
              <a:t>sed 'G' geeks.txt</a:t>
            </a:r>
            <a:endParaRPr lang="en-US" altLang="zh-CN"/>
          </a:p>
          <a:p>
            <a:pPr lvl="3"/>
            <a:r>
              <a:rPr lang="en-US" altLang="zh-CN"/>
              <a:t>insert blank line between lines</a:t>
            </a:r>
            <a:endParaRPr lang="en-US" altLang="zh-CN"/>
          </a:p>
          <a:p>
            <a:pPr lvl="1"/>
            <a:r>
              <a:rPr lang="en-US" altLang="zh-CN"/>
              <a:t>delete</a:t>
            </a:r>
            <a:endParaRPr lang="en-US" altLang="zh-CN"/>
          </a:p>
          <a:p>
            <a:pPr lvl="2"/>
            <a:r>
              <a:rPr lang="en-US" altLang="zh-CN"/>
              <a:t>sed '3d' geeks.txt</a:t>
            </a:r>
            <a:endParaRPr lang="en-US" altLang="zh-CN"/>
          </a:p>
          <a:p>
            <a:pPr lvl="3"/>
            <a:r>
              <a:rPr lang="en-US" altLang="zh-CN"/>
              <a:t>delete 3rd line</a:t>
            </a:r>
            <a:endParaRPr lang="en-US" altLang="zh-CN"/>
          </a:p>
          <a:p>
            <a:pPr lvl="2"/>
            <a:r>
              <a:rPr lang="en-US" altLang="zh-CN"/>
              <a:t>sed '6,7!d' geeks.txt</a:t>
            </a:r>
            <a:endParaRPr lang="en-US" altLang="zh-CN"/>
          </a:p>
          <a:p>
            <a:pPr lvl="3"/>
            <a:r>
              <a:rPr lang="en-US" altLang="zh-CN"/>
              <a:t>delete lines excluding 6~7 lines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74130" y="1211580"/>
            <a:ext cx="5258435" cy="507619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/>
              <a:t>cut</a:t>
            </a:r>
            <a:endParaRPr lang="en-US" altLang="zh-CN" sz="1400"/>
          </a:p>
          <a:p>
            <a:pPr lvl="1"/>
            <a:r>
              <a:rPr lang="en-US" altLang="zh-CN" sz="1200"/>
              <a:t>cut -f 2,4- input.txt &gt; output.txt</a:t>
            </a:r>
            <a:endParaRPr lang="en-US" altLang="zh-CN" sz="1200"/>
          </a:p>
          <a:p>
            <a:pPr lvl="2"/>
            <a:r>
              <a:rPr lang="en-US" altLang="zh-CN" sz="1200"/>
              <a:t>remove columes 1 and 3 in all lines</a:t>
            </a:r>
            <a:endParaRPr lang="en-US" altLang="zh-CN" sz="1200"/>
          </a:p>
          <a:p>
            <a:pPr lvl="0"/>
            <a:r>
              <a:rPr lang="en-US" altLang="zh-CN" sz="1400"/>
              <a:t>md5</a:t>
            </a:r>
            <a:endParaRPr lang="en-US" altLang="zh-CN" sz="1400"/>
          </a:p>
          <a:p>
            <a:pPr lvl="1"/>
            <a:r>
              <a:rPr lang="en-US" altLang="zh-CN" sz="1200"/>
              <a:t>echo -n “admin” | md5sum</a:t>
            </a:r>
            <a:endParaRPr lang="en-US" altLang="zh-CN" sz="1200"/>
          </a:p>
          <a:p>
            <a:pPr lvl="0"/>
            <a:r>
              <a:rPr lang="en-US" altLang="zh-CN" sz="1440" b="1"/>
              <a:t>pandoc</a:t>
            </a:r>
            <a:endParaRPr lang="en-US" altLang="zh-CN" sz="1440"/>
          </a:p>
          <a:p>
            <a:pPr lvl="1"/>
            <a:r>
              <a:rPr lang="en-US" altLang="zh-CN" sz="1200"/>
              <a:t>sudo apt install pandoc</a:t>
            </a:r>
            <a:endParaRPr lang="en-US" altLang="zh-CN" sz="1200"/>
          </a:p>
          <a:p>
            <a:pPr lvl="1"/>
            <a:r>
              <a:rPr lang="en-US" altLang="zh-CN" sz="1200"/>
              <a:t>pandoc input.html -f html -t markdown -o output.md</a:t>
            </a:r>
            <a:endParaRPr lang="en-US" altLang="zh-CN" sz="1200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Misc Utilities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984750" cy="5153025"/>
          </a:xfrm>
        </p:spPr>
        <p:txBody>
          <a:bodyPr>
            <a:normAutofit fontScale="90000" lnSpcReduction="20000"/>
          </a:bodyPr>
          <a:p>
            <a:r>
              <a:rPr lang="en-US" altLang="zh-CN" sz="2800">
                <a:sym typeface="+mn-ea"/>
              </a:rPr>
              <a:t>crontab</a:t>
            </a:r>
            <a:endParaRPr lang="en-US" altLang="zh-CN" sz="2800"/>
          </a:p>
          <a:p>
            <a:pPr lvl="1"/>
            <a:r>
              <a:rPr lang="en-US" altLang="zh-CN" sz="2400">
                <a:sym typeface="+mn-ea"/>
              </a:rPr>
              <a:t>crontab -l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crontab -e</a:t>
            </a:r>
            <a:endParaRPr lang="en-US" altLang="zh-CN" sz="2400"/>
          </a:p>
          <a:p>
            <a:pPr lvl="2"/>
            <a:r>
              <a:rPr lang="en-US" altLang="zh-CN" sz="2000">
                <a:sym typeface="+mn-ea"/>
              </a:rPr>
              <a:t># minute hour  day-of-month month day-of-week   command</a:t>
            </a:r>
            <a:endParaRPr lang="en-US" altLang="zh-CN" sz="2000">
              <a:sym typeface="+mn-ea"/>
            </a:endParaRPr>
          </a:p>
          <a:p>
            <a:pPr lvl="0"/>
            <a:r>
              <a:rPr lang="en-US" altLang="zh-CN" sz="2800">
                <a:sym typeface="+mn-ea"/>
              </a:rPr>
              <a:t>mail</a:t>
            </a:r>
            <a:endParaRPr lang="en-US" altLang="zh-CN" sz="2800">
              <a:sym typeface="+mn-ea"/>
            </a:endParaRPr>
          </a:p>
          <a:p>
            <a:pPr lvl="1"/>
            <a:r>
              <a:rPr lang="en-US" altLang="zh-CN"/>
              <a:t>sudo apt install msmtp msmtp-mta</a:t>
            </a:r>
            <a:endParaRPr lang="en-US" altLang="zh-CN"/>
          </a:p>
          <a:p>
            <a:pPr lvl="1"/>
            <a:r>
              <a:rPr lang="en-US" altLang="zh-CN"/>
              <a:t>nvim ~/.msmtprc</a:t>
            </a:r>
            <a:endParaRPr lang="en-US" altLang="zh-CN"/>
          </a:p>
          <a:p>
            <a:pPr lvl="2"/>
            <a:r>
              <a:rPr lang="en-US" altLang="zh-CN"/>
              <a:t>account Ali</a:t>
            </a:r>
            <a:endParaRPr lang="en-US" altLang="zh-CN"/>
          </a:p>
          <a:p>
            <a:pPr lvl="2"/>
            <a:r>
              <a:rPr lang="en-US" altLang="zh-CN"/>
              <a:t>host smtp.mxhichina.com</a:t>
            </a:r>
            <a:endParaRPr lang="en-US" altLang="zh-CN"/>
          </a:p>
          <a:p>
            <a:pPr lvl="2"/>
            <a:r>
              <a:rPr lang="en-US" altLang="zh-CN"/>
              <a:t>port 465</a:t>
            </a:r>
            <a:endParaRPr lang="en-US" altLang="zh-CN"/>
          </a:p>
          <a:p>
            <a:pPr lvl="2"/>
            <a:r>
              <a:rPr lang="en-US" altLang="zh-CN"/>
              <a:t>from test@vhuantch.com</a:t>
            </a:r>
            <a:endParaRPr lang="en-US" altLang="zh-CN"/>
          </a:p>
          <a:p>
            <a:pPr lvl="2"/>
            <a:r>
              <a:rPr lang="en-US" altLang="zh-CN"/>
              <a:t>auth login</a:t>
            </a:r>
            <a:endParaRPr lang="en-US" altLang="zh-CN"/>
          </a:p>
          <a:p>
            <a:pPr lvl="2"/>
            <a:r>
              <a:rPr lang="en-US" altLang="zh-CN"/>
              <a:t>tls off</a:t>
            </a:r>
            <a:endParaRPr lang="en-US" altLang="zh-CN"/>
          </a:p>
          <a:p>
            <a:pPr lvl="2"/>
            <a:r>
              <a:rPr lang="en-US" altLang="zh-CN"/>
              <a:t>user User</a:t>
            </a:r>
            <a:endParaRPr lang="en-US" altLang="zh-CN"/>
          </a:p>
          <a:p>
            <a:pPr lvl="2"/>
            <a:r>
              <a:rPr lang="en-US" altLang="zh-CN"/>
              <a:t>password Password </a:t>
            </a:r>
            <a:endParaRPr lang="en-US" altLang="zh-CN"/>
          </a:p>
          <a:p>
            <a:pPr lvl="2"/>
            <a:r>
              <a:rPr lang="en-US" altLang="zh-CN"/>
              <a:t>logfile ~/.msmtp.log</a:t>
            </a:r>
            <a:endParaRPr lang="en-US" altLang="zh-CN"/>
          </a:p>
          <a:p>
            <a:pPr lvl="2"/>
            <a:r>
              <a:rPr lang="en-US" altLang="zh-CN"/>
              <a:t>account default : Ali</a:t>
            </a:r>
            <a:endParaRPr lang="en-US" altLang="zh-CN"/>
          </a:p>
          <a:p>
            <a:pPr lvl="1"/>
            <a:r>
              <a:rPr lang="en-US" altLang="zh-CN"/>
              <a:t>chmod 600 ~/.msmtprc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Audio/Video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Audio</a:t>
            </a:r>
            <a:endParaRPr lang="en-US" altLang="zh-CN"/>
          </a:p>
          <a:p>
            <a:pPr lvl="1"/>
            <a:r>
              <a:rPr lang="en-US" altLang="zh-CN"/>
              <a:t>VLC</a:t>
            </a:r>
            <a:endParaRPr lang="en-US" altLang="zh-CN"/>
          </a:p>
          <a:p>
            <a:pPr lvl="2"/>
            <a:r>
              <a:rPr lang="en-US" altLang="zh-CN"/>
              <a:t>sudo apt install vlc</a:t>
            </a:r>
            <a:endParaRPr lang="en-US" altLang="zh-CN"/>
          </a:p>
          <a:p>
            <a:pPr lvl="2"/>
            <a:r>
              <a:rPr lang="en-US" altLang="zh-CN"/>
              <a:t>nvlc 1.mp3</a:t>
            </a:r>
            <a:endParaRPr lang="en-US" altLang="zh-CN"/>
          </a:p>
          <a:p>
            <a:pPr lvl="1"/>
            <a:r>
              <a:rPr lang="en-US" altLang="zh-CN"/>
              <a:t>Sox</a:t>
            </a:r>
            <a:endParaRPr lang="en-US" altLang="zh-CN"/>
          </a:p>
          <a:p>
            <a:pPr lvl="2"/>
            <a:r>
              <a:rPr lang="en-US" altLang="zh-CN"/>
              <a:t>sudo apt install sox libsox-fmt-mp3</a:t>
            </a:r>
            <a:endParaRPr lang="en-US" altLang="zh-CN"/>
          </a:p>
          <a:p>
            <a:pPr lvl="2"/>
            <a:r>
              <a:rPr lang="en-US" altLang="zh-CN"/>
              <a:t>play music.mp3</a:t>
            </a:r>
            <a:endParaRPr lang="en-US" altLang="zh-CN"/>
          </a:p>
          <a:p>
            <a:pPr lvl="0"/>
            <a:r>
              <a:rPr lang="en-US" altLang="zh-CN"/>
              <a:t>Video</a:t>
            </a:r>
            <a:endParaRPr lang="en-US" altLang="zh-CN"/>
          </a:p>
          <a:p>
            <a:pPr lvl="1"/>
            <a:r>
              <a:rPr lang="en-US" altLang="zh-CN"/>
              <a:t>ffplay</a:t>
            </a:r>
            <a:endParaRPr lang="en-US" altLang="zh-CN"/>
          </a:p>
          <a:p>
            <a:pPr lvl="1"/>
            <a:r>
              <a:rPr lang="en-US" altLang="zh-CN"/>
              <a:t>mpv</a:t>
            </a:r>
            <a:endParaRPr lang="en-US" altLang="zh-CN"/>
          </a:p>
          <a:p>
            <a:pPr lvl="2"/>
            <a:r>
              <a:rPr lang="en-US" altLang="zh-CN"/>
              <a:t>sudo apt install mpv</a:t>
            </a:r>
            <a:endParaRPr lang="en-US" altLang="zh-CN"/>
          </a:p>
          <a:p>
            <a:pPr lvl="2"/>
            <a:r>
              <a:rPr lang="en-US" altLang="zh-CN"/>
              <a:t>mpv a.mp4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Network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/>
              <a:t>Find your IP</a:t>
            </a:r>
            <a:endParaRPr lang="en-US" altLang="zh-CN"/>
          </a:p>
          <a:p>
            <a:pPr lvl="1"/>
            <a:r>
              <a:rPr lang="en-US" altLang="zh-CN" sz="2000"/>
              <a:t>ip add</a:t>
            </a:r>
            <a:endParaRPr lang="en-US" altLang="zh-CN"/>
          </a:p>
          <a:p>
            <a:r>
              <a:rPr lang="en-US" altLang="zh-CN"/>
              <a:t>Scan LAN</a:t>
            </a:r>
            <a:endParaRPr lang="en-US" altLang="zh-CN"/>
          </a:p>
          <a:p>
            <a:pPr lvl="1"/>
            <a:r>
              <a:rPr lang="en-US" altLang="zh-CN"/>
              <a:t>sudo apt install nmap</a:t>
            </a:r>
            <a:endParaRPr lang="en-US" altLang="zh-CN"/>
          </a:p>
          <a:p>
            <a:pPr lvl="1"/>
            <a:r>
              <a:rPr lang="en-US" altLang="zh-CN"/>
              <a:t>nmap 192.168.1.0/24</a:t>
            </a:r>
            <a:endParaRPr lang="en-US" altLang="zh-CN"/>
          </a:p>
          <a:p>
            <a:pPr lvl="2"/>
            <a:r>
              <a:rPr lang="en-US" altLang="zh-CN"/>
              <a:t>24 means mask 255.255.255.0 (3*8)</a:t>
            </a:r>
            <a:endParaRPr lang="en-US" altLang="zh-CN"/>
          </a:p>
          <a:p>
            <a:pPr lvl="1"/>
            <a:r>
              <a:rPr lang="en-US" altLang="zh-CN"/>
              <a:t>arp -a</a:t>
            </a:r>
            <a:endParaRPr lang="en-US" altLang="zh-CN"/>
          </a:p>
          <a:p>
            <a:pPr lvl="0"/>
            <a:r>
              <a:rPr lang="en-US" altLang="zh-CN"/>
              <a:t>traceroute</a:t>
            </a:r>
            <a:endParaRPr lang="en-US" altLang="zh-CN"/>
          </a:p>
          <a:p>
            <a:pPr lvl="0"/>
            <a:r>
              <a:rPr lang="en-US" altLang="zh-CN" sz="2400">
                <a:sym typeface="+mn-ea"/>
              </a:rPr>
              <a:t>Change ip address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sudo ifconfig wlan0 down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sudo ifconfig wlan0 192.168.42.193 netmask 255.255.255.0 broadcast 192.168.42.255 up</a:t>
            </a:r>
            <a:endParaRPr lang="en-US" altLang="zh-CN"/>
          </a:p>
          <a:p>
            <a:pPr lvl="0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Gitlab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482715" cy="5104765"/>
          </a:xfrm>
        </p:spPr>
        <p:txBody>
          <a:bodyPr>
            <a:normAutofit fontScale="6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https://www.jianshu.com/p/080a962c35b6</a:t>
            </a:r>
            <a:endParaRPr lang="en-US" altLang="zh-CN"/>
          </a:p>
          <a:p>
            <a:r>
              <a:rPr lang="en-US" altLang="zh-CN"/>
              <a:t>Set up</a:t>
            </a:r>
            <a:endParaRPr lang="en-US" altLang="zh-CN"/>
          </a:p>
          <a:p>
            <a:pPr lvl="1"/>
            <a:r>
              <a:rPr lang="en-US" altLang="zh-CN"/>
              <a:t>sudo docker pull gitlab/gitlab-ce</a:t>
            </a:r>
            <a:endParaRPr lang="en-US" altLang="zh-CN" sz="2000"/>
          </a:p>
          <a:p>
            <a:pPr lvl="1"/>
            <a:r>
              <a:rPr lang="en-US" altLang="zh-CN"/>
              <a:t>sudo docker run -d  -p 443:443 -p 80:80 -p 222:22 --name gitlab --restart always -v /home/gitlab/config:/etc/gitlab -v /home/gitlab/logs:/var/log/gitlab -v /home/gitlab/data:/var/opt/gitlab gitlab/gitlab-ce</a:t>
            </a:r>
            <a:endParaRPr lang="en-US" altLang="zh-CN" sz="2000"/>
          </a:p>
          <a:p>
            <a:pPr lvl="1"/>
            <a:r>
              <a:rPr lang="en-US" altLang="zh-CN"/>
              <a:t>vim /home/gitlab/config/gitlab.rb</a:t>
            </a:r>
            <a:endParaRPr lang="en-US" altLang="zh-CN"/>
          </a:p>
          <a:p>
            <a:pPr lvl="2"/>
            <a:r>
              <a:rPr lang="en-US" altLang="zh-CN"/>
              <a:t>external_url 'http://152.136.99.23'</a:t>
            </a:r>
            <a:endParaRPr lang="en-US" altLang="zh-CN"/>
          </a:p>
          <a:p>
            <a:pPr lvl="2"/>
            <a:r>
              <a:rPr lang="en-US" altLang="zh-CN"/>
              <a:t>gitlab_rails['gitlab_ssh_host'] = '152.136.99.23'</a:t>
            </a:r>
            <a:endParaRPr lang="en-US" altLang="zh-CN"/>
          </a:p>
          <a:p>
            <a:pPr lvl="2"/>
            <a:r>
              <a:rPr lang="en-US" altLang="zh-CN"/>
              <a:t>gitlab_rails['gitlab_shell_ssh_port'] = 222 # 此端口是run时22端口映射的222端口</a:t>
            </a:r>
            <a:endParaRPr lang="en-US" altLang="zh-CN"/>
          </a:p>
          <a:p>
            <a:pPr lvl="1"/>
            <a:r>
              <a:rPr lang="en-US" altLang="zh-CN"/>
              <a:t>sudo docker restart gitlab</a:t>
            </a:r>
            <a:endParaRPr lang="en-US" altLang="zh-CN"/>
          </a:p>
          <a:p>
            <a:pPr lvl="1"/>
            <a:r>
              <a:rPr lang="en-US" altLang="zh-CN"/>
              <a:t>change root password</a:t>
            </a:r>
            <a:endParaRPr lang="en-US" altLang="zh-CN"/>
          </a:p>
          <a:p>
            <a:pPr lvl="2"/>
            <a:r>
              <a:rPr lang="en-US" altLang="zh-CN"/>
              <a:t>sudo docker exec -it gitlab /bin/bash</a:t>
            </a:r>
            <a:endParaRPr lang="en-US" altLang="zh-CN"/>
          </a:p>
          <a:p>
            <a:pPr lvl="2"/>
            <a:r>
              <a:rPr lang="en-US" altLang="zh-CN"/>
              <a:t>gitlab-rake "gitlab:password:reset[root]"</a:t>
            </a:r>
            <a:endParaRPr lang="en-US" altLang="zh-CN"/>
          </a:p>
          <a:p>
            <a:pPr lvl="0"/>
            <a:r>
              <a:rPr lang="en-US" altLang="zh-CN"/>
              <a:t>Docker compose</a:t>
            </a:r>
            <a:endParaRPr lang="en-US" altLang="zh-CN"/>
          </a:p>
          <a:p>
            <a:pPr lvl="1"/>
            <a:r>
              <a:rPr lang="en-US" altLang="zh-CN"/>
              <a:t>https://www.howtogeek.com/devops/how-to-deploy-a-gitlab-server-with-docker/</a:t>
            </a:r>
            <a:endParaRPr lang="en-US" altLang="zh-CN"/>
          </a:p>
          <a:p>
            <a:pPr lvl="1"/>
            <a:r>
              <a:rPr lang="en-US" altLang="zh-CN"/>
              <a:t>backup &amp; restore data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sudo docker compose exec gitlab /bin/bash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/>
              <a:t>gitlab-rake gitlab:backup:create</a:t>
            </a:r>
            <a:endParaRPr lang="en-US" altLang="zh-CN"/>
          </a:p>
          <a:p>
            <a:pPr lvl="3"/>
            <a:r>
              <a:rPr lang="en-US" altLang="zh-CN"/>
              <a:t>/var/opt/gitlab/backups/</a:t>
            </a:r>
            <a:endParaRPr lang="en-US" altLang="zh-CN"/>
          </a:p>
          <a:p>
            <a:pPr lvl="2"/>
            <a:r>
              <a:rPr lang="en-US" altLang="zh-CN"/>
              <a:t>gitlab-rake gitlab:backup:restore BACKUP=1537261122_2018_09_18_9.2.5</a:t>
            </a:r>
            <a:endParaRPr lang="en-US" altLang="zh-CN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7777480" y="182880"/>
            <a:ext cx="4145915" cy="333565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" name="文本框 3"/>
          <p:cNvSpPr txBox="1"/>
          <p:nvPr/>
        </p:nvSpPr>
        <p:spPr>
          <a:xfrm>
            <a:off x="7867650" y="3535045"/>
            <a:ext cx="3965575" cy="3322955"/>
          </a:xfrm>
          <a:prstGeom prst="rect">
            <a:avLst/>
          </a:prstGeom>
          <a:noFill/>
          <a:ln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C00000"/>
                </a:solidFill>
              </a14:hiddenFill>
            </a:ext>
          </a:extLst>
        </p:spPr>
        <p:txBody>
          <a:bodyPr wrap="square" rtlCol="0">
            <a:spAutoFit/>
          </a:bodyPr>
          <a:p>
            <a:r>
              <a:rPr lang="zh-CN" altLang="en-US" sz="1000"/>
              <a:t>version: '3.6'</a:t>
            </a:r>
            <a:endParaRPr lang="zh-CN" altLang="en-US" sz="1000"/>
          </a:p>
          <a:p>
            <a:r>
              <a:rPr lang="zh-CN" altLang="en-US" sz="1000"/>
              <a:t>services:</a:t>
            </a:r>
            <a:endParaRPr lang="zh-CN" altLang="en-US" sz="1000"/>
          </a:p>
          <a:p>
            <a:r>
              <a:rPr lang="zh-CN" altLang="en-US" sz="1000"/>
              <a:t>  gitlab:</a:t>
            </a:r>
            <a:endParaRPr lang="zh-CN" altLang="en-US" sz="1000"/>
          </a:p>
          <a:p>
            <a:r>
              <a:rPr lang="zh-CN" altLang="en-US" sz="1000"/>
              <a:t>    image: 'gitlab/gitlab-ce:latest'</a:t>
            </a:r>
            <a:endParaRPr lang="zh-CN" altLang="en-US" sz="1000"/>
          </a:p>
          <a:p>
            <a:r>
              <a:rPr lang="zh-CN" altLang="en-US" sz="1000"/>
              <a:t>    restart: always</a:t>
            </a:r>
            <a:endParaRPr lang="zh-CN" altLang="en-US" sz="1000"/>
          </a:p>
          <a:p>
            <a:r>
              <a:rPr lang="zh-CN" altLang="en-US" sz="1000"/>
              <a:t>    environment:</a:t>
            </a:r>
            <a:endParaRPr lang="zh-CN" altLang="en-US" sz="1000"/>
          </a:p>
          <a:p>
            <a:r>
              <a:rPr lang="zh-CN" altLang="en-US" sz="1000"/>
              <a:t>      TZ: 'Asia/Shanghai'</a:t>
            </a:r>
            <a:endParaRPr lang="zh-CN" altLang="en-US" sz="1000"/>
          </a:p>
          <a:p>
            <a:r>
              <a:rPr lang="zh-CN" altLang="en-US" sz="1000"/>
              <a:t>      GITLAB_OMNIBUS_CONFIG: |</a:t>
            </a:r>
            <a:endParaRPr lang="zh-CN" altLang="en-US" sz="1000"/>
          </a:p>
          <a:p>
            <a:r>
              <a:rPr lang="zh-CN" altLang="en-US" sz="1000"/>
              <a:t>        external_url 'http://49.235.106.119:30080'</a:t>
            </a:r>
            <a:endParaRPr lang="zh-CN" altLang="en-US" sz="1000"/>
          </a:p>
          <a:p>
            <a:r>
              <a:rPr lang="zh-CN" altLang="en-US" sz="1000"/>
              <a:t>        # Add any other gitlab.rb configuration here, each on its own line</a:t>
            </a:r>
            <a:endParaRPr lang="zh-CN" altLang="en-US" sz="1000"/>
          </a:p>
          <a:p>
            <a:r>
              <a:rPr lang="zh-CN" altLang="en-US" sz="1000"/>
              <a:t>    ports:</a:t>
            </a:r>
            <a:endParaRPr lang="zh-CN" altLang="en-US" sz="1000"/>
          </a:p>
          <a:p>
            <a:r>
              <a:rPr lang="zh-CN" altLang="en-US" sz="1000"/>
              <a:t>      - '30080:30080' # 注意宿主机和容器内部的端口要一致，否则external_url无法访问</a:t>
            </a:r>
            <a:endParaRPr lang="zh-CN" altLang="en-US" sz="1000"/>
          </a:p>
          <a:p>
            <a:r>
              <a:rPr lang="zh-CN" altLang="en-US" sz="1000"/>
              <a:t>      - '30443:443'</a:t>
            </a:r>
            <a:endParaRPr lang="zh-CN" altLang="en-US" sz="1000"/>
          </a:p>
          <a:p>
            <a:r>
              <a:rPr lang="zh-CN" altLang="en-US" sz="1000"/>
              <a:t>      - '30022:22'</a:t>
            </a:r>
            <a:endParaRPr lang="zh-CN" altLang="en-US" sz="1000"/>
          </a:p>
          <a:p>
            <a:r>
              <a:rPr lang="zh-CN" altLang="en-US" sz="1000"/>
              <a:t>    volumes:</a:t>
            </a:r>
            <a:endParaRPr lang="zh-CN" altLang="en-US" sz="1000"/>
          </a:p>
          <a:p>
            <a:r>
              <a:rPr lang="zh-CN" altLang="en-US" sz="1000"/>
              <a:t>      - './config:/etc/gitlab'</a:t>
            </a:r>
            <a:endParaRPr lang="zh-CN" altLang="en-US" sz="1000"/>
          </a:p>
          <a:p>
            <a:r>
              <a:rPr lang="zh-CN" altLang="en-US" sz="1000"/>
              <a:t>      - './logs:/var/log/gitlab'</a:t>
            </a:r>
            <a:endParaRPr lang="zh-CN" altLang="en-US" sz="1000"/>
          </a:p>
          <a:p>
            <a:r>
              <a:rPr lang="zh-CN" altLang="en-US" sz="1000"/>
              <a:t>      - './data:/var/opt/gitlab'</a:t>
            </a:r>
            <a:endParaRPr lang="zh-CN" altLang="en-US" sz="1000"/>
          </a:p>
          <a:p>
            <a:r>
              <a:rPr lang="zh-CN" altLang="en-US" sz="1000"/>
              <a:t>    shm_size: '256m'</a:t>
            </a:r>
            <a:endParaRPr lang="zh-CN" altLang="en-US" sz="1000"/>
          </a:p>
        </p:txBody>
      </p:sp>
    </p:spTree>
    <p:custDataLst>
      <p:tags r:id="rId2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Recover Files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sudo apt install testdisk</a:t>
            </a:r>
            <a:endParaRPr lang="en-US" altLang="zh-CN"/>
          </a:p>
          <a:p>
            <a:pPr lvl="1"/>
            <a:r>
              <a:rPr lang="en-US" altLang="zh-CN"/>
              <a:t>run “testdisk”</a:t>
            </a:r>
            <a:endParaRPr lang="en-US" altLang="zh-CN"/>
          </a:p>
          <a:p>
            <a:pPr lvl="1"/>
            <a:r>
              <a:rPr lang="en-US" altLang="zh-CN"/>
              <a:t>select “Create a new log file”</a:t>
            </a:r>
            <a:endParaRPr lang="en-US" altLang="zh-CN"/>
          </a:p>
          <a:p>
            <a:pPr lvl="1"/>
            <a:r>
              <a:rPr lang="en-US" altLang="zh-CN"/>
              <a:t>select the drive to recover</a:t>
            </a:r>
            <a:endParaRPr lang="en-US" altLang="zh-CN"/>
          </a:p>
          <a:p>
            <a:pPr lvl="1"/>
            <a:r>
              <a:rPr lang="en-US" altLang="zh-CN"/>
              <a:t>select partition type</a:t>
            </a:r>
            <a:endParaRPr lang="en-US" altLang="zh-CN"/>
          </a:p>
          <a:p>
            <a:pPr lvl="1"/>
            <a:r>
              <a:rPr lang="en-US" altLang="zh-CN"/>
              <a:t>select “[Advanced] Filesystem Utils”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Json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Format json</a:t>
            </a:r>
            <a:endParaRPr lang="en-US" altLang="zh-CN"/>
          </a:p>
          <a:p>
            <a:pPr lvl="1"/>
            <a:r>
              <a:rPr lang="en-US" altLang="zh-CN"/>
              <a:t>cat uv_map.json | python -m json.tool &gt;uv_map_formated.json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OpenSSL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591820" y="1163320"/>
          <a:ext cx="11024235" cy="4957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22135"/>
                <a:gridCol w="2304415"/>
                <a:gridCol w="179768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Meaning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 b="1"/>
                        <a:t>openssl genrsa -out yourdomain.key 2048</a:t>
                      </a:r>
                      <a:endParaRPr lang="zh-CN" altLang="en-US" sz="1200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1"/>
                        <a:t>generate private key</a:t>
                      </a:r>
                      <a:endParaRPr lang="en-US" altLang="zh-CN" sz="1200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openssl rsa -in privateKey.key -check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check private key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openssl req -new -key yourdomain.key -out yourdomain.csr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generate CSR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openssl req -text -noout -verify -in CSR.csr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check CSR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openssl x509 -noout -text -in 'cerfile.cer'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view .cer info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openssl pkcs7 -print_certs -in www.server.com.p7b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view p7b info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5369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openssl crl2pkcs7 -nocrl -certfile certificate.cer -out certificate.p7b -certfile CACert.cert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convert PEM to P7B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5433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openssl pkcs12 -export -out certificate.pfx -inkey privateKey.key -in certificate.crt -certfile CACert.crt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convert PEM to PFX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openssl pkcs7 -print_certs -in certificate.p7b -out certificate.cer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convert P7B to PEM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openssl pkcs7 -print_certs -in certificate.p7b -out certificate.cer</a:t>
                      </a:r>
                      <a:endParaRPr lang="zh-CN" altLang="en-US" sz="1200"/>
                    </a:p>
                    <a:p>
                      <a:pPr>
                        <a:buNone/>
                      </a:pPr>
                      <a:r>
                        <a:rPr lang="zh-CN" altLang="en-US" sz="1200"/>
                        <a:t>openssl pkcs12 -export -in certificate.cer -inkey privateKey.key -out certificate.pfx -certfile CACert.cer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convert P7B to PFX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5003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openssl pkcs12 -in certificate.pfx -out certificate.cer -nodes</a:t>
                      </a:r>
                      <a:endParaRPr lang="zh-CN" altLang="en-US" sz="1200"/>
                    </a:p>
                    <a:p>
                      <a:pPr>
                        <a:buNone/>
                      </a:pPr>
                      <a:r>
                        <a:rPr lang="zh-CN" altLang="en-US" sz="1200"/>
                        <a:t>openssl pkcs12 -in yourdomain.pfx -nocerts -out yourdomain.key -nodes</a:t>
                      </a:r>
                      <a:r>
                        <a:rPr lang="en-US" altLang="zh-CN" sz="1200"/>
                        <a:t>    // private key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convert PFX to PEM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1"/>
                        <a:t>openssl x509 -in certificate.crt -text -noout</a:t>
                      </a:r>
                      <a:endParaRPr lang="en-US" altLang="zh-CN" sz="1200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view crt certificate info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openssl pkcs12 -info -in certificate.p12 -nodes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view pfx certificate info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1"/>
                        <a:t>openssl rand -base64 32</a:t>
                      </a:r>
                      <a:endParaRPr lang="en-US" altLang="zh-CN" sz="1200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1"/>
                        <a:t>generate secret key</a:t>
                      </a:r>
                      <a:endParaRPr lang="en-US" altLang="zh-CN" sz="1200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gphoto2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591820" y="1163320"/>
          <a:ext cx="1102423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7250"/>
                <a:gridCol w="5829300"/>
                <a:gridCol w="1797685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Meaning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gphoto2 --summary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summay info about camera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gphoto2 --list-config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all config entries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gphoto2 --get-config /main/capturesettings/liveviewsize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get value of a config entry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gphoto2 --set-config-index </a:t>
                      </a:r>
                      <a:r>
                        <a:rPr lang="en-US" altLang="zh-CN" sz="1200">
                          <a:sym typeface="+mn-ea"/>
                        </a:rPr>
                        <a:t>/main/capturesettings/liveviewsize=0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gphoto2 --capture-preview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capture a quick preview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gphoto2 --capture-movie {seconds}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capture a stream of previews (mjpg) as fast as the camera can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gphoto2 --capture-image-and-download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capture an image and download it from camera immediately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gphoto2 --auto-detect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show connected cameras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Gimp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86805" cy="4549140"/>
          </a:xfrm>
        </p:spPr>
        <p:txBody>
          <a:bodyPr/>
          <a:p>
            <a:r>
              <a:rPr lang="en-US" altLang="zh-CN"/>
              <a:t>Plugins</a:t>
            </a:r>
            <a:endParaRPr lang="en-US" altLang="zh-CN"/>
          </a:p>
          <a:p>
            <a:pPr lvl="1"/>
            <a:r>
              <a:rPr lang="en-US" altLang="zh-CN"/>
              <a:t>inpaint plugin</a:t>
            </a:r>
            <a:endParaRPr lang="en-US" altLang="zh-CN"/>
          </a:p>
          <a:p>
            <a:pPr lvl="2"/>
            <a:r>
              <a:rPr lang="en-US" altLang="zh-CN"/>
              <a:t>https://inpaintgimpplugin.github.io/</a:t>
            </a:r>
            <a:endParaRPr lang="en-US" altLang="zh-CN"/>
          </a:p>
          <a:p>
            <a:pPr lvl="1"/>
            <a:r>
              <a:rPr lang="en-US" altLang="zh-CN"/>
              <a:t>install plugins</a:t>
            </a:r>
            <a:endParaRPr lang="en-US" altLang="zh-CN"/>
          </a:p>
          <a:p>
            <a:pPr lvl="2"/>
            <a:r>
              <a:rPr lang="en-US" altLang="zh-CN"/>
              <a:t>download plugin</a:t>
            </a:r>
            <a:endParaRPr lang="en-US" altLang="zh-CN"/>
          </a:p>
          <a:p>
            <a:pPr lvl="2"/>
            <a:r>
              <a:rPr lang="en-US" altLang="zh-CN"/>
              <a:t>copy to C:\Users\[YourUsername]\AppData\Roaming\GIMP\2.10\plug-ins</a:t>
            </a:r>
            <a:endParaRPr lang="en-US" altLang="zh-CN"/>
          </a:p>
          <a:p>
            <a:pPr lvl="2"/>
            <a:r>
              <a:rPr lang="en-US" altLang="zh-CN"/>
              <a:t>restart gimp</a:t>
            </a:r>
            <a:endParaRPr lang="en-US" altLang="zh-CN"/>
          </a:p>
          <a:p>
            <a:pPr lvl="2"/>
            <a:r>
              <a:rPr lang="en-US" altLang="zh-CN"/>
              <a:t>check new plugin, </a:t>
            </a:r>
            <a:r>
              <a:rPr lang="zh-CN" altLang="en-US"/>
              <a:t>帮助</a:t>
            </a:r>
            <a:r>
              <a:rPr lang="en-US" altLang="zh-CN"/>
              <a:t>-</a:t>
            </a:r>
            <a:r>
              <a:rPr lang="zh-CN" altLang="en-US"/>
              <a:t>》插件浏览器</a:t>
            </a:r>
            <a:endParaRPr lang="zh-CN" altLang="en-US"/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7503795" y="182880"/>
            <a:ext cx="4186555" cy="2874645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8522970" y="2700020"/>
            <a:ext cx="2147570" cy="401447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Install libc6 on Ubuntu 20.04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57800" cy="4549140"/>
          </a:xfrm>
        </p:spPr>
        <p:txBody>
          <a:bodyPr/>
          <a:p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check glibc version</a:t>
            </a:r>
            <a:endParaRPr lang="en-US" altLang="zh-CN"/>
          </a:p>
          <a:p>
            <a:pPr lvl="2"/>
            <a:r>
              <a:rPr lang="en-US" altLang="zh-CN"/>
              <a:t>ldd --version</a:t>
            </a:r>
            <a:endParaRPr lang="en-US" altLang="zh-CN"/>
          </a:p>
          <a:p>
            <a:pPr lvl="1"/>
            <a:r>
              <a:rPr lang="en-US" altLang="zh-CN"/>
              <a:t>add to apt source</a:t>
            </a:r>
            <a:endParaRPr lang="en-US" altLang="zh-CN"/>
          </a:p>
          <a:p>
            <a:pPr lvl="2"/>
            <a:r>
              <a:rPr lang="en-US" altLang="zh-CN" sz="1800"/>
              <a:t>deb http://security.ubuntu.com/ubuntu jammy-security main</a:t>
            </a:r>
            <a:endParaRPr lang="en-US" altLang="zh-CN" sz="1800"/>
          </a:p>
          <a:p>
            <a:pPr lvl="1"/>
            <a:r>
              <a:rPr lang="en-US" altLang="zh-CN"/>
              <a:t>sudo apt update</a:t>
            </a:r>
            <a:endParaRPr lang="en-US" altLang="zh-CN"/>
          </a:p>
          <a:p>
            <a:pPr lvl="1"/>
            <a:r>
              <a:rPr lang="en-US" altLang="zh-CN"/>
              <a:t>sudo apt install libc6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Bash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Input Parameters</a:t>
            </a:r>
            <a:endParaRPr lang="en-US" altLang="zh-CN"/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733425" y="1050290"/>
          <a:ext cx="10906125" cy="6092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585"/>
                <a:gridCol w="3328035"/>
                <a:gridCol w="5945505"/>
              </a:tblGrid>
              <a:tr h="5600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Script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Meaning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6400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$1 $2 $3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1st, 2nd, 3rd parameters when run the script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6007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$@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array of all input parameters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6007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$*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all parameter as one value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6007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$#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number of parameters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2362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options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makereport -u jsmith -p notebooks -d 10-20-2011 -f pdf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/>
                        <a:t>while getopts u:d:p:f: option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/>
                        <a:t>do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/>
                        <a:t>case "${option}"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/>
                        <a:t>in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/>
                        <a:t>u) USER=${OPTARG};;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/>
                        <a:t>d) DATE=${OPTARG};;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/>
                        <a:t>p) PRODUCT=${OPTARG};;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/>
                        <a:t>f) FORMAT=${OPTARG};;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/>
                        <a:t>esac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/>
                        <a:t>done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String Operations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720725" y="1404620"/>
          <a:ext cx="10984230" cy="4589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4769485"/>
                <a:gridCol w="4665345"/>
              </a:tblGrid>
              <a:tr h="4159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Script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Meaning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${#var}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string length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${var:</a:t>
                      </a:r>
                      <a:r>
                        <a:rPr lang="en-US" altLang="zh-CN" i="1"/>
                        <a:t>1</a:t>
                      </a:r>
                      <a:r>
                        <a:rPr lang="en-US" altLang="zh-CN"/>
                        <a:t>:</a:t>
                      </a:r>
                      <a:r>
                        <a:rPr lang="en-US" altLang="zh-CN" i="1"/>
                        <a:t>7</a:t>
                      </a:r>
                      <a:r>
                        <a:rPr lang="en-US" altLang="zh-CN"/>
                        <a:t>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substring from start with len chars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305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${var#</a:t>
                      </a:r>
                      <a:r>
                        <a:rPr lang="en-US" altLang="zh-CN" i="1"/>
                        <a:t>*/</a:t>
                      </a:r>
                      <a:r>
                        <a:rPr lang="en-US" altLang="zh-CN"/>
                        <a:t>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Stri</a:t>
                      </a:r>
                      <a:r>
                        <a:rPr lang="en-US" altLang="zh-CN"/>
                        <a:t>p</a:t>
                      </a:r>
                      <a:r>
                        <a:rPr lang="zh-CN" altLang="en-US"/>
                        <a:t> the shortest match from front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“*/”: example match RE</a:t>
                      </a: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${var%</a:t>
                      </a:r>
                      <a:r>
                        <a:rPr lang="en-US" altLang="zh-CN" sz="1800" i="1">
                          <a:sym typeface="+mn-ea"/>
                        </a:rPr>
                        <a:t>*/</a:t>
                      </a:r>
                      <a:r>
                        <a:rPr lang="en-US" altLang="zh-CN" sz="1800">
                          <a:sym typeface="+mn-ea"/>
                        </a:rPr>
                        <a:t>}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Stri</a:t>
                      </a:r>
                      <a:r>
                        <a:rPr lang="en-US" altLang="zh-CN" sz="1800">
                          <a:sym typeface="+mn-ea"/>
                        </a:rPr>
                        <a:t>p</a:t>
                      </a:r>
                      <a:r>
                        <a:rPr lang="zh-CN" altLang="en-US" sz="1800">
                          <a:sym typeface="+mn-ea"/>
                        </a:rPr>
                        <a:t> the shortest match from </a:t>
                      </a:r>
                      <a:r>
                        <a:rPr lang="en-US" altLang="zh-CN" sz="1800">
                          <a:sym typeface="+mn-ea"/>
                        </a:rPr>
                        <a:t>back</a:t>
                      </a:r>
                      <a:endParaRPr lang="en-US" altLang="zh-CN" sz="1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${var##</a:t>
                      </a:r>
                      <a:r>
                        <a:rPr lang="en-US" altLang="zh-CN" sz="1800" i="1">
                          <a:sym typeface="+mn-ea"/>
                        </a:rPr>
                        <a:t>*/</a:t>
                      </a:r>
                      <a:r>
                        <a:rPr lang="en-US" altLang="zh-CN" sz="1800">
                          <a:sym typeface="+mn-ea"/>
                        </a:rPr>
                        <a:t>}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Stri</a:t>
                      </a:r>
                      <a:r>
                        <a:rPr lang="en-US" altLang="zh-CN" sz="1800">
                          <a:sym typeface="+mn-ea"/>
                        </a:rPr>
                        <a:t>p</a:t>
                      </a:r>
                      <a:r>
                        <a:rPr lang="zh-CN" altLang="en-US" sz="1800">
                          <a:sym typeface="+mn-ea"/>
                        </a:rPr>
                        <a:t> the </a:t>
                      </a:r>
                      <a:r>
                        <a:rPr lang="en-US" altLang="zh-CN" sz="1800">
                          <a:sym typeface="+mn-ea"/>
                        </a:rPr>
                        <a:t>longest </a:t>
                      </a:r>
                      <a:r>
                        <a:rPr lang="zh-CN" altLang="en-US" sz="1800">
                          <a:sym typeface="+mn-ea"/>
                        </a:rPr>
                        <a:t>match from front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${var%%</a:t>
                      </a:r>
                      <a:r>
                        <a:rPr lang="en-US" altLang="zh-CN" sz="1800" i="1">
                          <a:sym typeface="+mn-ea"/>
                        </a:rPr>
                        <a:t>*/</a:t>
                      </a:r>
                      <a:r>
                        <a:rPr lang="en-US" altLang="zh-CN" sz="1800">
                          <a:sym typeface="+mn-ea"/>
                        </a:rPr>
                        <a:t>}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Stri</a:t>
                      </a:r>
                      <a:r>
                        <a:rPr lang="en-US" altLang="zh-CN" sz="1800">
                          <a:sym typeface="+mn-ea"/>
                        </a:rPr>
                        <a:t>p</a:t>
                      </a:r>
                      <a:r>
                        <a:rPr lang="zh-CN" altLang="en-US" sz="1800">
                          <a:sym typeface="+mn-ea"/>
                        </a:rPr>
                        <a:t> the </a:t>
                      </a:r>
                      <a:r>
                        <a:rPr lang="en-US" altLang="zh-CN" sz="1800">
                          <a:sym typeface="+mn-ea"/>
                        </a:rPr>
                        <a:t>longest </a:t>
                      </a:r>
                      <a:r>
                        <a:rPr lang="zh-CN" altLang="en-US" sz="1800">
                          <a:sym typeface="+mn-ea"/>
                        </a:rPr>
                        <a:t>match from </a:t>
                      </a:r>
                      <a:r>
                        <a:rPr lang="en-US" altLang="zh-CN" sz="1800">
                          <a:sym typeface="+mn-ea"/>
                        </a:rPr>
                        <a:t>back</a:t>
                      </a:r>
                      <a:endParaRPr lang="en-US" altLang="zh-CN" sz="1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${var/</a:t>
                      </a:r>
                      <a:r>
                        <a:rPr lang="en-US" altLang="zh-CN" i="1"/>
                        <a:t>a*b</a:t>
                      </a:r>
                      <a:r>
                        <a:rPr lang="en-US" altLang="zh-CN"/>
                        <a:t>/c}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Replace first match substring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Replace first match “a*b” in string with “c”</a:t>
                      </a: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${var//</a:t>
                      </a:r>
                      <a:r>
                        <a:rPr lang="en-US" altLang="zh-CN" sz="1800" i="1">
                          <a:sym typeface="+mn-ea"/>
                        </a:rPr>
                        <a:t>a*b</a:t>
                      </a:r>
                      <a:r>
                        <a:rPr lang="en-US" altLang="zh-CN" sz="1800">
                          <a:sym typeface="+mn-ea"/>
                        </a:rPr>
                        <a:t>/c}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Replace all match substring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Replace all “a*b” matches with “c”</a:t>
                      </a: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${var^^}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Convert string to all uppercase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${var,,}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Convert string to all lowercase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Path Operations</a:t>
            </a:r>
            <a:endParaRPr lang="en-US" altLang="zh-CN"/>
          </a:p>
        </p:txBody>
      </p:sp>
      <p:graphicFrame>
        <p:nvGraphicFramePr>
          <p:cNvPr id="4" name="内容占位符 3"/>
          <p:cNvGraphicFramePr/>
          <p:nvPr>
            <p:ph idx="1"/>
            <p:custDataLst>
              <p:tags r:id="rId1"/>
            </p:custDataLst>
          </p:nvPr>
        </p:nvGraphicFramePr>
        <p:xfrm>
          <a:off x="838200" y="1211581"/>
          <a:ext cx="10515600" cy="5038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6340"/>
                <a:gridCol w="3875405"/>
                <a:gridCol w="2903855"/>
              </a:tblGrid>
              <a:tr h="4159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Script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Meaning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filename=$(dirname "$fullfile")</a:t>
                      </a:r>
                      <a:endParaRPr lang="en-US" altLang="zh-CN" sz="1800"/>
                    </a:p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Extract dirname from a full path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filename=$(basename "$fullfile")</a:t>
                      </a:r>
                      <a:endParaRPr lang="en-US" altLang="zh-CN" sz="1800"/>
                    </a:p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Extract </a:t>
                      </a:r>
                      <a:r>
                        <a:rPr lang="en-US" altLang="zh-CN"/>
                        <a:t>basename from a full path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305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extension="${filename##*.}"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Extract file extension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filename="${filename%.*}"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Extract file name with extension</a:t>
                      </a:r>
                      <a:endParaRPr lang="en-US" altLang="zh-CN" sz="1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absolue_path=$(realpath $path)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Get absolute path of a path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absolute_path=$(dirname $path)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Get absolute path of a file</a:t>
                      </a:r>
                      <a:endParaRPr lang="en-US" altLang="zh-CN" sz="1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Date &amp; Time</a:t>
            </a:r>
            <a:endParaRPr lang="en-US" altLang="zh-CN"/>
          </a:p>
        </p:txBody>
      </p:sp>
      <p:graphicFrame>
        <p:nvGraphicFramePr>
          <p:cNvPr id="4" name="内容占位符 3"/>
          <p:cNvGraphicFramePr/>
          <p:nvPr>
            <p:ph idx="1"/>
            <p:custDataLst>
              <p:tags r:id="rId1"/>
            </p:custDataLst>
          </p:nvPr>
        </p:nvGraphicFramePr>
        <p:xfrm>
          <a:off x="838200" y="1211581"/>
          <a:ext cx="10515600" cy="5038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6340"/>
                <a:gridCol w="3875405"/>
                <a:gridCol w="2903855"/>
              </a:tblGrid>
              <a:tr h="4159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Script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Meaning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timestamp=$(date +%s)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Get current timestamp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30530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  <a:tr h="415925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Statements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964565" y="1264285"/>
            <a:ext cx="3247390" cy="203009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    if &lt;expression&gt;; then</a:t>
            </a:r>
            <a:endParaRPr lang="zh-CN" altLang="en-US"/>
          </a:p>
          <a:p>
            <a:r>
              <a:rPr lang="zh-CN" altLang="en-US"/>
              <a:t>        &lt;commands&gt;</a:t>
            </a:r>
            <a:endParaRPr lang="zh-CN" altLang="en-US"/>
          </a:p>
          <a:p>
            <a:r>
              <a:rPr lang="zh-CN" altLang="en-US"/>
              <a:t>    elif &lt;expression&gt;; then</a:t>
            </a:r>
            <a:endParaRPr lang="zh-CN" altLang="en-US"/>
          </a:p>
          <a:p>
            <a:r>
              <a:rPr lang="zh-CN" altLang="en-US"/>
              <a:t>        &lt;commands&gt;</a:t>
            </a:r>
            <a:endParaRPr lang="zh-CN" altLang="en-US"/>
          </a:p>
          <a:p>
            <a:r>
              <a:rPr lang="zh-CN" altLang="en-US"/>
              <a:t>    else</a:t>
            </a:r>
            <a:endParaRPr lang="zh-CN" altLang="en-US"/>
          </a:p>
          <a:p>
            <a:r>
              <a:rPr lang="zh-CN" altLang="en-US"/>
              <a:t>        &lt;commands&gt;</a:t>
            </a:r>
            <a:endParaRPr lang="zh-CN" altLang="en-US"/>
          </a:p>
          <a:p>
            <a:r>
              <a:rPr lang="zh-CN" altLang="en-US"/>
              <a:t>    fi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4472305" y="1277620"/>
            <a:ext cx="3247390" cy="230695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    case EXPRESSION in</a:t>
            </a:r>
            <a:endParaRPr lang="zh-CN" altLang="en-US"/>
          </a:p>
          <a:p>
            <a:r>
              <a:rPr lang="zh-CN" altLang="en-US"/>
              <a:t>    CASE1)</a:t>
            </a:r>
            <a:endParaRPr lang="zh-CN" altLang="en-US"/>
          </a:p>
          <a:p>
            <a:r>
              <a:rPr lang="zh-CN" altLang="en-US"/>
              <a:t>        COMMAND-LIST</a:t>
            </a:r>
            <a:endParaRPr lang="zh-CN" altLang="en-US"/>
          </a:p>
          <a:p>
            <a:r>
              <a:rPr lang="zh-CN" altLang="en-US"/>
              <a:t>        ;;</a:t>
            </a:r>
            <a:endParaRPr lang="zh-CN" altLang="en-US"/>
          </a:p>
          <a:p>
            <a:r>
              <a:rPr lang="zh-CN" altLang="en-US"/>
              <a:t>    CASEN)</a:t>
            </a:r>
            <a:endParaRPr lang="zh-CN" altLang="en-US"/>
          </a:p>
          <a:p>
            <a:r>
              <a:rPr lang="zh-CN" altLang="en-US"/>
              <a:t>        COMMAND-LIST</a:t>
            </a:r>
            <a:endParaRPr lang="zh-CN" altLang="en-US"/>
          </a:p>
          <a:p>
            <a:r>
              <a:rPr lang="zh-CN" altLang="en-US"/>
              <a:t>        ;;</a:t>
            </a:r>
            <a:endParaRPr lang="zh-CN" altLang="en-US"/>
          </a:p>
          <a:p>
            <a:r>
              <a:rPr lang="zh-CN" altLang="en-US"/>
              <a:t>    esac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964565" y="4116070"/>
            <a:ext cx="3247390" cy="119888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    for i in "${arr[@]}"</a:t>
            </a:r>
            <a:endParaRPr lang="zh-CN" altLang="en-US"/>
          </a:p>
          <a:p>
            <a:r>
              <a:rPr lang="zh-CN" altLang="en-US"/>
              <a:t>    do</a:t>
            </a:r>
            <a:endParaRPr lang="zh-CN" altLang="en-US"/>
          </a:p>
          <a:p>
            <a:r>
              <a:rPr lang="zh-CN" altLang="en-US"/>
              <a:t>        echo $i</a:t>
            </a:r>
            <a:endParaRPr lang="zh-CN" altLang="en-US"/>
          </a:p>
          <a:p>
            <a:r>
              <a:rPr lang="zh-CN" altLang="en-US"/>
              <a:t>    done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4472305" y="4116070"/>
            <a:ext cx="3247390" cy="119888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    while [ expression ]; do</a:t>
            </a:r>
            <a:endParaRPr lang="zh-CN" altLang="en-US"/>
          </a:p>
          <a:p>
            <a:r>
              <a:rPr lang="zh-CN" altLang="en-US"/>
              <a:t>        statements;</a:t>
            </a:r>
            <a:endParaRPr lang="zh-CN" altLang="en-US"/>
          </a:p>
          <a:p>
            <a:r>
              <a:rPr lang="zh-CN" altLang="en-US"/>
              <a:t>        multiple statements;</a:t>
            </a:r>
            <a:endParaRPr lang="zh-CN" altLang="en-US"/>
          </a:p>
          <a:p>
            <a:r>
              <a:rPr lang="zh-CN" altLang="en-US"/>
              <a:t>    done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4472305" y="5419725"/>
            <a:ext cx="3664585" cy="119888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    while [ </a:t>
            </a:r>
            <a:r>
              <a:rPr lang="en-US" altLang="zh-CN"/>
              <a:t>cond1 &amp;&amp; cond2 </a:t>
            </a:r>
            <a:r>
              <a:rPr lang="zh-CN" altLang="en-US"/>
              <a:t>]; do</a:t>
            </a:r>
            <a:endParaRPr lang="zh-CN" altLang="en-US"/>
          </a:p>
          <a:p>
            <a:r>
              <a:rPr lang="zh-CN" altLang="en-US"/>
              <a:t>        statements;</a:t>
            </a:r>
            <a:endParaRPr lang="zh-CN" altLang="en-US"/>
          </a:p>
          <a:p>
            <a:r>
              <a:rPr lang="zh-CN" altLang="en-US"/>
              <a:t>        multiple statements;</a:t>
            </a:r>
            <a:endParaRPr lang="zh-CN" altLang="en-US"/>
          </a:p>
          <a:p>
            <a:r>
              <a:rPr lang="zh-CN" altLang="en-US"/>
              <a:t>    done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7953375" y="4116070"/>
            <a:ext cx="3247390" cy="119888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    until [ expression ]; do</a:t>
            </a:r>
            <a:endParaRPr lang="zh-CN" altLang="en-US"/>
          </a:p>
          <a:p>
            <a:r>
              <a:rPr lang="zh-CN" altLang="en-US"/>
              <a:t>        statements;</a:t>
            </a:r>
            <a:endParaRPr lang="zh-CN" altLang="en-US"/>
          </a:p>
          <a:p>
            <a:r>
              <a:rPr lang="zh-CN" altLang="en-US"/>
              <a:t>        multiple statements;</a:t>
            </a:r>
            <a:endParaRPr lang="zh-CN" altLang="en-US"/>
          </a:p>
          <a:p>
            <a:r>
              <a:rPr lang="zh-CN" altLang="en-US"/>
              <a:t>    done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Misc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bash -x a.sh</a:t>
            </a:r>
            <a:endParaRPr lang="en-US" altLang="zh-CN"/>
          </a:p>
          <a:p>
            <a:pPr lvl="1"/>
            <a:r>
              <a:rPr lang="en-US" altLang="zh-CN"/>
              <a:t>debug mode, echo all commands when execute</a:t>
            </a:r>
            <a:endParaRPr lang="en-US" altLang="zh-CN"/>
          </a:p>
          <a:p>
            <a:pPr lvl="0"/>
            <a:r>
              <a:rPr lang="en-US" altLang="zh-CN"/>
              <a:t>read input</a:t>
            </a:r>
            <a:endParaRPr lang="en-US" altLang="zh-CN"/>
          </a:p>
          <a:p>
            <a:pPr lvl="1"/>
            <a:r>
              <a:rPr lang="en-US" altLang="zh-CN"/>
              <a:t>read -p "Enter your age: " age</a:t>
            </a:r>
            <a:endParaRPr lang="en-US" altLang="zh-CN"/>
          </a:p>
          <a:p>
            <a:pPr lvl="0"/>
            <a:r>
              <a:rPr lang="en-US" altLang="zh-CN"/>
              <a:t>computation</a:t>
            </a:r>
            <a:endParaRPr lang="en-US" altLang="zh-CN"/>
          </a:p>
          <a:p>
            <a:pPr lvl="1"/>
            <a:r>
              <a:rPr lang="en-US" altLang="zh-CN"/>
              <a:t>$((...))</a:t>
            </a:r>
            <a:endParaRPr lang="en-US" altLang="zh-CN"/>
          </a:p>
          <a:p>
            <a:pPr lvl="1"/>
            <a:r>
              <a:rPr lang="en-US" altLang="zh-CN"/>
              <a:t>do not support float compution</a:t>
            </a:r>
            <a:endParaRPr lang="en-US" altLang="zh-CN"/>
          </a:p>
          <a:p>
            <a:pPr lvl="1"/>
            <a:r>
              <a:rPr lang="en-US" altLang="zh-CN"/>
              <a:t>bc</a:t>
            </a:r>
            <a:endParaRPr lang="en-US" altLang="zh-CN"/>
          </a:p>
          <a:p>
            <a:pPr lvl="2"/>
            <a:r>
              <a:rPr lang="en-US" altLang="zh-CN"/>
              <a:t>result=$(echo "scale=2; 5.5 + 3.2" | bc)</a:t>
            </a:r>
            <a:endParaRPr lang="en-US" altLang="zh-CN"/>
          </a:p>
          <a:p>
            <a:pPr lvl="1"/>
            <a:r>
              <a:rPr lang="en-US" altLang="zh-CN"/>
              <a:t>awk</a:t>
            </a:r>
            <a:endParaRPr lang="en-US" altLang="zh-CN"/>
          </a:p>
          <a:p>
            <a:pPr lvl="2"/>
            <a:r>
              <a:rPr lang="en-US" altLang="zh-CN"/>
              <a:t>result=$(awk 'BEGIN {print 5.5 + 3.2}')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Vim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Vim - Basic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699125" cy="5305425"/>
          </a:xfrm>
        </p:spPr>
        <p:txBody>
          <a:bodyPr>
            <a:normAutofit fontScale="60000"/>
          </a:bodyPr>
          <a:p>
            <a:r>
              <a:rPr lang="en-US" altLang="zh-CN" sz="2700">
                <a:sym typeface="+mn-ea"/>
              </a:rPr>
              <a:t>vim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sudo apt install vim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vim-plug</a:t>
            </a:r>
            <a:endParaRPr lang="en-US" altLang="zh-CN" sz="2400"/>
          </a:p>
          <a:p>
            <a:pPr lvl="2"/>
            <a:r>
              <a:rPr lang="en-US" altLang="zh-CN" sz="2000">
                <a:sym typeface="+mn-ea"/>
              </a:rPr>
              <a:t>curl -fLo ~/.vim/autoload/plug.vim --create-dirs https://raw.githubusercontent.com/junegunn/vim-plug/master/plug.vim</a:t>
            </a:r>
            <a:endParaRPr lang="en-US" altLang="zh-CN" sz="2000"/>
          </a:p>
          <a:p>
            <a:r>
              <a:rPr lang="en-US" altLang="zh-CN" sz="2400">
                <a:sym typeface="+mn-ea"/>
              </a:rPr>
              <a:t>neovim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sudo apt install neovim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nvim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~/.config/nvim/init.vim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vim-plug</a:t>
            </a:r>
            <a:endParaRPr lang="en-US" altLang="zh-CN" sz="2400"/>
          </a:p>
          <a:p>
            <a:pPr lvl="2"/>
            <a:r>
              <a:rPr lang="en-US" altLang="zh-CN" sz="2000">
                <a:sym typeface="+mn-ea"/>
              </a:rPr>
              <a:t>sh -c 'curl -fLo "${XDG_DATA_HOME:-$HOME/.local/share}"/nvim/site/autoload/plug.vim --create-dirs https://raw.githubusercontent.com/junegunn/vim-plug/master/plug.vim'</a:t>
            </a:r>
            <a:endParaRPr lang="en-US" altLang="zh-CN" sz="2000"/>
          </a:p>
          <a:p>
            <a:pPr lvl="0"/>
            <a:r>
              <a:rPr lang="en-US" altLang="zh-CN" sz="2700">
                <a:sym typeface="+mn-ea"/>
              </a:rPr>
              <a:t>vim-plug</a:t>
            </a:r>
            <a:endParaRPr lang="en-US" altLang="zh-CN" sz="2700"/>
          </a:p>
          <a:p>
            <a:pPr lvl="1"/>
            <a:r>
              <a:rPr lang="en-US" altLang="zh-CN" sz="2400">
                <a:sym typeface="+mn-ea"/>
              </a:rPr>
              <a:t>https://github.com/junegunn/vim-plug</a:t>
            </a:r>
            <a:endParaRPr lang="en-US" altLang="zh-CN" sz="2400">
              <a:sym typeface="+mn-ea"/>
            </a:endParaRPr>
          </a:p>
          <a:p>
            <a:pPr lvl="0"/>
            <a:r>
              <a:rPr lang="en-US" altLang="zh-CN" sz="2700"/>
              <a:t>tabnine-nvim</a:t>
            </a:r>
            <a:endParaRPr lang="en-US" altLang="zh-CN" sz="2700"/>
          </a:p>
          <a:p>
            <a:pPr lvl="1"/>
            <a:r>
              <a:rPr lang="en-US" altLang="zh-CN" sz="2400"/>
              <a:t>https://github.com/codota/tabnine-nvim</a:t>
            </a:r>
            <a:endParaRPr lang="en-US" altLang="zh-CN" sz="2400"/>
          </a:p>
          <a:p>
            <a:pPr lvl="0"/>
            <a:r>
              <a:rPr lang="en-US" altLang="zh-CN" sz="2880"/>
              <a:t>Beautify json</a:t>
            </a:r>
            <a:endParaRPr lang="en-US" altLang="zh-CN" sz="2880"/>
          </a:p>
          <a:p>
            <a:pPr lvl="1"/>
            <a:r>
              <a:rPr lang="en-US" altLang="zh-CN"/>
              <a:t>:%!python -m json.tool</a:t>
            </a:r>
            <a:endParaRPr lang="en-US" altLang="zh-CN" sz="2400"/>
          </a:p>
          <a:p>
            <a:endParaRPr lang="zh-CN" altLang="en-US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6278245" y="1211580"/>
            <a:ext cx="4960620" cy="454914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/>
              <a:t>Copy from/to system clipboard</a:t>
            </a:r>
            <a:endParaRPr lang="en-US" altLang="zh-CN" sz="1400"/>
          </a:p>
          <a:p>
            <a:pPr lvl="1"/>
            <a:r>
              <a:rPr lang="en-US" altLang="zh-CN" sz="1200"/>
              <a:t>vnoremap \y y:call system("pbcopy", getreg("\""))&lt;CR&gt;</a:t>
            </a:r>
            <a:endParaRPr lang="en-US" altLang="zh-CN" sz="1200"/>
          </a:p>
          <a:p>
            <a:pPr lvl="1"/>
            <a:r>
              <a:rPr lang="en-US" altLang="zh-CN" sz="1200"/>
              <a:t>nnoremap \p :call setreg("\"", system("pbpaste"))&lt;CR&gt;p</a:t>
            </a:r>
            <a:endParaRPr lang="en-US" altLang="zh-CN" sz="1200"/>
          </a:p>
          <a:p>
            <a:pPr lvl="1"/>
            <a:r>
              <a:rPr lang="en-US" altLang="zh-CN" sz="1200"/>
              <a:t>noremap YY "+y&lt;CR&gt;</a:t>
            </a:r>
            <a:endParaRPr lang="en-US" altLang="zh-CN" sz="1200"/>
          </a:p>
          <a:p>
            <a:pPr lvl="1"/>
            <a:r>
              <a:rPr lang="en-US" altLang="zh-CN" sz="1200"/>
              <a:t>noremap P "+gP&lt;CR&gt;</a:t>
            </a:r>
            <a:endParaRPr lang="en-US" altLang="zh-CN" sz="1200"/>
          </a:p>
          <a:p>
            <a:pPr lvl="1"/>
            <a:r>
              <a:rPr lang="en-US" altLang="zh-CN" sz="1200"/>
              <a:t>noremap XX "+x&lt;CR&gt;</a:t>
            </a:r>
            <a:endParaRPr lang="en-US" altLang="zh-CN" sz="1200"/>
          </a:p>
          <a:p>
            <a:pPr lvl="0"/>
            <a:r>
              <a:rPr lang="en-US" altLang="zh-CN" sz="1400"/>
              <a:t>Search unicode</a:t>
            </a:r>
            <a:endParaRPr lang="en-US" altLang="zh-CN" sz="1400"/>
          </a:p>
          <a:p>
            <a:pPr lvl="1"/>
            <a:r>
              <a:rPr lang="en-US" altLang="zh-CN" sz="1200"/>
              <a:t>/[\uXXXX]</a:t>
            </a:r>
            <a:endParaRPr lang="en-US" altLang="zh-CN" sz="1200"/>
          </a:p>
          <a:p>
            <a:pPr lvl="0"/>
            <a:r>
              <a:rPr lang="en-US" altLang="zh-CN" sz="1400"/>
              <a:t>clipboard</a:t>
            </a:r>
            <a:endParaRPr lang="en-US" altLang="zh-CN" sz="1400"/>
          </a:p>
          <a:p>
            <a:pPr lvl="1"/>
            <a:r>
              <a:rPr lang="en-US" altLang="zh-CN" sz="1200"/>
              <a:t>lowercase register</a:t>
            </a:r>
            <a:endParaRPr lang="en-US" altLang="zh-CN" sz="1200"/>
          </a:p>
          <a:p>
            <a:pPr lvl="2"/>
            <a:r>
              <a:rPr lang="en-US" altLang="zh-CN" sz="1000"/>
              <a:t>overwrite mode</a:t>
            </a:r>
            <a:endParaRPr lang="en-US" altLang="zh-CN" sz="1000"/>
          </a:p>
          <a:p>
            <a:pPr lvl="1"/>
            <a:r>
              <a:rPr lang="en-US" altLang="zh-CN" sz="1200"/>
              <a:t>uppercase register</a:t>
            </a:r>
            <a:endParaRPr lang="en-US" altLang="zh-CN" sz="1200"/>
          </a:p>
          <a:p>
            <a:pPr lvl="2"/>
            <a:r>
              <a:rPr lang="en-US" altLang="zh-CN" sz="1000"/>
              <a:t>append mode</a:t>
            </a:r>
            <a:endParaRPr lang="en-US" altLang="zh-CN" sz="1000"/>
          </a:p>
          <a:p>
            <a:pPr lvl="0"/>
            <a:r>
              <a:rPr lang="en-US" altLang="zh-CN" sz="1400"/>
              <a:t>Search Chinese chars</a:t>
            </a:r>
            <a:endParaRPr lang="en-US" altLang="zh-CN" sz="1400"/>
          </a:p>
          <a:p>
            <a:pPr lvl="1"/>
            <a:r>
              <a:rPr lang="en-US" altLang="zh-CN" sz="1200"/>
              <a:t>/\v[\u4e00-\u9fff]</a:t>
            </a:r>
            <a:endParaRPr lang="en-US" altLang="zh-CN" sz="1200"/>
          </a:p>
          <a:p>
            <a:pPr lvl="1"/>
            <a:r>
              <a:rPr lang="en-US" altLang="zh-CN" sz="1200"/>
              <a:t>^M: /r</a:t>
            </a:r>
            <a:endParaRPr lang="en-US" altLang="zh-CN" sz="1200"/>
          </a:p>
          <a:p>
            <a:pPr lvl="0"/>
            <a:r>
              <a:rPr lang="en-US" altLang="zh-CN" sz="1600"/>
              <a:t>Highlight all Chinese chars</a:t>
            </a:r>
            <a:endParaRPr lang="en-US" altLang="zh-CN" sz="1600"/>
          </a:p>
          <a:p>
            <a:pPr lvl="1"/>
            <a:r>
              <a:rPr lang="en-US" altLang="zh-CN" sz="1200"/>
              <a:t>:syntax match chineseCharacters /\v[\u4e00-\u9fff]/</a:t>
            </a:r>
            <a:endParaRPr lang="en-US" altLang="zh-CN" sz="1200"/>
          </a:p>
          <a:p>
            <a:pPr lvl="1"/>
            <a:r>
              <a:rPr lang="en-US" altLang="zh-CN" sz="1200"/>
              <a:t>:highlight chineseCharacters ctermbg=yellow guibg=yellow</a:t>
            </a:r>
            <a:endParaRPr lang="en-US" altLang="zh-CN" sz="1200"/>
          </a:p>
          <a:p>
            <a:pPr lvl="1"/>
            <a:endParaRPr lang="en-US" altLang="zh-CN" sz="1200"/>
          </a:p>
        </p:txBody>
      </p:sp>
    </p:spTree>
    <p:custDataLst>
      <p:tags r:id="rId2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NeoVim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982210" cy="5132070"/>
          </a:xfrm>
        </p:spPr>
        <p:txBody>
          <a:bodyPr>
            <a:normAutofit lnSpcReduction="20000"/>
          </a:bodyPr>
          <a:p>
            <a:pPr lvl="0"/>
            <a:r>
              <a:rPr lang="en-US" altLang="zh-CN" sz="1800">
                <a:sym typeface="+mn-ea"/>
              </a:rPr>
              <a:t>Steps</a:t>
            </a:r>
            <a:endParaRPr lang="en-US" altLang="zh-CN" sz="18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install neovim</a:t>
            </a:r>
            <a:endParaRPr lang="en-US" altLang="zh-CN" sz="1400"/>
          </a:p>
          <a:p>
            <a:pPr lvl="2"/>
            <a:r>
              <a:rPr lang="en-US" altLang="zh-CN" sz="1200">
                <a:sym typeface="+mn-ea"/>
              </a:rPr>
              <a:t>Install latest version</a:t>
            </a:r>
            <a:endParaRPr lang="en-US" altLang="zh-CN" sz="1200">
              <a:sym typeface="+mn-ea"/>
            </a:endParaRPr>
          </a:p>
          <a:p>
            <a:pPr lvl="3"/>
            <a:r>
              <a:rPr lang="en-US" altLang="zh-CN" sz="1000">
                <a:sym typeface="+mn-ea"/>
              </a:rPr>
              <a:t>curl -LO https://github.com/neovim/neovim/releases/latest/download/nvim-linux-x86_64.tar.gz</a:t>
            </a:r>
            <a:endParaRPr lang="en-US" altLang="zh-CN" sz="1000">
              <a:sym typeface="+mn-ea"/>
            </a:endParaRPr>
          </a:p>
          <a:p>
            <a:pPr lvl="3"/>
            <a:r>
              <a:rPr lang="en-US" altLang="zh-CN" sz="1000">
                <a:sym typeface="+mn-ea"/>
              </a:rPr>
              <a:t>sudo tar -C /opt -xzf nvim-linux-x86_64.tar.gz</a:t>
            </a:r>
            <a:endParaRPr lang="en-US" altLang="zh-CN" sz="1000">
              <a:sym typeface="+mn-ea"/>
            </a:endParaRPr>
          </a:p>
          <a:p>
            <a:pPr lvl="3"/>
            <a:r>
              <a:rPr lang="en-US" altLang="zh-CN" sz="1000">
                <a:sym typeface="+mn-ea"/>
              </a:rPr>
              <a:t>export PATH="$PATH:/opt/nvim-linux-x86_64/bin"</a:t>
            </a:r>
            <a:endParaRPr lang="en-US" altLang="zh-CN" sz="1000">
              <a:sym typeface="+mn-ea"/>
            </a:endParaRPr>
          </a:p>
          <a:p>
            <a:pPr lvl="0"/>
            <a:r>
              <a:rPr lang="en-US" altLang="zh-CN" sz="1800"/>
              <a:t>vim-plug</a:t>
            </a:r>
            <a:endParaRPr lang="en-US" altLang="zh-CN" sz="1800"/>
          </a:p>
          <a:p>
            <a:pPr lvl="1"/>
            <a:r>
              <a:rPr lang="en-US" altLang="zh-CN" sz="1400">
                <a:sym typeface="+mn-ea"/>
              </a:rPr>
              <a:t>install vim-plug</a:t>
            </a:r>
            <a:endParaRPr lang="en-US" altLang="zh-CN" sz="1400"/>
          </a:p>
          <a:p>
            <a:pPr lvl="2"/>
            <a:r>
              <a:rPr lang="en-US" altLang="zh-CN" sz="1200">
                <a:sym typeface="+mn-ea"/>
              </a:rPr>
              <a:t>sh -c 'curl -fLo "${XDG_DATA_HOME:-$HOME/.local/share}"/nvim/site/autoload/plug.vim --create-dirs https://raw.githubusercontent.com/junegunn/vim-plug/master/plug.vim'</a:t>
            </a:r>
            <a:endParaRPr lang="en-US" altLang="zh-CN" sz="1200"/>
          </a:p>
          <a:p>
            <a:pPr lvl="2"/>
            <a:r>
              <a:rPr lang="en-US" altLang="zh-CN" sz="1200">
                <a:sym typeface="+mn-ea"/>
              </a:rPr>
              <a:t>mkdir -p </a:t>
            </a:r>
            <a:r>
              <a:rPr lang="en-US" altLang="zh-CN" sz="1200" b="1">
                <a:sym typeface="+mn-ea"/>
              </a:rPr>
              <a:t>~/.config/nvim</a:t>
            </a:r>
            <a:endParaRPr lang="en-US" altLang="zh-CN" sz="1200"/>
          </a:p>
          <a:p>
            <a:pPr lvl="2"/>
            <a:r>
              <a:rPr lang="en-US" altLang="zh-CN" sz="1200">
                <a:sym typeface="+mn-ea"/>
              </a:rPr>
              <a:t>nvim ~/.config/nvim/init.vim</a:t>
            </a:r>
            <a:endParaRPr lang="en-US" altLang="zh-CN" sz="1200"/>
          </a:p>
          <a:p>
            <a:pPr lvl="2"/>
            <a:r>
              <a:rPr lang="en-US" altLang="zh-CN" sz="1200">
                <a:sym typeface="+mn-ea"/>
              </a:rPr>
              <a:t>in nvim, run “:source ~/.config/nvim/init.vim”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400">
                <a:sym typeface="+mn-ea"/>
              </a:rPr>
              <a:t>Usage</a:t>
            </a:r>
            <a:endParaRPr lang="en-US" altLang="zh-CN" sz="14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write “Plug xxx” line in ~/.config/nvim/init.vim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in nvim, run “PlugInstall”</a:t>
            </a:r>
            <a:endParaRPr lang="en-US" altLang="zh-CN" sz="1200">
              <a:sym typeface="+mn-ea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204585" y="1211580"/>
            <a:ext cx="4982210" cy="4904105"/>
          </a:xfrm>
          <a:prstGeom prst="rect">
            <a:avLst/>
          </a:prstGeom>
        </p:spPr>
        <p:txBody>
          <a:bodyPr vert="horz" lIns="91440" tIns="45720" rIns="91440" bIns="45720" rtlCol="0">
            <a:normAutofit fontScale="8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2000">
                <a:sym typeface="+mn-ea"/>
              </a:rPr>
              <a:t>lazy.nvim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1400"/>
              <a:t>intro</a:t>
            </a:r>
            <a:endParaRPr lang="en-US" altLang="zh-CN" sz="1400"/>
          </a:p>
          <a:p>
            <a:pPr lvl="2"/>
            <a:r>
              <a:rPr lang="en-US" altLang="zh-CN" sz="1260"/>
              <a:t>the fastest and most modern plugin manager for Neovim (0.5+)</a:t>
            </a:r>
            <a:endParaRPr lang="en-US" altLang="zh-CN" sz="1260"/>
          </a:p>
          <a:p>
            <a:pPr lvl="2"/>
            <a:r>
              <a:rPr lang="en-US" altLang="zh-CN" sz="1260"/>
              <a:t>designed to replace packer.nvim, vim-plug, etc.</a:t>
            </a:r>
            <a:endParaRPr lang="en-US" altLang="zh-CN" sz="1260"/>
          </a:p>
          <a:p>
            <a:pPr lvl="2"/>
            <a:r>
              <a:rPr lang="en-US" altLang="zh-CN" sz="1260"/>
              <a:t>It supports lazy loading, fast startup, and modular configuration.</a:t>
            </a:r>
            <a:endParaRPr lang="en-US" altLang="zh-CN" sz="1260"/>
          </a:p>
          <a:p>
            <a:pPr lvl="1"/>
            <a:r>
              <a:rPr lang="en-US" altLang="zh-CN" sz="1260"/>
              <a:t>usage</a:t>
            </a:r>
            <a:endParaRPr lang="en-US" altLang="zh-CN" sz="1260"/>
          </a:p>
          <a:p>
            <a:pPr lvl="2"/>
            <a:r>
              <a:rPr lang="en-US" altLang="zh-CN" sz="1130"/>
              <a:t>git clone https://github.com/folke/lazy.nvim.git ~/.local/share/nvim/site/pack/lazy/start/lazy.nvim</a:t>
            </a:r>
            <a:endParaRPr lang="en-US" altLang="zh-CN" sz="1130"/>
          </a:p>
          <a:p>
            <a:pPr lvl="2"/>
            <a:r>
              <a:rPr lang="en-US" altLang="zh-CN" sz="1130">
                <a:sym typeface="+mn-ea"/>
              </a:rPr>
              <a:t>mkdir -p ~/.config/nvim/lua/plugins</a:t>
            </a:r>
            <a:endParaRPr lang="en-US" altLang="zh-CN" sz="1130">
              <a:sym typeface="+mn-ea"/>
            </a:endParaRPr>
          </a:p>
          <a:p>
            <a:pPr lvl="2"/>
            <a:r>
              <a:rPr lang="en-US" altLang="zh-CN" sz="1130"/>
              <a:t>nano ~/.config/nvim/lua/plugins.lua</a:t>
            </a:r>
            <a:endParaRPr lang="en-US" altLang="zh-CN" sz="1130"/>
          </a:p>
          <a:p>
            <a:pPr lvl="2"/>
            <a:r>
              <a:rPr lang="en-US" altLang="zh-CN" sz="1130" b="1"/>
              <a:t>:Lazy </a:t>
            </a:r>
            <a:r>
              <a:rPr lang="en-US" altLang="zh-CN" sz="1130"/>
              <a:t># open plugin manager UI</a:t>
            </a:r>
            <a:endParaRPr lang="en-US" altLang="zh-CN" sz="1130"/>
          </a:p>
          <a:p>
            <a:pPr lvl="2"/>
            <a:r>
              <a:rPr lang="en-US" altLang="zh-CN" sz="1130"/>
              <a:t>:Lazy update # update all plugins</a:t>
            </a:r>
            <a:endParaRPr lang="en-US" altLang="zh-CN" sz="1130"/>
          </a:p>
          <a:p>
            <a:pPr lvl="2"/>
            <a:r>
              <a:rPr lang="en-US" altLang="zh-CN" sz="1130">
                <a:sym typeface="+mn-ea"/>
              </a:rPr>
              <a:t>:messages	// Show messages</a:t>
            </a:r>
            <a:endParaRPr lang="en-US" altLang="zh-CN" sz="1130"/>
          </a:p>
          <a:p>
            <a:pPr lvl="1"/>
            <a:r>
              <a:rPr lang="en-US" altLang="zh-CN" sz="1390">
                <a:sym typeface="+mn-ea"/>
              </a:rPr>
              <a:t>~/.config/nvim</a:t>
            </a:r>
            <a:endParaRPr lang="en-US" altLang="zh-CN" sz="1390">
              <a:sym typeface="+mn-ea"/>
            </a:endParaRPr>
          </a:p>
          <a:p>
            <a:pPr lvl="2"/>
            <a:r>
              <a:rPr lang="en-US" altLang="zh-CN" sz="1250" b="1">
                <a:sym typeface="+mn-ea"/>
              </a:rPr>
              <a:t>init.lua</a:t>
            </a:r>
            <a:endParaRPr lang="en-US" altLang="zh-CN" sz="1250" b="1">
              <a:sym typeface="+mn-ea"/>
            </a:endParaRPr>
          </a:p>
          <a:p>
            <a:pPr lvl="3"/>
            <a:r>
              <a:rPr lang="en-US" altLang="zh-CN" sz="1250"/>
              <a:t>vim.g.mapleader = ","</a:t>
            </a:r>
            <a:endParaRPr lang="en-US" altLang="zh-CN" sz="1250"/>
          </a:p>
          <a:p>
            <a:pPr lvl="3"/>
            <a:r>
              <a:rPr lang="en-US" altLang="zh-CN" sz="1250"/>
              <a:t>vim.keymap.set("n", "&lt;leader&gt;w", ":w&lt;CR&gt;", { desc = "Save file" })</a:t>
            </a:r>
            <a:endParaRPr lang="en-US" altLang="zh-CN" sz="1250"/>
          </a:p>
          <a:p>
            <a:pPr lvl="2"/>
            <a:r>
              <a:rPr lang="en-US" altLang="zh-CN" sz="1245">
                <a:sym typeface="+mn-ea"/>
              </a:rPr>
              <a:t>lua/plugins/</a:t>
            </a:r>
            <a:endParaRPr lang="en-US" altLang="zh-CN" sz="1245"/>
          </a:p>
          <a:p>
            <a:pPr lvl="2"/>
            <a:r>
              <a:rPr lang="en-US" altLang="zh-CN" sz="1245">
                <a:sym typeface="+mn-ea"/>
              </a:rPr>
              <a:t>lua/plugins.lua</a:t>
            </a:r>
            <a:endParaRPr lang="en-US" altLang="zh-CN" sz="1245">
              <a:sym typeface="+mn-ea"/>
            </a:endParaRPr>
          </a:p>
          <a:p>
            <a:pPr lvl="2"/>
            <a:r>
              <a:rPr lang="en-US" altLang="zh-CN" sz="1245"/>
              <a:t>lua/config/options.lua</a:t>
            </a:r>
            <a:endParaRPr lang="en-US" altLang="zh-CN" sz="1245"/>
          </a:p>
          <a:p>
            <a:pPr lvl="1"/>
            <a:r>
              <a:rPr lang="en-US" altLang="zh-CN" sz="1385"/>
              <a:t>~/.local/share/nvim/lazy/</a:t>
            </a:r>
            <a:endParaRPr lang="en-US" altLang="zh-CN" sz="1385"/>
          </a:p>
          <a:p>
            <a:pPr lvl="1"/>
            <a:r>
              <a:rPr lang="en-US" altLang="zh-CN" sz="1385"/>
              <a:t>~/.local/state/nvim/</a:t>
            </a:r>
            <a:endParaRPr lang="en-US" altLang="zh-CN" sz="1385"/>
          </a:p>
          <a:p>
            <a:pPr lvl="1"/>
            <a:r>
              <a:rPr lang="en-US" altLang="zh-CN" sz="1385"/>
              <a:t>~/.cache/nvim/</a:t>
            </a:r>
            <a:endParaRPr lang="en-US" altLang="zh-CN" sz="1385"/>
          </a:p>
        </p:txBody>
      </p:sp>
    </p:spTree>
    <p:custDataLst>
      <p:tags r:id="rId1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Nvim - LazyVim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734050" cy="5304790"/>
          </a:xfrm>
        </p:spPr>
        <p:txBody>
          <a:bodyPr>
            <a:normAutofit lnSpcReduction="10000"/>
          </a:bodyPr>
          <a:p>
            <a:pPr lvl="0"/>
            <a:r>
              <a:rPr lang="en-US" altLang="zh-CN" sz="1400">
                <a:sym typeface="+mn-ea"/>
              </a:rPr>
              <a:t>Intro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000">
                <a:sym typeface="+mn-ea"/>
              </a:rPr>
              <a:t>for nvim easy setup</a:t>
            </a:r>
            <a:endParaRPr lang="en-US" altLang="zh-CN" sz="1000">
              <a:sym typeface="+mn-ea"/>
            </a:endParaRPr>
          </a:p>
          <a:p>
            <a:pPr lvl="1"/>
            <a:r>
              <a:rPr lang="en-US" altLang="zh-CN" sz="1000">
                <a:sym typeface="+mn-ea"/>
              </a:rPr>
              <a:t>https://www.lazyvim.org/installation</a:t>
            </a:r>
            <a:endParaRPr lang="en-US" altLang="zh-CN" sz="1000"/>
          </a:p>
          <a:p>
            <a:pPr lvl="0"/>
            <a:r>
              <a:rPr lang="en-US" altLang="zh-CN" sz="1400">
                <a:sym typeface="+mn-ea"/>
              </a:rPr>
              <a:t>install</a:t>
            </a:r>
            <a:endParaRPr lang="en-US" altLang="zh-CN" sz="1400"/>
          </a:p>
          <a:p>
            <a:pPr lvl="1"/>
            <a:r>
              <a:rPr lang="en-US" altLang="zh-CN" sz="1200">
                <a:sym typeface="+mn-ea"/>
              </a:rPr>
              <a:t>Ubuntu 20 (v0.10.4)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000">
                <a:sym typeface="+mn-ea"/>
              </a:rPr>
              <a:t>https://github.com/neovim/neovim-releases/releases/download/v0.11.3/nvim-linux-x86_64.appimage</a:t>
            </a:r>
            <a:endParaRPr lang="en-US" altLang="zh-CN" sz="10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latest version (ubuntu 22+)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000">
                <a:sym typeface="+mn-ea"/>
              </a:rPr>
              <a:t>mv ~/.config/nvim{,.bak}</a:t>
            </a:r>
            <a:endParaRPr lang="en-US" altLang="zh-CN" sz="1000">
              <a:sym typeface="+mn-ea"/>
            </a:endParaRPr>
          </a:p>
          <a:p>
            <a:pPr lvl="2"/>
            <a:r>
              <a:rPr lang="en-US" altLang="zh-CN" sz="1000">
                <a:sym typeface="+mn-ea"/>
              </a:rPr>
              <a:t>git clone https://github.com/LazyVim/starter ~/.config/nvim</a:t>
            </a:r>
            <a:endParaRPr lang="en-US" altLang="zh-CN" sz="1000"/>
          </a:p>
          <a:p>
            <a:pPr lvl="2"/>
            <a:r>
              <a:rPr lang="en-US" altLang="zh-CN" sz="1000">
                <a:sym typeface="+mn-ea"/>
              </a:rPr>
              <a:t>start nvim</a:t>
            </a:r>
            <a:endParaRPr lang="en-US" altLang="zh-CN" sz="1000"/>
          </a:p>
          <a:p>
            <a:pPr lvl="2"/>
            <a:r>
              <a:rPr lang="en-US" altLang="zh-CN" sz="1000">
                <a:sym typeface="+mn-ea"/>
              </a:rPr>
              <a:t>:LazyHealth  // check health</a:t>
            </a:r>
            <a:endParaRPr lang="en-US" altLang="zh-CN" sz="1000"/>
          </a:p>
          <a:p>
            <a:pPr lvl="1"/>
            <a:r>
              <a:rPr lang="en-US" altLang="zh-CN" sz="1000">
                <a:sym typeface="+mn-ea"/>
              </a:rPr>
              <a:t>use which-key.nvim for keymaps</a:t>
            </a:r>
            <a:endParaRPr lang="en-US" altLang="zh-CN" sz="1000"/>
          </a:p>
          <a:p>
            <a:pPr lvl="2"/>
            <a:r>
              <a:rPr lang="en-US" altLang="zh-CN" sz="1000">
                <a:sym typeface="+mn-ea"/>
              </a:rPr>
              <a:t>press “ “ to show popup</a:t>
            </a:r>
            <a:endParaRPr lang="en-US" altLang="zh-CN" sz="10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:healthcheck, :messages</a:t>
            </a:r>
            <a:endParaRPr lang="en-US" altLang="zh-CN" sz="1200"/>
          </a:p>
          <a:p>
            <a:pPr lvl="0"/>
            <a:r>
              <a:rPr lang="en-US" altLang="zh-CN" sz="1400">
                <a:sym typeface="+mn-ea"/>
              </a:rPr>
              <a:t>plugins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000">
                <a:sym typeface="+mn-ea"/>
              </a:rPr>
              <a:t>LSP, buferline.nvim, conform.nvim, flash.nvim, grub-far.nvim, mason.nvim, noice.nvim, nvim-treesitter, persistence.nvim, snacks.nvim, toto-comments.nvim, trouble.nvim, which-key.nvim, CopilotChat.nvim, mini.surround, neogen, yanky.nvim, nvim-dap</a:t>
            </a:r>
            <a:endParaRPr lang="en-US" altLang="zh-CN" sz="1000">
              <a:sym typeface="+mn-ea"/>
            </a:endParaRPr>
          </a:p>
          <a:p>
            <a:pPr lvl="1"/>
            <a:r>
              <a:rPr lang="en-US" altLang="zh-CN" sz="1000">
                <a:sym typeface="+mn-ea"/>
              </a:rPr>
              <a:t>lazygit</a:t>
            </a:r>
            <a:endParaRPr lang="en-US" altLang="zh-CN" sz="1000">
              <a:sym typeface="+mn-ea"/>
            </a:endParaRPr>
          </a:p>
          <a:p>
            <a:pPr lvl="0"/>
            <a:r>
              <a:rPr lang="en-US" altLang="zh-CN" sz="1400">
                <a:sym typeface="+mn-ea"/>
              </a:rPr>
              <a:t>Customize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000">
                <a:sym typeface="+mn-ea"/>
              </a:rPr>
              <a:t>~/.config/nvim/lua/config/</a:t>
            </a:r>
            <a:endParaRPr lang="en-US" altLang="zh-CN" sz="1000">
              <a:sym typeface="+mn-ea"/>
            </a:endParaRPr>
          </a:p>
          <a:p>
            <a:pPr lvl="2"/>
            <a:r>
              <a:rPr lang="en-US" altLang="zh-CN" sz="900">
                <a:sym typeface="+mn-ea"/>
              </a:rPr>
              <a:t>options.lua</a:t>
            </a:r>
            <a:endParaRPr lang="en-US" altLang="zh-CN" sz="900">
              <a:sym typeface="+mn-ea"/>
            </a:endParaRPr>
          </a:p>
          <a:p>
            <a:pPr lvl="2"/>
            <a:r>
              <a:rPr lang="en-US" altLang="zh-CN" sz="900"/>
              <a:t>keymaps.lua</a:t>
            </a:r>
            <a:endParaRPr lang="en-US" altLang="zh-CN" sz="900"/>
          </a:p>
          <a:p>
            <a:pPr lvl="2"/>
            <a:r>
              <a:rPr lang="en-US" altLang="zh-CN" sz="900"/>
              <a:t>autocmds.lua</a:t>
            </a:r>
            <a:endParaRPr lang="en-US" altLang="zh-CN" sz="900"/>
          </a:p>
          <a:p>
            <a:pPr lvl="1"/>
            <a:r>
              <a:rPr lang="en-US" altLang="zh-CN" sz="1000">
                <a:sym typeface="+mn-ea"/>
              </a:rPr>
              <a:t>~/.config/nvim/lua/plugins/</a:t>
            </a:r>
            <a:endParaRPr lang="en-US" altLang="zh-CN" sz="1000">
              <a:sym typeface="+mn-ea"/>
            </a:endParaRPr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8816340" y="914400"/>
            <a:ext cx="2628900" cy="3295650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6877050" y="4329430"/>
            <a:ext cx="4627880" cy="157543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Vim/NVim - Plugins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960620" cy="4884420"/>
          </a:xfrm>
        </p:spPr>
        <p:txBody>
          <a:bodyPr>
            <a:noAutofit/>
          </a:bodyPr>
          <a:p>
            <a:pPr lvl="0"/>
            <a:r>
              <a:rPr lang="en-US" altLang="zh-CN" sz="1400">
                <a:sym typeface="+mn-ea"/>
              </a:rPr>
              <a:t>Vundle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https://github.com/VundleVim/Vundle.vim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Install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000">
                <a:sym typeface="+mn-ea"/>
              </a:rPr>
              <a:t>mkdir -p ~/.vim/bundle</a:t>
            </a:r>
            <a:endParaRPr lang="en-US" altLang="zh-CN" sz="1000">
              <a:sym typeface="+mn-ea"/>
            </a:endParaRPr>
          </a:p>
          <a:p>
            <a:pPr lvl="2"/>
            <a:r>
              <a:rPr lang="en-US" altLang="zh-CN" sz="1000">
                <a:sym typeface="+mn-ea"/>
              </a:rPr>
              <a:t>cd ~/.vim/bundle</a:t>
            </a:r>
            <a:endParaRPr lang="en-US" altLang="zh-CN" sz="1000">
              <a:sym typeface="+mn-ea"/>
            </a:endParaRPr>
          </a:p>
          <a:p>
            <a:pPr lvl="2"/>
            <a:r>
              <a:rPr lang="en-US" altLang="zh-CN" sz="1000">
                <a:sym typeface="+mn-ea"/>
              </a:rPr>
              <a:t>git clone https://github.com/VundleVim/Vundle.vim.git</a:t>
            </a:r>
            <a:endParaRPr lang="en-US" altLang="zh-CN" sz="1000">
              <a:sym typeface="+mn-ea"/>
            </a:endParaRPr>
          </a:p>
          <a:p>
            <a:pPr lvl="2"/>
            <a:r>
              <a:rPr lang="en-US" altLang="zh-CN" sz="1000">
                <a:sym typeface="+mn-ea"/>
              </a:rPr>
              <a:t>add configs to ~/.vimrc</a:t>
            </a:r>
            <a:endParaRPr lang="en-US" altLang="zh-CN" sz="1000">
              <a:sym typeface="+mn-ea"/>
            </a:endParaRPr>
          </a:p>
          <a:p>
            <a:pPr lvl="2"/>
            <a:r>
              <a:rPr lang="en-US" altLang="zh-CN" sz="1000">
                <a:sym typeface="+mn-ea"/>
              </a:rPr>
              <a:t>vim +PluginInstall +qall</a:t>
            </a:r>
            <a:endParaRPr lang="en-US" altLang="zh-CN" sz="1000">
              <a:sym typeface="+mn-ea"/>
            </a:endParaRPr>
          </a:p>
          <a:p>
            <a:pPr lvl="0"/>
            <a:r>
              <a:rPr lang="en-US" altLang="zh-CN" sz="1400">
                <a:sym typeface="+mn-ea"/>
              </a:rPr>
              <a:t>YouCompleteMe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Refers</a:t>
            </a:r>
            <a:endParaRPr lang="en-US" altLang="zh-CN" sz="1200"/>
          </a:p>
          <a:p>
            <a:pPr lvl="2"/>
            <a:r>
              <a:rPr lang="en-US" altLang="zh-CN" sz="1000">
                <a:sym typeface="+mn-ea"/>
              </a:rPr>
              <a:t>https://github.com/ycm-core/YouCompleteMe</a:t>
            </a:r>
            <a:endParaRPr lang="en-US" altLang="zh-CN" sz="1000"/>
          </a:p>
          <a:p>
            <a:pPr lvl="1"/>
            <a:r>
              <a:rPr lang="en-US" altLang="zh-CN" sz="1200"/>
              <a:t>apt install build-essential cmake vim python3-dev</a:t>
            </a:r>
            <a:endParaRPr lang="en-US" altLang="zh-CN" sz="1200"/>
          </a:p>
          <a:p>
            <a:pPr lvl="1"/>
            <a:r>
              <a:rPr lang="en-US" altLang="zh-CN" sz="1200"/>
              <a:t>depends on C++-17</a:t>
            </a:r>
            <a:endParaRPr lang="en-US" altLang="zh-CN" sz="1200"/>
          </a:p>
          <a:p>
            <a:pPr lvl="2"/>
            <a:r>
              <a:rPr lang="en-US" altLang="zh-CN" sz="1000"/>
              <a:t>sudo add-apt-repository ppa:ubuntu-toolchain-r/test</a:t>
            </a:r>
            <a:endParaRPr lang="en-US" altLang="zh-CN" sz="1000"/>
          </a:p>
          <a:p>
            <a:pPr lvl="2"/>
            <a:r>
              <a:rPr lang="en-US" altLang="zh-CN" sz="1000"/>
              <a:t>sudo apt update</a:t>
            </a:r>
            <a:endParaRPr lang="en-US" altLang="zh-CN" sz="1000"/>
          </a:p>
          <a:p>
            <a:pPr lvl="2"/>
            <a:r>
              <a:rPr lang="en-US" altLang="zh-CN" sz="1000"/>
              <a:t>sudo apt install gcc-9 g++-9</a:t>
            </a:r>
            <a:endParaRPr lang="en-US" altLang="zh-CN" sz="1000"/>
          </a:p>
          <a:p>
            <a:pPr lvl="2"/>
            <a:r>
              <a:rPr lang="en-US" altLang="zh-CN" sz="1000"/>
              <a:t>sudo update-alternatives --install /usr/bin/gcc gcc /usr/bin/gcc-9 900 --slave /usr/bin/g++ g++ /usr/bin/g++-9</a:t>
            </a:r>
            <a:endParaRPr lang="en-US" altLang="zh-CN" sz="1000"/>
          </a:p>
          <a:p>
            <a:pPr lvl="2"/>
            <a:r>
              <a:rPr lang="en-US" altLang="zh-CN" sz="1000" b="1">
                <a:solidFill>
                  <a:schemeClr val="tx1"/>
                </a:solidFill>
              </a:rPr>
              <a:t>cd ~/.vim/bundle/YouCompleteMe &amp;&amp; ./install.py</a:t>
            </a:r>
            <a:endParaRPr lang="en-US" altLang="zh-CN" sz="100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5991225" y="1211580"/>
            <a:ext cx="4960620" cy="53492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schemeClr val="tx1"/>
                </a:solidFill>
              </a:rPr>
              <a:t>Git integration</a:t>
            </a:r>
            <a:endParaRPr lang="en-US" altLang="zh-CN" sz="1400">
              <a:solidFill>
                <a:schemeClr val="tx1"/>
              </a:solidFill>
            </a:endParaRPr>
          </a:p>
          <a:p>
            <a:pPr lvl="1"/>
            <a:r>
              <a:rPr lang="en-US" altLang="zh-CN" sz="1000">
                <a:solidFill>
                  <a:schemeClr val="tx1"/>
                </a:solidFill>
              </a:rPr>
              <a:t>gitsigns</a:t>
            </a:r>
            <a:endParaRPr lang="en-US" altLang="zh-CN" sz="1000">
              <a:solidFill>
                <a:schemeClr val="tx1"/>
              </a:solidFill>
            </a:endParaRPr>
          </a:p>
          <a:p>
            <a:pPr lvl="2"/>
            <a:r>
              <a:rPr lang="en-US" altLang="zh-CN" sz="900">
                <a:solidFill>
                  <a:schemeClr val="tx1"/>
                </a:solidFill>
              </a:rPr>
              <a:t>lewis6991/gitsigns.nvim	# most popular Git integration tools for Neovim</a:t>
            </a:r>
            <a:endParaRPr lang="en-US" altLang="zh-CN" sz="900">
              <a:solidFill>
                <a:schemeClr val="tx1"/>
              </a:solidFill>
            </a:endParaRPr>
          </a:p>
          <a:p>
            <a:pPr lvl="2"/>
            <a:r>
              <a:rPr lang="en-US" altLang="zh-CN" sz="900">
                <a:solidFill>
                  <a:schemeClr val="tx1"/>
                </a:solidFill>
              </a:rPr>
              <a:t>&lt;leader&gt;hp: see what change, &lt;leader&gt;hb: see who changed this line, &lt;leader&gt;ht: toggle gutter sings display</a:t>
            </a:r>
            <a:endParaRPr lang="en-US" altLang="zh-CN" sz="900">
              <a:solidFill>
                <a:schemeClr val="tx1"/>
              </a:solidFill>
            </a:endParaRPr>
          </a:p>
          <a:p>
            <a:pPr lvl="1"/>
            <a:r>
              <a:rPr lang="en-US" altLang="zh-CN" sz="830">
                <a:sym typeface="+mn-ea"/>
              </a:rPr>
              <a:t>Vim-fugitive</a:t>
            </a:r>
            <a:endParaRPr lang="en-US" altLang="zh-CN" sz="830">
              <a:sym typeface="+mn-ea"/>
            </a:endParaRPr>
          </a:p>
          <a:p>
            <a:pPr lvl="2"/>
            <a:r>
              <a:rPr lang="en-US" altLang="zh-CN" sz="900">
                <a:sym typeface="+mn-ea"/>
              </a:rPr>
              <a:t>https://github.com/tpope/vim-fugitive</a:t>
            </a:r>
            <a:endParaRPr lang="en-US" altLang="zh-CN" sz="900">
              <a:solidFill>
                <a:schemeClr val="tx1"/>
              </a:solidFill>
            </a:endParaRPr>
          </a:p>
          <a:p>
            <a:pPr lvl="2"/>
            <a:r>
              <a:rPr lang="en-US" altLang="zh-CN" sz="900">
                <a:sym typeface="+mn-ea"/>
              </a:rPr>
              <a:t>git wrapper</a:t>
            </a:r>
            <a:endParaRPr lang="en-US" altLang="zh-CN" sz="900">
              <a:solidFill>
                <a:schemeClr val="tx1"/>
              </a:solidFill>
            </a:endParaRPr>
          </a:p>
          <a:p>
            <a:pPr lvl="2"/>
            <a:r>
              <a:rPr lang="en-US" altLang="zh-CN" sz="900">
                <a:sym typeface="+mn-ea"/>
              </a:rPr>
              <a:t>:Gvdiffsplit, :Git blame, &lt;leader&gt;gs: Gstatus</a:t>
            </a:r>
            <a:endParaRPr lang="en-US" altLang="zh-CN" sz="900">
              <a:sym typeface="+mn-ea"/>
            </a:endParaRPr>
          </a:p>
          <a:p>
            <a:pPr lvl="1"/>
            <a:r>
              <a:rPr lang="en-US" altLang="zh-CN" sz="990">
                <a:sym typeface="+mn-ea"/>
              </a:rPr>
              <a:t>Neogit</a:t>
            </a:r>
            <a:endParaRPr lang="en-US" altLang="zh-CN" sz="990">
              <a:sym typeface="+mn-ea"/>
            </a:endParaRPr>
          </a:p>
          <a:p>
            <a:pPr lvl="2"/>
            <a:r>
              <a:rPr lang="en-US" altLang="zh-CN" sz="900">
                <a:sym typeface="+mn-ea"/>
              </a:rPr>
              <a:t>&lt;leader&gt;gg</a:t>
            </a:r>
            <a:endParaRPr lang="en-US" altLang="zh-CN" sz="1000">
              <a:solidFill>
                <a:schemeClr val="tx1"/>
              </a:solidFill>
            </a:endParaRPr>
          </a:p>
          <a:p>
            <a:pPr lvl="0"/>
            <a:r>
              <a:rPr lang="en-US" altLang="zh-CN" sz="1400">
                <a:solidFill>
                  <a:schemeClr val="tx1"/>
                </a:solidFill>
              </a:rPr>
              <a:t>File explorer</a:t>
            </a:r>
            <a:endParaRPr lang="en-US" altLang="zh-CN" sz="1400">
              <a:solidFill>
                <a:schemeClr val="tx1"/>
              </a:solidFill>
            </a:endParaRPr>
          </a:p>
          <a:p>
            <a:pPr lvl="1"/>
            <a:r>
              <a:rPr lang="en-US" altLang="zh-CN" sz="1000">
                <a:solidFill>
                  <a:schemeClr val="tx1"/>
                </a:solidFill>
              </a:rPr>
              <a:t>nvim-tree/nvim-tree.lua</a:t>
            </a:r>
            <a:endParaRPr lang="en-US" altLang="zh-CN" sz="1000">
              <a:solidFill>
                <a:schemeClr val="tx1"/>
              </a:solidFill>
            </a:endParaRPr>
          </a:p>
          <a:p>
            <a:pPr lvl="2"/>
            <a:r>
              <a:rPr lang="en-US" altLang="zh-CN" sz="900">
                <a:solidFill>
                  <a:schemeClr val="tx1"/>
                </a:solidFill>
              </a:rPr>
              <a:t>:NvimTreeOpen, :NvimTreeClose, &lt;leader&gt;t: :NvimTreeToggle</a:t>
            </a:r>
            <a:endParaRPr lang="en-US" altLang="zh-CN" sz="900">
              <a:solidFill>
                <a:schemeClr val="tx1"/>
              </a:solidFill>
            </a:endParaRPr>
          </a:p>
          <a:p>
            <a:pPr lvl="1"/>
            <a:r>
              <a:rPr lang="en-US" altLang="zh-CN" sz="1000">
                <a:sym typeface="+mn-ea"/>
              </a:rPr>
              <a:t>kyazdani42/nvim-web-devicons</a:t>
            </a:r>
            <a:endParaRPr lang="en-US" altLang="zh-CN" sz="1000">
              <a:solidFill>
                <a:schemeClr val="tx1"/>
              </a:solidFill>
              <a:sym typeface="+mn-ea"/>
            </a:endParaRPr>
          </a:p>
          <a:p>
            <a:pPr lvl="2"/>
            <a:r>
              <a:rPr lang="en-US" altLang="zh-CN" sz="900">
                <a:solidFill>
                  <a:schemeClr val="tx1"/>
                </a:solidFill>
              </a:rPr>
              <a:t>for file icons</a:t>
            </a:r>
            <a:endParaRPr lang="en-US" altLang="zh-CN" sz="900">
              <a:solidFill>
                <a:schemeClr val="tx1"/>
              </a:solidFill>
            </a:endParaRPr>
          </a:p>
          <a:p>
            <a:pPr lvl="0"/>
            <a:r>
              <a:rPr lang="en-US" altLang="zh-CN" sz="1400">
                <a:solidFill>
                  <a:schemeClr val="tx1"/>
                </a:solidFill>
              </a:rPr>
              <a:t>Fuzzy finder</a:t>
            </a:r>
            <a:endParaRPr lang="en-US" altLang="zh-CN" sz="1400">
              <a:solidFill>
                <a:schemeClr val="tx1"/>
              </a:solidFill>
            </a:endParaRPr>
          </a:p>
          <a:p>
            <a:pPr lvl="1"/>
            <a:r>
              <a:rPr lang="en-US" altLang="zh-CN" sz="1000">
                <a:solidFill>
                  <a:schemeClr val="tx1"/>
                </a:solidFill>
              </a:rPr>
              <a:t>nvim-telescope/telescope.nvim</a:t>
            </a:r>
            <a:endParaRPr lang="en-US" altLang="zh-CN" sz="1000">
              <a:solidFill>
                <a:schemeClr val="tx1"/>
              </a:solidFill>
            </a:endParaRPr>
          </a:p>
          <a:p>
            <a:pPr lvl="2"/>
            <a:r>
              <a:rPr lang="en-US" altLang="zh-CN" sz="1200">
                <a:solidFill>
                  <a:schemeClr val="tx1"/>
                </a:solidFill>
              </a:rPr>
              <a:t>&lt;leader&gt;ff: find files, &lt;leader&gt;fg: live grep (depends on ripgrep)</a:t>
            </a:r>
            <a:endParaRPr lang="en-US" altLang="zh-CN" sz="1200">
              <a:solidFill>
                <a:schemeClr val="tx1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Vim/NVim - Plugins 2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3528695" cy="5058410"/>
          </a:xfrm>
        </p:spPr>
        <p:txBody>
          <a:bodyPr/>
          <a:p>
            <a:pPr lvl="0"/>
            <a:r>
              <a:rPr lang="en-US" altLang="zh-CN" sz="1200">
                <a:sym typeface="+mn-ea"/>
              </a:rPr>
              <a:t>LSP</a:t>
            </a:r>
            <a:endParaRPr lang="en-US" altLang="zh-CN" sz="1200">
              <a:solidFill>
                <a:schemeClr val="tx1"/>
              </a:solidFill>
            </a:endParaRPr>
          </a:p>
          <a:p>
            <a:pPr lvl="1"/>
            <a:r>
              <a:rPr lang="en-US" altLang="zh-CN" sz="900">
                <a:sym typeface="+mn-ea"/>
              </a:rPr>
              <a:t>lspconfig</a:t>
            </a:r>
            <a:endParaRPr lang="en-US" altLang="zh-CN" sz="900">
              <a:sym typeface="+mn-ea"/>
            </a:endParaRPr>
          </a:p>
          <a:p>
            <a:pPr lvl="1"/>
            <a:r>
              <a:rPr lang="en-US" altLang="zh-CN" sz="900">
                <a:sym typeface="+mn-ea"/>
              </a:rPr>
              <a:t>:LspInfo</a:t>
            </a:r>
            <a:endParaRPr lang="en-US" altLang="zh-CN" sz="900">
              <a:sym typeface="+mn-ea"/>
            </a:endParaRPr>
          </a:p>
          <a:p>
            <a:pPr lvl="1"/>
            <a:r>
              <a:rPr lang="en-US" altLang="zh-CN" sz="900">
                <a:sym typeface="+mn-ea"/>
              </a:rPr>
              <a:t>:Mason</a:t>
            </a:r>
            <a:endParaRPr lang="en-US" altLang="zh-CN" sz="900">
              <a:sym typeface="+mn-ea"/>
            </a:endParaRPr>
          </a:p>
          <a:p>
            <a:pPr lvl="2"/>
            <a:r>
              <a:rPr lang="en-US" altLang="zh-CN" sz="800">
                <a:sym typeface="+mn-ea"/>
              </a:rPr>
              <a:t>i to install</a:t>
            </a:r>
            <a:endParaRPr lang="en-US" altLang="zh-CN" sz="800">
              <a:solidFill>
                <a:schemeClr val="tx1"/>
              </a:solidFill>
            </a:endParaRPr>
          </a:p>
          <a:p>
            <a:pPr lvl="0"/>
            <a:r>
              <a:rPr lang="en-US" altLang="zh-CN" sz="1200">
                <a:sym typeface="+mn-ea"/>
              </a:rPr>
              <a:t>Terminal</a:t>
            </a:r>
            <a:endParaRPr lang="en-US" altLang="zh-CN" sz="1200">
              <a:solidFill>
                <a:schemeClr val="tx1"/>
              </a:solidFill>
            </a:endParaRPr>
          </a:p>
          <a:p>
            <a:pPr lvl="1"/>
            <a:r>
              <a:rPr lang="en-US" altLang="zh-CN" sz="900">
                <a:sym typeface="+mn-ea"/>
              </a:rPr>
              <a:t>akinsho/toggleterm.nvim</a:t>
            </a:r>
            <a:endParaRPr lang="en-US" altLang="zh-CN" sz="900">
              <a:sym typeface="+mn-ea"/>
            </a:endParaRPr>
          </a:p>
          <a:p>
            <a:pPr lvl="2"/>
            <a:r>
              <a:rPr lang="en-US" altLang="zh-CN" sz="900">
                <a:sym typeface="+mn-ea"/>
              </a:rPr>
              <a:t>Ctrl+\: open terminal</a:t>
            </a:r>
            <a:endParaRPr lang="en-US" altLang="zh-CN" sz="900">
              <a:sym typeface="+mn-ea"/>
            </a:endParaRPr>
          </a:p>
          <a:p>
            <a:pPr lvl="1"/>
            <a:r>
              <a:rPr lang="en-US" altLang="zh-CN" sz="900">
                <a:sym typeface="+mn-ea"/>
              </a:rPr>
              <a:t>betterterm.nvim</a:t>
            </a:r>
            <a:endParaRPr lang="en-US" altLang="zh-CN" sz="900">
              <a:sym typeface="+mn-ea"/>
            </a:endParaRPr>
          </a:p>
          <a:p>
            <a:pPr lvl="2"/>
            <a:r>
              <a:rPr lang="en-US" altLang="zh-CN" sz="900">
                <a:sym typeface="+mn-ea"/>
              </a:rPr>
              <a:t>Ctrl+/	// open terminal window in the bottom</a:t>
            </a:r>
            <a:endParaRPr lang="en-US" altLang="zh-CN" sz="900">
              <a:sym typeface="+mn-ea"/>
            </a:endParaRPr>
          </a:p>
          <a:p>
            <a:pPr lvl="0"/>
            <a:r>
              <a:rPr lang="en-US" altLang="zh-CN" sz="1200">
                <a:sym typeface="+mn-ea"/>
              </a:rPr>
              <a:t>MRU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900">
                <a:sym typeface="+mn-ea"/>
              </a:rPr>
              <a:t>vim-scripts/mru.vim</a:t>
            </a:r>
            <a:endParaRPr lang="en-US" altLang="zh-CN" sz="900">
              <a:sym typeface="+mn-ea"/>
            </a:endParaRPr>
          </a:p>
          <a:p>
            <a:pPr lvl="1"/>
            <a:r>
              <a:rPr lang="en-US" altLang="zh-CN" sz="900">
                <a:sym typeface="+mn-ea"/>
              </a:rPr>
              <a:t>:MRU</a:t>
            </a:r>
            <a:endParaRPr lang="en-US" altLang="zh-CN" sz="900">
              <a:sym typeface="+mn-ea"/>
            </a:endParaRPr>
          </a:p>
          <a:p>
            <a:pPr lvl="0"/>
            <a:r>
              <a:rPr lang="en-US" altLang="zh-CN" sz="1200">
                <a:sym typeface="+mn-ea"/>
              </a:rPr>
              <a:t>Outline of symbols</a:t>
            </a:r>
            <a:endParaRPr lang="en-US" altLang="zh-CN" sz="1200">
              <a:solidFill>
                <a:schemeClr val="tx1"/>
              </a:solidFill>
              <a:sym typeface="+mn-ea"/>
            </a:endParaRPr>
          </a:p>
          <a:p>
            <a:pPr lvl="1"/>
            <a:r>
              <a:rPr lang="en-US" altLang="zh-CN" sz="900">
                <a:sym typeface="+mn-ea"/>
              </a:rPr>
              <a:t>outline.vim &lt;leader&gt;cs</a:t>
            </a:r>
            <a:endParaRPr lang="en-US" altLang="zh-CN" sz="900">
              <a:sym typeface="+mn-ea"/>
            </a:endParaRPr>
          </a:p>
          <a:p>
            <a:pPr lvl="0"/>
            <a:r>
              <a:rPr lang="en-US" altLang="zh-CN" sz="1200">
                <a:sym typeface="+mn-ea"/>
              </a:rPr>
              <a:t>Buffers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900">
                <a:sym typeface="+mn-ea"/>
              </a:rPr>
              <a:t>:enew  // new empty buffer</a:t>
            </a:r>
            <a:endParaRPr lang="en-US" altLang="zh-CN" sz="900">
              <a:sym typeface="+mn-ea"/>
            </a:endParaRPr>
          </a:p>
          <a:p>
            <a:pPr lvl="1"/>
            <a:r>
              <a:rPr lang="en-US" altLang="zh-CN" sz="900">
                <a:sym typeface="+mn-ea"/>
              </a:rPr>
              <a:t>:bprev, :bnext</a:t>
            </a:r>
            <a:endParaRPr lang="en-US" altLang="zh-CN" sz="900">
              <a:sym typeface="+mn-ea"/>
            </a:endParaRPr>
          </a:p>
          <a:p>
            <a:pPr lvl="1"/>
            <a:r>
              <a:rPr lang="en-US" altLang="zh-CN" sz="900">
                <a:sym typeface="+mn-ea"/>
              </a:rPr>
              <a:t>Scratch buffer</a:t>
            </a:r>
            <a:endParaRPr lang="en-US" altLang="zh-CN" sz="900">
              <a:sym typeface="+mn-ea"/>
            </a:endParaRPr>
          </a:p>
          <a:p>
            <a:pPr lvl="2"/>
            <a:r>
              <a:rPr lang="en-US" altLang="zh-CN" sz="900">
                <a:sym typeface="+mn-ea"/>
              </a:rPr>
              <a:t>&lt;mapleader&gt;. // tied to current working dir</a:t>
            </a:r>
            <a:endParaRPr lang="en-US" altLang="zh-CN" sz="900">
              <a:sym typeface="+mn-ea"/>
            </a:endParaRPr>
          </a:p>
          <a:p>
            <a:pPr lvl="1"/>
            <a:r>
              <a:rPr lang="en-US" altLang="zh-CN" sz="900">
                <a:sym typeface="+mn-ea"/>
              </a:rPr>
              <a:t>akinsho/bufferline.nvim</a:t>
            </a:r>
            <a:endParaRPr lang="en-US" altLang="zh-CN" sz="900">
              <a:sym typeface="+mn-ea"/>
            </a:endParaRPr>
          </a:p>
          <a:p>
            <a:pPr lvl="2"/>
            <a:r>
              <a:rPr lang="en-US" altLang="zh-CN" sz="800">
                <a:sym typeface="+mn-ea"/>
              </a:rPr>
              <a:t>Shift+h: move to left buffer</a:t>
            </a:r>
            <a:endParaRPr lang="en-US" altLang="zh-CN" sz="800">
              <a:sym typeface="+mn-ea"/>
            </a:endParaRPr>
          </a:p>
          <a:p>
            <a:pPr lvl="2"/>
            <a:r>
              <a:rPr lang="en-US" altLang="zh-CN" sz="800">
                <a:sym typeface="+mn-ea"/>
              </a:rPr>
              <a:t>Shift+l: move to right buffer</a:t>
            </a:r>
            <a:endParaRPr lang="en-US" altLang="zh-CN" sz="800">
              <a:sym typeface="+mn-ea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4658360" y="1211580"/>
            <a:ext cx="3484245" cy="5321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60">
                <a:sym typeface="+mn-ea"/>
              </a:rPr>
              <a:t>Windows</a:t>
            </a:r>
            <a:endParaRPr lang="en-US" altLang="zh-CN" sz="1260">
              <a:sym typeface="+mn-ea"/>
            </a:endParaRPr>
          </a:p>
          <a:p>
            <a:pPr lvl="1"/>
            <a:r>
              <a:rPr lang="en-US" altLang="zh-CN" sz="1050">
                <a:sym typeface="+mn-ea"/>
              </a:rPr>
              <a:t>&lt;mapleader&gt;wv	// split new window vertically</a:t>
            </a:r>
            <a:endParaRPr lang="en-US" altLang="zh-CN" sz="1050">
              <a:sym typeface="+mn-ea"/>
            </a:endParaRPr>
          </a:p>
          <a:p>
            <a:pPr lvl="1"/>
            <a:r>
              <a:rPr lang="en-US" altLang="zh-CN" sz="1050">
                <a:sym typeface="+mn-ea"/>
              </a:rPr>
              <a:t>&lt;mapleader&gt;ws	// split new window horizontally</a:t>
            </a:r>
            <a:endParaRPr lang="en-US" altLang="zh-CN" sz="1050">
              <a:sym typeface="+mn-ea"/>
            </a:endParaRPr>
          </a:p>
          <a:p>
            <a:pPr lvl="0"/>
            <a:r>
              <a:rPr lang="en-US" altLang="zh-CN" sz="1260">
                <a:sym typeface="+mn-ea"/>
              </a:rPr>
              <a:t>Tabs</a:t>
            </a:r>
            <a:endParaRPr lang="en-US" altLang="zh-CN" sz="1260">
              <a:sym typeface="+mn-ea"/>
            </a:endParaRPr>
          </a:p>
          <a:p>
            <a:pPr lvl="1"/>
            <a:r>
              <a:rPr lang="en-US" altLang="zh-CN" sz="1050">
                <a:sym typeface="+mn-ea"/>
              </a:rPr>
              <a:t>&lt;mapleader&gt;TabTab  // create new tab</a:t>
            </a:r>
            <a:endParaRPr lang="en-US" altLang="zh-CN" sz="1050">
              <a:sym typeface="+mn-ea"/>
            </a:endParaRPr>
          </a:p>
          <a:p>
            <a:pPr lvl="0"/>
            <a:r>
              <a:rPr lang="en-US" altLang="zh-CN" sz="1260">
                <a:sym typeface="+mn-ea"/>
              </a:rPr>
              <a:t>Session</a:t>
            </a:r>
            <a:endParaRPr lang="en-US" altLang="zh-CN" sz="1260">
              <a:solidFill>
                <a:schemeClr val="tx1"/>
              </a:solidFill>
            </a:endParaRPr>
          </a:p>
          <a:p>
            <a:pPr lvl="1"/>
            <a:r>
              <a:rPr lang="en-US" altLang="zh-CN" sz="1260">
                <a:sym typeface="+mn-ea"/>
              </a:rPr>
              <a:t>olimorris/persisted.nvim</a:t>
            </a:r>
            <a:endParaRPr lang="en-US" altLang="zh-CN" sz="1260">
              <a:solidFill>
                <a:schemeClr val="tx1"/>
              </a:solidFill>
            </a:endParaRPr>
          </a:p>
          <a:p>
            <a:pPr lvl="1"/>
            <a:r>
              <a:rPr lang="en-US" altLang="zh-CN" sz="1260">
                <a:sym typeface="+mn-ea"/>
              </a:rPr>
              <a:t>&lt;leader&gt;</a:t>
            </a:r>
            <a:r>
              <a:rPr lang="en-US" altLang="zh-CN" sz="1260">
                <a:sym typeface="+mn-ea"/>
              </a:rPr>
              <a:t>qS	// select session</a:t>
            </a:r>
            <a:endParaRPr lang="en-US" altLang="zh-CN" sz="1260">
              <a:sym typeface="+mn-ea"/>
            </a:endParaRPr>
          </a:p>
          <a:p>
            <a:pPr lvl="0"/>
            <a:r>
              <a:rPr lang="en-US" altLang="zh-CN" sz="1510">
                <a:sym typeface="+mn-ea"/>
              </a:rPr>
              <a:t>Git</a:t>
            </a:r>
            <a:endParaRPr lang="en-US" altLang="zh-CN" sz="1510">
              <a:sym typeface="+mn-ea"/>
            </a:endParaRPr>
          </a:p>
          <a:p>
            <a:pPr lvl="1"/>
            <a:r>
              <a:rPr lang="en-US" altLang="zh-CN" sz="1050">
                <a:sym typeface="+mn-ea"/>
              </a:rPr>
              <a:t>&lt;mapleader&gt;gd	// git diff</a:t>
            </a:r>
            <a:endParaRPr lang="en-US" altLang="zh-CN" sz="1050">
              <a:sym typeface="+mn-ea"/>
            </a:endParaRPr>
          </a:p>
          <a:p>
            <a:pPr lvl="1"/>
            <a:r>
              <a:rPr lang="en-US" altLang="zh-CN" sz="1050">
                <a:sym typeface="+mn-ea"/>
              </a:rPr>
              <a:t>&lt;mapleader&gt;gs	// show git status in new window</a:t>
            </a:r>
            <a:endParaRPr lang="en-US" altLang="zh-CN" sz="1050">
              <a:sym typeface="+mn-ea"/>
            </a:endParaRPr>
          </a:p>
          <a:p>
            <a:pPr lvl="1"/>
            <a:r>
              <a:rPr lang="en-US" altLang="zh-CN" sz="1050">
                <a:sym typeface="+mn-ea"/>
              </a:rPr>
              <a:t>&lt;mapleader&gt;</a:t>
            </a:r>
            <a:endParaRPr lang="en-US" altLang="zh-CN" sz="1050">
              <a:sym typeface="+mn-ea"/>
            </a:endParaRPr>
          </a:p>
          <a:p>
            <a:pPr lvl="0"/>
            <a:r>
              <a:rPr lang="en-US" altLang="zh-CN" sz="1260">
                <a:sym typeface="+mn-ea"/>
              </a:rPr>
              <a:t>Code completion</a:t>
            </a:r>
            <a:endParaRPr lang="en-US" altLang="zh-CN" sz="1260">
              <a:sym typeface="+mn-ea"/>
            </a:endParaRPr>
          </a:p>
          <a:p>
            <a:pPr lvl="1"/>
            <a:r>
              <a:rPr lang="en-US" altLang="zh-CN" sz="1050">
                <a:sym typeface="+mn-ea"/>
              </a:rPr>
              <a:t>blink.cmp</a:t>
            </a:r>
            <a:endParaRPr lang="en-US" altLang="zh-CN" sz="1050">
              <a:sym typeface="+mn-ea"/>
            </a:endParaRPr>
          </a:p>
          <a:p>
            <a:pPr lvl="0"/>
            <a:r>
              <a:rPr lang="en-US" altLang="zh-CN" sz="1260">
                <a:sym typeface="+mn-ea"/>
              </a:rPr>
              <a:t>Snippets</a:t>
            </a:r>
            <a:endParaRPr lang="en-US" altLang="zh-CN" sz="1260">
              <a:sym typeface="+mn-ea"/>
            </a:endParaRPr>
          </a:p>
          <a:p>
            <a:pPr lvl="1"/>
            <a:r>
              <a:rPr lang="en-US" altLang="zh-CN" sz="1050">
                <a:sym typeface="+mn-ea"/>
              </a:rPr>
              <a:t>custome snippets</a:t>
            </a:r>
            <a:endParaRPr lang="en-US" altLang="zh-CN" sz="1050">
              <a:sym typeface="+mn-ea"/>
            </a:endParaRPr>
          </a:p>
          <a:p>
            <a:pPr lvl="2"/>
            <a:r>
              <a:rPr lang="en-US" altLang="zh-CN" sz="945">
                <a:sym typeface="+mn-ea"/>
              </a:rPr>
              <a:t>~/.config/nvim/lua/config/luasnip.lua</a:t>
            </a:r>
            <a:endParaRPr lang="en-US" altLang="zh-CN" sz="945">
              <a:sym typeface="+mn-ea"/>
            </a:endParaRPr>
          </a:p>
          <a:p>
            <a:pPr lvl="1"/>
            <a:r>
              <a:rPr lang="en-US" altLang="zh-CN" sz="1050">
                <a:sym typeface="+mn-ea"/>
              </a:rPr>
              <a:t>friendly snippets</a:t>
            </a:r>
            <a:endParaRPr lang="en-US" altLang="zh-CN" sz="1050">
              <a:sym typeface="+mn-ea"/>
            </a:endParaRPr>
          </a:p>
          <a:p>
            <a:pPr lvl="2"/>
            <a:r>
              <a:rPr lang="en-US" altLang="zh-CN" sz="945">
                <a:sym typeface="+mn-ea"/>
              </a:rPr>
              <a:t>~/.local/share/nvim/lazy/friendly-snippets/snippets</a:t>
            </a:r>
            <a:endParaRPr lang="en-US" altLang="zh-CN" sz="945">
              <a:sym typeface="+mn-ea"/>
            </a:endParaRPr>
          </a:p>
          <a:p>
            <a:pPr lvl="1"/>
            <a:r>
              <a:rPr lang="en-US" altLang="zh-CN" sz="1050">
                <a:sym typeface="+mn-ea"/>
              </a:rPr>
              <a:t>triggers (python)</a:t>
            </a:r>
            <a:endParaRPr lang="en-US" altLang="zh-CN" sz="1050">
              <a:sym typeface="+mn-ea"/>
            </a:endParaRPr>
          </a:p>
          <a:p>
            <a:pPr lvl="2"/>
            <a:r>
              <a:rPr lang="en-US" altLang="zh-CN" sz="945">
                <a:sym typeface="+mn-ea"/>
              </a:rPr>
              <a:t>property</a:t>
            </a:r>
            <a:endParaRPr lang="en-US" altLang="zh-CN" sz="945">
              <a:sym typeface="+mn-ea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544560" y="1211580"/>
            <a:ext cx="3296285" cy="5321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ym typeface="+mn-ea"/>
              </a:rPr>
              <a:t>Syntax Highlighting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tree-sitter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download tree-sitter from https://github.com/tree-sitter/tree-sitter/releases/download/v0.24.7/tree-sitter-linux-x64.gz (Ubuntu 20)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gunzip, then mv to /usr/lcoal/bin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tree-sitter --version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git clone https://github.com/tree-sitter/tree-sitter-python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cd tree-sitter-python &amp;&amp; mkdir build &amp;&amp; cd build &amp;&amp; cmake .. &amp;&amp; make &amp;&amp; sudo make install</a:t>
            </a:r>
            <a:endParaRPr lang="en-US" altLang="zh-CN" sz="1200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Plugins for Python Dev.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57800" cy="5262245"/>
          </a:xfrm>
        </p:spPr>
        <p:txBody>
          <a:bodyPr>
            <a:normAutofit lnSpcReduction="20000"/>
          </a:bodyPr>
          <a:p>
            <a:r>
              <a:rPr lang="en-US" altLang="zh-CN" sz="1400"/>
              <a:t>LSP (Language Server Protocel) &amp; Autocompletion</a:t>
            </a:r>
            <a:endParaRPr lang="en-US" altLang="zh-CN" sz="1400"/>
          </a:p>
          <a:p>
            <a:pPr lvl="1"/>
            <a:r>
              <a:rPr lang="en-US" altLang="zh-CN" sz="1200"/>
              <a:t>neovim/nvim-lspconfig</a:t>
            </a:r>
            <a:endParaRPr lang="en-US" altLang="zh-CN" sz="1200"/>
          </a:p>
          <a:p>
            <a:pPr lvl="2"/>
            <a:r>
              <a:rPr lang="en-US" altLang="zh-CN" sz="1080"/>
              <a:t>npm install -g pyright</a:t>
            </a:r>
            <a:endParaRPr lang="en-US" altLang="zh-CN" sz="1080"/>
          </a:p>
          <a:p>
            <a:pPr lvl="2"/>
            <a:r>
              <a:rPr lang="en-US" altLang="zh-CN" sz="1080"/>
              <a:t>K on a function </a:t>
            </a:r>
            <a:r>
              <a:rPr lang="en-US" altLang="en-US" sz="1080"/>
              <a:t>→</a:t>
            </a:r>
            <a:r>
              <a:rPr lang="en-US" altLang="zh-CN" sz="1080"/>
              <a:t> shows docstring</a:t>
            </a:r>
            <a:endParaRPr lang="en-US" altLang="zh-CN" sz="1080"/>
          </a:p>
          <a:p>
            <a:pPr lvl="2"/>
            <a:r>
              <a:rPr lang="en-US" altLang="zh-CN" sz="1080"/>
              <a:t>gd </a:t>
            </a:r>
            <a:r>
              <a:rPr lang="en-US" altLang="en-US" sz="1080"/>
              <a:t>→</a:t>
            </a:r>
            <a:r>
              <a:rPr lang="en-US" altLang="zh-CN" sz="1080"/>
              <a:t> go to definition</a:t>
            </a:r>
            <a:endParaRPr lang="en-US" altLang="zh-CN" sz="1080"/>
          </a:p>
          <a:p>
            <a:pPr lvl="2"/>
            <a:r>
              <a:rPr lang="en-US" altLang="zh-CN" sz="1080"/>
              <a:t>gD -&gt; go to declaration</a:t>
            </a:r>
            <a:endParaRPr lang="en-US" altLang="zh-CN" sz="1080"/>
          </a:p>
          <a:p>
            <a:pPr lvl="2"/>
            <a:r>
              <a:rPr lang="en-US" altLang="zh-CN" sz="1080"/>
              <a:t>gr -&gt; goto references</a:t>
            </a:r>
            <a:endParaRPr lang="en-US" altLang="zh-CN" sz="1080"/>
          </a:p>
          <a:p>
            <a:pPr lvl="2"/>
            <a:r>
              <a:rPr lang="en-US" altLang="zh-CN" sz="1080"/>
              <a:t>&lt;leader&gt;vrn </a:t>
            </a:r>
            <a:r>
              <a:rPr lang="en-US" altLang="en-US" sz="1080"/>
              <a:t>→</a:t>
            </a:r>
            <a:r>
              <a:rPr lang="en-US" altLang="zh-CN" sz="1080"/>
              <a:t> rename variable</a:t>
            </a:r>
            <a:endParaRPr lang="en-US" altLang="zh-CN" sz="1080"/>
          </a:p>
          <a:p>
            <a:pPr lvl="2"/>
            <a:r>
              <a:rPr lang="en-US" altLang="zh-CN" sz="1080"/>
              <a:t>&lt;leader&gt;vd </a:t>
            </a:r>
            <a:r>
              <a:rPr lang="en-US" altLang="en-US" sz="1080"/>
              <a:t>→</a:t>
            </a:r>
            <a:r>
              <a:rPr lang="en-US" altLang="zh-CN" sz="1080"/>
              <a:t> show error</a:t>
            </a:r>
            <a:endParaRPr lang="en-US" altLang="zh-CN" sz="1080"/>
          </a:p>
          <a:p>
            <a:pPr lvl="0"/>
            <a:r>
              <a:rPr lang="en-US" altLang="zh-CN" sz="1400"/>
              <a:t>Autocompletion Engine</a:t>
            </a:r>
            <a:endParaRPr lang="en-US" altLang="zh-CN" sz="1400"/>
          </a:p>
          <a:p>
            <a:pPr lvl="1"/>
            <a:r>
              <a:rPr lang="en-US" altLang="zh-CN" sz="1200"/>
              <a:t>hrsh7th/nvim-cmp</a:t>
            </a:r>
            <a:endParaRPr lang="en-US" altLang="zh-CN" sz="1200"/>
          </a:p>
          <a:p>
            <a:pPr lvl="2"/>
            <a:r>
              <a:rPr lang="en-US" altLang="zh-CN" sz="1080">
                <a:sym typeface="+mn-ea"/>
              </a:rPr>
              <a:t>press &lt;C-l&gt; to expand using snippets</a:t>
            </a:r>
            <a:endParaRPr lang="en-US" altLang="zh-CN" sz="1080"/>
          </a:p>
          <a:p>
            <a:pPr lvl="2"/>
            <a:r>
              <a:rPr lang="en-US" altLang="zh-CN" sz="1080">
                <a:sym typeface="+mn-ea"/>
              </a:rPr>
              <a:t>&lt;Enter&gt; to confirm selection, &lt;C-p&gt; for previous item, &lt;C-n&gt; for next item</a:t>
            </a:r>
            <a:endParaRPr lang="en-US" altLang="zh-CN" sz="1080"/>
          </a:p>
          <a:p>
            <a:pPr lvl="1"/>
            <a:r>
              <a:rPr lang="en-US" altLang="zh-CN" sz="1200"/>
              <a:t>rafamadriz/friendly-snippets</a:t>
            </a:r>
            <a:endParaRPr lang="en-US" altLang="zh-CN" sz="1200"/>
          </a:p>
          <a:p>
            <a:pPr lvl="0"/>
            <a:r>
              <a:rPr lang="en-US" altLang="zh-CN" sz="1400"/>
              <a:t>Formatter &amp; Linter Integration</a:t>
            </a:r>
            <a:endParaRPr lang="en-US" altLang="zh-CN" sz="1400"/>
          </a:p>
          <a:p>
            <a:pPr lvl="1"/>
            <a:r>
              <a:rPr lang="en-US" altLang="zh-CN" sz="1200"/>
              <a:t>jose-elias-alvarez/null-ls.nvim</a:t>
            </a:r>
            <a:endParaRPr lang="en-US" altLang="zh-CN" sz="1200"/>
          </a:p>
          <a:p>
            <a:pPr lvl="2"/>
            <a:r>
              <a:rPr lang="en-US" altLang="zh-CN" sz="1080"/>
              <a:t>lets you use external tools for formatting, diagnostics, and code actions — without a language server</a:t>
            </a:r>
            <a:endParaRPr lang="en-US" altLang="zh-CN" sz="1080"/>
          </a:p>
          <a:p>
            <a:pPr lvl="2"/>
            <a:r>
              <a:rPr lang="en-US" altLang="zh-CN" sz="1080"/>
              <a:t>formatting, diagnostics, code_actions</a:t>
            </a:r>
            <a:endParaRPr lang="en-US" altLang="zh-CN" sz="1080"/>
          </a:p>
          <a:p>
            <a:pPr lvl="2"/>
            <a:r>
              <a:rPr lang="en-US" altLang="zh-CN" sz="1080"/>
              <a:t>npm -g install prettier</a:t>
            </a:r>
            <a:endParaRPr lang="en-US" altLang="zh-CN" sz="1080"/>
          </a:p>
          <a:p>
            <a:pPr lvl="2"/>
            <a:r>
              <a:rPr lang="en-US" altLang="zh-CN" sz="1080"/>
              <a:t>npm install -g eslint eslint-plugin-simple-import-sort</a:t>
            </a:r>
            <a:endParaRPr lang="en-US" altLang="zh-CN" sz="1080"/>
          </a:p>
          <a:p>
            <a:pPr lvl="2"/>
            <a:r>
              <a:rPr lang="en-US" altLang="zh-CN" sz="1080"/>
              <a:t>pip install black isort flake8</a:t>
            </a:r>
            <a:endParaRPr lang="en-US" altLang="zh-CN" sz="1080"/>
          </a:p>
          <a:p>
            <a:pPr lvl="2"/>
            <a:r>
              <a:rPr lang="en-US" altLang="zh-CN" sz="1080"/>
              <a:t>after open .py file, :NullLsInfo</a:t>
            </a:r>
            <a:endParaRPr lang="en-US" altLang="zh-CN" sz="1080"/>
          </a:p>
          <a:p>
            <a:pPr lvl="1"/>
            <a:r>
              <a:rPr lang="en-US" altLang="zh-CN" sz="1200"/>
              <a:t>mhartington/formatter.nvim</a:t>
            </a:r>
            <a:endParaRPr lang="en-US" altLang="zh-CN" sz="1200"/>
          </a:p>
          <a:p>
            <a:pPr lvl="1"/>
            <a:r>
              <a:rPr lang="en-US" altLang="zh-CN" sz="1200"/>
              <a:t>nvimtools/none-ls.nvim</a:t>
            </a:r>
            <a:endParaRPr lang="en-US" altLang="zh-CN" sz="12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09995" y="1211580"/>
            <a:ext cx="5257800" cy="526224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ym typeface="+mn-ea"/>
              </a:rPr>
              <a:t>Syntax Highlighting &amp; Indentation</a:t>
            </a:r>
            <a:endParaRPr lang="en-US" altLang="zh-CN" sz="1400"/>
          </a:p>
          <a:p>
            <a:pPr lvl="1"/>
            <a:r>
              <a:rPr lang="en-US" altLang="zh-CN" sz="1200">
                <a:sym typeface="+mn-ea"/>
              </a:rPr>
              <a:t>nvim-treesitter/nvim-treesitter</a:t>
            </a:r>
            <a:endParaRPr lang="en-US" altLang="zh-CN" sz="1200"/>
          </a:p>
          <a:p>
            <a:pPr lvl="1"/>
            <a:r>
              <a:rPr lang="en-US" altLang="zh-CN" sz="1200">
                <a:sym typeface="+mn-ea"/>
              </a:rPr>
              <a:t>:TSInstallSync python # compile parsers locally instead of downloading binaries</a:t>
            </a:r>
            <a:endParaRPr lang="en-US" altLang="zh-CN" sz="1200"/>
          </a:p>
          <a:p>
            <a:pPr lvl="1"/>
            <a:r>
              <a:rPr lang="en-US" altLang="zh-CN" sz="1200">
                <a:sym typeface="+mn-ea"/>
              </a:rPr>
              <a:t>:TSInstall lua</a:t>
            </a:r>
            <a:endParaRPr lang="en-US" altLang="zh-CN" sz="1200"/>
          </a:p>
          <a:p>
            <a:pPr lvl="1"/>
            <a:r>
              <a:rPr lang="en-US" altLang="zh-CN" sz="1200">
                <a:sym typeface="+mn-ea"/>
              </a:rPr>
              <a:t>:TSInstall javascript</a:t>
            </a:r>
            <a:endParaRPr lang="en-US" altLang="zh-CN" sz="1200"/>
          </a:p>
          <a:p>
            <a:pPr lvl="1"/>
            <a:r>
              <a:rPr lang="en-US" altLang="zh-CN" sz="1200">
                <a:sym typeface="+mn-ea"/>
              </a:rPr>
              <a:t>:TSUpdate</a:t>
            </a:r>
            <a:endParaRPr lang="en-US" altLang="zh-CN" sz="1200"/>
          </a:p>
          <a:p>
            <a:pPr lvl="0"/>
            <a:r>
              <a:rPr lang="en-US" altLang="zh-CN" sz="1400">
                <a:sym typeface="+mn-ea"/>
              </a:rPr>
              <a:t>Virtual Environments</a:t>
            </a:r>
            <a:endParaRPr lang="en-US" altLang="zh-CN" sz="1400"/>
          </a:p>
          <a:p>
            <a:pPr lvl="1"/>
            <a:r>
              <a:rPr lang="en-US" altLang="zh-CN" sz="1200">
                <a:sym typeface="+mn-ea"/>
              </a:rPr>
              <a:t>AckslD/swenv.nvim</a:t>
            </a:r>
            <a:endParaRPr lang="en-US" altLang="zh-CN" sz="1200"/>
          </a:p>
          <a:p>
            <a:pPr lvl="2"/>
            <a:r>
              <a:rPr lang="en-US" altLang="zh-CN" sz="1000">
                <a:sym typeface="+mn-ea"/>
              </a:rPr>
              <a:t>:SWEnvSelect</a:t>
            </a:r>
            <a:endParaRPr lang="en-US" altLang="zh-CN" sz="1000"/>
          </a:p>
          <a:p>
            <a:pPr lvl="0"/>
            <a:r>
              <a:rPr lang="en-US" altLang="zh-CN" sz="1400">
                <a:sym typeface="+mn-ea"/>
              </a:rPr>
              <a:t>Docstrings &amp; Snippets</a:t>
            </a:r>
            <a:endParaRPr lang="en-US" altLang="zh-CN" sz="1400"/>
          </a:p>
          <a:p>
            <a:pPr lvl="1"/>
            <a:r>
              <a:rPr lang="en-US" altLang="zh-CN" sz="1200">
                <a:sym typeface="+mn-ea"/>
              </a:rPr>
              <a:t>L3MON4D3/LuaSnip + rafamadriz/friendly-snippets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080"/>
              <a:t>~/.config/nvim/lua/snippets/</a:t>
            </a:r>
            <a:endParaRPr lang="en-US" altLang="zh-CN" sz="1080"/>
          </a:p>
          <a:p>
            <a:pPr lvl="2"/>
            <a:r>
              <a:rPr lang="en-US" altLang="zh-CN" sz="1080"/>
              <a:t>custom snippets: ~/.config/nvim/lua/snippets/javascript.lua</a:t>
            </a:r>
            <a:endParaRPr lang="en-US" altLang="zh-CN" sz="1080"/>
          </a:p>
          <a:p>
            <a:pPr lvl="0"/>
            <a:r>
              <a:rPr lang="en-US" altLang="zh-CN" sz="1400"/>
              <a:t>Import Management</a:t>
            </a:r>
            <a:endParaRPr lang="en-US" altLang="zh-CN" sz="1400"/>
          </a:p>
          <a:p>
            <a:pPr lvl="1"/>
            <a:r>
              <a:rPr lang="en-US" altLang="zh-CN" sz="1200"/>
              <a:t>RRethy/nvim-treesitter-textobjects</a:t>
            </a:r>
            <a:endParaRPr lang="en-US" altLang="zh-CN" sz="1200"/>
          </a:p>
          <a:p>
            <a:pPr lvl="0"/>
            <a:r>
              <a:rPr lang="en-US" altLang="zh-CN" sz="1400"/>
              <a:t>Project management</a:t>
            </a:r>
            <a:endParaRPr lang="en-US" altLang="zh-CN" sz="1400"/>
          </a:p>
          <a:p>
            <a:pPr lvl="1"/>
            <a:r>
              <a:rPr lang="en-US" altLang="zh-CN" sz="1200"/>
              <a:t>nvim-telescope/telescope.nvim</a:t>
            </a:r>
            <a:endParaRPr lang="en-US" altLang="zh-CN" sz="1200"/>
          </a:p>
          <a:p>
            <a:pPr lvl="2"/>
            <a:r>
              <a:rPr lang="en-US" altLang="zh-CN" sz="1000"/>
              <a:t>most powerful fuzzy finders for Neovim</a:t>
            </a:r>
            <a:endParaRPr lang="en-US" altLang="zh-CN" sz="1000"/>
          </a:p>
          <a:p>
            <a:pPr lvl="2"/>
            <a:r>
              <a:rPr lang="en-US" altLang="zh-CN" sz="1000"/>
              <a:t>:Telescope find_files, :Telescope live_grep, :Telescope git_files</a:t>
            </a:r>
            <a:endParaRPr lang="en-US" altLang="zh-CN" sz="1000"/>
          </a:p>
          <a:p>
            <a:pPr lvl="1"/>
            <a:endParaRPr lang="en-US" altLang="zh-CN" sz="1200"/>
          </a:p>
          <a:p>
            <a:pPr lvl="1"/>
            <a:endParaRPr lang="en-US" altLang="zh-CN" sz="1200"/>
          </a:p>
        </p:txBody>
      </p:sp>
    </p:spTree>
    <p:custDataLst>
      <p:tags r:id="rId1"/>
    </p:custData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Plugins for Javascript Dev.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558030" cy="5422265"/>
          </a:xfrm>
        </p:spPr>
        <p:txBody>
          <a:bodyPr>
            <a:normAutofit lnSpcReduction="10000"/>
          </a:bodyPr>
          <a:p>
            <a:r>
              <a:rPr lang="en-US" altLang="zh-CN" sz="1200"/>
              <a:t>Overview</a:t>
            </a:r>
            <a:endParaRPr lang="en-US" altLang="zh-CN" sz="1200"/>
          </a:p>
          <a:p>
            <a:pPr lvl="1"/>
            <a:r>
              <a:rPr lang="en-US" altLang="zh-CN" sz="1200"/>
              <a:t>Neovim + Telescope + Treesitter + LSP (volar/tsserver) + null-ls + cmp + gitsigns + nvim-tree</a:t>
            </a:r>
            <a:endParaRPr lang="en-US" altLang="zh-CN" sz="1200"/>
          </a:p>
          <a:p>
            <a:pPr lvl="1"/>
            <a:r>
              <a:rPr lang="en-US" altLang="zh-CN" sz="1200"/>
              <a:t>https://github.com/LunarVim/LunarVim</a:t>
            </a:r>
            <a:endParaRPr lang="en-US" altLang="zh-CN" sz="1200"/>
          </a:p>
          <a:p>
            <a:pPr lvl="0"/>
            <a:r>
              <a:rPr lang="en-US" altLang="zh-CN" sz="1200"/>
              <a:t>Plugins</a:t>
            </a:r>
            <a:endParaRPr lang="en-US" altLang="zh-CN" sz="1200"/>
          </a:p>
          <a:p>
            <a:pPr lvl="1"/>
            <a:r>
              <a:rPr lang="en-US" altLang="zh-CN" sz="1000"/>
              <a:t>Syntax highlighting</a:t>
            </a:r>
            <a:endParaRPr lang="en-US" altLang="zh-CN" sz="1000"/>
          </a:p>
          <a:p>
            <a:pPr lvl="2"/>
            <a:r>
              <a:rPr lang="en-US" altLang="zh-CN" sz="900"/>
              <a:t>“leafgarland/typescript-vim”		# syntax highlighting for .ts and .tsx</a:t>
            </a:r>
            <a:endParaRPr lang="en-US" altLang="zh-CN" sz="900"/>
          </a:p>
          <a:p>
            <a:pPr lvl="2"/>
            <a:r>
              <a:rPr lang="en-US" altLang="zh-CN" sz="900"/>
              <a:t>“posva/vim-vue”	# .vue syntax highlighting and indentation</a:t>
            </a:r>
            <a:endParaRPr lang="en-US" altLang="zh-CN" sz="900"/>
          </a:p>
          <a:p>
            <a:pPr lvl="2"/>
            <a:r>
              <a:rPr lang="en-US" altLang="zh-CN" sz="900"/>
              <a:t>'nvim-treesitter/nvim-treesitter', {'do': ':TSUpdate'}</a:t>
            </a:r>
            <a:endParaRPr lang="en-US" altLang="zh-CN" sz="900"/>
          </a:p>
          <a:p>
            <a:pPr lvl="3"/>
            <a:r>
              <a:rPr lang="en-US" altLang="zh-CN" sz="900">
                <a:sym typeface="+mn-ea"/>
              </a:rPr>
              <a:t>in nvim, run “:TSInstall javascript typescript vue html css scss” to enable parsers</a:t>
            </a:r>
            <a:endParaRPr lang="en-US" altLang="zh-CN" sz="900"/>
          </a:p>
          <a:p>
            <a:pPr lvl="1"/>
            <a:r>
              <a:rPr lang="en-US" altLang="zh-CN" sz="1000"/>
              <a:t>LSP (Language Server Protocol) &amp; Autocompletion</a:t>
            </a:r>
            <a:endParaRPr lang="en-US" altLang="zh-CN" sz="1000"/>
          </a:p>
          <a:p>
            <a:pPr lvl="2"/>
            <a:r>
              <a:rPr lang="en-US" altLang="zh-CN" sz="900"/>
              <a:t>“neovim/nvim-lspconfig”</a:t>
            </a:r>
            <a:endParaRPr lang="en-US" altLang="zh-CN" sz="900"/>
          </a:p>
          <a:p>
            <a:pPr lvl="2"/>
            <a:r>
              <a:rPr lang="en-US" altLang="zh-CN" sz="900"/>
              <a:t>npm install -g @volar/server eslint diagnostic-languageserver</a:t>
            </a:r>
            <a:endParaRPr lang="en-US" altLang="zh-CN" sz="900"/>
          </a:p>
          <a:p>
            <a:pPr lvl="2"/>
            <a:r>
              <a:rPr lang="en-US" altLang="zh-CN" sz="900"/>
              <a:t>ts_ls</a:t>
            </a:r>
            <a:endParaRPr lang="en-US" altLang="zh-CN" sz="900"/>
          </a:p>
          <a:p>
            <a:pPr lvl="3"/>
            <a:r>
              <a:rPr lang="en-US" altLang="zh-CN" sz="900"/>
              <a:t>yarn global add typescript typescript-language-server</a:t>
            </a:r>
            <a:endParaRPr lang="en-US" altLang="zh-CN" sz="900"/>
          </a:p>
          <a:p>
            <a:pPr lvl="2"/>
            <a:r>
              <a:rPr lang="en-US" altLang="zh-CN" sz="900"/>
              <a:t>:LspInfo</a:t>
            </a:r>
            <a:endParaRPr lang="en-US" altLang="zh-CN" sz="900"/>
          </a:p>
          <a:p>
            <a:pPr lvl="1"/>
            <a:r>
              <a:rPr lang="en-US" altLang="zh-CN" sz="1000"/>
              <a:t>Snippets</a:t>
            </a:r>
            <a:endParaRPr lang="en-US" altLang="zh-CN" sz="1000"/>
          </a:p>
          <a:p>
            <a:pPr lvl="2"/>
            <a:r>
              <a:rPr lang="en-US" altLang="zh-CN" sz="900"/>
              <a:t>'L3MON4D3/LuaSnip'</a:t>
            </a:r>
            <a:endParaRPr lang="en-US" altLang="zh-CN" sz="900"/>
          </a:p>
          <a:p>
            <a:pPr lvl="2"/>
            <a:r>
              <a:rPr lang="en-US" altLang="zh-CN" sz="900"/>
              <a:t>'saadparwaiz1/cmp_luasnip'</a:t>
            </a:r>
            <a:endParaRPr lang="en-US" altLang="zh-CN" sz="900"/>
          </a:p>
          <a:p>
            <a:pPr lvl="1"/>
            <a:r>
              <a:rPr lang="en-US" altLang="zh-CN" sz="1000"/>
              <a:t>Formatting &amp; Linting</a:t>
            </a:r>
            <a:endParaRPr lang="en-US" altLang="zh-CN" sz="1000"/>
          </a:p>
          <a:p>
            <a:pPr lvl="2"/>
            <a:r>
              <a:rPr lang="en-US" altLang="zh-CN" sz="900"/>
              <a:t>'jose-elias-alvarez/null-ls.nvim'</a:t>
            </a:r>
            <a:endParaRPr lang="en-US" altLang="zh-CN" sz="900"/>
          </a:p>
          <a:p>
            <a:pPr lvl="1"/>
            <a:r>
              <a:rPr lang="en-US" altLang="zh-CN" sz="1000"/>
              <a:t>Misc</a:t>
            </a:r>
            <a:endParaRPr lang="en-US" altLang="zh-CN" sz="1000"/>
          </a:p>
          <a:p>
            <a:pPr lvl="2"/>
            <a:r>
              <a:rPr lang="en-US" altLang="zh-CN" sz="900"/>
              <a:t>‘nvim-tree/nvim-tree.lua'</a:t>
            </a:r>
            <a:endParaRPr lang="en-US" altLang="zh-CN" sz="900"/>
          </a:p>
          <a:p>
            <a:pPr lvl="2"/>
            <a:r>
              <a:rPr lang="en-US" altLang="zh-CN" sz="900"/>
              <a:t>nvim-telescope/telescope.nvim'	# file finder</a:t>
            </a:r>
            <a:endParaRPr lang="en-US" altLang="zh-CN" sz="900"/>
          </a:p>
          <a:p>
            <a:pPr lvl="2"/>
            <a:r>
              <a:rPr lang="en-US" altLang="zh-CN" sz="900"/>
              <a:t>'lewis6991/gitsigns.nvim'</a:t>
            </a:r>
            <a:endParaRPr lang="en-US" altLang="zh-CN" sz="900"/>
          </a:p>
          <a:p>
            <a:pPr lvl="2"/>
            <a:r>
              <a:rPr lang="en-US" altLang="zh-CN" sz="900"/>
              <a:t>'nvim-lualine/lualine.nvim'	# status line</a:t>
            </a:r>
            <a:endParaRPr lang="en-US" altLang="zh-CN" sz="900"/>
          </a:p>
          <a:p>
            <a:pPr lvl="2"/>
            <a:r>
              <a:rPr lang="en-US" altLang="zh-CN" sz="900"/>
              <a:t>windwp/nvim-ts-autotag		# auto-close tags</a:t>
            </a:r>
            <a:endParaRPr lang="en-US" altLang="zh-CN" sz="900"/>
          </a:p>
          <a:p>
            <a:pPr lvl="2"/>
            <a:endParaRPr lang="en-US" altLang="zh-CN" sz="9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99530" y="1211580"/>
            <a:ext cx="4664075" cy="5219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20">
                <a:sym typeface="+mn-ea"/>
              </a:rPr>
              <a:t>Plugins (cont.)</a:t>
            </a:r>
            <a:endParaRPr lang="en-US" altLang="zh-CN" sz="1320">
              <a:sym typeface="+mn-ea"/>
            </a:endParaRPr>
          </a:p>
          <a:p>
            <a:pPr lvl="1"/>
            <a:r>
              <a:rPr lang="en-US" altLang="zh-CN" sz="1100">
                <a:sym typeface="+mn-ea"/>
              </a:rPr>
              <a:t>symbol outline</a:t>
            </a:r>
            <a:endParaRPr lang="en-US" altLang="zh-CN" sz="1100">
              <a:sym typeface="+mn-ea"/>
            </a:endParaRPr>
          </a:p>
          <a:p>
            <a:pPr lvl="2"/>
            <a:r>
              <a:rPr lang="en-US" altLang="zh-CN" sz="990">
                <a:sym typeface="+mn-ea"/>
              </a:rPr>
              <a:t>nvim-navic + LSP</a:t>
            </a:r>
            <a:endParaRPr lang="en-US" altLang="zh-CN" sz="990">
              <a:sym typeface="+mn-ea"/>
            </a:endParaRPr>
          </a:p>
          <a:p>
            <a:pPr lvl="0"/>
            <a:r>
              <a:rPr lang="en-US" altLang="zh-CN" sz="1320">
                <a:sym typeface="+mn-ea"/>
              </a:rPr>
              <a:t>Steps</a:t>
            </a:r>
            <a:endParaRPr lang="en-US" altLang="zh-CN" sz="1320"/>
          </a:p>
          <a:p>
            <a:pPr lvl="1"/>
            <a:r>
              <a:rPr lang="en-US" altLang="zh-CN" sz="1200">
                <a:sym typeface="+mn-ea"/>
              </a:rPr>
              <a:t>Install language servers</a:t>
            </a:r>
            <a:endParaRPr lang="en-US" altLang="zh-CN" sz="1200"/>
          </a:p>
          <a:p>
            <a:pPr lvl="2"/>
            <a:r>
              <a:rPr lang="en-US" altLang="zh-CN" sz="1000">
                <a:sym typeface="+mn-ea"/>
              </a:rPr>
              <a:t>npm install -g typescript typescript-language-server</a:t>
            </a:r>
            <a:endParaRPr lang="en-US" altLang="zh-CN" sz="1000"/>
          </a:p>
          <a:p>
            <a:pPr lvl="2"/>
            <a:r>
              <a:rPr lang="en-US" altLang="zh-CN" sz="1000">
                <a:sym typeface="+mn-ea"/>
              </a:rPr>
              <a:t>npm install -g @volar/server</a:t>
            </a:r>
            <a:endParaRPr lang="en-US" altLang="zh-CN" sz="1000"/>
          </a:p>
          <a:p>
            <a:pPr lvl="2"/>
            <a:r>
              <a:rPr lang="en-US" altLang="zh-CN" sz="1000">
                <a:sym typeface="+mn-ea"/>
              </a:rPr>
              <a:t>npm install -g eslint_d prettier</a:t>
            </a:r>
            <a:endParaRPr lang="en-US" altLang="zh-CN" sz="1000"/>
          </a:p>
          <a:p>
            <a:pPr lvl="1"/>
            <a:r>
              <a:rPr lang="en-US" altLang="zh-CN" sz="1200">
                <a:sym typeface="+mn-ea"/>
              </a:rPr>
              <a:t>Set up LSP</a:t>
            </a:r>
            <a:endParaRPr lang="en-US" altLang="zh-CN" sz="1200"/>
          </a:p>
          <a:p>
            <a:r>
              <a:rPr lang="en-US" altLang="zh-CN" sz="1320"/>
              <a:t>Usage</a:t>
            </a:r>
            <a:endParaRPr lang="en-US" altLang="zh-CN" sz="1320"/>
          </a:p>
          <a:p>
            <a:pPr lvl="1"/>
            <a:r>
              <a:rPr lang="en-US" altLang="zh-CN" sz="1100"/>
              <a:t>:Telescope {find_files} // Search files</a:t>
            </a:r>
            <a:endParaRPr lang="en-US" altLang="zh-CN" sz="1100"/>
          </a:p>
          <a:p>
            <a:pPr lvl="1"/>
            <a:r>
              <a:rPr lang="en-US" altLang="zh-CN" sz="1100"/>
              <a:t>:NvimTreeToggle // open file explorer</a:t>
            </a:r>
            <a:endParaRPr lang="en-US" altLang="zh-CN" sz="1100"/>
          </a:p>
          <a:p>
            <a:pPr lvl="1"/>
            <a:endParaRPr lang="en-US" altLang="zh-CN" sz="1100"/>
          </a:p>
        </p:txBody>
      </p:sp>
    </p:spTree>
    <p:custDataLst>
      <p:tags r:id="rId1"/>
    </p:custData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Image Utilities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Convert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929640" y="1173480"/>
          <a:ext cx="10802620" cy="4747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8015"/>
                <a:gridCol w="4711700"/>
                <a:gridCol w="1652905"/>
              </a:tblGrid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Param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Meaning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Note</a:t>
                      </a:r>
                      <a:endParaRPr lang="en-US" altLang="zh-CN"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convert input.jpg -negate negate.jpg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600"/>
                        <a:t>negate image color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6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input.jpg -rotate 90 output.jpg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rotate image 90 degree clockwise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</a:pPr>
                      <a:endParaRPr lang="zh-CN" altLang="en-US" sz="1600">
                        <a:sym typeface="+mn-ea"/>
                      </a:endParaRPr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input.jpg -resize 50% output.jpg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resize image to half size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input.jpg -resize 1024 output.jpg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resize image width to 1024, height auto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input.jpg -resize x1024 output.jpg 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resize image </a:t>
                      </a:r>
                      <a:r>
                        <a:rPr lang="en-US" altLang="zh-CN" sz="1600">
                          <a:sym typeface="+mn-ea"/>
                        </a:rPr>
                        <a:t>height to 1024, width auto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</a:tr>
              <a:tr h="38354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input.jpg -resize 1024x1024! output.jpg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forcely resize to 1024x1024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</a:tr>
              <a:tr h="38354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input.jpg -crop WxH+X+Y output.jpg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crop image to w*h, starting from (x, y)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</a:tr>
              <a:tr h="38354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input.png -define webp:lossless=false -quality 80 output.webp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png to webp with specified quality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</a:tr>
              <a:tr h="38354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*.jpg output.pdf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images into pdf</a:t>
                      </a:r>
                      <a:endParaRPr lang="en-US" altLang="zh-CN" sz="1600">
                        <a:sym typeface="+mn-ea"/>
                      </a:endParaRPr>
                    </a:p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# need to modify /etc/ImageMagick-6/policy.xml</a:t>
                      </a:r>
                      <a:endParaRPr lang="en-US" altLang="zh-CN" sz="1600">
                        <a:sym typeface="+mn-ea"/>
                      </a:endParaRPr>
                    </a:p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&lt;policy domain="coder" rights="read|write" pattern="PDF" /&gt;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</a:tr>
              <a:tr h="38354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convert input.png -crop 50%x100% +repage output_%d.png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split one image into 2 halves horizontally</a:t>
                      </a: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600">
                        <a:sym typeface="+mn-ea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Webp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392420" cy="5047615"/>
          </a:xfrm>
        </p:spPr>
        <p:txBody>
          <a:bodyPr>
            <a:noAutofit/>
          </a:bodyPr>
          <a:p>
            <a:r>
              <a:rPr lang="en-US" altLang="zh-CN" sz="1600"/>
              <a:t>webp</a:t>
            </a:r>
            <a:endParaRPr lang="en-US" altLang="zh-CN" sz="1600"/>
          </a:p>
          <a:p>
            <a:pPr lvl="1"/>
            <a:r>
              <a:rPr lang="en-US" altLang="zh-CN" sz="1400"/>
              <a:t>sudo apt install webp</a:t>
            </a:r>
            <a:endParaRPr lang="en-US" altLang="zh-CN" sz="1400"/>
          </a:p>
          <a:p>
            <a:pPr lvl="1"/>
            <a:r>
              <a:rPr lang="en-US" altLang="zh-CN" sz="1400"/>
              <a:t>cwebp</a:t>
            </a:r>
            <a:endParaRPr lang="en-US" altLang="zh-CN" sz="1400"/>
          </a:p>
          <a:p>
            <a:pPr lvl="2"/>
            <a:r>
              <a:rPr lang="en-US" altLang="zh-CN" sz="1200"/>
              <a:t>compress an image file to webp format</a:t>
            </a:r>
            <a:endParaRPr lang="en-US" altLang="zh-CN" sz="1200"/>
          </a:p>
          <a:p>
            <a:pPr lvl="2"/>
            <a:r>
              <a:rPr lang="en-US" altLang="zh-CN" sz="1200"/>
              <a:t>cwebp -q 50 -lossless picture.png -o picture_lossless.webp</a:t>
            </a:r>
            <a:endParaRPr lang="en-US" altLang="zh-CN" sz="1200"/>
          </a:p>
          <a:p>
            <a:pPr lvl="3"/>
            <a:r>
              <a:rPr lang="en-US" altLang="zh-CN" sz="1200"/>
              <a:t>-q: compression factor, default 75</a:t>
            </a:r>
            <a:endParaRPr lang="en-US" altLang="zh-CN" sz="1200"/>
          </a:p>
          <a:p>
            <a:pPr lvl="3"/>
            <a:r>
              <a:rPr lang="en-US" altLang="zh-CN" sz="1200"/>
              <a:t>-lossless: encode the image without any loss</a:t>
            </a:r>
            <a:endParaRPr lang="en-US" altLang="zh-CN" sz="1200"/>
          </a:p>
          <a:p>
            <a:pPr lvl="1"/>
            <a:r>
              <a:rPr lang="en-US" altLang="zh-CN" sz="1400"/>
              <a:t>dwebp</a:t>
            </a:r>
            <a:endParaRPr lang="en-US" altLang="zh-CN" sz="1400"/>
          </a:p>
          <a:p>
            <a:pPr lvl="2"/>
            <a:r>
              <a:rPr lang="en-US" altLang="zh-CN" sz="1200"/>
              <a:t>decompress a webp file to an image</a:t>
            </a:r>
            <a:endParaRPr lang="en-US" altLang="zh-CN" sz="1200"/>
          </a:p>
          <a:p>
            <a:pPr lvl="2"/>
            <a:r>
              <a:rPr lang="en-US" altLang="zh-CN" sz="1200"/>
              <a:t>dwebp picture.webp -o output.png</a:t>
            </a:r>
            <a:endParaRPr lang="en-US" altLang="zh-CN" sz="1200"/>
          </a:p>
          <a:p>
            <a:pPr lvl="1"/>
            <a:r>
              <a:rPr lang="en-US" altLang="zh-CN" sz="1400"/>
              <a:t>vwebp</a:t>
            </a:r>
            <a:endParaRPr lang="en-US" altLang="zh-CN" sz="1400"/>
          </a:p>
          <a:p>
            <a:pPr lvl="2"/>
            <a:r>
              <a:rPr lang="en-US" altLang="zh-CN" sz="1200"/>
              <a:t>View a webp image</a:t>
            </a:r>
            <a:endParaRPr lang="en-US" altLang="zh-CN" sz="12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402705" y="1211580"/>
            <a:ext cx="5392420" cy="504761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sz="1600">
                <a:sym typeface="+mn-ea"/>
              </a:rPr>
              <a:t>webmux</a:t>
            </a:r>
            <a:endParaRPr lang="en-US" altLang="zh-CN" sz="1600"/>
          </a:p>
          <a:p>
            <a:pPr lvl="2"/>
            <a:r>
              <a:rPr lang="en-US" altLang="zh-CN" sz="1400">
                <a:sym typeface="+mn-ea"/>
              </a:rPr>
              <a:t>webpmux -frame 1.webp +100 -frame 2.webp +100+50+50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               -frame 3.webp +100+50+50+1+b -loop 10 -bgcolor 255,255,255,255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               -o anim_container.webp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-frame</a:t>
            </a:r>
            <a:endParaRPr lang="en-US" altLang="zh-CN" sz="1400"/>
          </a:p>
          <a:p>
            <a:pPr lvl="3"/>
            <a:r>
              <a:rPr lang="en-US" altLang="zh-CN" sz="1400">
                <a:sym typeface="+mn-ea"/>
              </a:rPr>
              <a:t>file_i +di[+xi+yi[+mi[bi]]]</a:t>
            </a:r>
            <a:endParaRPr lang="en-US" altLang="zh-CN" sz="1400"/>
          </a:p>
          <a:p>
            <a:pPr lvl="4"/>
            <a:r>
              <a:rPr lang="en-US" altLang="zh-CN" sz="1400">
                <a:sym typeface="+mn-ea"/>
              </a:rPr>
              <a:t>di: duration, xi: x offset, yi: y offset, mi: dispose method, 0 for None, 1 for Background, bi: blending method, +b for Blend, -b for No Blend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600"/>
              <a:t>webpinfo</a:t>
            </a:r>
            <a:endParaRPr lang="en-US" altLang="zh-CN" sz="1600"/>
          </a:p>
          <a:p>
            <a:pPr lvl="2"/>
            <a:r>
              <a:rPr lang="en-US" altLang="zh-CN" sz="1440"/>
              <a:t>view info about a webp image file</a:t>
            </a:r>
            <a:endParaRPr lang="en-US" altLang="zh-CN" sz="1440"/>
          </a:p>
          <a:p>
            <a:pPr lvl="1"/>
            <a:r>
              <a:rPr lang="en-US" altLang="zh-CN" sz="1600"/>
              <a:t>exif</a:t>
            </a:r>
            <a:endParaRPr lang="en-US" altLang="zh-CN" sz="1600"/>
          </a:p>
          <a:p>
            <a:pPr lvl="2"/>
            <a:r>
              <a:rPr lang="en-US" altLang="zh-CN" sz="1440"/>
              <a:t>sudo apt install libimage-exiftool-perl</a:t>
            </a:r>
            <a:endParaRPr lang="en-US" altLang="zh-CN" sz="1440"/>
          </a:p>
          <a:p>
            <a:pPr lvl="2"/>
            <a:r>
              <a:rPr lang="en-US" altLang="zh-CN" sz="1440"/>
              <a:t>exiftool input.jpg</a:t>
            </a:r>
            <a:endParaRPr lang="en-US" altLang="zh-CN" sz="1440"/>
          </a:p>
          <a:p>
            <a:pPr lvl="2"/>
            <a:endParaRPr lang="en-US" altLang="zh-CN" sz="1440"/>
          </a:p>
        </p:txBody>
      </p:sp>
    </p:spTree>
    <p:custDataLst>
      <p:tags r:id="rId1"/>
    </p:custData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Magick Basic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3452495" cy="3898265"/>
          </a:xfrm>
        </p:spPr>
        <p:txBody>
          <a:bodyPr>
            <a:normAutofit lnSpcReduction="10000"/>
          </a:bodyPr>
          <a:p>
            <a:r>
              <a:rPr lang="en-US" altLang="zh-CN" sz="2000"/>
              <a:t>Install</a:t>
            </a:r>
            <a:endParaRPr lang="en-US" altLang="zh-CN" sz="2000"/>
          </a:p>
          <a:p>
            <a:pPr lvl="1"/>
            <a:r>
              <a:rPr lang="en-US" altLang="zh-CN" sz="1800"/>
              <a:t>download imagemagick from https://imagemagick.org/script/download.php</a:t>
            </a:r>
            <a:endParaRPr lang="en-US" altLang="zh-CN" sz="1800"/>
          </a:p>
          <a:p>
            <a:pPr lvl="1"/>
            <a:r>
              <a:rPr lang="en-US" altLang="zh-CN" sz="1800"/>
              <a:t>in Linux, download, unzip, add the path to PATH env</a:t>
            </a:r>
            <a:endParaRPr lang="en-US" altLang="zh-CN" sz="1800"/>
          </a:p>
          <a:p>
            <a:pPr lvl="0"/>
            <a:r>
              <a:rPr lang="en-US" altLang="zh-CN" sz="2000"/>
              <a:t>Usage</a:t>
            </a:r>
            <a:endParaRPr lang="en-US" altLang="zh-CN" sz="2000"/>
          </a:p>
          <a:p>
            <a:pPr lvl="1"/>
            <a:r>
              <a:rPr lang="en-US" altLang="zh-CN" sz="1800"/>
              <a:t>https://imagemagick.org/script/command-line-options.php</a:t>
            </a:r>
            <a:endParaRPr lang="en-US" altLang="zh-CN" sz="1800"/>
          </a:p>
          <a:p>
            <a:pPr lvl="1"/>
            <a:r>
              <a:rPr lang="en-US" altLang="zh-CN" sz="1800"/>
              <a:t>https://imagemagick.org/Usage/</a:t>
            </a:r>
            <a:endParaRPr lang="en-US" altLang="zh-CN" sz="1800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4385310" y="1109980"/>
          <a:ext cx="7557135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995"/>
                <a:gridCol w="2080260"/>
                <a:gridCol w="3484880"/>
              </a:tblGrid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Param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Meaning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Note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-flip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Flip </a:t>
                      </a:r>
                      <a:r>
                        <a:rPr lang="en-US" altLang="zh-CN" sz="1200">
                          <a:sym typeface="+mn-ea"/>
                        </a:rPr>
                        <a:t>vertically 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magick input.jpg -flip output.jpg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-flop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Flip </a:t>
                      </a:r>
                      <a:r>
                        <a:rPr lang="en-US" altLang="zh-CN" sz="1200">
                          <a:sym typeface="+mn-ea"/>
                        </a:rPr>
                        <a:t>horizontally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magick input.jpg -flop output.jpg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-rotate {angle}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Rotate image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magick input.jpg -rotate 180 output.jpg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-reize {w}x{h}!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Force to resize an image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! to force to resize non-proportionally</a:t>
                      </a:r>
                      <a:endParaRPr lang="en-US" altLang="zh-CN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-crop {w}x{h}+{x}+{y} +repage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Crop an image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magick rose: -crop 40x30+10+10  crop.gif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w/h: 0 means input width or height</a:t>
                      </a:r>
                      <a:endParaRPr lang="en-US" altLang="zh-CN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-bordercolor {color} -border {w}x{h}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Add border to image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magick rose: -alpha set -bordercolor none -border 10    border_none.gif</a:t>
                      </a:r>
                      <a:endParaRPr lang="en-US" altLang="zh-CN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-frame {w}x{h}+{x}+{y}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Add frame to image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magick rose: -mattecolor Tomato  -frame 10x10+5+5  frame_red.gif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-shave {w}x{h}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Remove border from image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-gravity {g} -extent {w}x{h}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Specify size of image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may crop or extend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gravity: east/west/south/north/center</a:t>
                      </a:r>
                      <a:endParaRPr lang="en-US" altLang="zh-CN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-splice {w}x{h}+{x}+{y}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Add horizontal or vertical spaces in image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magick identify -list font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supported fonts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magick identify {filename}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Show image info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magick -size {size} pattern:checkerboard output.jpg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Generate image using predefined patterns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patterns: checkerboard, gray50, hs_diagcross, gradient, rose, logo, granite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magick -size 30x30  pattern:fishscales out.jpg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magick -size 30x30  gradient:yellow-lime out.jpg</a:t>
                      </a: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magick rose: rose.gif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rose: predefined rose image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图片 4" descr="ar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750" y="5407025"/>
            <a:ext cx="2077085" cy="109537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Magick Distort</a:t>
            </a:r>
            <a:endParaRPr lang="zh-CN" altLang="en-US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1139825" y="1173480"/>
          <a:ext cx="10802620" cy="4137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045"/>
                <a:gridCol w="3026410"/>
                <a:gridCol w="4622165"/>
              </a:tblGrid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Param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Meaning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Note</a:t>
                      </a:r>
                      <a:endParaRPr lang="en-US" altLang="zh-CN" sz="1200"/>
                    </a:p>
                  </a:txBody>
                  <a:tcPr/>
                </a:tc>
              </a:tr>
              <a:tr h="62865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magick ... -distort  {method}  "{list_of_floating_point_values}" ...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Distort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/>
                        <a:t>magick -list distort</a:t>
                      </a:r>
                      <a:r>
                        <a:rPr lang="en-US" altLang="zh-CN" sz="1200"/>
                        <a:t> // list all methods</a:t>
                      </a:r>
                      <a:endParaRPr lang="en-US" altLang="zh-CN" sz="1200"/>
                    </a:p>
                  </a:txBody>
                  <a:tcPr/>
                </a:tc>
              </a:tr>
              <a:tr h="134747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-distort -Polar “Rmax, Rmin CenterX, CenterY StartAngle, EndAngle”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Cartesian to Polar mapping of the image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</a:pPr>
                      <a:r>
                        <a:rPr lang="zh-CN" altLang="en-US" sz="1200">
                          <a:sym typeface="+mn-ea"/>
                        </a:rPr>
                        <a:t>default: center to center of image, angles from -180 to 180</a:t>
                      </a:r>
                      <a:endParaRPr lang="zh-CN" altLang="en-US" sz="1200"/>
                    </a:p>
                    <a:p>
                      <a:pPr marL="0" lvl="2" algn="l">
                        <a:buClrTx/>
                        <a:buSzTx/>
                        <a:buFontTx/>
                      </a:pPr>
                      <a:r>
                        <a:rPr lang="zh-CN" altLang="en-US" sz="1200">
                          <a:sym typeface="+mn-ea"/>
                        </a:rPr>
                        <a:t>Rmax: 0: distance from center to the nearest edge is used for the radius of the output image; -1: distance from center to the farest edge is used for the radius of the output image</a:t>
                      </a: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</a:tr>
              <a:tr h="629285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-distort SRT “X,Y ScaleX,ScaleY Angle NewX,NewY”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SRT: Scale-Rotate-Transform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1 param: angle</a:t>
                      </a:r>
                      <a:endParaRPr lang="en-US" altLang="zh-CN" sz="1200">
                        <a:sym typeface="+mn-ea"/>
                      </a:endParaRPr>
                    </a:p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2 params: scale angle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  <a:tr h="62865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-distort Arc “arc_angle rotate_angle top_radius bottom_radius”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curve the given image into a perfectly circular arc over the angle given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  <a:tr h="62865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+distort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Turn on bestfit. Output image is resized to fit.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Magick Composite</a:t>
            </a:r>
            <a:endParaRPr lang="zh-CN" altLang="en-US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1139825" y="1173480"/>
          <a:ext cx="6941820" cy="3350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920"/>
                <a:gridCol w="1944370"/>
                <a:gridCol w="2970530"/>
              </a:tblGrid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Param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Meaning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Note</a:t>
                      </a:r>
                      <a:endParaRPr lang="en-US" altLang="zh-CN" sz="1200"/>
                    </a:p>
                  </a:txBody>
                  <a:tcPr/>
                </a:tc>
              </a:tr>
              <a:tr h="8229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magick composite {overlay} {background} [{mask}] [-compose {method}]   {result}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Image Composite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200">
                          <a:sym typeface="+mn-ea"/>
                        </a:rPr>
                        <a:t>magick composite -geometry +100+100 image1.png image2.jpg output.jpg</a:t>
                      </a:r>
                      <a:endParaRPr lang="en-US" altLang="zh-CN" sz="1200"/>
                    </a:p>
                  </a:txBody>
                  <a:tcPr/>
                </a:tc>
              </a:tr>
              <a:tr h="39624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-gravity {center}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</a:tr>
              <a:tr h="619125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-compose {Over/Dst_Over/Src/Copy}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  <a:tr h="619125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-geometry +x+y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  <a:tr h="618490">
                <a:tc>
                  <a:txBody>
                    <a:bodyPr/>
                    <a:p>
                      <a:pPr marL="0" lvl="2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-compose Lighten/Darken/dissolve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8526145" y="1173480"/>
            <a:ext cx="3465195" cy="476313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noAutofit/>
          </a:bodyPr>
          <a:p>
            <a:r>
              <a:rPr lang="zh-CN" altLang="en-US" sz="1400"/>
              <a:t>magick -size 100x100 xc:  -channel R -fx 'yy=(j+.5)/h-.5; (i/w-.5)/(sqrt(1-4*yy^2))+.5' -separate  +channel     sphere_lut.png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magick -size 100x100 xc:black -fill white -draw 'circle 49.5,49.5 49.5,0'    sphere_mask.png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magick sphere_mask.png \( +clone -blur 0x20 -shade 110x21.7 -contrast-stretch 0% +sigmoidal-contrast 6x50% -fill grey50 -colorize 10%  \) -composite sphere_overlay.png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magick lena_orig.png -resize 100x100   sphere_lut.png   -fx 'p{ v*w, j }' sphere_overlay.png   -compose HardLight  -composite sphere_mask.png -alpha off -compose CopyOpacity -composite sphere_lena.png</a:t>
            </a:r>
            <a:endParaRPr lang="zh-CN" altLang="en-US" sz="1400"/>
          </a:p>
        </p:txBody>
      </p:sp>
    </p:spTree>
    <p:custDataLst>
      <p:tags r:id="rId2"/>
    </p:custData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Magick Misc.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1139825" y="1173480"/>
          <a:ext cx="9116060" cy="33788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1920"/>
                <a:gridCol w="2553335"/>
                <a:gridCol w="3900805"/>
              </a:tblGrid>
              <a:tr h="2768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Param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Meaning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Note</a:t>
                      </a:r>
                      <a:endParaRPr lang="en-US" altLang="zh-CN" sz="1200"/>
                    </a:p>
                  </a:txBody>
                  <a:tcPr/>
                </a:tc>
              </a:tr>
              <a:tr h="8299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convert input.webp -background white -flatten output.webp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Convert transparent pixels in image into white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</a:tr>
              <a:tr h="399415"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</a:tr>
              <a:tr h="624205"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  <a:tr h="624840"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  <a:tr h="623570"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lvl="2" algn="l">
                        <a:buClrTx/>
                        <a:buSzTx/>
                        <a:buFontTx/>
                        <a:buNone/>
                      </a:pP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Issues &amp; Solutions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cache resources exhaused when run “convert”</a:t>
            </a:r>
            <a:endParaRPr lang="en-US" altLang="zh-CN"/>
          </a:p>
          <a:p>
            <a:pPr lvl="1"/>
            <a:r>
              <a:rPr lang="en-US" altLang="zh-CN"/>
              <a:t>convert-im6.q16: cache resources exhausted `stitched_20250422113852.tif' @ error/cache.c/OpenPixelCache/4083.</a:t>
            </a:r>
            <a:endParaRPr lang="en-US" altLang="zh-CN"/>
          </a:p>
          <a:p>
            <a:pPr lvl="1"/>
            <a:r>
              <a:rPr lang="en-US" altLang="zh-CN"/>
              <a:t>edit /etc/ImageMagick-6/policy.xml</a:t>
            </a:r>
            <a:endParaRPr lang="en-US" altLang="zh-CN"/>
          </a:p>
          <a:p>
            <a:pPr lvl="2"/>
            <a:r>
              <a:rPr lang="en-US" altLang="zh-CN"/>
              <a:t>change &lt;policy domain="resource" name="memory" value="256MiB"/&gt; to 4GiB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Overview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https://www.freecodecamp.org/news/git-cheat-sheet/</a:t>
            </a:r>
            <a:endParaRPr lang="en-US" altLang="zh-CN"/>
          </a:p>
          <a:p>
            <a:pPr lvl="0"/>
            <a:r>
              <a:rPr lang="en-US" altLang="zh-CN"/>
              <a:t>Config</a:t>
            </a:r>
            <a:endParaRPr lang="en-US" altLang="zh-CN"/>
          </a:p>
          <a:p>
            <a:pPr lvl="1"/>
            <a:r>
              <a:rPr lang="en-US" altLang="zh-CN"/>
              <a:t>git config -l</a:t>
            </a:r>
            <a:endParaRPr lang="en-US" altLang="zh-CN"/>
          </a:p>
          <a:p>
            <a:pPr lvl="1"/>
            <a:r>
              <a:rPr lang="en-US" altLang="zh-CN"/>
              <a:t>git config --global user.name "Fabio"</a:t>
            </a:r>
            <a:endParaRPr lang="en-US" altLang="zh-CN"/>
          </a:p>
          <a:p>
            <a:pPr lvl="1"/>
            <a:r>
              <a:rPr lang="en-US" altLang="zh-CN"/>
              <a:t>git config --global user.email "signups@fabiopacifici.com"</a:t>
            </a:r>
            <a:endParaRPr lang="en-US" altLang="zh-CN"/>
          </a:p>
          <a:p>
            <a:pPr lvl="1"/>
            <a:r>
              <a:rPr lang="en-US" altLang="zh-CN"/>
              <a:t>git config --global credential.helper cache		// cache credential</a:t>
            </a:r>
            <a:endParaRPr lang="en-US" altLang="zh-CN"/>
          </a:p>
          <a:p>
            <a:pPr lvl="1"/>
            <a:r>
              <a:rPr lang="en-US" altLang="zh-CN"/>
              <a:t>Avoid push timeout error</a:t>
            </a:r>
            <a:endParaRPr lang="en-US" altLang="zh-CN"/>
          </a:p>
          <a:p>
            <a:pPr lvl="2"/>
            <a:r>
              <a:rPr lang="en-US" altLang="zh-CN"/>
              <a:t>git config http.postBuffer 524288000</a:t>
            </a:r>
            <a:endParaRPr lang="en-US" altLang="zh-CN"/>
          </a:p>
          <a:p>
            <a:pPr lvl="2"/>
            <a:r>
              <a:rPr lang="en-US" altLang="zh-CN"/>
              <a:t>git config http.lowSpeedLimit 0</a:t>
            </a:r>
            <a:endParaRPr lang="en-US" altLang="zh-CN"/>
          </a:p>
          <a:p>
            <a:pPr lvl="2"/>
            <a:r>
              <a:rPr lang="en-US" altLang="zh-CN"/>
              <a:t>git config http.lowSpeedTime 999999</a:t>
            </a:r>
            <a:endParaRPr lang="en-US" altLang="zh-CN"/>
          </a:p>
          <a:p>
            <a:pPr lvl="0"/>
            <a:r>
              <a:rPr lang="en-US" altLang="zh-CN" sz="2400"/>
              <a:t>Files</a:t>
            </a:r>
            <a:endParaRPr lang="en-US" altLang="zh-CN" sz="2400"/>
          </a:p>
          <a:p>
            <a:pPr lvl="1"/>
            <a:r>
              <a:rPr lang="en-US" altLang="zh-CN" sz="2000"/>
              <a:t>/etc/gitconfig</a:t>
            </a:r>
            <a:endParaRPr lang="en-US" altLang="zh-CN" sz="2000"/>
          </a:p>
          <a:p>
            <a:pPr lvl="1"/>
            <a:r>
              <a:rPr lang="en-US" altLang="zh-CN" sz="2000"/>
              <a:t>~/.gitconfig</a:t>
            </a:r>
            <a:endParaRPr lang="en-US" altLang="zh-CN" sz="2000"/>
          </a:p>
          <a:p>
            <a:pPr lvl="1"/>
            <a:r>
              <a:rPr lang="en-US" altLang="zh-CN" sz="2000"/>
              <a:t>.git/config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Install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075555" cy="4549140"/>
          </a:xfrm>
        </p:spPr>
        <p:txBody>
          <a:bodyPr/>
          <a:p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sudo add-apt-repository ppa:git-core/ppa</a:t>
            </a:r>
            <a:endParaRPr lang="en-US" altLang="zh-CN"/>
          </a:p>
          <a:p>
            <a:pPr lvl="1"/>
            <a:r>
              <a:rPr lang="en-US" altLang="zh-CN"/>
              <a:t>sudo apt update</a:t>
            </a:r>
            <a:endParaRPr lang="en-US" altLang="zh-CN"/>
          </a:p>
          <a:p>
            <a:pPr lvl="1"/>
            <a:r>
              <a:rPr lang="en-US" altLang="zh-CN"/>
              <a:t>sudo apt install git</a:t>
            </a:r>
            <a:endParaRPr lang="en-US" altLang="zh-CN"/>
          </a:p>
          <a:p>
            <a:pPr lvl="1"/>
            <a:r>
              <a:rPr lang="en-US" altLang="zh-CN"/>
              <a:t>git --version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Workflow</a:t>
            </a:r>
            <a:endParaRPr lang="en-US" altLang="zh-CN"/>
          </a:p>
        </p:txBody>
      </p:sp>
      <p:pic>
        <p:nvPicPr>
          <p:cNvPr id="4" name="内容占位符 3" descr="git-workflow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292600" y="1211580"/>
            <a:ext cx="4153535" cy="523938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34670" y="3923665"/>
            <a:ext cx="31813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sudo apt install git-cola</a:t>
            </a:r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Commands 1/2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782955" y="1235710"/>
          <a:ext cx="10515600" cy="555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325"/>
                <a:gridCol w="3432175"/>
                <a:gridCol w="1689100"/>
              </a:tblGrid>
              <a:tr h="3352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Command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Explanation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Notes</a:t>
                      </a:r>
                      <a:endParaRPr lang="en-US" altLang="zh-CN" sz="16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fetch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Fetch updates from server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git branch -a / -r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List branches, default local branches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checkout {master/branch_name/commit_id} {filename}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Switch to a branch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checkout &lt;commit-hash&gt; -- &lt;file-path&gt;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Checkout a specific commit for a specific file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100584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log --stat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git log --name-status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git log --raw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 b="1"/>
                        <a:t>git log --oneline --graph --decorate --all</a:t>
                      </a:r>
                      <a:endParaRPr lang="en-US" altLang="zh-CN" sz="1200" b="1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git log --graph --simplify-by-decoration --pretty=format:'%d' --all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Show file status in log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endParaRPr lang="en-US" altLang="zh-CN" sz="1200"/>
                    </a:p>
                    <a:p>
                      <a:pPr>
                        <a:buNone/>
                      </a:pP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Show tree-like branches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ls-tree -r HEAD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files in repository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diff HEAD@{1} filename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           --name-status</a:t>
                      </a:r>
                      <a:endParaRPr lang="en-US" altLang="zh-CN" sz="1200"/>
                    </a:p>
                    <a:p>
                      <a:pPr>
                        <a:buNone/>
                      </a:pPr>
                      <a:r>
                        <a:rPr lang="en-US" altLang="zh-CN" sz="1200"/>
                        <a:t>           --shortstat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Diff with previous version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diff --summary (--shortstat, --stat) master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Diff current branch with master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diff filename --ignore-cr-at-eol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Ignore newline character when diff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submodule add https://github.com/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Add submodule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submodule update --init --recursive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Pull submodules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submodule update --recursive --remote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Update to latest tips of remote branch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mv oldname newname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Rename a file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94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remote set-url origin https://github.com.cnpmjs.org/blender/blender.git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Change remote url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show-ref --tags -d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all git tags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Commands 2/2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851535" y="1107440"/>
          <a:ext cx="10191750" cy="5214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7955"/>
                <a:gridCol w="3985895"/>
                <a:gridCol w="977900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Explanation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Notes</a:t>
                      </a:r>
                      <a:endParaRPr lang="en-US" altLang="zh-CN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config --list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List all configurations, HOME/.gitconfig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config --global http.proxy http://proxyUsername:proxyPassword@proxy.server.com:port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Config proxy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config --global --edit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Edit global git settings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config --edit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Edit local repository git settings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config --local --unset user.name (user.email)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Unset user.name or user.email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show &lt;commit-sha1&gt;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Show details about a specific commit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format-patch a.patch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apply -v a.patch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status -s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status in short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tag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all tags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tag &lt;tag_name&gt;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Add a tag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push origin &lt;tag_name&gt;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Push a tag, by default tag is not pushed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 b="1"/>
                        <a:t>git push origin --tags</a:t>
                      </a:r>
                      <a:endParaRPr lang="en-US" altLang="zh-CN" sz="1200"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Push all tags to remote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tag -l --format='%(refname) %(creatordate)'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List tags with date info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reset --soft HEAD~1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undo last commit, keep local change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43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reset --mixed HEAD~1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undo last commit, unstage the changes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2768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git reset --hard HEAD~1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200"/>
                        <a:t>Undo the last commit and discard all changes.</a:t>
                      </a:r>
                      <a:endParaRPr lang="en-US" altLang="zh-CN" sz="1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Commands - Branch</a:t>
            </a:r>
            <a:endParaRPr lang="en-US" altLang="zh-CN"/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851535" y="1107440"/>
          <a:ext cx="10515600" cy="542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325"/>
                <a:gridCol w="3432175"/>
                <a:gridCol w="1689100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Explanation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Notes</a:t>
                      </a:r>
                      <a:endParaRPr lang="en-US" altLang="zh-CN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git show-branch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Show all branches and commits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git branch -a / -r</a:t>
                      </a:r>
                      <a:endParaRPr lang="en-US" altLang="zh-CN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List branches, default local branches</a:t>
                      </a:r>
                      <a:endParaRPr lang="en-US" altLang="zh-CN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2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git checkout -b {new_branch_name} &lt;commit-hash&gt;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Create a new branch and switch to it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git merge {branch_name}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Merge a branch to master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git branch -d &lt;local-branch&gt;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Delete a local branch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git branch -m &lt;old_name&gt; new_name</a:t>
                      </a:r>
                      <a:endParaRPr lang="en-US" altLang="zh-CN" sz="1400"/>
                    </a:p>
                    <a:p>
                      <a:pPr>
                        <a:buNone/>
                      </a:pPr>
                      <a:r>
                        <a:rPr lang="en-US" altLang="zh-CN" sz="1400"/>
                        <a:t>git push origin new-branch-name  </a:t>
                      </a:r>
                      <a:endParaRPr lang="en-US" altLang="zh-CN" sz="1400"/>
                    </a:p>
                    <a:p>
                      <a:pPr>
                        <a:buNone/>
                      </a:pPr>
                      <a:r>
                        <a:rPr lang="en-US" altLang="zh-CN" sz="1400"/>
                        <a:t>git push origin --delete old-branch-name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Rename a local branch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4607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# rename local branch</a:t>
                      </a:r>
                      <a:endParaRPr lang="en-US" altLang="zh-CN" sz="1400"/>
                    </a:p>
                    <a:p>
                      <a:pPr>
                        <a:buNone/>
                      </a:pPr>
                      <a:r>
                        <a:rPr lang="en-US" altLang="zh-CN" sz="1400"/>
                        <a:t># remove old remote branch</a:t>
                      </a:r>
                      <a:endParaRPr lang="en-US" altLang="zh-CN" sz="1400"/>
                    </a:p>
                    <a:p>
                      <a:pPr>
                        <a:buNone/>
                      </a:pPr>
                      <a:r>
                        <a:rPr lang="en-US" altLang="zh-CN" sz="1400"/>
                        <a:t>git push origin --delete &lt;old_name&gt;</a:t>
                      </a:r>
                      <a:endParaRPr lang="en-US" altLang="zh-CN" sz="1400"/>
                    </a:p>
                    <a:p>
                      <a:pPr>
                        <a:buNone/>
                      </a:pPr>
                      <a:r>
                        <a:rPr lang="en-US" altLang="zh-CN" sz="1400"/>
                        <a:t># add new branch</a:t>
                      </a:r>
                      <a:endParaRPr lang="en-US" altLang="zh-CN" sz="1400"/>
                    </a:p>
                    <a:p>
                      <a:pPr>
                        <a:buNone/>
                      </a:pPr>
                      <a:r>
                        <a:rPr lang="en-US" altLang="zh-CN" sz="1400"/>
                        <a:t>git push origin -u &lt;new_name&gt;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Rename a remote branch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048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git push origin &lt;commit&gt;:master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Push specified commit to remote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8227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git branch --contains &lt;commit-hash&gt;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Show the branch which a commit belongs to 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  <a:tr h="38227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git check-pick &lt;commit-hash&gt;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Merge a specific commit to current branch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Fastgithub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Set up</a:t>
            </a:r>
            <a:endParaRPr lang="en-US" altLang="zh-CN"/>
          </a:p>
          <a:p>
            <a:pPr lvl="1"/>
            <a:r>
              <a:rPr lang="en-US" altLang="zh-CN"/>
              <a:t>download fastgithub from git repository</a:t>
            </a:r>
            <a:endParaRPr lang="en-US" altLang="zh-CN"/>
          </a:p>
          <a:p>
            <a:pPr lvl="0"/>
            <a:r>
              <a:rPr lang="en-US" altLang="zh-CN"/>
              <a:t>Usage</a:t>
            </a:r>
            <a:endParaRPr lang="en-US" altLang="zh-CN"/>
          </a:p>
          <a:p>
            <a:pPr lvl="1"/>
            <a:r>
              <a:rPr lang="en-US" altLang="zh-CN"/>
              <a:t>sudo cp cacert/fastgithub.crt /usr/local/share/ca-certificates/</a:t>
            </a:r>
            <a:endParaRPr lang="en-US" altLang="zh-CN"/>
          </a:p>
          <a:p>
            <a:pPr lvl="1"/>
            <a:r>
              <a:rPr lang="en-US" altLang="zh-CN"/>
              <a:t>sudo update-ca-certificates</a:t>
            </a:r>
            <a:endParaRPr lang="en-US" altLang="zh-CN"/>
          </a:p>
          <a:p>
            <a:pPr lvl="1"/>
            <a:r>
              <a:rPr lang="en-US" altLang="zh-CN"/>
              <a:t>set proxy</a:t>
            </a:r>
            <a:endParaRPr lang="en-US" altLang="zh-CN"/>
          </a:p>
          <a:p>
            <a:pPr lvl="2"/>
            <a:r>
              <a:rPr lang="en-US" altLang="zh-CN"/>
              <a:t>git config --global http.https://github.com.proxy http://127.0.0.1:38457</a:t>
            </a:r>
            <a:endParaRPr lang="en-US" altLang="zh-CN"/>
          </a:p>
          <a:p>
            <a:pPr lvl="2"/>
            <a:r>
              <a:rPr lang="en-US" altLang="zh-CN"/>
              <a:t>git config --global https.https://github.com.proxy http://127.0.0.1:38457</a:t>
            </a:r>
            <a:endParaRPr lang="en-US" altLang="zh-CN"/>
          </a:p>
          <a:p>
            <a:pPr lvl="1"/>
            <a:r>
              <a:rPr lang="en-US" altLang="zh-CN"/>
              <a:t>remove proxy settings if needed</a:t>
            </a:r>
            <a:endParaRPr lang="en-US" altLang="zh-CN"/>
          </a:p>
          <a:p>
            <a:pPr lvl="2"/>
            <a:r>
              <a:rPr lang="en-US" altLang="zh-CN"/>
              <a:t>git config --global --unset http.https://github.com.proxy</a:t>
            </a:r>
            <a:endParaRPr lang="en-US" altLang="zh-CN"/>
          </a:p>
          <a:p>
            <a:pPr lvl="2"/>
            <a:r>
              <a:rPr lang="en-US" altLang="zh-CN"/>
              <a:t>git config --global --unset https.https://github.com.proxy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LFS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Install</a:t>
            </a:r>
            <a:endParaRPr lang="en-US" altLang="zh-CN"/>
          </a:p>
          <a:p>
            <a:pPr lvl="1"/>
            <a:r>
              <a:rPr lang="en-US" altLang="zh-CN"/>
              <a:t>curl -s https://packagecloud.io/install/repositories/github/git-lfs/script.deb.sh | sudo bash</a:t>
            </a:r>
            <a:endParaRPr lang="en-US" altLang="zh-CN"/>
          </a:p>
          <a:p>
            <a:pPr lvl="1"/>
            <a:r>
              <a:rPr lang="en-US" altLang="zh-CN"/>
              <a:t>sudo apt-get install git-lfs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Stash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796405" cy="5340350"/>
          </a:xfrm>
        </p:spPr>
        <p:txBody>
          <a:bodyPr>
            <a:normAutofit fontScale="70000"/>
          </a:bodyPr>
          <a:p>
            <a:r>
              <a:rPr lang="en-US" altLang="zh-CN"/>
              <a:t>Concept</a:t>
            </a:r>
            <a:endParaRPr lang="en-US" altLang="zh-CN"/>
          </a:p>
          <a:p>
            <a:pPr lvl="1"/>
            <a:r>
              <a:rPr lang="en-US" altLang="zh-CN"/>
              <a:t>temporarily store changes to the working copy</a:t>
            </a:r>
            <a:endParaRPr lang="en-US" altLang="zh-CN"/>
          </a:p>
          <a:p>
            <a:pPr lvl="0"/>
            <a:r>
              <a:rPr lang="en-US" altLang="zh-CN"/>
              <a:t>Commands</a:t>
            </a:r>
            <a:endParaRPr lang="en-US" altLang="zh-CN"/>
          </a:p>
          <a:p>
            <a:pPr lvl="1"/>
            <a:r>
              <a:rPr lang="en-US" altLang="zh-CN"/>
              <a:t>git stash save “message”</a:t>
            </a:r>
            <a:endParaRPr lang="en-US" altLang="zh-CN"/>
          </a:p>
          <a:p>
            <a:pPr lvl="2"/>
            <a:r>
              <a:rPr lang="en-US" altLang="zh-CN"/>
              <a:t>Store changes to working copy</a:t>
            </a:r>
            <a:endParaRPr lang="en-US" altLang="zh-CN"/>
          </a:p>
          <a:p>
            <a:pPr lvl="1"/>
            <a:r>
              <a:rPr lang="en-US" altLang="zh-CN" sz="2000">
                <a:sym typeface="+mn-ea"/>
              </a:rPr>
              <a:t>git stash list</a:t>
            </a:r>
            <a:endParaRPr lang="en-US" altLang="zh-CN" sz="2000"/>
          </a:p>
          <a:p>
            <a:pPr lvl="2"/>
            <a:r>
              <a:rPr lang="en-US" altLang="zh-CN" sz="2000">
                <a:sym typeface="+mn-ea"/>
              </a:rPr>
              <a:t>List all stashes</a:t>
            </a:r>
            <a:endParaRPr lang="en-US" altLang="zh-CN" sz="2000"/>
          </a:p>
          <a:p>
            <a:pPr lvl="1"/>
            <a:r>
              <a:rPr lang="en-US" altLang="zh-CN"/>
              <a:t>git stash pop</a:t>
            </a:r>
            <a:endParaRPr lang="en-US" altLang="zh-CN"/>
          </a:p>
          <a:p>
            <a:pPr lvl="2"/>
            <a:r>
              <a:rPr lang="en-US" altLang="zh-CN"/>
              <a:t>Apply the most recently created changes to working copy, and remove the changes from stash</a:t>
            </a:r>
            <a:endParaRPr lang="en-US" altLang="zh-CN"/>
          </a:p>
          <a:p>
            <a:pPr lvl="1"/>
            <a:r>
              <a:rPr lang="en-US" altLang="zh-CN"/>
              <a:t>git stash apply stash@{index}</a:t>
            </a:r>
            <a:endParaRPr lang="en-US" altLang="zh-CN"/>
          </a:p>
          <a:p>
            <a:pPr lvl="2"/>
            <a:r>
              <a:rPr lang="en-US" altLang="zh-CN"/>
              <a:t>Apply the most recently created changes in stash to working copy, and keep the changes in stash</a:t>
            </a:r>
            <a:endParaRPr lang="en-US" altLang="zh-CN"/>
          </a:p>
          <a:p>
            <a:pPr lvl="1"/>
            <a:r>
              <a:rPr lang="en-US" altLang="zh-CN"/>
              <a:t>-u (--include-untracked)</a:t>
            </a:r>
            <a:endParaRPr lang="en-US" altLang="zh-CN"/>
          </a:p>
          <a:p>
            <a:pPr lvl="2"/>
            <a:r>
              <a:rPr lang="en-US" altLang="zh-CN"/>
              <a:t>Also stash untracked files</a:t>
            </a:r>
            <a:endParaRPr lang="en-US" altLang="zh-CN"/>
          </a:p>
          <a:p>
            <a:pPr lvl="1"/>
            <a:r>
              <a:rPr lang="en-US" altLang="zh-CN"/>
              <a:t>-a</a:t>
            </a:r>
            <a:endParaRPr lang="en-US" altLang="zh-CN"/>
          </a:p>
          <a:p>
            <a:pPr lvl="2"/>
            <a:r>
              <a:rPr lang="en-US" altLang="zh-CN"/>
              <a:t>Stash all files include ignored files</a:t>
            </a:r>
            <a:endParaRPr lang="en-US" altLang="zh-CN"/>
          </a:p>
          <a:p>
            <a:pPr lvl="1"/>
            <a:r>
              <a:rPr lang="en-US" altLang="zh-CN" sz="2000"/>
              <a:t>git stash show {-p}</a:t>
            </a:r>
            <a:endParaRPr lang="en-US" altLang="zh-CN" sz="2000"/>
          </a:p>
          <a:p>
            <a:pPr lvl="2"/>
            <a:r>
              <a:rPr lang="en-US" altLang="zh-CN" sz="1800"/>
              <a:t>Summary diff of stash</a:t>
            </a:r>
            <a:endParaRPr lang="en-US" altLang="zh-CN" sz="1800"/>
          </a:p>
          <a:p>
            <a:pPr lvl="1"/>
            <a:r>
              <a:rPr lang="en-US" altLang="zh-CN" sz="2000"/>
              <a:t>git stash clear</a:t>
            </a:r>
            <a:endParaRPr lang="en-US" altLang="zh-CN" sz="2000"/>
          </a:p>
          <a:p>
            <a:pPr lvl="2"/>
            <a:r>
              <a:rPr lang="en-US" altLang="zh-CN" sz="1800"/>
              <a:t>Clear all stashes</a:t>
            </a:r>
            <a:endParaRPr lang="en-US" altLang="zh-CN"/>
          </a:p>
          <a:p>
            <a:pPr lvl="1"/>
            <a:endParaRPr lang="en-US" altLang="zh-CN"/>
          </a:p>
        </p:txBody>
      </p:sp>
      <p:pic>
        <p:nvPicPr>
          <p:cNvPr id="102" name="图片 101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34935" y="1014730"/>
            <a:ext cx="4120515" cy="2575560"/>
          </a:xfrm>
          <a:prstGeom prst="rect">
            <a:avLst/>
          </a:prstGeom>
          <a:noFill/>
        </p:spPr>
      </p:pic>
    </p:spTree>
    <p:custDataLst>
      <p:tags r:id="rId3"/>
    </p:custData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Submodule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List submodules</a:t>
            </a:r>
            <a:endParaRPr lang="en-US" altLang="zh-CN"/>
          </a:p>
          <a:p>
            <a:pPr lvl="1"/>
            <a:r>
              <a:rPr lang="en-US" altLang="zh-CN"/>
              <a:t>git submodule--helper list</a:t>
            </a:r>
            <a:endParaRPr lang="en-US" altLang="zh-CN"/>
          </a:p>
          <a:p>
            <a:pPr lvl="0"/>
            <a:r>
              <a:rPr lang="en-US" altLang="zh-CN"/>
              <a:t>Add submodule</a:t>
            </a:r>
            <a:endParaRPr lang="en-US" altLang="zh-CN"/>
          </a:p>
          <a:p>
            <a:pPr lvl="1"/>
            <a:r>
              <a:rPr lang="en-US" altLang="zh-CN"/>
              <a:t>git submodule add https://github.com/cdcseacave/openMVS.git</a:t>
            </a:r>
            <a:endParaRPr lang="en-US" altLang="zh-CN"/>
          </a:p>
          <a:p>
            <a:pPr lvl="1"/>
            <a:r>
              <a:rPr lang="en-US" altLang="zh-CN"/>
              <a:t>git submodule init</a:t>
            </a:r>
            <a:endParaRPr lang="en-US" altLang="zh-CN"/>
          </a:p>
          <a:p>
            <a:pPr lvl="1"/>
            <a:r>
              <a:rPr lang="en-US" altLang="zh-CN"/>
              <a:t>git submodule update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SSH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generate ssh-key</a:t>
            </a:r>
            <a:endParaRPr lang="en-US" altLang="zh-CN">
              <a:sym typeface="+mn-ea"/>
            </a:endParaRPr>
          </a:p>
          <a:p>
            <a:pPr lvl="2"/>
            <a:r>
              <a:rPr lang="zh-CN" altLang="en-US"/>
              <a:t>ssh-keygen -t ed25519 -C "your_email@example.com"</a:t>
            </a:r>
            <a:endParaRPr lang="zh-CN" altLang="en-US"/>
          </a:p>
          <a:p>
            <a:pPr lvl="2"/>
            <a:r>
              <a:rPr lang="zh-CN" altLang="en-US"/>
              <a:t>ls -al ~/.ssh</a:t>
            </a:r>
            <a:endParaRPr lang="zh-CN" altLang="en-US"/>
          </a:p>
          <a:p>
            <a:pPr lvl="1"/>
            <a:r>
              <a:rPr lang="en-US" altLang="zh-CN">
                <a:sym typeface="+mn-ea"/>
              </a:rPr>
              <a:t>start ssh-agent in background</a:t>
            </a:r>
            <a:endParaRPr lang="zh-CN" altLang="en-US"/>
          </a:p>
          <a:p>
            <a:pPr lvl="2"/>
            <a:r>
              <a:rPr lang="zh-CN" altLang="en-US"/>
              <a:t>eval "$(ssh-agent -s)"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add ssh private key to ssh agent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/>
              <a:t>ssh-add ~/.ssh/id_ed25519</a:t>
            </a:r>
            <a:endParaRPr lang="en-US" altLang="zh-CN"/>
          </a:p>
          <a:p>
            <a:pPr lvl="1"/>
            <a:r>
              <a:rPr lang="en-US" altLang="zh-CN"/>
              <a:t>add ssh public key to account on github</a:t>
            </a:r>
            <a:endParaRPr lang="en-US" altLang="zh-CN"/>
          </a:p>
          <a:p>
            <a:pPr lvl="2"/>
            <a:r>
              <a:rPr lang="en-US" altLang="zh-CN"/>
              <a:t>https://github.com/settings/keys</a:t>
            </a:r>
            <a:endParaRPr lang="en-US" altLang="zh-CN"/>
          </a:p>
          <a:p>
            <a:pPr lvl="2"/>
            <a:r>
              <a:rPr lang="en-US" altLang="zh-CN"/>
              <a:t>~/.ssh/id_ed25519.pub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Clean Up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727065" cy="4549140"/>
          </a:xfrm>
        </p:spPr>
        <p:txBody>
          <a:bodyPr/>
          <a:p>
            <a:pPr lvl="0"/>
            <a:r>
              <a:rPr lang="en-US" altLang="zh-CN" sz="1800">
                <a:sym typeface="+mn-ea"/>
              </a:rPr>
              <a:t>.git folder is too large, how to reduce size</a:t>
            </a:r>
            <a:endParaRPr lang="en-US" altLang="zh-CN" sz="1800"/>
          </a:p>
          <a:p>
            <a:pPr lvl="1"/>
            <a:r>
              <a:rPr lang="en-US" altLang="zh-CN" sz="1800">
                <a:sym typeface="+mn-ea"/>
              </a:rPr>
              <a:t>git gc --aggressive --prune=now</a:t>
            </a:r>
            <a:endParaRPr lang="en-US" altLang="zh-CN" sz="1800"/>
          </a:p>
          <a:p>
            <a:pPr lvl="2"/>
            <a:r>
              <a:rPr lang="en-US" altLang="zh-CN">
                <a:sym typeface="+mn-ea"/>
              </a:rPr>
              <a:t>cleans up unnecessary files and optimizes the repository</a:t>
            </a:r>
            <a:endParaRPr lang="en-US" altLang="zh-CN"/>
          </a:p>
          <a:p>
            <a:pPr lvl="1"/>
            <a:r>
              <a:rPr lang="en-US" altLang="zh-CN" sz="1800">
                <a:sym typeface="+mn-ea"/>
              </a:rPr>
              <a:t>git rev-list --objects --all | grep $(git verify-pack -v .git/objects/pack/*.idx | sort -k 3 -n | tail -n 10 | awk '{print $1}')</a:t>
            </a:r>
            <a:endParaRPr lang="en-US" altLang="zh-CN" sz="1800"/>
          </a:p>
          <a:p>
            <a:pPr lvl="2"/>
            <a:r>
              <a:rPr lang="en-US" altLang="zh-CN">
                <a:sym typeface="+mn-ea"/>
              </a:rPr>
              <a:t>identify large files in git history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/>
              <a:t>git clone --depth 1 &lt;repository-url&gt;</a:t>
            </a:r>
            <a:endParaRPr lang="en-US" altLang="zh-CN" sz="2000">
              <a:sym typeface="+mn-ea"/>
            </a:endParaRPr>
          </a:p>
          <a:p>
            <a:pPr lvl="2"/>
            <a:r>
              <a:rPr lang="en-US" altLang="zh-CN"/>
              <a:t>clones only the latest commit, significantly reducing the size of the .git folder.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Github Access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817870" cy="4549140"/>
          </a:xfrm>
        </p:spPr>
        <p:txBody>
          <a:bodyPr>
            <a:normAutofit fontScale="70000"/>
          </a:bodyPr>
          <a:p>
            <a:r>
              <a:rPr lang="en-US" altLang="zh-CN"/>
              <a:t>SSH </a:t>
            </a:r>
            <a:r>
              <a:rPr lang="zh-CN" altLang="en-US"/>
              <a:t>动态端口转发（</a:t>
            </a:r>
            <a:r>
              <a:rPr lang="en-US" altLang="zh-CN"/>
              <a:t>SOCKS5 </a:t>
            </a:r>
            <a:r>
              <a:rPr lang="zh-CN" altLang="en-US"/>
              <a:t>隧道）</a:t>
            </a:r>
            <a:endParaRPr lang="zh-CN" altLang="en-US"/>
          </a:p>
          <a:p>
            <a:pPr lvl="1"/>
            <a:r>
              <a:rPr lang="zh-CN" altLang="en-US"/>
              <a:t>本地启动</a:t>
            </a:r>
            <a:r>
              <a:rPr lang="en-US" altLang="zh-CN"/>
              <a:t> SOCKS5 </a:t>
            </a:r>
            <a:r>
              <a:rPr lang="zh-CN" altLang="en-US"/>
              <a:t>隧道</a:t>
            </a:r>
            <a:endParaRPr lang="zh-CN" altLang="en-US"/>
          </a:p>
          <a:p>
            <a:pPr lvl="2"/>
            <a:r>
              <a:rPr lang="en-US" altLang="zh-CN"/>
              <a:t>ssh -fN -D 127.0.0.1:7890 ubuntu@43.156.23.133</a:t>
            </a:r>
            <a:endParaRPr lang="en-US" altLang="zh-CN"/>
          </a:p>
          <a:p>
            <a:pPr lvl="3"/>
            <a:r>
              <a:rPr lang="en-US" altLang="zh-CN"/>
              <a:t>-f </a:t>
            </a:r>
            <a:r>
              <a:rPr lang="zh-CN" altLang="en-US"/>
              <a:t>后台运行，</a:t>
            </a:r>
            <a:r>
              <a:rPr lang="en-US" altLang="zh-CN"/>
              <a:t> -N </a:t>
            </a:r>
            <a:r>
              <a:rPr lang="zh-CN" altLang="en-US"/>
              <a:t>只做端口转发，</a:t>
            </a:r>
            <a:r>
              <a:rPr lang="en-US" altLang="zh-CN"/>
              <a:t>-D </a:t>
            </a:r>
            <a:r>
              <a:rPr lang="zh-CN" altLang="en-US"/>
              <a:t>动态端口</a:t>
            </a:r>
            <a:r>
              <a:rPr lang="zh-CN" altLang="en-US"/>
              <a:t>转发</a:t>
            </a:r>
            <a:endParaRPr lang="zh-CN" altLang="en-US"/>
          </a:p>
          <a:p>
            <a:pPr lvl="1"/>
            <a:r>
              <a:rPr lang="zh-CN" altLang="en-US"/>
              <a:t>验证隧道是否正常</a:t>
            </a:r>
            <a:endParaRPr lang="zh-CN" altLang="en-US"/>
          </a:p>
          <a:p>
            <a:pPr lvl="2"/>
            <a:r>
              <a:rPr lang="en-US" altLang="zh-CN"/>
              <a:t>netstat -tuln | grep 7890</a:t>
            </a:r>
            <a:endParaRPr lang="en-US" altLang="zh-CN"/>
          </a:p>
          <a:p>
            <a:pPr lvl="1"/>
            <a:r>
              <a:rPr lang="zh-CN" altLang="en-US"/>
              <a:t>修改</a:t>
            </a:r>
            <a:r>
              <a:rPr lang="en-US" altLang="zh-CN"/>
              <a:t> ~/.ssh/config</a:t>
            </a:r>
            <a:endParaRPr lang="en-US" altLang="zh-CN"/>
          </a:p>
          <a:p>
            <a:pPr lvl="1"/>
            <a:r>
              <a:rPr lang="zh-CN" altLang="en-US">
                <a:sym typeface="+mn-ea"/>
              </a:rPr>
              <a:t>将公钥添加到</a:t>
            </a:r>
            <a:r>
              <a:rPr lang="en-US" altLang="zh-CN">
                <a:sym typeface="+mn-ea"/>
              </a:rPr>
              <a:t>github</a:t>
            </a:r>
            <a:r>
              <a:rPr lang="zh-CN" altLang="en-US">
                <a:sym typeface="+mn-ea"/>
              </a:rPr>
              <a:t>账号</a:t>
            </a:r>
            <a:endParaRPr lang="zh-CN" altLang="en-US"/>
          </a:p>
          <a:p>
            <a:pPr lvl="1"/>
            <a:r>
              <a:rPr lang="zh-CN" altLang="en-US"/>
              <a:t>测试</a:t>
            </a:r>
            <a:r>
              <a:rPr lang="zh-CN" altLang="en-US"/>
              <a:t>连接</a:t>
            </a:r>
            <a:endParaRPr lang="zh-CN" altLang="en-US"/>
          </a:p>
          <a:p>
            <a:pPr lvl="2"/>
            <a:r>
              <a:rPr lang="en-US" altLang="zh-CN"/>
              <a:t>ssh -T git@github.com</a:t>
            </a:r>
            <a:endParaRPr lang="en-US" altLang="zh-CN"/>
          </a:p>
          <a:p>
            <a:pPr lvl="1"/>
            <a:r>
              <a:rPr lang="zh-CN" altLang="en-US"/>
              <a:t>测试</a:t>
            </a:r>
            <a:r>
              <a:rPr lang="en-US" altLang="zh-CN"/>
              <a:t>https</a:t>
            </a:r>
            <a:r>
              <a:rPr lang="zh-CN" altLang="en-US"/>
              <a:t>端口的</a:t>
            </a:r>
            <a:r>
              <a:rPr lang="en-US" altLang="zh-CN"/>
              <a:t>ssh</a:t>
            </a:r>
            <a:r>
              <a:rPr lang="zh-CN" altLang="en-US"/>
              <a:t>连接</a:t>
            </a:r>
            <a:endParaRPr lang="zh-CN" altLang="en-US"/>
          </a:p>
          <a:p>
            <a:pPr lvl="2"/>
            <a:r>
              <a:rPr lang="en-US" altLang="zh-CN"/>
              <a:t>ssh -T -p 443 git@ssh.github.com</a:t>
            </a:r>
            <a:endParaRPr lang="en-US" altLang="zh-CN"/>
          </a:p>
          <a:p>
            <a:pPr lvl="1"/>
            <a:r>
              <a:rPr lang="zh-CN" altLang="en-US"/>
              <a:t>设置</a:t>
            </a:r>
            <a:r>
              <a:rPr lang="en-US" altLang="zh-CN"/>
              <a:t>npm</a:t>
            </a:r>
            <a:r>
              <a:rPr lang="zh-CN" altLang="en-US"/>
              <a:t>中</a:t>
            </a:r>
            <a:r>
              <a:rPr lang="zh-CN" altLang="en-US"/>
              <a:t>使用</a:t>
            </a:r>
            <a:endParaRPr lang="zh-CN" altLang="en-US"/>
          </a:p>
          <a:p>
            <a:pPr lvl="2"/>
            <a:r>
              <a:rPr lang="en-US" altLang="zh-CN"/>
              <a:t>npm config get proxy</a:t>
            </a:r>
            <a:endParaRPr lang="en-US" altLang="zh-CN"/>
          </a:p>
          <a:p>
            <a:pPr lvl="2"/>
            <a:r>
              <a:rPr lang="en-US" altLang="zh-CN"/>
              <a:t>npm config get https-proxy</a:t>
            </a:r>
            <a:endParaRPr lang="en-US" altLang="zh-CN"/>
          </a:p>
          <a:p>
            <a:pPr lvl="2"/>
            <a:r>
              <a:rPr lang="en-US" altLang="zh-CN"/>
              <a:t>npm config set proxy socks5://127.0.0.1:7890</a:t>
            </a:r>
            <a:endParaRPr lang="en-US" altLang="zh-CN"/>
          </a:p>
          <a:p>
            <a:pPr lvl="2"/>
            <a:r>
              <a:rPr lang="en-US" altLang="zh-CN"/>
              <a:t>npm config set https-proxy socks5://127.0.0.1:7890</a:t>
            </a:r>
            <a:endParaRPr lang="en-US" altLang="zh-CN"/>
          </a:p>
          <a:p>
            <a:pPr lvl="2"/>
            <a:r>
              <a:rPr lang="en-US" altLang="zh-CN"/>
              <a:t>npm ping github.com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821295" y="1353820"/>
            <a:ext cx="3416300" cy="18148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sz="1400"/>
              <a:t># ~/.ssh/config</a:t>
            </a:r>
            <a:endParaRPr lang="en-US" altLang="zh-CN" sz="1400"/>
          </a:p>
          <a:p>
            <a:r>
              <a:rPr lang="en-US" altLang="zh-CN" sz="1400"/>
              <a:t>Host github.com</a:t>
            </a:r>
            <a:endParaRPr lang="en-US" altLang="zh-CN" sz="1400"/>
          </a:p>
          <a:p>
            <a:r>
              <a:rPr lang="en-US" altLang="zh-CN" sz="1400"/>
              <a:t>    User git</a:t>
            </a:r>
            <a:endParaRPr lang="en-US" altLang="zh-CN" sz="1400"/>
          </a:p>
          <a:p>
            <a:r>
              <a:rPr lang="en-US" altLang="zh-CN" sz="1400"/>
              <a:t>    Hostname github.com</a:t>
            </a:r>
            <a:endParaRPr lang="en-US" altLang="zh-CN" sz="1400"/>
          </a:p>
          <a:p>
            <a:r>
              <a:rPr lang="en-US" altLang="zh-CN" sz="1400"/>
              <a:t>    # </a:t>
            </a:r>
            <a:r>
              <a:rPr lang="zh-CN" altLang="en-US" sz="1400"/>
              <a:t>用</a:t>
            </a:r>
            <a:r>
              <a:rPr lang="en-US" altLang="zh-CN" sz="1400"/>
              <a:t> nc </a:t>
            </a:r>
            <a:r>
              <a:rPr lang="zh-CN" altLang="en-US" sz="1400"/>
              <a:t>走本地</a:t>
            </a:r>
            <a:r>
              <a:rPr lang="en-US" altLang="zh-CN" sz="1400"/>
              <a:t> SOCKS5 </a:t>
            </a:r>
            <a:r>
              <a:rPr lang="zh-CN" altLang="en-US" sz="1400"/>
              <a:t>代理</a:t>
            </a:r>
            <a:endParaRPr lang="zh-CN" altLang="en-US" sz="1400"/>
          </a:p>
          <a:p>
            <a:r>
              <a:rPr lang="en-US" altLang="zh-CN" sz="1400"/>
              <a:t>    ProxyCommand nc -X 5 -x 127.0.0.1:7890 %h %p</a:t>
            </a:r>
            <a:endParaRPr lang="en-US" altLang="zh-CN" sz="1400"/>
          </a:p>
          <a:p>
            <a:r>
              <a:rPr lang="en-US" altLang="zh-CN" sz="1400"/>
              <a:t>    ServerAliveInterval 60</a:t>
            </a:r>
            <a:endParaRPr lang="en-US" altLang="zh-CN" sz="1400"/>
          </a:p>
        </p:txBody>
      </p:sp>
      <p:pic>
        <p:nvPicPr>
          <p:cNvPr id="5" name="图片 4"/>
          <p:cNvPicPr/>
          <p:nvPr/>
        </p:nvPicPr>
        <p:blipFill>
          <a:blip r:embed="rId1"/>
          <a:stretch>
            <a:fillRect/>
          </a:stretch>
        </p:blipFill>
        <p:spPr>
          <a:xfrm>
            <a:off x="7001510" y="3410585"/>
            <a:ext cx="4783455" cy="23501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Github Access (Start when boot)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020310" cy="4549140"/>
          </a:xfrm>
        </p:spPr>
        <p:txBody>
          <a:bodyPr>
            <a:normAutofit fontScale="60000"/>
          </a:bodyPr>
          <a:p>
            <a:r>
              <a:rPr lang="zh-CN" altLang="en-US"/>
              <a:t>配置</a:t>
            </a:r>
            <a:r>
              <a:rPr lang="en-US" altLang="zh-CN"/>
              <a:t> SSH </a:t>
            </a:r>
            <a:r>
              <a:rPr lang="zh-CN" altLang="en-US"/>
              <a:t>免密登录</a:t>
            </a:r>
            <a:endParaRPr lang="zh-CN" altLang="en-US"/>
          </a:p>
          <a:p>
            <a:pPr lvl="1"/>
            <a:r>
              <a:rPr lang="en-US" altLang="zh-CN"/>
              <a:t>ssh-keygen -t ed25519</a:t>
            </a:r>
            <a:endParaRPr lang="en-US" altLang="zh-CN"/>
          </a:p>
          <a:p>
            <a:pPr lvl="1"/>
            <a:r>
              <a:rPr lang="en-US" altLang="zh-CN"/>
              <a:t>ssh-copy-id </a:t>
            </a:r>
            <a:r>
              <a:rPr lang="en-US" altLang="zh-CN">
                <a:sym typeface="+mn-ea"/>
              </a:rPr>
              <a:t>ubuntu@43.156.23.133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/>
              <a:t>/etc/systemd/system/github-proxy.service</a:t>
            </a:r>
            <a:endParaRPr lang="en-US" altLang="zh-CN"/>
          </a:p>
          <a:p>
            <a:pPr lvl="0"/>
            <a:r>
              <a:rPr lang="en-US" altLang="zh-CN"/>
              <a:t>Start service</a:t>
            </a:r>
            <a:endParaRPr lang="en-US" altLang="zh-CN"/>
          </a:p>
          <a:p>
            <a:pPr lvl="1"/>
            <a:r>
              <a:rPr lang="en-US" altLang="zh-CN"/>
              <a:t>sudo systemctl daemon-reload</a:t>
            </a:r>
            <a:endParaRPr lang="en-US" altLang="zh-CN"/>
          </a:p>
          <a:p>
            <a:pPr lvl="1"/>
            <a:r>
              <a:rPr lang="en-US" altLang="zh-CN"/>
              <a:t>sudo systemctl start github-proxy</a:t>
            </a:r>
            <a:endParaRPr lang="en-US" altLang="zh-CN"/>
          </a:p>
          <a:p>
            <a:pPr lvl="1"/>
            <a:r>
              <a:rPr lang="en-US" altLang="zh-CN"/>
              <a:t>sudo systemctl enable github-proxy</a:t>
            </a:r>
            <a:endParaRPr lang="en-US" altLang="zh-CN"/>
          </a:p>
          <a:p>
            <a:pPr lvl="1"/>
            <a:r>
              <a:rPr lang="en-US" altLang="zh-CN"/>
              <a:t>sudo systemctl status github-proxy</a:t>
            </a:r>
            <a:endParaRPr lang="en-US" altLang="zh-CN"/>
          </a:p>
          <a:p>
            <a:pPr lvl="0"/>
            <a:r>
              <a:rPr lang="en-US" altLang="zh-CN"/>
              <a:t>git config</a:t>
            </a:r>
            <a:endParaRPr lang="en-US" altLang="zh-CN"/>
          </a:p>
          <a:p>
            <a:pPr lvl="1"/>
            <a:r>
              <a:rPr lang="en-US" altLang="zh-CN"/>
              <a:t>git config --global http.proxy socks5://127.0.0.1:7890</a:t>
            </a:r>
            <a:endParaRPr lang="en-US" altLang="zh-CN"/>
          </a:p>
          <a:p>
            <a:pPr lvl="1"/>
            <a:r>
              <a:rPr lang="en-US" altLang="zh-CN"/>
              <a:t>git config --global https.proxy socks5://127.0.0.1:7890</a:t>
            </a:r>
            <a:endParaRPr lang="en-US" altLang="zh-CN" sz="2000"/>
          </a:p>
          <a:p>
            <a:pPr lvl="1"/>
            <a:r>
              <a:rPr lang="en-US" altLang="zh-CN"/>
              <a:t>git config --global --get http.proxy</a:t>
            </a:r>
            <a:endParaRPr lang="en-US" altLang="zh-CN"/>
          </a:p>
          <a:p>
            <a:pPr lvl="0"/>
            <a:r>
              <a:rPr lang="en-US" altLang="zh-CN"/>
              <a:t>Test connection</a:t>
            </a:r>
            <a:endParaRPr lang="en-US" altLang="zh-CN"/>
          </a:p>
          <a:p>
            <a:pPr lvl="1"/>
            <a:r>
              <a:rPr lang="en-US" altLang="zh-CN"/>
              <a:t>ssh -T git@github.com</a:t>
            </a:r>
            <a:endParaRPr lang="en-US" altLang="zh-CN"/>
          </a:p>
          <a:p>
            <a:pPr lvl="1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136640" y="1335405"/>
            <a:ext cx="5558790" cy="33229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sz="1400"/>
              <a:t># </a:t>
            </a:r>
            <a:r>
              <a:rPr lang="en-US" altLang="zh-CN" sz="1400">
                <a:sym typeface="+mn-ea"/>
              </a:rPr>
              <a:t>/etc/systemd/system/github-proxy.service</a:t>
            </a:r>
            <a:endParaRPr lang="en-US" altLang="zh-CN" sz="1400"/>
          </a:p>
          <a:p>
            <a:r>
              <a:rPr lang="en-US" altLang="zh-CN" sz="1400"/>
              <a:t>[Unit]</a:t>
            </a:r>
            <a:endParaRPr lang="en-US" altLang="zh-CN" sz="1400"/>
          </a:p>
          <a:p>
            <a:r>
              <a:rPr lang="en-US" altLang="zh-CN" sz="1400"/>
              <a:t>Description=SSH SOCKS5 Proxy for GitHub</a:t>
            </a:r>
            <a:endParaRPr lang="en-US" altLang="zh-CN" sz="1400"/>
          </a:p>
          <a:p>
            <a:r>
              <a:rPr lang="en-US" altLang="zh-CN" sz="1400"/>
              <a:t>After=network.target</a:t>
            </a:r>
            <a:endParaRPr lang="en-US" altLang="zh-CN" sz="1400"/>
          </a:p>
          <a:p>
            <a:endParaRPr lang="en-US" altLang="zh-CN" sz="1400"/>
          </a:p>
          <a:p>
            <a:r>
              <a:rPr lang="en-US" altLang="zh-CN" sz="1400"/>
              <a:t>[Service]</a:t>
            </a:r>
            <a:endParaRPr lang="en-US" altLang="zh-CN" sz="1400"/>
          </a:p>
          <a:p>
            <a:r>
              <a:rPr lang="en-US" altLang="zh-CN" sz="1400"/>
              <a:t>Type=simple</a:t>
            </a:r>
            <a:endParaRPr lang="en-US" altLang="zh-CN" sz="1400"/>
          </a:p>
          <a:p>
            <a:r>
              <a:rPr lang="en-US" altLang="zh-CN" sz="1400"/>
              <a:t># </a:t>
            </a:r>
            <a:r>
              <a:rPr lang="zh-CN" altLang="en-US" sz="1400"/>
              <a:t>替换为你的用户名和服务器</a:t>
            </a:r>
            <a:r>
              <a:rPr lang="en-US" altLang="zh-CN" sz="1400"/>
              <a:t>IP</a:t>
            </a:r>
            <a:endParaRPr lang="en-US" altLang="zh-CN" sz="1400"/>
          </a:p>
          <a:p>
            <a:r>
              <a:rPr lang="en-US" altLang="zh-CN" sz="1400"/>
              <a:t>ExecStart=/usr/bin/ssh -D 7890 -C -N user@your-server-ip</a:t>
            </a:r>
            <a:endParaRPr lang="en-US" altLang="zh-CN" sz="1400"/>
          </a:p>
          <a:p>
            <a:r>
              <a:rPr lang="en-US" altLang="zh-CN" sz="1400"/>
              <a:t>Restart=always</a:t>
            </a:r>
            <a:endParaRPr lang="en-US" altLang="zh-CN" sz="1400"/>
          </a:p>
          <a:p>
            <a:r>
              <a:rPr lang="en-US" altLang="zh-CN" sz="1400"/>
              <a:t>RestartSec=10</a:t>
            </a:r>
            <a:endParaRPr lang="en-US" altLang="zh-CN" sz="1400"/>
          </a:p>
          <a:p>
            <a:r>
              <a:rPr lang="en-US" altLang="zh-CN" sz="1400"/>
              <a:t>User=your-ubuntu-username</a:t>
            </a:r>
            <a:endParaRPr lang="en-US" altLang="zh-CN" sz="1400"/>
          </a:p>
          <a:p>
            <a:endParaRPr lang="en-US" altLang="zh-CN" sz="1400"/>
          </a:p>
          <a:p>
            <a:r>
              <a:rPr lang="en-US" altLang="zh-CN" sz="1400"/>
              <a:t>[Install]</a:t>
            </a:r>
            <a:endParaRPr lang="en-US" altLang="zh-CN" sz="1400"/>
          </a:p>
          <a:p>
            <a:r>
              <a:rPr lang="en-US" altLang="zh-CN" sz="1400"/>
              <a:t>WantedBy=multi-user.target</a:t>
            </a:r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FAQ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69890" cy="4932680"/>
          </a:xfrm>
        </p:spPr>
        <p:txBody>
          <a:bodyPr>
            <a:normAutofit fontScale="90000" lnSpcReduction="10000"/>
          </a:bodyPr>
          <a:p>
            <a:r>
              <a:rPr lang="en-US" altLang="zh-CN" sz="1600"/>
              <a:t>git clone speed up</a:t>
            </a:r>
            <a:endParaRPr lang="en-US" altLang="zh-CN" sz="1600"/>
          </a:p>
          <a:p>
            <a:pPr lvl="1"/>
            <a:r>
              <a:rPr lang="en-US" altLang="zh-CN" sz="1330"/>
              <a:t>replace “github.com” with “github.com.cnpmjs.org” or “hub.fastgit.org” in clone address</a:t>
            </a:r>
            <a:endParaRPr lang="en-US" altLang="zh-CN" sz="1330"/>
          </a:p>
          <a:p>
            <a:r>
              <a:rPr lang="zh-CN" altLang="en-US" sz="1600"/>
              <a:t>this exceeds GitHub's file size limit</a:t>
            </a:r>
            <a:endParaRPr lang="zh-CN" altLang="en-US" sz="1600"/>
          </a:p>
          <a:p>
            <a:pPr lvl="1"/>
            <a:r>
              <a:rPr lang="en-US" altLang="zh-CN" sz="1400"/>
              <a:t>max size: 100M</a:t>
            </a:r>
            <a:endParaRPr lang="en-US" altLang="zh-CN" sz="1400"/>
          </a:p>
          <a:p>
            <a:pPr lvl="1"/>
            <a:r>
              <a:rPr lang="en-US" altLang="zh-CN" sz="1400"/>
              <a:t>If size of committed file is larger than this, when push, it will fail</a:t>
            </a:r>
            <a:endParaRPr lang="en-US" altLang="zh-CN" sz="1400"/>
          </a:p>
          <a:p>
            <a:pPr lvl="1"/>
            <a:r>
              <a:rPr lang="en-US" altLang="zh-CN" sz="1400"/>
              <a:t>Solution</a:t>
            </a:r>
            <a:endParaRPr lang="en-US" altLang="zh-CN" sz="1400"/>
          </a:p>
          <a:p>
            <a:pPr lvl="2"/>
            <a:r>
              <a:rPr lang="en-US" altLang="zh-CN" sz="1200"/>
              <a:t>git rebase -i origin/master</a:t>
            </a:r>
            <a:endParaRPr lang="en-US" altLang="zh-CN" sz="1200"/>
          </a:p>
          <a:p>
            <a:pPr lvl="3"/>
            <a:r>
              <a:rPr lang="en-US" altLang="zh-CN" sz="1200">
                <a:sym typeface="+mn-ea"/>
              </a:rPr>
              <a:t>change commit to edit</a:t>
            </a:r>
            <a:endParaRPr lang="en-US" altLang="zh-CN" sz="1200"/>
          </a:p>
          <a:p>
            <a:pPr lvl="2"/>
            <a:r>
              <a:rPr lang="en-US" altLang="zh-CN" sz="1200"/>
              <a:t>{ git rm large_file</a:t>
            </a:r>
            <a:endParaRPr lang="en-US" altLang="zh-CN" sz="1200"/>
          </a:p>
          <a:p>
            <a:pPr lvl="2"/>
            <a:r>
              <a:rPr lang="en-US" altLang="zh-CN" sz="1200">
                <a:sym typeface="+mn-ea"/>
              </a:rPr>
              <a:t>git commit --amend</a:t>
            </a:r>
            <a:endParaRPr lang="en-US" altLang="zh-CN" sz="1200"/>
          </a:p>
          <a:p>
            <a:pPr lvl="2"/>
            <a:r>
              <a:rPr lang="en-US" altLang="zh-CN" sz="1200"/>
              <a:t>git rebase --continue }</a:t>
            </a:r>
            <a:endParaRPr lang="en-US" altLang="zh-CN" sz="1200"/>
          </a:p>
          <a:p>
            <a:pPr lvl="2"/>
            <a:r>
              <a:rPr lang="en-US" altLang="zh-CN" sz="1200"/>
              <a:t>loop to next commit to be edited</a:t>
            </a:r>
            <a:endParaRPr lang="en-US" altLang="zh-CN" sz="1200"/>
          </a:p>
          <a:p>
            <a:pPr lvl="0"/>
            <a:r>
              <a:rPr lang="en-US" altLang="zh-CN" sz="1600"/>
              <a:t>First-time push after repository newly created</a:t>
            </a:r>
            <a:endParaRPr lang="en-US" altLang="zh-CN" sz="1600"/>
          </a:p>
          <a:p>
            <a:pPr lvl="1"/>
            <a:r>
              <a:rPr lang="en-US" altLang="zh-CN" sz="1400"/>
              <a:t>git push origin master</a:t>
            </a:r>
            <a:endParaRPr lang="en-US" altLang="zh-CN" sz="1400"/>
          </a:p>
          <a:p>
            <a:pPr lvl="0"/>
            <a:r>
              <a:rPr lang="en-US" altLang="zh-CN" sz="1600"/>
              <a:t>You are not currently on a branch (working with submodules)</a:t>
            </a:r>
            <a:endParaRPr lang="en-US" altLang="zh-CN" sz="1600"/>
          </a:p>
          <a:p>
            <a:pPr lvl="1"/>
            <a:r>
              <a:rPr lang="en-US" altLang="zh-CN" sz="1400"/>
              <a:t>If no commit</a:t>
            </a:r>
            <a:endParaRPr lang="en-US" altLang="zh-CN" sz="1400"/>
          </a:p>
          <a:p>
            <a:pPr lvl="2"/>
            <a:r>
              <a:rPr lang="en-US" altLang="zh-CN" sz="1200"/>
              <a:t>git stash</a:t>
            </a:r>
            <a:endParaRPr lang="en-US" altLang="zh-CN" sz="1200"/>
          </a:p>
          <a:p>
            <a:pPr lvl="2"/>
            <a:r>
              <a:rPr lang="en-US" altLang="zh-CN" sz="1200"/>
              <a:t>git checkout master</a:t>
            </a:r>
            <a:endParaRPr lang="en-US" altLang="zh-CN" sz="1200"/>
          </a:p>
          <a:p>
            <a:pPr lvl="2"/>
            <a:r>
              <a:rPr lang="en-US" altLang="zh-CN" sz="1200"/>
              <a:t>git stash pop</a:t>
            </a:r>
            <a:endParaRPr lang="en-US" altLang="zh-CN" sz="1200"/>
          </a:p>
          <a:p>
            <a:pPr lvl="2"/>
            <a:endParaRPr lang="en-US" altLang="zh-CN" sz="12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431280" y="1154430"/>
            <a:ext cx="5469890" cy="5353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>
                <a:sym typeface="+mn-ea"/>
              </a:rPr>
              <a:t>Fix conflicts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200"/>
              <a:t>Open conflict file, search for “&lt;&lt;&lt;” and fix conflicts</a:t>
            </a:r>
            <a:endParaRPr lang="en-US" altLang="zh-CN" sz="1200"/>
          </a:p>
          <a:p>
            <a:pPr lvl="1"/>
            <a:r>
              <a:rPr lang="en-US" altLang="zh-CN" sz="1200"/>
              <a:t>Run “git add $conflict_file'</a:t>
            </a:r>
            <a:endParaRPr lang="en-US" altLang="zh-CN" sz="1200"/>
          </a:p>
          <a:p>
            <a:pPr lvl="1"/>
            <a:r>
              <a:rPr lang="en-US" altLang="zh-CN" sz="1200"/>
              <a:t>Run “git commit”</a:t>
            </a:r>
            <a:endParaRPr lang="en-US" altLang="zh-CN" sz="1200"/>
          </a:p>
          <a:p>
            <a:pPr lvl="0"/>
            <a:r>
              <a:rPr lang="en-US" altLang="zh-CN" sz="1600"/>
              <a:t>Undo last commit from local repository</a:t>
            </a:r>
            <a:endParaRPr lang="en-US" altLang="zh-CN" sz="1600"/>
          </a:p>
          <a:p>
            <a:pPr lvl="1"/>
            <a:r>
              <a:rPr lang="en-US" altLang="zh-CN" sz="1200"/>
              <a:t>git reset --soft HEAD~1	# keep local changes</a:t>
            </a:r>
            <a:endParaRPr lang="en-US" altLang="zh-CN" sz="1200"/>
          </a:p>
          <a:p>
            <a:pPr lvl="1"/>
            <a:r>
              <a:rPr lang="en-US" altLang="zh-CN" sz="1200"/>
              <a:t>git reset --hard HEAD~1	 # remove local changes</a:t>
            </a:r>
            <a:endParaRPr lang="en-US" altLang="zh-CN" sz="1200"/>
          </a:p>
          <a:p>
            <a:pPr lvl="0"/>
            <a:r>
              <a:rPr lang="en-US" altLang="zh-CN" sz="1600"/>
              <a:t>Error “error: RPC failed; curl 92 HTTP/2 stream 0 was not closed cleanly: CANCEL (err 8)”</a:t>
            </a:r>
            <a:endParaRPr lang="en-US" altLang="zh-CN" sz="1600"/>
          </a:p>
          <a:p>
            <a:pPr lvl="0"/>
            <a:r>
              <a:rPr lang="en-US" altLang="zh-CN" sz="1600"/>
              <a:t>fatal: The remote end hung up unexpectedly</a:t>
            </a:r>
            <a:endParaRPr lang="en-US" altLang="zh-CN" sz="1600"/>
          </a:p>
          <a:p>
            <a:pPr lvl="1"/>
            <a:r>
              <a:rPr lang="en-US" altLang="zh-CN" sz="1200"/>
              <a:t>reason: push size exceeds post buffer size</a:t>
            </a:r>
            <a:endParaRPr lang="en-US" altLang="zh-CN" sz="1200"/>
          </a:p>
          <a:p>
            <a:pPr lvl="1"/>
            <a:r>
              <a:rPr lang="en-US" altLang="zh-CN" sz="1200"/>
              <a:t>solution: git config --global http.postBuffer 157286400</a:t>
            </a:r>
            <a:endParaRPr lang="en-US" altLang="zh-CN" sz="1200"/>
          </a:p>
          <a:p>
            <a:pPr lvl="1"/>
            <a:r>
              <a:rPr lang="en-US" altLang="zh-CN" sz="1200"/>
              <a:t>git config --get http.postBuffer</a:t>
            </a:r>
            <a:endParaRPr lang="en-US" altLang="zh-CN" sz="1200"/>
          </a:p>
          <a:p>
            <a:pPr lvl="0"/>
            <a:r>
              <a:rPr lang="en-US" altLang="zh-CN" sz="1600"/>
              <a:t>Error:  server certificate verification failed.</a:t>
            </a:r>
            <a:endParaRPr lang="en-US" altLang="zh-CN" sz="1600"/>
          </a:p>
          <a:p>
            <a:pPr lvl="1"/>
            <a:r>
              <a:rPr lang="en-US" altLang="zh-CN" sz="1200"/>
              <a:t>git config --global http.sslVerify false</a:t>
            </a:r>
            <a:endParaRPr lang="en-US" altLang="zh-CN" sz="1200"/>
          </a:p>
          <a:p>
            <a:pPr lvl="0"/>
            <a:r>
              <a:rPr lang="en-US" altLang="zh-CN" sz="1440"/>
              <a:t>Remote repository renamed</a:t>
            </a:r>
            <a:endParaRPr lang="en-US" altLang="zh-CN" sz="1440"/>
          </a:p>
          <a:p>
            <a:pPr lvl="1"/>
            <a:r>
              <a:rPr lang="en-US" altLang="zh-CN" sz="1200"/>
              <a:t>git remote set-url origin https://github.com/username/new-repo-name.git</a:t>
            </a:r>
            <a:endParaRPr lang="en-US" altLang="zh-CN" sz="1200"/>
          </a:p>
        </p:txBody>
      </p:sp>
    </p:spTree>
    <p:custDataLst>
      <p:tags r:id="rId1"/>
    </p:custData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Git FAQ 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718050" cy="4549140"/>
          </a:xfrm>
        </p:spPr>
        <p:txBody>
          <a:bodyPr/>
          <a:p>
            <a:r>
              <a:rPr lang="zh-CN" altLang="en-US" sz="1800"/>
              <a:t>server certificate verification failed. CAfile: none CRLfile: none</a:t>
            </a:r>
            <a:endParaRPr lang="zh-CN" altLang="en-US" sz="1800"/>
          </a:p>
          <a:p>
            <a:pPr lvl="1"/>
            <a:r>
              <a:rPr lang="zh-CN" altLang="en-US" sz="1600" b="1"/>
              <a:t>git config --global http.sslVerify false</a:t>
            </a:r>
            <a:endParaRPr lang="zh-CN" altLang="en-US" sz="1600"/>
          </a:p>
          <a:p>
            <a:pPr lvl="0"/>
            <a:r>
              <a:rPr lang="en-US" altLang="zh-CN" sz="1800"/>
              <a:t>Build git repository after download zip</a:t>
            </a:r>
            <a:endParaRPr lang="en-US" altLang="zh-CN" sz="1800"/>
          </a:p>
          <a:p>
            <a:pPr lvl="1"/>
            <a:r>
              <a:rPr lang="en-US" altLang="zh-CN" sz="1600"/>
              <a:t>unzip</a:t>
            </a:r>
            <a:endParaRPr lang="en-US" altLang="zh-CN" sz="1600"/>
          </a:p>
          <a:p>
            <a:pPr lvl="1"/>
            <a:r>
              <a:rPr lang="en-US" altLang="zh-CN" sz="1600"/>
              <a:t>git init</a:t>
            </a:r>
            <a:endParaRPr lang="en-US" altLang="zh-CN" sz="1600"/>
          </a:p>
          <a:p>
            <a:pPr lvl="1"/>
            <a:r>
              <a:rPr lang="en-US" altLang="zh-CN" sz="1600"/>
              <a:t>git remote add origin {repo_url}</a:t>
            </a:r>
            <a:endParaRPr lang="en-US" altLang="zh-CN" sz="1600"/>
          </a:p>
          <a:p>
            <a:pPr lvl="1"/>
            <a:r>
              <a:rPr lang="en-US" altLang="zh-CN" sz="1600"/>
              <a:t>git fetch origin</a:t>
            </a:r>
            <a:endParaRPr lang="en-US" altLang="zh-CN" sz="1600"/>
          </a:p>
          <a:p>
            <a:pPr lvl="1"/>
            <a:r>
              <a:rPr lang="en-US" altLang="zh-CN" sz="1600"/>
              <a:t>git checkout main</a:t>
            </a:r>
            <a:endParaRPr lang="en-US" altLang="zh-CN" sz="160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ISCONTENTSTITLE" val="0"/>
  <p:tag name="KSO_WM_UNIT_PRESET_TEXT" val="空白演示"/>
  <p:tag name="KSO_WM_UNIT_NOCLEAR" val="0"/>
  <p:tag name="KSO_WM_UNIT_VALUE" val="13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187308_1*a*1"/>
  <p:tag name="KSO_WM_TEMPLATE_CATEGORY" val="custom"/>
  <p:tag name="KSO_WM_TEMPLATE_INDEX" val="20187308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ISCONTENTSTITLE" val="0"/>
  <p:tag name="KSO_WM_UNIT_PRESET_TEXT" val="在此输入您的封面副标题"/>
  <p:tag name="KSO_WM_UNIT_NOCLEAR" val="0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187308_1*b*1"/>
  <p:tag name="KSO_WM_TEMPLATE_CATEGORY" val="custom"/>
  <p:tag name="KSO_WM_TEMPLATE_INDEX" val="20187308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TEMPLATE_THUMBS_INDEX" val="1"/>
  <p:tag name="KSO_WM_SLIDE_ID" val="custom20187308_1"/>
  <p:tag name="KSO_WM_TEMPLATE_SUBCATEGORY" val="0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160402"/>
  <p:tag name="KSO_WM_SLIDE_LAYOUT" val="a_b"/>
  <p:tag name="KSO_WM_SLIDE_LAYOUT_CNT" val="1_1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9.xml><?xml version="1.0" encoding="utf-8"?>
<p:tagLst xmlns:p="http://schemas.openxmlformats.org/presentationml/2006/main">
  <p:tag name="TABLE_ENDDRAG_ORIGIN_RECT" val="868*318"/>
  <p:tag name="TABLE_ENDDRAG_RECT" val="46*91*868*318"/>
</p:tagLst>
</file>

<file path=ppt/tags/tag3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1.xml><?xml version="1.0" encoding="utf-8"?>
<p:tagLst xmlns:p="http://schemas.openxmlformats.org/presentationml/2006/main">
  <p:tag name="TABLE_ENDDRAG_ORIGIN_RECT" val="868*320"/>
  <p:tag name="TABLE_ENDDRAG_RECT" val="46*105*868*320"/>
</p:tagLst>
</file>

<file path=ppt/tags/tag3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6.xml><?xml version="1.0" encoding="utf-8"?>
<p:tagLst xmlns:p="http://schemas.openxmlformats.org/presentationml/2006/main">
  <p:tag name="KSO_WM_UNIT_TABLE_BEAUTIFY" val="smartTable{1c9fd758-9712-4dea-bfb8-56780a6bfae1}"/>
</p:tagLst>
</file>

<file path=ppt/tags/tag3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8.xml><?xml version="1.0" encoding="utf-8"?>
<p:tagLst xmlns:p="http://schemas.openxmlformats.org/presentationml/2006/main">
  <p:tag name="KSO_WM_UNIT_TABLE_BEAUTIFY" val="smartTable{32cc0aa1-2e3a-4720-ba0e-0f28d37ab85a}"/>
</p:tagLst>
</file>

<file path=ppt/tags/tag3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0.xml><?xml version="1.0" encoding="utf-8"?>
<p:tagLst xmlns:p="http://schemas.openxmlformats.org/presentationml/2006/main">
  <p:tag name="KSO_WM_UNIT_TABLE_BEAUTIFY" val="smartTable{e75ede2f-e5c9-4798-90ac-ad00ed43ba7f}"/>
</p:tagLst>
</file>

<file path=ppt/tags/tag4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2.xml><?xml version="1.0" encoding="utf-8"?>
<p:tagLst xmlns:p="http://schemas.openxmlformats.org/presentationml/2006/main">
  <p:tag name="KSO_WM_UNIT_TABLE_BEAUTIFY" val="smartTable{d59150be-38bd-47e5-9a2d-d46bd3652b86}"/>
</p:tagLst>
</file>

<file path=ppt/tags/tag4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6.xml><?xml version="1.0" encoding="utf-8"?>
<p:tagLst xmlns:p="http://schemas.openxmlformats.org/presentationml/2006/main">
  <p:tag name="TABLE_ENDDRAG_ORIGIN_RECT" val="850*143"/>
  <p:tag name="TABLE_ENDDRAG_RECT" val="73*92*850*143"/>
</p:tagLst>
</file>

<file path=ppt/tags/tag5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59.xml><?xml version="1.0" encoding="utf-8"?>
<p:tagLst xmlns:p="http://schemas.openxmlformats.org/presentationml/2006/main">
  <p:tag name="TABLE_ENDDRAG_ORIGIN_RECT" val="595*226"/>
  <p:tag name="TABLE_ENDDRAG_RECT" val="345*87*595*226"/>
</p:tagLst>
</file>

<file path=ppt/tags/tag6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1.xml><?xml version="1.0" encoding="utf-8"?>
<p:tagLst xmlns:p="http://schemas.openxmlformats.org/presentationml/2006/main">
  <p:tag name="TABLE_ENDDRAG_ORIGIN_RECT" val="850*419"/>
  <p:tag name="TABLE_ENDDRAG_RECT" val="89*94*850*419"/>
</p:tagLst>
</file>

<file path=ppt/tags/tag6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3.xml><?xml version="1.0" encoding="utf-8"?>
<p:tagLst xmlns:p="http://schemas.openxmlformats.org/presentationml/2006/main">
  <p:tag name="TABLE_ENDDRAG_ORIGIN_RECT" val="546*247"/>
  <p:tag name="TABLE_ENDDRAG_RECT" val="89*92*546*247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5.xml><?xml version="1.0" encoding="utf-8"?>
<p:tagLst xmlns:p="http://schemas.openxmlformats.org/presentationml/2006/main">
  <p:tag name="TABLE_ENDDRAG_ORIGIN_RECT" val="717*266"/>
  <p:tag name="TABLE_ENDDRAG_RECT" val="89*92*717*266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2.xml><?xml version="1.0" encoding="utf-8"?>
<p:tagLst xmlns:p="http://schemas.openxmlformats.org/presentationml/2006/main">
  <p:tag name="KSO_WM_UNIT_TABLE_BEAUTIFY" val="smartTable{082167dc-8e5e-4397-a4b0-147a66403d53}"/>
  <p:tag name="TABLE_ENDDRAG_ORIGIN_RECT" val="828*339"/>
  <p:tag name="TABLE_ENDDRAG_RECT" val="61*97*828*339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4.xml><?xml version="1.0" encoding="utf-8"?>
<p:tagLst xmlns:p="http://schemas.openxmlformats.org/presentationml/2006/main">
  <p:tag name="KSO_WM_UNIT_TABLE_BEAUTIFY" val="smartTable{803a77ee-2232-4849-b2cf-7abe67d3a7f4}"/>
  <p:tag name="TABLE_ENDDRAG_ORIGIN_RECT" val="802*323"/>
  <p:tag name="TABLE_ENDDRAG_RECT" val="67*87*802*323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6.xml><?xml version="1.0" encoding="utf-8"?>
<p:tagLst xmlns:p="http://schemas.openxmlformats.org/presentationml/2006/main">
  <p:tag name="KSO_WM_UNIT_TABLE_BEAUTIFY" val="smartTable{bd363c4e-6bb0-43c4-87c3-87b74d6c01ab}"/>
  <p:tag name="TABLE_ENDDRAG_ORIGIN_RECT" val="828*323"/>
  <p:tag name="TABLE_ENDDRAG_RECT" val="67*87*828*323"/>
  <p:tag name="KSO_WM_BEAUTIFY_FLAG" val="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8.xml><?xml version="1.0" encoding="utf-8"?>
<p:tagLst xmlns:p="http://schemas.openxmlformats.org/presentationml/2006/main">
  <p:tag name="COMMONDATA" val="eyJoZGlkIjoiYjRhZjQ5NWVmZmQxNmM3NmNkNDYxNWRmNzNmMjA1ZDAifQ=="/>
  <p:tag name="KSO_WPP_MARK_KEY" val="630469a2-b913-4af4-a0b5-baa17c78d1b6"/>
</p:tagLst>
</file>

<file path=ppt/theme/theme1.xml><?xml version="1.0" encoding="utf-8"?>
<a:theme xmlns:a="http://schemas.openxmlformats.org/drawingml/2006/main" name="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36225</Words>
  <Application>WPS 演示</Application>
  <PresentationFormat>宽屏</PresentationFormat>
  <Paragraphs>1749</Paragraphs>
  <Slides>67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67</vt:i4>
      </vt:variant>
    </vt:vector>
  </HeadingPairs>
  <TitlesOfParts>
    <vt:vector size="74" baseType="lpstr">
      <vt:lpstr>Arial</vt:lpstr>
      <vt:lpstr>宋体</vt:lpstr>
      <vt:lpstr>Wingdings</vt:lpstr>
      <vt:lpstr>黑体</vt:lpstr>
      <vt:lpstr>微软雅黑</vt:lpstr>
      <vt:lpstr>Arial Unicode MS</vt:lpstr>
      <vt:lpstr>A000120140530A02PPBG</vt:lpstr>
      <vt:lpstr>Linux Notes</vt:lpstr>
      <vt:lpstr>History</vt:lpstr>
      <vt:lpstr>PowerPoint 演示文稿</vt:lpstr>
      <vt:lpstr>PowerPoint 演示文稿</vt:lpstr>
      <vt:lpstr>Chinese Fonts</vt:lpstr>
      <vt:lpstr>Base64 Encoding/Decoding</vt:lpstr>
      <vt:lpstr>System Info</vt:lpstr>
      <vt:lpstr>Admin</vt:lpstr>
      <vt:lpstr>Swap</vt:lpstr>
      <vt:lpstr>Apt</vt:lpstr>
      <vt:lpstr>Terminal</vt:lpstr>
      <vt:lpstr>3D Support</vt:lpstr>
      <vt:lpstr>GLibc</vt:lpstr>
      <vt:lpstr>CMake</vt:lpstr>
      <vt:lpstr>File/IO Utilities</vt:lpstr>
      <vt:lpstr>Network Utilities</vt:lpstr>
      <vt:lpstr>Text Utilities</vt:lpstr>
      <vt:lpstr>Misc Utilities</vt:lpstr>
      <vt:lpstr>Audio/Video</vt:lpstr>
      <vt:lpstr>Network</vt:lpstr>
      <vt:lpstr>Gitlab</vt:lpstr>
      <vt:lpstr>Recover Files</vt:lpstr>
      <vt:lpstr>Json</vt:lpstr>
      <vt:lpstr>OpenSSL</vt:lpstr>
      <vt:lpstr>gphoto2</vt:lpstr>
      <vt:lpstr>Gimp</vt:lpstr>
      <vt:lpstr>Install libc6 on Ubuntu 20.04</vt:lpstr>
      <vt:lpstr>Bash</vt:lpstr>
      <vt:lpstr>Input Parameters</vt:lpstr>
      <vt:lpstr>String Operations</vt:lpstr>
      <vt:lpstr>Path Operations</vt:lpstr>
      <vt:lpstr>Date &amp; Time</vt:lpstr>
      <vt:lpstr>Statements</vt:lpstr>
      <vt:lpstr>Misc</vt:lpstr>
      <vt:lpstr>Vim</vt:lpstr>
      <vt:lpstr>Vim - Basic</vt:lpstr>
      <vt:lpstr>NeoVim</vt:lpstr>
      <vt:lpstr>Nvim - LazyVim</vt:lpstr>
      <vt:lpstr>Vim/NVim - Plugins</vt:lpstr>
      <vt:lpstr>Vim/NVim - Plugins 2</vt:lpstr>
      <vt:lpstr>Plugins for Python Dev.</vt:lpstr>
      <vt:lpstr>Plugins for Javascript Dev.</vt:lpstr>
      <vt:lpstr>Image Utilities</vt:lpstr>
      <vt:lpstr>Convert</vt:lpstr>
      <vt:lpstr>Webp</vt:lpstr>
      <vt:lpstr>Magick Basic</vt:lpstr>
      <vt:lpstr>Magick Distort</vt:lpstr>
      <vt:lpstr>Magick Composite</vt:lpstr>
      <vt:lpstr>Magick Misc.</vt:lpstr>
      <vt:lpstr>Issues &amp; Solutions</vt:lpstr>
      <vt:lpstr>Git</vt:lpstr>
      <vt:lpstr>Git Overview</vt:lpstr>
      <vt:lpstr>PowerPoint 演示文稿</vt:lpstr>
      <vt:lpstr>Git Workflow</vt:lpstr>
      <vt:lpstr>Git Commands 1/2</vt:lpstr>
      <vt:lpstr>Git Commands 2/2</vt:lpstr>
      <vt:lpstr>Git Commands - Branch</vt:lpstr>
      <vt:lpstr>Fastgithub</vt:lpstr>
      <vt:lpstr>Git LFS</vt:lpstr>
      <vt:lpstr>Git Stash</vt:lpstr>
      <vt:lpstr>Git Submodule</vt:lpstr>
      <vt:lpstr>Git SSH</vt:lpstr>
      <vt:lpstr>Git Clean Up</vt:lpstr>
      <vt:lpstr>Github Access</vt:lpstr>
      <vt:lpstr>Github Access (Start when boot)</vt:lpstr>
      <vt:lpstr>Git FAQ</vt:lpstr>
      <vt:lpstr>Git FAQ 2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VhuanTech</cp:lastModifiedBy>
  <cp:revision>1102</cp:revision>
  <dcterms:created xsi:type="dcterms:W3CDTF">2019-06-19T02:08:00Z</dcterms:created>
  <dcterms:modified xsi:type="dcterms:W3CDTF">2026-04-27T10:35:24Z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18975678A1D64A2AB771E2632C02CE77</vt:lpwstr>
  </property>
</Properties>
</file>