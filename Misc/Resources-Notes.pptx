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56" r:id="rId3"/>
    <p:sldId id="291" r:id="rId5"/>
    <p:sldId id="368" r:id="rId6"/>
    <p:sldId id="359" r:id="rId7"/>
    <p:sldId id="354" r:id="rId8"/>
    <p:sldId id="375" r:id="rId9"/>
    <p:sldId id="364" r:id="rId10"/>
    <p:sldId id="353" r:id="rId11"/>
    <p:sldId id="380" r:id="rId12"/>
    <p:sldId id="357" r:id="rId13"/>
    <p:sldId id="356" r:id="rId14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4" y="54"/>
      </p:cViewPr>
      <p:guideLst>
        <p:guide orient="horz" pos="226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8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 smtClean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599881"/>
            <a:ext cx="9144000" cy="682643"/>
          </a:xfrm>
        </p:spPr>
        <p:txBody>
          <a:bodyPr anchor="ctr" anchorCtr="0">
            <a:normAutofit/>
          </a:bodyPr>
          <a:lstStyle>
            <a:lvl1pPr algn="ctr">
              <a:defRPr sz="40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299335"/>
            <a:ext cx="9144000" cy="376237"/>
          </a:xfrm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31219"/>
            <a:ext cx="10515600" cy="1551646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95320" y="3697371"/>
            <a:ext cx="8401360" cy="896937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625237" y="3582865"/>
            <a:ext cx="8941526" cy="102651"/>
            <a:chOff x="3914775" y="2524125"/>
            <a:chExt cx="2428875" cy="57150"/>
          </a:xfrm>
        </p:grpSpPr>
        <p:sp>
          <p:nvSpPr>
            <p:cNvPr id="8" name="矩形 7"/>
            <p:cNvSpPr/>
            <p:nvPr/>
          </p:nvSpPr>
          <p:spPr>
            <a:xfrm>
              <a:off x="3914775" y="2524125"/>
              <a:ext cx="809625" cy="5715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4724400" y="2524125"/>
              <a:ext cx="809625" cy="57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5534025" y="2524125"/>
              <a:ext cx="809625" cy="5715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25000" lnSpcReduction="20000"/>
            </a:bodyPr>
            <a:lstStyle/>
            <a:p>
              <a:pPr algn="ctr"/>
              <a:endParaRPr lang="zh-CN" altLang="en-US" baseline="0"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23461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97498"/>
            <a:ext cx="10515600" cy="77229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145907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69819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45907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69819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033134" y="2522178"/>
            <a:ext cx="5309839" cy="1226171"/>
          </a:xfrm>
        </p:spPr>
        <p:txBody>
          <a:bodyPr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 smtClean="0"/>
              <a:t>编辑标题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>
            <a:normAutofit/>
          </a:bodyPr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6" name="空心弧 5"/>
          <p:cNvSpPr/>
          <p:nvPr/>
        </p:nvSpPr>
        <p:spPr bwMode="auto">
          <a:xfrm rot="7086271">
            <a:off x="7390896" y="2034751"/>
            <a:ext cx="2201026" cy="2201026"/>
          </a:xfrm>
          <a:prstGeom prst="blockArc">
            <a:avLst>
              <a:gd name="adj1" fmla="val 5502533"/>
              <a:gd name="adj2" fmla="val 1980318"/>
              <a:gd name="adj3" fmla="val 1053"/>
            </a:avLst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pPr algn="ctr" ea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" name="内容占位符 7"/>
          <p:cNvSpPr>
            <a:spLocks noGrp="1"/>
          </p:cNvSpPr>
          <p:nvPr>
            <p:ph sz="quarter" idx="13" hasCustomPrompt="1"/>
          </p:nvPr>
        </p:nvSpPr>
        <p:spPr>
          <a:xfrm>
            <a:off x="3748670" y="3778700"/>
            <a:ext cx="3878765" cy="845746"/>
          </a:xfrm>
        </p:spPr>
        <p:txBody>
          <a:bodyPr anchor="ctr" anchorCtr="0">
            <a:normAutofit/>
          </a:bodyPr>
          <a:lstStyle>
            <a:lvl1pPr marL="0" indent="0" algn="dist">
              <a:buNone/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zh-CN" altLang="en-US" dirty="0" smtClean="0"/>
              <a:t>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994" y="245327"/>
            <a:ext cx="10514012" cy="719795"/>
          </a:xfrm>
        </p:spPr>
        <p:txBody>
          <a:bodyPr anchor="ctr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101020" y="1257090"/>
            <a:ext cx="3878116" cy="44523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122" y="1257090"/>
            <a:ext cx="5597912" cy="4452336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7600" y="408675"/>
            <a:ext cx="10516800" cy="581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F2F5ED-D19D-4097-92A9-D6092B3D6E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AEAA2-D029-4D23-B6D5-DE004B8B3ED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3.xml"/><Relationship Id="rId13" Type="http://schemas.openxmlformats.org/officeDocument/2006/relationships/tags" Target="../tags/tag2.xml"/><Relationship Id="rId12" Type="http://schemas.openxmlformats.org/officeDocument/2006/relationships/tags" Target="../tags/tag1.xml"/><Relationship Id="rId11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182881"/>
            <a:ext cx="10515600" cy="7315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211581"/>
            <a:ext cx="1051560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62D1-89DE-46BA-A466-454433849B6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2EB35-CBF2-473A-99BA-E3C595609F67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ct val="90000"/>
        </a:lnSpc>
        <a:spcBef>
          <a:spcPts val="1000"/>
        </a:spcBef>
        <a:buFont typeface="黑体" panose="02010609060101010101" pitchFamily="49" charset="-122"/>
        <a:buChar char="〉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3429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png"/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13.xml"/><Relationship Id="rId10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1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6.xml"/><Relationship Id="rId2" Type="http://schemas.openxmlformats.org/officeDocument/2006/relationships/image" Target="../media/image18.png"/><Relationship Id="rId1" Type="http://schemas.openxmlformats.org/officeDocument/2006/relationships/tags" Target="../tags/tag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ctr"/>
            <a:r>
              <a:rPr lang="en-US" altLang="zh-CN" dirty="0"/>
              <a:t>Resources Notes</a:t>
            </a:r>
            <a:endParaRPr lang="en-US" altLang="zh-CN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5299075"/>
            <a:ext cx="9144000" cy="767080"/>
          </a:xfrm>
        </p:spPr>
        <p:txBody>
          <a:bodyPr>
            <a:normAutofit fontScale="90000" lnSpcReduction="20000"/>
          </a:bodyPr>
          <a:p>
            <a:pPr algn="ctr"/>
            <a:r>
              <a:rPr lang="en-US" altLang="zh-CN" dirty="0"/>
              <a:t>Sparks-Lu</a:t>
            </a:r>
            <a:endParaRPr lang="en-US" altLang="zh-CN" dirty="0"/>
          </a:p>
          <a:p>
            <a:pPr algn="ctr"/>
            <a:r>
              <a:rPr lang="en-US" altLang="zh-CN" dirty="0"/>
              <a:t>Last updated: 9/28/2023</a:t>
            </a:r>
            <a:endParaRPr lang="en-US" altLang="zh-CN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Change History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11/10/2021</a:t>
            </a:r>
            <a:endParaRPr lang="en-US" altLang="zh-CN"/>
          </a:p>
          <a:p>
            <a:pPr lvl="1"/>
            <a:r>
              <a:rPr lang="en-US" altLang="zh-CN"/>
              <a:t>Added audio codec conversion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镜像站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https://mirrors.huaweicloud.com/home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Mix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467985" cy="5017770"/>
          </a:xfrm>
        </p:spPr>
        <p:txBody>
          <a:bodyPr>
            <a:normAutofit fontScale="60000"/>
          </a:bodyPr>
          <a:p>
            <a:r>
              <a:rPr lang="zh-CN" altLang="en-US"/>
              <a:t>https://mixkit.co/</a:t>
            </a:r>
            <a:endParaRPr lang="zh-CN" altLang="en-US"/>
          </a:p>
          <a:p>
            <a:pPr lvl="1"/>
            <a:r>
              <a:rPr lang="en-US" altLang="zh-CN"/>
              <a:t>Video templates</a:t>
            </a:r>
            <a:endParaRPr lang="en-US" altLang="zh-CN"/>
          </a:p>
          <a:p>
            <a:pPr lvl="2"/>
            <a:r>
              <a:rPr lang="en-US" altLang="zh-CN" sz="1800"/>
              <a:t>Premier Pro, After Effects, Final Cut Pro, DaVinci Resolve</a:t>
            </a:r>
            <a:endParaRPr lang="en-US" altLang="zh-CN" sz="1800"/>
          </a:p>
          <a:p>
            <a:pPr lvl="1"/>
            <a:r>
              <a:rPr lang="en-US" altLang="zh-CN" sz="2000"/>
              <a:t>Video</a:t>
            </a:r>
            <a:endParaRPr lang="en-US" altLang="zh-CN" sz="2000"/>
          </a:p>
          <a:p>
            <a:pPr lvl="2"/>
            <a:r>
              <a:rPr lang="en-US" altLang="zh-CN" sz="1800"/>
              <a:t>4K, nature, lifestyle, business, animals, zoom background, vertical, backgrounds</a:t>
            </a:r>
            <a:endParaRPr lang="en-US" altLang="zh-CN"/>
          </a:p>
          <a:p>
            <a:pPr lvl="1"/>
            <a:r>
              <a:rPr lang="en-US" altLang="zh-CN"/>
              <a:t>Music</a:t>
            </a:r>
            <a:endParaRPr lang="en-US" altLang="zh-CN"/>
          </a:p>
          <a:p>
            <a:pPr lvl="2"/>
            <a:r>
              <a:rPr lang="en-US" altLang="zh-CN" sz="1800"/>
              <a:t>ambient, cinematic, corporate, drum &amp; base, experimental, funk, hip-hop, jazz</a:t>
            </a:r>
            <a:endParaRPr lang="en-US" altLang="zh-CN"/>
          </a:p>
          <a:p>
            <a:pPr lvl="1"/>
            <a:r>
              <a:rPr lang="en-US" altLang="zh-CN"/>
              <a:t>Audio effects</a:t>
            </a:r>
            <a:endParaRPr lang="en-US" altLang="zh-CN"/>
          </a:p>
          <a:p>
            <a:pPr lvl="2"/>
            <a:r>
              <a:rPr lang="en-US" altLang="zh-CN"/>
              <a:t>animals, game, human, instrument, lifestyle, nature, tech, transition, warfare</a:t>
            </a:r>
            <a:endParaRPr lang="en-US" altLang="zh-CN"/>
          </a:p>
          <a:p>
            <a:pPr lvl="1"/>
            <a:r>
              <a:rPr lang="en-US" altLang="zh-CN"/>
              <a:t>Icon</a:t>
            </a:r>
            <a:endParaRPr lang="en-US" altLang="zh-CN"/>
          </a:p>
          <a:p>
            <a:pPr lvl="0"/>
            <a:r>
              <a:rPr lang="en-US" altLang="zh-CN"/>
              <a:t>https://pixabay.com/zh/</a:t>
            </a:r>
            <a:endParaRPr lang="en-US" altLang="zh-CN"/>
          </a:p>
          <a:p>
            <a:pPr lvl="1"/>
            <a:r>
              <a:rPr lang="en-US" altLang="zh-CN"/>
              <a:t>photos</a:t>
            </a:r>
            <a:endParaRPr lang="en-US" altLang="zh-CN"/>
          </a:p>
          <a:p>
            <a:pPr lvl="1"/>
            <a:r>
              <a:rPr lang="en-US" altLang="zh-CN"/>
              <a:t>illustrations</a:t>
            </a:r>
            <a:endParaRPr lang="en-US" altLang="zh-CN"/>
          </a:p>
          <a:p>
            <a:pPr lvl="1"/>
            <a:r>
              <a:rPr lang="en-US" altLang="zh-CN"/>
              <a:t>vectors</a:t>
            </a:r>
            <a:endParaRPr lang="en-US" altLang="zh-CN"/>
          </a:p>
          <a:p>
            <a:pPr lvl="1"/>
            <a:r>
              <a:rPr lang="en-US" altLang="zh-CN"/>
              <a:t>videos</a:t>
            </a:r>
            <a:endParaRPr lang="en-US" altLang="zh-CN"/>
          </a:p>
          <a:p>
            <a:pPr lvl="1"/>
            <a:r>
              <a:rPr lang="en-US" altLang="zh-CN"/>
              <a:t>music</a:t>
            </a:r>
            <a:endParaRPr lang="en-US" altLang="zh-CN"/>
          </a:p>
          <a:p>
            <a:pPr lvl="1"/>
            <a:r>
              <a:rPr lang="en-US" altLang="zh-CN"/>
              <a:t>audio effects</a:t>
            </a:r>
            <a:endParaRPr lang="en-US" altLang="zh-CN"/>
          </a:p>
          <a:p>
            <a:pPr lvl="1"/>
            <a:r>
              <a:rPr lang="en-US" altLang="zh-CN"/>
              <a:t>gifs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Images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057140" cy="4549140"/>
          </a:xfrm>
        </p:spPr>
        <p:txBody>
          <a:bodyPr>
            <a:normAutofit fontScale="70000"/>
          </a:bodyPr>
          <a:p>
            <a:r>
              <a:rPr lang="en-US" altLang="zh-CN"/>
              <a:t>General Images</a:t>
            </a:r>
            <a:endParaRPr lang="en-US" altLang="zh-CN"/>
          </a:p>
          <a:p>
            <a:pPr lvl="1"/>
            <a:r>
              <a:rPr lang="en-US" altLang="zh-CN"/>
              <a:t>pexels.com</a:t>
            </a:r>
            <a:endParaRPr lang="en-US" altLang="zh-CN"/>
          </a:p>
          <a:p>
            <a:pPr lvl="1"/>
            <a:r>
              <a:rPr lang="en-US" altLang="zh-CN"/>
              <a:t>unsplash.com</a:t>
            </a:r>
            <a:endParaRPr lang="en-US" altLang="zh-CN"/>
          </a:p>
          <a:p>
            <a:pPr lvl="2"/>
            <a:r>
              <a:rPr lang="en-US" altLang="zh-CN"/>
              <a:t>API</a:t>
            </a:r>
            <a:endParaRPr lang="en-US" altLang="zh-CN"/>
          </a:p>
          <a:p>
            <a:pPr lvl="1"/>
            <a:r>
              <a:rPr lang="en-US" altLang="zh-CN"/>
              <a:t>pixabay.com</a:t>
            </a:r>
            <a:endParaRPr lang="en-US" altLang="zh-CN"/>
          </a:p>
          <a:p>
            <a:pPr lvl="1"/>
            <a:r>
              <a:rPr lang="en-US" altLang="zh-CN"/>
              <a:t>https://stocksnap.io/</a:t>
            </a:r>
            <a:endParaRPr lang="en-US" altLang="zh-CN"/>
          </a:p>
          <a:p>
            <a:pPr lvl="1"/>
            <a:r>
              <a:rPr lang="en-US" altLang="zh-CN"/>
              <a:t>https://www.si.edu/openaccess</a:t>
            </a:r>
            <a:endParaRPr lang="en-US" altLang="zh-CN"/>
          </a:p>
          <a:p>
            <a:pPr lvl="2"/>
            <a:r>
              <a:rPr lang="en-US" altLang="zh-CN"/>
              <a:t>can download, share, and reuse millions of the Smithsonian’s images—right now, without asking</a:t>
            </a:r>
            <a:endParaRPr lang="en-US" altLang="zh-CN"/>
          </a:p>
          <a:p>
            <a:pPr lvl="2"/>
            <a:r>
              <a:rPr lang="en-US" altLang="zh-CN"/>
              <a:t>5.1 million 2D and 3D digital items from across the Smithsonian’s 21 museums, nine research centers, libraries, archives, and the National Zoo.</a:t>
            </a:r>
            <a:endParaRPr lang="en-US" altLang="zh-CN"/>
          </a:p>
          <a:p>
            <a:pPr lvl="0"/>
            <a:r>
              <a:rPr lang="en-US" altLang="zh-CN"/>
              <a:t>Panorama</a:t>
            </a:r>
            <a:endParaRPr lang="en-US" altLang="zh-CN"/>
          </a:p>
          <a:p>
            <a:pPr lvl="1"/>
            <a:r>
              <a:rPr lang="en-US" altLang="zh-CN"/>
              <a:t>https://polyhaven.com/zh/hdris</a:t>
            </a:r>
            <a:endParaRPr lang="en-US" altLang="zh-CN"/>
          </a:p>
          <a:p>
            <a:pPr lvl="1"/>
            <a:r>
              <a:rPr lang="en-US" altLang="zh-CN"/>
              <a:t>https://www.vecteezy.com</a:t>
            </a:r>
            <a:endParaRPr lang="en-US" altLang="zh-CN"/>
          </a:p>
          <a:p>
            <a:pPr lvl="2"/>
            <a:r>
              <a:rPr lang="en-US" altLang="zh-CN"/>
              <a:t>attribution: &lt;a href="https://www.vecteezy.com/free-photos/360"&gt;360 Stock photos by Vecteezy&lt;/a&gt;</a:t>
            </a:r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407150" y="1211580"/>
            <a:ext cx="5057140" cy="454914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/>
              <a:t>SVG</a:t>
            </a:r>
            <a:endParaRPr lang="en-US" altLang="zh-CN" sz="1800"/>
          </a:p>
          <a:p>
            <a:pPr lvl="1"/>
            <a:r>
              <a:rPr lang="en-US" altLang="zh-CN" sz="1600"/>
              <a:t>https://www.svgrepo.com</a:t>
            </a:r>
            <a:endParaRPr lang="en-US" altLang="zh-CN" sz="1600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Icons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https://fonts.google.com/icons</a:t>
            </a:r>
            <a:endParaRPr lang="zh-CN" altLang="en-US"/>
          </a:p>
          <a:p>
            <a:pPr lvl="1"/>
            <a:r>
              <a:rPr lang="en-US" altLang="zh-CN"/>
              <a:t>license: apache</a:t>
            </a:r>
            <a:endParaRPr lang="en-US" altLang="zh-CN"/>
          </a:p>
          <a:p>
            <a:pPr lvl="1"/>
            <a:r>
              <a:rPr lang="zh-CN" altLang="en-US"/>
              <a:t>https://github.com/google/material-design-icons.git</a:t>
            </a:r>
            <a:endParaRPr lang="zh-CN" altLang="en-US"/>
          </a:p>
          <a:p>
            <a:r>
              <a:rPr lang="zh-CN" altLang="en-US"/>
              <a:t>https://www.iconfinder.com/</a:t>
            </a:r>
            <a:endParaRPr lang="zh-CN" altLang="en-US"/>
          </a:p>
          <a:p>
            <a:pPr lvl="1"/>
            <a:r>
              <a:rPr lang="en-US" altLang="zh-CN" sz="2000"/>
              <a:t>fast access</a:t>
            </a:r>
            <a:endParaRPr lang="en-US" altLang="zh-CN" sz="2000"/>
          </a:p>
          <a:p>
            <a:pPr lvl="1"/>
            <a:r>
              <a:rPr lang="en-US" altLang="zh-CN" sz="2000"/>
              <a:t>free, commercial use</a:t>
            </a:r>
            <a:endParaRPr lang="en-US" altLang="zh-CN" sz="2000"/>
          </a:p>
          <a:p>
            <a:pPr lvl="0"/>
            <a:r>
              <a:rPr lang="zh-CN" altLang="en-US"/>
              <a:t>https://www.flaticon.com/</a:t>
            </a:r>
            <a:endParaRPr lang="en-US" altLang="zh-CN" sz="2400"/>
          </a:p>
          <a:p>
            <a:pPr lvl="1"/>
            <a:r>
              <a:rPr lang="en-US" altLang="zh-CN" sz="2000"/>
              <a:t>slow access</a:t>
            </a:r>
            <a:endParaRPr lang="zh-CN" altLang="en-US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Music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https://musopen.org/</a:t>
            </a:r>
            <a:endParaRPr lang="zh-CN" altLang="en-US"/>
          </a:p>
          <a:p>
            <a:pPr lvl="1"/>
            <a:r>
              <a:rPr lang="en-US" altLang="zh-CN"/>
              <a:t>all royalty free</a:t>
            </a:r>
            <a:endParaRPr lang="en-US" altLang="zh-CN"/>
          </a:p>
          <a:p>
            <a:pPr lvl="1"/>
            <a:r>
              <a:rPr lang="en-US" altLang="zh-CN"/>
              <a:t>search by composer, instrument, period</a:t>
            </a:r>
            <a:endParaRPr lang="en-US" altLang="zh-CN"/>
          </a:p>
          <a:p>
            <a:pPr lvl="0"/>
            <a:r>
              <a:rPr lang="en-US" altLang="zh-CN"/>
              <a:t>https://freesfx.co.uk/</a:t>
            </a:r>
            <a:endParaRPr lang="en-US" altLang="zh-CN"/>
          </a:p>
          <a:p>
            <a:pPr lvl="1"/>
            <a:r>
              <a:rPr lang="en-US" altLang="zh-CN"/>
              <a:t>Slow to download</a:t>
            </a:r>
            <a:endParaRPr lang="en-US" altLang="zh-CN"/>
          </a:p>
          <a:p>
            <a:pPr lvl="1"/>
            <a:r>
              <a:rPr lang="en-US" altLang="zh-CN"/>
              <a:t>sound effects, music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Fonts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6214745" cy="5234305"/>
          </a:xfrm>
        </p:spPr>
        <p:txBody>
          <a:bodyPr>
            <a:normAutofit fontScale="70000"/>
          </a:bodyPr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https://zhuanlan.zhihu.com/p/126721357</a:t>
            </a:r>
            <a:endParaRPr lang="en-US" altLang="zh-CN"/>
          </a:p>
          <a:p>
            <a:pPr lvl="1"/>
            <a:r>
              <a:rPr lang="en-US" altLang="zh-CN" b="1"/>
              <a:t>https://www.fonts.net.cn/</a:t>
            </a:r>
            <a:endParaRPr lang="en-US" altLang="zh-CN" b="1"/>
          </a:p>
          <a:p>
            <a:pPr lvl="1"/>
            <a:r>
              <a:rPr lang="en-US" altLang="zh-CN"/>
              <a:t>http://wenq.org/wqy2/index.cgi?FontGuide</a:t>
            </a:r>
            <a:endParaRPr lang="en-US" altLang="zh-CN"/>
          </a:p>
          <a:p>
            <a:r>
              <a:rPr lang="zh-CN" altLang="en-US"/>
              <a:t>免费可商用</a:t>
            </a:r>
            <a:endParaRPr lang="zh-CN" altLang="en-US"/>
          </a:p>
          <a:p>
            <a:pPr lvl="1"/>
            <a:r>
              <a:rPr lang="zh-CN" altLang="en-US"/>
              <a:t>思源黑体</a:t>
            </a:r>
            <a:endParaRPr lang="zh-CN" altLang="en-US"/>
          </a:p>
          <a:p>
            <a:pPr lvl="2"/>
            <a:r>
              <a:rPr lang="zh-CN" altLang="en-US"/>
              <a:t>https://github.com/adobe-fonts/source-han-sans/tree/release/</a:t>
            </a:r>
            <a:endParaRPr lang="zh-CN" altLang="en-US"/>
          </a:p>
          <a:p>
            <a:pPr lvl="1"/>
            <a:r>
              <a:rPr lang="zh-CN" altLang="en-US"/>
              <a:t>思源宋体</a:t>
            </a:r>
            <a:endParaRPr lang="zh-CN" altLang="en-US" sz="2000"/>
          </a:p>
          <a:p>
            <a:pPr lvl="2"/>
            <a:r>
              <a:rPr lang="zh-CN" altLang="en-US"/>
              <a:t>https://github.com/adobe-fonts/source-han-serif/tree/release/</a:t>
            </a:r>
            <a:endParaRPr lang="zh-CN" altLang="en-US"/>
          </a:p>
          <a:p>
            <a:pPr lvl="1"/>
            <a:r>
              <a:rPr lang="zh-CN" altLang="en-US" sz="2000"/>
              <a:t>手书体</a:t>
            </a:r>
            <a:endParaRPr lang="zh-CN" altLang="en-US" sz="2000"/>
          </a:p>
          <a:p>
            <a:pPr lvl="2"/>
            <a:r>
              <a:rPr lang="zh-CN" altLang="en-US"/>
              <a:t>https://www.zcool.com.cn/work/ZMjI2MDk1MDg=.html</a:t>
            </a:r>
            <a:endParaRPr lang="zh-CN" altLang="en-US"/>
          </a:p>
          <a:p>
            <a:pPr lvl="1"/>
            <a:r>
              <a:rPr lang="zh-CN" altLang="en-US" sz="2000">
                <a:sym typeface="+mn-ea"/>
              </a:rPr>
              <a:t>站酷系列字体</a:t>
            </a:r>
            <a:endParaRPr lang="zh-CN" altLang="en-US" sz="2000"/>
          </a:p>
          <a:p>
            <a:pPr lvl="2"/>
            <a:r>
              <a:rPr lang="zh-CN" altLang="en-US" sz="2000">
                <a:sym typeface="+mn-ea"/>
              </a:rPr>
              <a:t>https://www.zcool.com.cn/special/zcoolfonts/</a:t>
            </a:r>
            <a:endParaRPr lang="zh-CN" altLang="en-US" sz="2000">
              <a:sym typeface="+mn-ea"/>
            </a:endParaRPr>
          </a:p>
          <a:p>
            <a:pPr lvl="1"/>
            <a:r>
              <a:rPr lang="zh-CN" altLang="en-US"/>
              <a:t>华为鸿蒙HarmonyOS Sans字体</a:t>
            </a:r>
            <a:endParaRPr lang="zh-CN" altLang="en-US"/>
          </a:p>
          <a:p>
            <a:pPr lvl="1"/>
            <a:r>
              <a:rPr lang="zh-CN" altLang="en-US"/>
              <a:t>斗鱼追光体</a:t>
            </a:r>
            <a:endParaRPr lang="zh-CN" altLang="en-US"/>
          </a:p>
          <a:p>
            <a:pPr lvl="1"/>
            <a:r>
              <a:rPr lang="en-US" altLang="zh-CN"/>
              <a:t>https://github.com/refinec/PingFangSC</a:t>
            </a:r>
            <a:endParaRPr lang="en-US" altLang="zh-CN"/>
          </a:p>
          <a:p>
            <a:pPr lvl="2"/>
            <a:r>
              <a:rPr lang="zh-CN" altLang="en-US"/>
              <a:t>苹方字体</a:t>
            </a:r>
            <a:endParaRPr lang="zh-CN" altLang="en-US"/>
          </a:p>
          <a:p>
            <a:pPr lvl="2"/>
            <a:r>
              <a:rPr lang="en-US" altLang="zh-CN"/>
              <a:t>MIT</a:t>
            </a:r>
            <a:endParaRPr lang="en-US" altLang="zh-CN"/>
          </a:p>
        </p:txBody>
      </p:sp>
      <p:pic>
        <p:nvPicPr>
          <p:cNvPr id="103" name="图片 102"/>
          <p:cNvPicPr/>
          <p:nvPr/>
        </p:nvPicPr>
        <p:blipFill>
          <a:blip r:embed="rId1"/>
          <a:stretch>
            <a:fillRect/>
          </a:stretch>
        </p:blipFill>
        <p:spPr>
          <a:xfrm>
            <a:off x="7527925" y="1340485"/>
            <a:ext cx="3916680" cy="5943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图片 103"/>
          <p:cNvPicPr/>
          <p:nvPr/>
        </p:nvPicPr>
        <p:blipFill>
          <a:blip r:embed="rId2"/>
          <a:stretch>
            <a:fillRect/>
          </a:stretch>
        </p:blipFill>
        <p:spPr>
          <a:xfrm>
            <a:off x="7524750" y="1935162"/>
            <a:ext cx="2857500" cy="63944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图片 104"/>
          <p:cNvPicPr/>
          <p:nvPr/>
        </p:nvPicPr>
        <p:blipFill>
          <a:blip r:embed="rId3"/>
          <a:stretch>
            <a:fillRect/>
          </a:stretch>
        </p:blipFill>
        <p:spPr>
          <a:xfrm>
            <a:off x="7578090" y="2574290"/>
            <a:ext cx="2804160" cy="7010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图片 105"/>
          <p:cNvPicPr/>
          <p:nvPr/>
        </p:nvPicPr>
        <p:blipFill>
          <a:blip r:embed="rId4"/>
          <a:stretch>
            <a:fillRect/>
          </a:stretch>
        </p:blipFill>
        <p:spPr>
          <a:xfrm>
            <a:off x="7578090" y="3124200"/>
            <a:ext cx="3406140" cy="609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7" name="图片 106"/>
          <p:cNvPicPr/>
          <p:nvPr/>
        </p:nvPicPr>
        <p:blipFill>
          <a:blip r:embed="rId5"/>
          <a:stretch>
            <a:fillRect/>
          </a:stretch>
        </p:blipFill>
        <p:spPr>
          <a:xfrm>
            <a:off x="7527925" y="3594735"/>
            <a:ext cx="3322320" cy="58674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8" name="图片 107"/>
          <p:cNvPicPr/>
          <p:nvPr/>
        </p:nvPicPr>
        <p:blipFill>
          <a:blip r:embed="rId6"/>
          <a:stretch>
            <a:fillRect/>
          </a:stretch>
        </p:blipFill>
        <p:spPr>
          <a:xfrm>
            <a:off x="7501890" y="4072255"/>
            <a:ext cx="3482340" cy="457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" name="图片 108"/>
          <p:cNvPicPr/>
          <p:nvPr/>
        </p:nvPicPr>
        <p:blipFill>
          <a:blip r:embed="rId7"/>
          <a:stretch>
            <a:fillRect/>
          </a:stretch>
        </p:blipFill>
        <p:spPr>
          <a:xfrm>
            <a:off x="7578090" y="4500880"/>
            <a:ext cx="2964180" cy="7315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" name="图片 109"/>
          <p:cNvPicPr/>
          <p:nvPr/>
        </p:nvPicPr>
        <p:blipFill>
          <a:blip r:embed="rId8"/>
          <a:stretch>
            <a:fillRect/>
          </a:stretch>
        </p:blipFill>
        <p:spPr>
          <a:xfrm>
            <a:off x="7616190" y="5201920"/>
            <a:ext cx="3368040" cy="4953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图片 3" descr="SourceHanSerifSC-VF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6190" y="661670"/>
            <a:ext cx="923925" cy="342900"/>
          </a:xfrm>
          <a:prstGeom prst="rect">
            <a:avLst/>
          </a:prstGeom>
        </p:spPr>
      </p:pic>
      <p:pic>
        <p:nvPicPr>
          <p:cNvPr id="5" name="图片 4" descr="SourceHanSansSC-VF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33690" y="1007745"/>
            <a:ext cx="923925" cy="285750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Fonts - 2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708015" cy="4549140"/>
          </a:xfrm>
        </p:spPr>
        <p:txBody>
          <a:bodyPr/>
          <a:p>
            <a:r>
              <a:rPr lang="zh-CN" altLang="en-US"/>
              <a:t>免费可商用</a:t>
            </a:r>
            <a:endParaRPr lang="zh-CN" altLang="en-US"/>
          </a:p>
          <a:p>
            <a:pPr lvl="1"/>
            <a:r>
              <a:rPr lang="zh-CN" altLang="en-US" sz="2000">
                <a:sym typeface="+mn-ea"/>
              </a:rPr>
              <a:t>阿里巴巴普惠体</a:t>
            </a:r>
            <a:r>
              <a:rPr lang="en-US" altLang="zh-CN" sz="2000">
                <a:sym typeface="+mn-ea"/>
              </a:rPr>
              <a:t>2.0</a:t>
            </a:r>
            <a:endParaRPr lang="zh-CN" altLang="en-US" sz="2000"/>
          </a:p>
          <a:p>
            <a:pPr lvl="2"/>
            <a:r>
              <a:rPr lang="zh-CN" altLang="en-US">
                <a:sym typeface="+mn-ea"/>
              </a:rPr>
              <a:t>https://www.alibabafonts.com/#/home</a:t>
            </a:r>
            <a:endParaRPr lang="zh-CN" altLang="en-US"/>
          </a:p>
          <a:p>
            <a:pPr lvl="2"/>
            <a:r>
              <a:rPr lang="en-US" altLang="zh-CN">
                <a:sym typeface="+mn-ea"/>
              </a:rPr>
              <a:t>GB18030-2022</a:t>
            </a:r>
            <a:endParaRPr lang="en-US" altLang="zh-CN">
              <a:sym typeface="+mn-ea"/>
            </a:endParaRPr>
          </a:p>
          <a:p>
            <a:pPr lvl="2"/>
            <a:r>
              <a:rPr lang="en-US" altLang="zh-CN">
                <a:sym typeface="+mn-ea"/>
              </a:rPr>
              <a:t>9</a:t>
            </a:r>
            <a:r>
              <a:rPr lang="zh-CN" altLang="en-US">
                <a:sym typeface="+mn-ea"/>
              </a:rPr>
              <a:t>个</a:t>
            </a:r>
            <a:r>
              <a:rPr lang="en-US" altLang="zh-CN">
                <a:sym typeface="+mn-ea"/>
              </a:rPr>
              <a:t>fontweight</a:t>
            </a:r>
            <a:endParaRPr lang="en-US" altLang="zh-CN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阿里巴巴普惠体</a:t>
            </a:r>
            <a:r>
              <a:rPr lang="en-US" altLang="zh-CN">
                <a:sym typeface="+mn-ea"/>
              </a:rPr>
              <a:t>3.0</a:t>
            </a:r>
            <a:endParaRPr lang="en-US" altLang="zh-CN">
              <a:sym typeface="+mn-ea"/>
            </a:endParaRPr>
          </a:p>
          <a:p>
            <a:pPr lvl="1"/>
            <a:r>
              <a:rPr lang="zh-CN" altLang="en-US">
                <a:sym typeface="+mn-ea"/>
              </a:rPr>
              <a:t>方正字库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https://www.foundertype.com/index.php/About/powerbus.html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免费字体：包括五种字体：方正黑体、方正书宋、方正仿宋、方正楷体、 方正甲骨文。针对“商业发布”这种使用方式免费。</a:t>
            </a:r>
            <a:endParaRPr lang="zh-CN" altLang="en-US"/>
          </a:p>
          <a:p>
            <a:pPr lvl="2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2775" y="734695"/>
            <a:ext cx="3600450" cy="3205480"/>
          </a:xfrm>
          <a:prstGeom prst="rect">
            <a:avLst/>
          </a:prstGeom>
        </p:spPr>
      </p:pic>
      <p:pic>
        <p:nvPicPr>
          <p:cNvPr id="6" name="图片 5" descr="FangZhengShuSongJianTi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0265" y="4008755"/>
            <a:ext cx="1381125" cy="276225"/>
          </a:xfrm>
          <a:prstGeom prst="rect">
            <a:avLst/>
          </a:prstGeom>
        </p:spPr>
      </p:pic>
      <p:pic>
        <p:nvPicPr>
          <p:cNvPr id="7" name="图片 6" descr="FangZhengFangSongJianTi-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765" y="4326255"/>
            <a:ext cx="1381125" cy="276225"/>
          </a:xfrm>
          <a:prstGeom prst="rect">
            <a:avLst/>
          </a:prstGeom>
        </p:spPr>
      </p:pic>
      <p:pic>
        <p:nvPicPr>
          <p:cNvPr id="8" name="图片 7" descr="FangZhengHeiTiJianTi-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265" y="4643755"/>
            <a:ext cx="1381125" cy="276225"/>
          </a:xfrm>
          <a:prstGeom prst="rect">
            <a:avLst/>
          </a:prstGeom>
        </p:spPr>
      </p:pic>
      <p:pic>
        <p:nvPicPr>
          <p:cNvPr id="9" name="图片 8" descr="FangZhengKaiTiJianTi-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765" y="4966335"/>
            <a:ext cx="1381125" cy="2667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Fonts - 3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4835525" cy="4549140"/>
          </a:xfrm>
        </p:spPr>
        <p:txBody>
          <a:bodyPr/>
          <a:p>
            <a:r>
              <a:rPr lang="zh-CN" altLang="en-US"/>
              <a:t>钉钉进步体</a:t>
            </a:r>
            <a:endParaRPr lang="zh-CN" altLang="en-US"/>
          </a:p>
          <a:p>
            <a:pPr lvl="1"/>
            <a:r>
              <a:rPr lang="zh-CN" altLang="en-US"/>
              <a:t>https://page.dingtalk.com/wow/dingtalk/default/dingtalk/y-W5aF3_ZJwzulU0nceIl</a:t>
            </a:r>
            <a:endParaRPr lang="zh-CN" altLang="en-US"/>
          </a:p>
          <a:p>
            <a:pPr lvl="0"/>
            <a:r>
              <a:rPr lang="zh-CN" altLang="en-US"/>
              <a:t>得意黑</a:t>
            </a:r>
            <a:endParaRPr lang="zh-CN" altLang="en-US"/>
          </a:p>
          <a:p>
            <a:pPr lvl="1"/>
            <a:r>
              <a:rPr lang="zh-CN" altLang="en-US"/>
              <a:t>https://github.com/atelier-anchor/smiley-sans</a:t>
            </a:r>
            <a:endParaRPr lang="zh-CN" altLang="en-US"/>
          </a:p>
          <a:p>
            <a:pPr lvl="1"/>
            <a:r>
              <a:rPr lang="en-US" altLang="zh-CN"/>
              <a:t>OFL-1.1</a:t>
            </a:r>
            <a:endParaRPr lang="en-US" altLang="zh-CN"/>
          </a:p>
          <a:p>
            <a:pPr lvl="0"/>
            <a:r>
              <a:rPr lang="en-US" altLang="zh-CN" sz="2000">
                <a:sym typeface="+mn-ea"/>
              </a:rPr>
              <a:t>GPL</a:t>
            </a:r>
            <a:endParaRPr lang="en-US" altLang="zh-CN" sz="2000"/>
          </a:p>
          <a:p>
            <a:pPr lvl="1"/>
            <a:r>
              <a:rPr lang="zh-CN" altLang="en-US" sz="2000">
                <a:sym typeface="+mn-ea"/>
              </a:rPr>
              <a:t>文泉驿</a:t>
            </a:r>
            <a:endParaRPr lang="zh-CN" altLang="en-US" sz="2000"/>
          </a:p>
          <a:p>
            <a:pPr lvl="1"/>
            <a:r>
              <a:rPr lang="zh-CN" altLang="en-US" sz="2000">
                <a:sym typeface="+mn-ea"/>
              </a:rPr>
              <a:t>王汉宗自由字型</a:t>
            </a:r>
            <a:endParaRPr lang="en-US" altLang="zh-CN"/>
          </a:p>
        </p:txBody>
      </p:sp>
      <p:pic>
        <p:nvPicPr>
          <p:cNvPr id="113" name="图片 112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922135" y="244475"/>
            <a:ext cx="5101590" cy="599186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3D Models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211580"/>
            <a:ext cx="5325110" cy="4549140"/>
          </a:xfrm>
        </p:spPr>
        <p:txBody>
          <a:bodyPr>
            <a:normAutofit fontScale="60000"/>
          </a:bodyPr>
          <a:p>
            <a:r>
              <a:rPr lang="en-US" altLang="zh-CN"/>
              <a:t>Models</a:t>
            </a:r>
            <a:endParaRPr lang="en-US" altLang="zh-CN"/>
          </a:p>
          <a:p>
            <a:pPr lvl="1"/>
            <a:r>
              <a:rPr lang="zh-CN" altLang="en-US"/>
              <a:t>https://polyhaven.com/zh/models</a:t>
            </a:r>
            <a:endParaRPr lang="zh-CN" altLang="en-US"/>
          </a:p>
          <a:p>
            <a:pPr lvl="2"/>
            <a:r>
              <a:rPr lang="en-US" altLang="zh-CN"/>
              <a:t>total: 286</a:t>
            </a:r>
            <a:endParaRPr lang="en-US" altLang="zh-CN"/>
          </a:p>
          <a:p>
            <a:pPr lvl="1"/>
            <a:r>
              <a:rPr lang="en-US" altLang="zh-CN"/>
              <a:t>https://www.turbosquid.com/</a:t>
            </a:r>
            <a:endParaRPr lang="en-US" altLang="zh-CN"/>
          </a:p>
          <a:p>
            <a:pPr lvl="1"/>
            <a:r>
              <a:rPr lang="en-US" altLang="zh-CN" sz="2000">
                <a:sym typeface="+mn-ea"/>
              </a:rPr>
              <a:t>https://www.si.edu/openaccess</a:t>
            </a:r>
            <a:endParaRPr lang="en-US" altLang="zh-CN" sz="2000"/>
          </a:p>
          <a:p>
            <a:pPr lvl="2"/>
            <a:r>
              <a:rPr lang="en-US" altLang="zh-CN" sz="2000">
                <a:sym typeface="+mn-ea"/>
              </a:rPr>
              <a:t>can download, share, and reuse millions of the Smithsonian’s images—right now, without asking</a:t>
            </a:r>
            <a:endParaRPr lang="en-US" altLang="zh-CN" sz="2000">
              <a:sym typeface="+mn-ea"/>
            </a:endParaRPr>
          </a:p>
          <a:p>
            <a:pPr lvl="2"/>
            <a:r>
              <a:rPr lang="en-US" altLang="zh-CN"/>
              <a:t>including 3d models from museums</a:t>
            </a:r>
            <a:endParaRPr lang="en-US" altLang="zh-CN"/>
          </a:p>
          <a:p>
            <a:pPr lvl="0"/>
            <a:r>
              <a:rPr lang="en-US" altLang="zh-CN"/>
              <a:t>Models, materials</a:t>
            </a:r>
            <a:endParaRPr lang="en-US" altLang="zh-CN"/>
          </a:p>
          <a:p>
            <a:pPr lvl="1"/>
            <a:r>
              <a:rPr lang="en-US" altLang="zh-CN"/>
              <a:t>https://ambientcg.com/</a:t>
            </a:r>
            <a:endParaRPr lang="en-US" altLang="zh-CN"/>
          </a:p>
          <a:p>
            <a:pPr lvl="2"/>
            <a:r>
              <a:rPr lang="en-US" altLang="zh-CN"/>
              <a:t>CC0 license</a:t>
            </a:r>
            <a:endParaRPr lang="en-US" altLang="zh-CN"/>
          </a:p>
          <a:p>
            <a:pPr lvl="0"/>
            <a:r>
              <a:rPr lang="en-US" altLang="zh-CN"/>
              <a:t>Blende</a:t>
            </a:r>
            <a:r>
              <a:rPr lang="en-US" altLang="zh-CN"/>
              <a:t>r Resources</a:t>
            </a:r>
            <a:endParaRPr lang="en-US" altLang="zh-CN"/>
          </a:p>
          <a:p>
            <a:pPr lvl="1"/>
            <a:r>
              <a:rPr lang="en-US" altLang="zh-CN"/>
              <a:t>City Scapes</a:t>
            </a:r>
            <a:endParaRPr lang="en-US" altLang="zh-CN"/>
          </a:p>
          <a:p>
            <a:pPr lvl="2"/>
            <a:r>
              <a:rPr lang="en-US" altLang="zh-CN"/>
              <a:t>https://www.blenderx.cn/1445.html</a:t>
            </a:r>
            <a:endParaRPr lang="en-US" altLang="zh-CN"/>
          </a:p>
          <a:p>
            <a:pPr lvl="1"/>
            <a:r>
              <a:rPr lang="en-US" altLang="zh-CN"/>
              <a:t>Plant Library</a:t>
            </a:r>
            <a:endParaRPr lang="en-US" altLang="zh-CN"/>
          </a:p>
          <a:p>
            <a:pPr lvl="2"/>
            <a:r>
              <a:rPr lang="en-US" altLang="zh-CN"/>
              <a:t>https://www.blenderx.cn/4365.html</a:t>
            </a:r>
            <a:endParaRPr lang="en-US" altLang="zh-CN"/>
          </a:p>
          <a:p>
            <a:pPr lvl="1"/>
            <a:r>
              <a:rPr lang="en-US" altLang="zh-CN"/>
              <a:t>Interior</a:t>
            </a:r>
            <a:endParaRPr lang="en-US" altLang="zh-CN"/>
          </a:p>
          <a:p>
            <a:pPr lvl="2"/>
            <a:r>
              <a:rPr lang="en-US" altLang="zh-CN"/>
              <a:t>https://www.blenderx.cn/4243.html</a:t>
            </a:r>
            <a:endParaRPr lang="en-US" altLang="zh-CN"/>
          </a:p>
        </p:txBody>
      </p:sp>
      <p:sp>
        <p:nvSpPr>
          <p:cNvPr id="4" name="内容占位符 2"/>
          <p:cNvSpPr>
            <a:spLocks noGrp="1"/>
          </p:cNvSpPr>
          <p:nvPr/>
        </p:nvSpPr>
        <p:spPr>
          <a:xfrm>
            <a:off x="6479540" y="1211580"/>
            <a:ext cx="5325110" cy="45491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黑体" panose="02010609060101010101" pitchFamily="49" charset="-122"/>
              <a:buChar char="〉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7300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573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145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/>
              <a:t>Textures</a:t>
            </a:r>
            <a:endParaRPr lang="en-US" altLang="zh-CN"/>
          </a:p>
          <a:p>
            <a:pPr lvl="1"/>
            <a:r>
              <a:rPr lang="zh-CN" altLang="en-US"/>
              <a:t>https://polyhaven.com/zh/textures</a:t>
            </a:r>
            <a:endParaRPr lang="zh-CN" altLang="en-US"/>
          </a:p>
          <a:p>
            <a:pPr lvl="2"/>
            <a:r>
              <a:rPr lang="en-US" altLang="zh-CN"/>
              <a:t>total: 432</a:t>
            </a:r>
            <a:endParaRPr lang="en-US" altLang="zh-CN"/>
          </a:p>
          <a:p>
            <a:pPr lvl="1"/>
            <a:r>
              <a:rPr lang="en-US" altLang="zh-CN"/>
              <a:t>https://cc0-textures.com/</a:t>
            </a:r>
            <a:endParaRPr lang="en-US" altLang="zh-CN"/>
          </a:p>
          <a:p>
            <a:pPr lvl="2"/>
            <a:r>
              <a:rPr lang="en-US" altLang="zh-CN"/>
              <a:t>total: 3314</a:t>
            </a:r>
            <a:endParaRPr lang="en-US" altLang="zh-CN"/>
          </a:p>
          <a:p>
            <a:pPr lvl="1"/>
            <a:r>
              <a:rPr lang="en-US" altLang="zh-CN"/>
              <a:t>https://freepbr.com/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2.xml><?xml version="1.0" encoding="utf-8"?>
<p:tagLst xmlns:p="http://schemas.openxmlformats.org/presentationml/2006/main">
  <p:tag name="KSO_WM_TAG_VERSION" val="1.0"/>
  <p:tag name="KSO_WM_TEMPLATE_CATEGORY" val="custom"/>
  <p:tag name="KSO_WM_TEMPLATE_INDEX" val="160402"/>
</p:tagLst>
</file>

<file path=ppt/tags/tag3.xml><?xml version="1.0" encoding="utf-8"?>
<p:tagLst xmlns:p="http://schemas.openxmlformats.org/presentationml/2006/main">
  <p:tag name="KSO_WM_TEMPLATE_THUMBS_INDEX" val="1、9、12、16、19、20、24、27、28"/>
  <p:tag name="KSO_WM_TEMPLATE_CATEGORY" val="custom"/>
  <p:tag name="KSO_WM_TEMPLATE_INDEX" val="160402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a"/>
  <p:tag name="KSO_WM_UNIT_INDEX" val="1"/>
  <p:tag name="KSO_WM_UNIT_ID" val="custom160402_1*a*1"/>
  <p:tag name="KSO_WM_UNIT_CLEAR" val="1"/>
  <p:tag name="KSO_WM_UNIT_LAYERLEVEL" val="1"/>
  <p:tag name="KSO_WM_UNIT_VALUE" val="19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160402"/>
  <p:tag name="KSO_WM_UNIT_TYPE" val="b"/>
  <p:tag name="KSO_WM_UNIT_INDEX" val="1"/>
  <p:tag name="KSO_WM_UNIT_ID" val="custom160402_1*b*1"/>
  <p:tag name="KSO_WM_UNIT_CLEAR" val="1"/>
  <p:tag name="KSO_WM_UNIT_LAYERLEVEL" val="1"/>
  <p:tag name="KSO_WM_UNIT_VALUE" val="35"/>
  <p:tag name="KSO_WM_UNIT_ISCONTENTSTITLE" val="0"/>
  <p:tag name="KSO_WM_UNIT_HIGHLIGHT" val="0"/>
  <p:tag name="KSO_WM_UNIT_COMPATIBLE" val="0"/>
  <p:tag name="KSO_WM_UNIT_PRESET_TEXT_INDEX" val="3"/>
  <p:tag name="KSO_WM_UNIT_PRESET_TEXT_LEN" val="17"/>
</p:tagLst>
</file>

<file path=ppt/tags/tag6.xml><?xml version="1.0" encoding="utf-8"?>
<p:tagLst xmlns:p="http://schemas.openxmlformats.org/presentationml/2006/main">
  <p:tag name="KSO_WM_TEMPLATE_THUMBS_INDEX" val="1、9、12、16、19、20、24、27、28"/>
  <p:tag name="KSO_WM_SLIDE_ID" val="custom160402_1"/>
  <p:tag name="KSO_WM_TEMPLATE_SUBCATEGORY" val="0"/>
  <p:tag name="KSO_WM_SLIDE_TYPE" val="title"/>
  <p:tag name="KSO_WM_SLIDE_SUBTYPE" val="defaultBlank"/>
  <p:tag name="KSO_WM_SLIDE_ITEM_CNT" val="2"/>
  <p:tag name="KSO_WM_SLIDE_INDEX" val="1"/>
  <p:tag name="KSO_WM_TAG_VERSION" val="1.0"/>
  <p:tag name="KSO_WM_BEAUTIFY_FLAG" val="#wm#"/>
  <p:tag name="KSO_WM_TEMPLATE_CATEGORY" val="custom"/>
  <p:tag name="KSO_WM_TEMPLATE_INDEX" val="160402"/>
  <p:tag name="KSO_WM_SLIDE_LAYOUT" val="a_b"/>
  <p:tag name="KSO_WM_SLIDE_LAYOUT_CNT" val="1_1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160402"/>
</p:tagLst>
</file>

<file path=ppt/tags/tag18.xml><?xml version="1.0" encoding="utf-8"?>
<p:tagLst xmlns:p="http://schemas.openxmlformats.org/presentationml/2006/main">
  <p:tag name="COMMONDATA" val="eyJoZGlkIjoiYjRhZjQ5NWVmZmQxNmM3NmNkNDYxNWRmNzNmMjA1ZDAifQ=="/>
  <p:tag name="KSO_WPP_MARK_KEY" val="86549eee-af69-4bb6-8267-8160481c168e"/>
</p:tagLst>
</file>

<file path=ppt/theme/theme1.xml><?xml version="1.0" encoding="utf-8"?>
<a:theme xmlns:a="http://schemas.openxmlformats.org/drawingml/2006/main" name="1_A000120140530A02PPBG">
  <a:themeElements>
    <a:clrScheme name="160114.114">
      <a:dk1>
        <a:srgbClr val="47494B"/>
      </a:dk1>
      <a:lt1>
        <a:srgbClr val="FFFFFF"/>
      </a:lt1>
      <a:dk2>
        <a:srgbClr val="454749"/>
      </a:dk2>
      <a:lt2>
        <a:srgbClr val="FFFFFF"/>
      </a:lt2>
      <a:accent1>
        <a:srgbClr val="358CC1"/>
      </a:accent1>
      <a:accent2>
        <a:srgbClr val="2D9C9F"/>
      </a:accent2>
      <a:accent3>
        <a:srgbClr val="A4C37B"/>
      </a:accent3>
      <a:accent4>
        <a:srgbClr val="9D9394"/>
      </a:accent4>
      <a:accent5>
        <a:srgbClr val="84ADE4"/>
      </a:accent5>
      <a:accent6>
        <a:srgbClr val="FFC000"/>
      </a:accent6>
      <a:hlink>
        <a:srgbClr val="00B0F0"/>
      </a:hlink>
      <a:folHlink>
        <a:srgbClr val="AFB2B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2762</Words>
  <Application>WPS 演示</Application>
  <PresentationFormat>宽屏</PresentationFormat>
  <Paragraphs>148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宋体</vt:lpstr>
      <vt:lpstr>Wingdings</vt:lpstr>
      <vt:lpstr>黑体</vt:lpstr>
      <vt:lpstr>微软雅黑</vt:lpstr>
      <vt:lpstr>Arial Unicode MS</vt:lpstr>
      <vt:lpstr>1_A000120140530A02PPBG</vt:lpstr>
      <vt:lpstr>Resources Notes</vt:lpstr>
      <vt:lpstr>Change History</vt:lpstr>
      <vt:lpstr>镜像站</vt:lpstr>
      <vt:lpstr>Mix</vt:lpstr>
      <vt:lpstr>Images</vt:lpstr>
      <vt:lpstr>Icons</vt:lpstr>
      <vt:lpstr>Music</vt:lpstr>
      <vt:lpstr>Fonts</vt:lpstr>
      <vt:lpstr>Fonts - 2</vt:lpstr>
      <vt:lpstr>Fonts - 3</vt:lpstr>
      <vt:lpstr>3D Models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VhuanTech</cp:lastModifiedBy>
  <cp:revision>390</cp:revision>
  <dcterms:created xsi:type="dcterms:W3CDTF">2019-06-19T02:08:00Z</dcterms:created>
  <dcterms:modified xsi:type="dcterms:W3CDTF">2026-05-27T06:42:08Z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6650AF44C1794C54BECF97E18D8332B2_13</vt:lpwstr>
  </property>
</Properties>
</file>