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409" r:id="rId3"/>
    <p:sldId id="410" r:id="rId4"/>
    <p:sldId id="411" r:id="rId5"/>
    <p:sldId id="439" r:id="rId6"/>
    <p:sldId id="413" r:id="rId7"/>
    <p:sldId id="415" r:id="rId8"/>
    <p:sldId id="438" r:id="rId9"/>
    <p:sldId id="428" r:id="rId10"/>
    <p:sldId id="427" r:id="rId11"/>
    <p:sldId id="426" r:id="rId12"/>
    <p:sldId id="418" r:id="rId13"/>
    <p:sldId id="412" r:id="rId14"/>
    <p:sldId id="417" r:id="rId15"/>
    <p:sldId id="419" r:id="rId16"/>
    <p:sldId id="453" r:id="rId17"/>
    <p:sldId id="468" r:id="rId18"/>
    <p:sldId id="423" r:id="rId19"/>
    <p:sldId id="457" r:id="rId20"/>
    <p:sldId id="455" r:id="rId21"/>
    <p:sldId id="456" r:id="rId22"/>
    <p:sldId id="463" r:id="rId23"/>
    <p:sldId id="464" r:id="rId24"/>
    <p:sldId id="454" r:id="rId25"/>
    <p:sldId id="422" r:id="rId26"/>
    <p:sldId id="425" r:id="rId27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gs" Target="tags/tag34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599881"/>
            <a:ext cx="9144000" cy="682643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99335"/>
            <a:ext cx="9144000" cy="376237"/>
          </a:xfrm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1219"/>
            <a:ext cx="10515600" cy="1551646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5320" y="3697371"/>
            <a:ext cx="8401360" cy="89693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625237" y="3582865"/>
            <a:ext cx="8941526" cy="102651"/>
            <a:chOff x="3914775" y="2524125"/>
            <a:chExt cx="2428875" cy="57150"/>
          </a:xfrm>
        </p:grpSpPr>
        <p:sp>
          <p:nvSpPr>
            <p:cNvPr id="8" name="矩形 7"/>
            <p:cNvSpPr/>
            <p:nvPr/>
          </p:nvSpPr>
          <p:spPr>
            <a:xfrm>
              <a:off x="3914775" y="2524125"/>
              <a:ext cx="809625" cy="57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724400" y="2524125"/>
              <a:ext cx="809625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534025" y="2524125"/>
              <a:ext cx="809625" cy="5715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7498"/>
            <a:ext cx="10515600" cy="7722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459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969819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459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69819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33134" y="2522178"/>
            <a:ext cx="5309839" cy="1226171"/>
          </a:xfrm>
        </p:spPr>
        <p:txBody>
          <a:bodyPr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6" name="空心弧 5"/>
          <p:cNvSpPr/>
          <p:nvPr/>
        </p:nvSpPr>
        <p:spPr bwMode="auto">
          <a:xfrm rot="7086271">
            <a:off x="7390896" y="2034751"/>
            <a:ext cx="2201026" cy="2201026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3748670" y="3778700"/>
            <a:ext cx="3878765" cy="845746"/>
          </a:xfrm>
        </p:spPr>
        <p:txBody>
          <a:bodyPr anchor="ctr" anchorCtr="0">
            <a:normAutofit/>
          </a:bodyPr>
          <a:lstStyle>
            <a:lvl1pPr marL="0" indent="0" algn="dist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 smtClean="0"/>
              <a:t>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94" y="245327"/>
            <a:ext cx="10514012" cy="719795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01020" y="1257090"/>
            <a:ext cx="3878116" cy="44523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122" y="1257090"/>
            <a:ext cx="5597912" cy="4452336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182881"/>
            <a:ext cx="10515600" cy="731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211581"/>
            <a:ext cx="1051560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Font typeface="黑体" panose="02010609060101010101" pitchFamily="49" charset="-122"/>
        <a:buChar char="〉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3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DB Notes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524000" y="5468620"/>
            <a:ext cx="9144000" cy="786130"/>
          </a:xfrm>
        </p:spPr>
        <p:txBody>
          <a:bodyPr>
            <a:normAutofit fontScale="90000" lnSpcReduction="20000"/>
          </a:bodyPr>
          <a:p>
            <a:r>
              <a:rPr lang="en-US" altLang="zh-CN"/>
              <a:t>Sparks Lu</a:t>
            </a:r>
            <a:endParaRPr lang="en-US" altLang="zh-CN"/>
          </a:p>
          <a:p>
            <a:r>
              <a:rPr lang="en-US" altLang="zh-CN"/>
              <a:t>Last updated: 3/15/2022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SQL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10515600" cy="1035050"/>
          </a:xfrm>
        </p:spPr>
        <p:txBody>
          <a:bodyPr/>
          <a:p>
            <a:endParaRPr lang="en-US" altLang="zh-CN"/>
          </a:p>
          <a:p>
            <a:endParaRPr lang="en-US" altLang="zh-CN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06755" y="1007110"/>
          <a:ext cx="10744200" cy="5073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20"/>
                <a:gridCol w="5383530"/>
                <a:gridCol w="3359150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Purpose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Command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Note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45275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Select records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>
                          <a:sym typeface="+mn-ea"/>
                        </a:rPr>
                        <a:t>select distinct {column-name} from {table-name} order by id desc limit 10</a:t>
                      </a:r>
                      <a:endParaRPr lang="en-US" altLang="zh-CN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/>
                        <a:t>select </a:t>
                      </a:r>
                      <a:r>
                        <a:rPr lang="en-US" altLang="zh-CN" sz="1000"/>
                        <a:t>id,</a:t>
                      </a:r>
                      <a:r>
                        <a:rPr lang="zh-CN" altLang="en-US" sz="1000"/>
                        <a:t>phone,jd_amount from registered_user where phone like '%18657141696%';</a:t>
                      </a:r>
                      <a:endParaRPr lang="zh-CN" altLang="en-US" sz="1000"/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Rename a table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>
                          <a:sym typeface="+mn-ea"/>
                        </a:rPr>
                        <a:t>alter table {old_table_name} rename to {new_table_name}</a:t>
                      </a:r>
                      <a:endParaRPr lang="en-US" altLang="zh-CN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  <a:tr h="243840">
                <a:tc rowSpan="2"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Deleta a table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drop table “{table_name}”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Delete table, data, and table structure</a:t>
                      </a:r>
                      <a:endParaRPr lang="en-US" altLang="zh-CN" sz="1000"/>
                    </a:p>
                  </a:txBody>
                  <a:tcPr/>
                </a:tc>
              </a:tr>
              <a:tr h="243840">
                <a:tc vMerge="1"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truncate table {table_name}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Delete all data, keep table structure</a:t>
                      </a:r>
                      <a:endParaRPr lang="en-US" altLang="zh-CN" sz="1000"/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Add a column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alter table {table_name} add {column_name} varchar NULL</a:t>
                      </a:r>
                      <a:endParaRPr lang="en-US" altLang="zh-CN" sz="1000"/>
                    </a:p>
                    <a:p>
                      <a:pPr algn="l">
                        <a:buNone/>
                      </a:pPr>
                      <a:r>
                        <a:rPr lang="en-US" altLang="zh-CN" sz="1000"/>
                        <a:t>alter table capture add time_called timestamp without time zone;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Remove a column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alter table {table_name} drop column {column_name}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Rename a column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alter table </a:t>
                      </a:r>
                      <a:r>
                        <a:rPr lang="en-US" altLang="zh-CN" sz="1000">
                          <a:sym typeface="+mn-ea"/>
                        </a:rPr>
                        <a:t>{table_name} </a:t>
                      </a:r>
                      <a:r>
                        <a:rPr lang="en-US" altLang="zh-CN" sz="1000"/>
                        <a:t>rename column {A} to {B}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Modify a column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alter table {table_name} modify column {column_name} {data_type}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  <a:tr h="32321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Modify a column (postgresql)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>
                          <a:sym typeface="+mn-ea"/>
                        </a:rPr>
                        <a:t>alter table {table_name} alter column {column_name} type {data_type}</a:t>
                      </a:r>
                      <a:endParaRPr lang="en-US" altLang="zh-CN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Modify a column to remove unique constraint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>
                          <a:sym typeface="+mn-ea"/>
                        </a:rPr>
                        <a:t>ALTER TABLE tbl_name DROP CONSTRAINT {constraint_name};</a:t>
                      </a:r>
                      <a:endParaRPr lang="en-US" altLang="zh-CN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\d {table} to get constraint_name</a:t>
                      </a:r>
                      <a:endParaRPr lang="en-US" altLang="zh-CN" sz="1000"/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Update record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update {table_name} set {col1}={value1} where {condition};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/>
                        <a:t>update registered_user set jd_amount=11 where id=5298;</a:t>
                      </a:r>
                      <a:endParaRPr lang="zh-CN" altLang="en-US" sz="1000"/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Create a DB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create database {db_name}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Remove a DB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drop database {db_name}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Add record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INSERT INTO {table_name} VALUES (value1, value2, value3...);</a:t>
                      </a:r>
                      <a:endParaRPr lang="en-US" altLang="zh-CN" sz="1000"/>
                    </a:p>
                    <a:p>
                      <a:pPr algn="l">
                        <a:buNone/>
                      </a:pPr>
                      <a:r>
                        <a:rPr lang="en-US" altLang="zh-CN" sz="1000"/>
                        <a:t>INSERT INTO table_name (column1, column2...) VALUES (value1, value2...);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/>
                        <a:t>insert into product (name, full_name, unit_price) values ('tour_video_dewatermark', '漫游视频去</a:t>
                      </a:r>
                      <a:endParaRPr lang="zh-CN" altLang="en-US" sz="1000"/>
                    </a:p>
                    <a:p>
                      <a:pPr algn="l">
                        <a:buNone/>
                      </a:pPr>
                      <a:r>
                        <a:rPr lang="zh-CN" altLang="en-US" sz="1000"/>
                        <a:t>水印', '500');</a:t>
                      </a:r>
                      <a:endParaRPr lang="zh-CN" altLang="en-US" sz="1000"/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Delete record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delete from {table_name} where id=1;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SQLite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896610" cy="5298440"/>
          </a:xfrm>
        </p:spPr>
        <p:txBody>
          <a:bodyPr/>
          <a:p>
            <a:r>
              <a:rPr lang="en-US" altLang="zh-CN" sz="1400"/>
              <a:t>References</a:t>
            </a:r>
            <a:endParaRPr lang="en-US" altLang="zh-CN" sz="1400"/>
          </a:p>
          <a:p>
            <a:pPr lvl="1"/>
            <a:r>
              <a:rPr lang="en-US" altLang="zh-CN" sz="1200"/>
              <a:t>https://sqlite.org/index.html</a:t>
            </a:r>
            <a:endParaRPr lang="en-US" altLang="zh-CN" sz="1200"/>
          </a:p>
          <a:p>
            <a:pPr lvl="1"/>
            <a:r>
              <a:rPr lang="en-US" altLang="zh-CN" sz="1200"/>
              <a:t>https://www.sqlite.org/lang_altertable.html</a:t>
            </a:r>
            <a:endParaRPr lang="en-US" altLang="zh-CN" sz="1200"/>
          </a:p>
          <a:p>
            <a:pPr lvl="0"/>
            <a:r>
              <a:rPr lang="en-US" altLang="zh-CN" sz="1400"/>
              <a:t>Command line tools</a:t>
            </a:r>
            <a:endParaRPr lang="en-US" altLang="zh-CN" sz="1400"/>
          </a:p>
          <a:p>
            <a:pPr lvl="1"/>
            <a:r>
              <a:rPr lang="en-US" altLang="zh-CN" sz="1200"/>
              <a:t>download </a:t>
            </a:r>
            <a:r>
              <a:rPr lang="en-US" altLang="zh-CN" sz="1200" b="1"/>
              <a:t>sqlite3 </a:t>
            </a:r>
            <a:r>
              <a:rPr lang="en-US" altLang="zh-CN" sz="1200"/>
              <a:t>from https://sqlite.org/download.html</a:t>
            </a:r>
            <a:endParaRPr lang="en-US" altLang="zh-CN" sz="1200"/>
          </a:p>
          <a:p>
            <a:pPr lvl="1"/>
            <a:r>
              <a:rPr lang="en-US" altLang="zh-CN" sz="1200"/>
              <a:t>.quit	// exit</a:t>
            </a:r>
            <a:endParaRPr lang="en-US" altLang="zh-CN" sz="1200"/>
          </a:p>
          <a:p>
            <a:pPr lvl="1"/>
            <a:r>
              <a:rPr lang="en-US" altLang="zh-CN" sz="1200" b="1"/>
              <a:t>.open {db_name}</a:t>
            </a:r>
            <a:endParaRPr lang="en-US" altLang="zh-CN" sz="1200" b="1"/>
          </a:p>
          <a:p>
            <a:pPr lvl="1"/>
            <a:r>
              <a:rPr lang="en-US" altLang="zh-CN" sz="1200"/>
              <a:t>.tables</a:t>
            </a:r>
            <a:endParaRPr lang="en-US" altLang="zh-CN" sz="1200"/>
          </a:p>
          <a:p>
            <a:pPr lvl="1"/>
            <a:r>
              <a:rPr lang="en-US" altLang="zh-CN" sz="1200" b="1"/>
              <a:t>.schema {table_name}</a:t>
            </a:r>
            <a:endParaRPr lang="en-US" altLang="zh-CN" sz="1200" b="1"/>
          </a:p>
          <a:p>
            <a:pPr lvl="1"/>
            <a:r>
              <a:rPr lang="en-US" altLang="zh-CN" sz="1200"/>
              <a:t>Dump db to sql</a:t>
            </a:r>
            <a:endParaRPr lang="en-US" altLang="zh-CN" sz="1200"/>
          </a:p>
          <a:p>
            <a:pPr lvl="2"/>
            <a:r>
              <a:rPr lang="en-US" altLang="zh-CN" sz="1000"/>
              <a:t>.once db.sql</a:t>
            </a:r>
            <a:endParaRPr lang="en-US" altLang="zh-CN" sz="1000"/>
          </a:p>
          <a:p>
            <a:pPr lvl="2"/>
            <a:r>
              <a:rPr lang="en-US" altLang="zh-CN" sz="1000"/>
              <a:t>.dump</a:t>
            </a:r>
            <a:endParaRPr lang="en-US" altLang="zh-CN" sz="1000"/>
          </a:p>
          <a:p>
            <a:pPr lvl="1"/>
            <a:r>
              <a:rPr lang="en-US" altLang="zh-CN" sz="1200"/>
              <a:t>Dump table data to csv</a:t>
            </a:r>
            <a:endParaRPr lang="en-US" altLang="zh-CN" sz="1200"/>
          </a:p>
          <a:p>
            <a:pPr lvl="2"/>
            <a:r>
              <a:rPr lang="en-US" altLang="zh-CN" sz="1000"/>
              <a:t>.headers on</a:t>
            </a:r>
            <a:endParaRPr lang="en-US" altLang="zh-CN" sz="1000"/>
          </a:p>
          <a:p>
            <a:pPr lvl="2"/>
            <a:r>
              <a:rPr lang="en-US" altLang="zh-CN" sz="1000"/>
              <a:t>.mode csv</a:t>
            </a:r>
            <a:endParaRPr lang="en-US" altLang="zh-CN" sz="1000"/>
          </a:p>
          <a:p>
            <a:pPr lvl="2"/>
            <a:r>
              <a:rPr lang="en-US" altLang="zh-CN" sz="1000"/>
              <a:t>.once ‘user.csv’</a:t>
            </a:r>
            <a:endParaRPr lang="en-US" altLang="zh-CN" sz="1000"/>
          </a:p>
          <a:p>
            <a:pPr lvl="2"/>
            <a:r>
              <a:rPr lang="en-US" altLang="zh-CN" sz="1000"/>
              <a:t>select * from user;</a:t>
            </a:r>
            <a:endParaRPr lang="en-US" altLang="zh-CN" sz="1000"/>
          </a:p>
          <a:p>
            <a:pPr lvl="1"/>
            <a:r>
              <a:rPr lang="en-US" altLang="zh-CN" sz="1200"/>
              <a:t>Run a sql script</a:t>
            </a:r>
            <a:endParaRPr lang="en-US" altLang="zh-CN" sz="1200"/>
          </a:p>
          <a:p>
            <a:pPr lvl="2"/>
            <a:r>
              <a:rPr lang="en-US" altLang="zh-CN" sz="1000"/>
              <a:t>.read init.sql</a:t>
            </a:r>
            <a:endParaRPr lang="en-US" altLang="zh-CN" sz="1000"/>
          </a:p>
          <a:p>
            <a:pPr lvl="1"/>
            <a:r>
              <a:rPr lang="en-US" altLang="zh-CN" sz="1200">
                <a:sym typeface="+mn-ea"/>
              </a:rPr>
              <a:t>Create table from csv</a:t>
            </a:r>
            <a:endParaRPr lang="en-US" altLang="zh-CN" sz="1200"/>
          </a:p>
          <a:p>
            <a:pPr lvl="2"/>
            <a:r>
              <a:rPr lang="en-US" altLang="zh-CN" sz="1200">
                <a:sym typeface="+mn-ea"/>
              </a:rPr>
              <a:t>.mode csv</a:t>
            </a:r>
            <a:endParaRPr lang="en-US" altLang="zh-CN" sz="1200"/>
          </a:p>
          <a:p>
            <a:pPr lvl="2"/>
            <a:r>
              <a:rPr lang="en-US" altLang="zh-CN" sz="1200">
                <a:sym typeface="+mn-ea"/>
              </a:rPr>
              <a:t>.import product.csv product</a:t>
            </a:r>
            <a:endParaRPr lang="en-US" altLang="zh-CN" sz="1200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7269480" y="1154430"/>
            <a:ext cx="466979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800"/>
              <a:t>Build from source</a:t>
            </a:r>
            <a:endParaRPr lang="en-US" altLang="zh-CN" sz="1800"/>
          </a:p>
          <a:p>
            <a:pPr lvl="1"/>
            <a:r>
              <a:rPr lang="en-US" altLang="zh-CN" sz="1600"/>
              <a:t>download sqlite-autoconf-3510300.tar.gz from </a:t>
            </a:r>
            <a:r>
              <a:rPr lang="en-US" altLang="zh-CN" sz="1600">
                <a:sym typeface="+mn-ea"/>
              </a:rPr>
              <a:t>https://www.sqlite.org/download.html</a:t>
            </a:r>
            <a:endParaRPr lang="en-US" altLang="zh-CN" sz="1600">
              <a:sym typeface="+mn-ea"/>
            </a:endParaRPr>
          </a:p>
          <a:p>
            <a:pPr lvl="1"/>
            <a:r>
              <a:rPr lang="en-US" altLang="zh-CN" sz="1600">
                <a:sym typeface="+mn-ea"/>
              </a:rPr>
              <a:t>./configure &amp;&amp; make -j &amp;&amp; sudo make install </a:t>
            </a:r>
            <a:endParaRPr lang="en-US" altLang="zh-CN" sz="16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PostgreSql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Intro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779260" cy="5013325"/>
          </a:xfrm>
        </p:spPr>
        <p:txBody>
          <a:bodyPr>
            <a:normAutofit fontScale="70000"/>
          </a:bodyPr>
          <a:p>
            <a:pPr lvl="0"/>
            <a:r>
              <a:rPr lang="en-US" altLang="zh-CN" sz="2400">
                <a:sym typeface="+mn-ea"/>
              </a:rPr>
              <a:t>References</a:t>
            </a:r>
            <a:endParaRPr lang="en-US" altLang="zh-CN" sz="2400">
              <a:sym typeface="+mn-ea"/>
            </a:endParaRPr>
          </a:p>
          <a:p>
            <a:pPr lvl="1"/>
            <a:r>
              <a:rPr lang="en-US" altLang="zh-CN" sz="2000">
                <a:sym typeface="+mn-ea"/>
              </a:rPr>
              <a:t>https://www.postgresql.org/docs/current/admin.html</a:t>
            </a:r>
            <a:endParaRPr lang="en-US" altLang="zh-CN" sz="2000">
              <a:sym typeface="+mn-ea"/>
            </a:endParaRPr>
          </a:p>
          <a:p>
            <a:pPr lvl="0"/>
            <a:r>
              <a:rPr lang="en-US" altLang="zh-CN" sz="2400">
                <a:sym typeface="+mn-ea"/>
              </a:rPr>
              <a:t>FAQ</a:t>
            </a:r>
            <a:endParaRPr lang="en-US" altLang="zh-CN" sz="2400"/>
          </a:p>
          <a:p>
            <a:pPr lvl="1"/>
            <a:r>
              <a:rPr lang="en-US" altLang="zh-CN">
                <a:sym typeface="+mn-ea"/>
              </a:rPr>
              <a:t>BLOB -&gt; LargeBinary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This result object does not return rows. It has been closed automatically.</a:t>
            </a:r>
            <a:endParaRPr lang="en-US" altLang="zh-CN"/>
          </a:p>
          <a:p>
            <a:pPr lvl="2"/>
            <a:r>
              <a:rPr lang="en-US" altLang="zh-CN" sz="2000">
                <a:sym typeface="+mn-ea"/>
              </a:rPr>
              <a:t>docker-compose.yml</a:t>
            </a:r>
            <a:endParaRPr lang="en-US" altLang="zh-CN" sz="2000"/>
          </a:p>
          <a:p>
            <a:pPr lvl="3"/>
            <a:r>
              <a:rPr lang="en-US" altLang="zh-CN" sz="2000">
                <a:sym typeface="+mn-ea"/>
              </a:rPr>
              <a:t>gunicorn remove “--preload” option</a:t>
            </a:r>
            <a:endParaRPr lang="en-US" altLang="zh-CN" sz="2000">
              <a:sym typeface="+mn-ea"/>
            </a:endParaRPr>
          </a:p>
          <a:p>
            <a:pPr lvl="0"/>
            <a:r>
              <a:rPr lang="en-US" altLang="zh-CN">
                <a:sym typeface="+mn-ea"/>
              </a:rPr>
              <a:t>psql</a:t>
            </a:r>
            <a:endParaRPr lang="en-US" altLang="zh-CN">
              <a:sym typeface="+mn-ea"/>
            </a:endParaRPr>
          </a:p>
          <a:p>
            <a:pPr lvl="0"/>
            <a:r>
              <a:rPr lang="en-US" altLang="zh-CN"/>
              <a:t>Docker</a:t>
            </a:r>
            <a:endParaRPr lang="en-US" altLang="zh-CN"/>
          </a:p>
          <a:p>
            <a:pPr lvl="1"/>
            <a:r>
              <a:rPr lang="en-US" altLang="zh-CN"/>
              <a:t>sudo docker exec -it fishpano_db_1 /bin/bash</a:t>
            </a:r>
            <a:endParaRPr lang="en-US" altLang="zh-CN"/>
          </a:p>
          <a:p>
            <a:pPr lvl="1"/>
            <a:r>
              <a:rPr lang="en-US" altLang="zh-CN"/>
              <a:t>run psql -U {username} {dbname}</a:t>
            </a:r>
            <a:endParaRPr lang="en-US" altLang="zh-CN"/>
          </a:p>
          <a:p>
            <a:pPr lvl="0"/>
            <a:r>
              <a:rPr lang="en-US" altLang="zh-CN"/>
              <a:t>Commands</a:t>
            </a:r>
            <a:endParaRPr lang="en-US" altLang="zh-CN"/>
          </a:p>
          <a:p>
            <a:pPr lvl="1"/>
            <a:r>
              <a:rPr lang="en-US" altLang="zh-CN"/>
              <a:t>dropdb -U fishpano fishpano_db</a:t>
            </a:r>
            <a:endParaRPr lang="en-US" altLang="zh-CN"/>
          </a:p>
          <a:p>
            <a:pPr lvl="1"/>
            <a:r>
              <a:rPr lang="en-US" altLang="zh-CN"/>
              <a:t>createdb -U fishpano fishpano_db</a:t>
            </a:r>
            <a:endParaRPr lang="en-US" altLang="zh-CN"/>
          </a:p>
          <a:p>
            <a:pPr lvl="0"/>
            <a:r>
              <a:rPr lang="en-US" altLang="zh-CN"/>
              <a:t>Misc</a:t>
            </a:r>
            <a:endParaRPr lang="en-US" altLang="zh-CN"/>
          </a:p>
          <a:p>
            <a:pPr lvl="1"/>
            <a:r>
              <a:rPr lang="en-US" altLang="zh-CN"/>
              <a:t>default max_connections is typically 100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7861300" y="1424940"/>
            <a:ext cx="3907790" cy="479996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en-US" altLang="zh-CN"/>
              <a:t>sudo service postgresql restart</a:t>
            </a:r>
            <a:endParaRPr lang="en-US" altLang="zh-CN"/>
          </a:p>
          <a:p>
            <a:r>
              <a:rPr lang="en-US" altLang="zh-CN"/>
              <a:t>sudo -u postgres psql</a:t>
            </a:r>
            <a:endParaRPr lang="en-US" altLang="zh-CN"/>
          </a:p>
          <a:p>
            <a:r>
              <a:rPr lang="en-US" altLang="zh-CN"/>
              <a:t>psql -U {username} {dbname}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postgresql Commands:</a:t>
            </a:r>
            <a:endParaRPr lang="en-US" altLang="zh-CN"/>
          </a:p>
          <a:p>
            <a:r>
              <a:rPr lang="en-US" altLang="zh-CN"/>
              <a:t># \q	// quit interactive terminal</a:t>
            </a:r>
            <a:endParaRPr lang="en-US" altLang="zh-CN"/>
          </a:p>
          <a:p>
            <a:r>
              <a:rPr lang="en-US" altLang="zh-CN"/>
              <a:t># create database {dbname};</a:t>
            </a:r>
            <a:endParaRPr lang="en-US" altLang="zh-CN"/>
          </a:p>
          <a:p>
            <a:r>
              <a:rPr lang="en-US" altLang="zh-CN"/>
              <a:t># \l	// list databases</a:t>
            </a:r>
            <a:endParaRPr lang="en-US" altLang="zh-CN"/>
          </a:p>
          <a:p>
            <a:r>
              <a:rPr lang="en-US" altLang="zh-CN">
                <a:sym typeface="+mn-ea"/>
              </a:rPr>
              <a:t># \c {dbname}	// connect db</a:t>
            </a:r>
            <a:endParaRPr lang="en-US" altLang="zh-CN"/>
          </a:p>
          <a:p>
            <a:r>
              <a:rPr lang="en-US" altLang="zh-CN"/>
              <a:t># \dt	// display tables</a:t>
            </a:r>
            <a:endParaRPr lang="en-US" altLang="zh-CN"/>
          </a:p>
          <a:p>
            <a:r>
              <a:rPr lang="en-US" altLang="zh-CN"/>
              <a:t># \ds	// display sequences</a:t>
            </a:r>
            <a:endParaRPr lang="en-US" altLang="zh-CN"/>
          </a:p>
          <a:p>
            <a:r>
              <a:rPr lang="en-US" altLang="zh-CN"/>
              <a:t># \d {tablename}	// display columes in table</a:t>
            </a:r>
            <a:endParaRPr lang="en-US" altLang="zh-CN"/>
          </a:p>
          <a:p>
            <a:r>
              <a:rPr lang="en-US" altLang="zh-CN"/>
              <a:t># table {tablename}</a:t>
            </a:r>
            <a:endParaRPr lang="en-US" altLang="zh-CN"/>
          </a:p>
          <a:p>
            <a:r>
              <a:rPr lang="en-US" altLang="zh-CN"/>
              <a:t># select * from “{tablename}”;</a:t>
            </a:r>
            <a:endParaRPr lang="en-US" altLang="zh-CN"/>
          </a:p>
          <a:p>
            <a:r>
              <a:rPr lang="en-US" altLang="zh-CN"/>
              <a:t># drop database {dbname}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Back up and Recover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10739755" cy="3694430"/>
          </a:xfrm>
        </p:spPr>
        <p:txBody>
          <a:bodyPr>
            <a:normAutofit fontScale="60000"/>
          </a:bodyPr>
          <a:p>
            <a:pPr lvl="0"/>
            <a:r>
              <a:rPr lang="en-US" altLang="zh-CN" sz="2400">
                <a:sym typeface="+mn-ea"/>
              </a:rPr>
              <a:t>Backup</a:t>
            </a:r>
            <a:endParaRPr lang="en-US" altLang="zh-CN" sz="2400"/>
          </a:p>
          <a:p>
            <a:pPr lvl="1"/>
            <a:r>
              <a:rPr lang="en-US" altLang="zh-CN">
                <a:sym typeface="+mn-ea"/>
              </a:rPr>
              <a:t>Dump</a:t>
            </a:r>
            <a:endParaRPr lang="en-US" altLang="zh-CN">
              <a:sym typeface="+mn-ea"/>
            </a:endParaRPr>
          </a:p>
          <a:p>
            <a:pPr lvl="2"/>
            <a:r>
              <a:rPr lang="en-US" altLang="zh-CN">
                <a:sym typeface="+mn-ea"/>
              </a:rPr>
              <a:t>apt install postgresql</a:t>
            </a:r>
            <a:endParaRPr lang="en-US" altLang="zh-CN">
              <a:sym typeface="+mn-ea"/>
            </a:endParaRPr>
          </a:p>
          <a:p>
            <a:pPr lvl="2"/>
            <a:r>
              <a:rPr lang="en-US" altLang="zh-CN">
                <a:sym typeface="+mn-ea"/>
              </a:rPr>
              <a:t>pg_dump dbname &gt; dbname-backup.sql</a:t>
            </a:r>
            <a:endParaRPr lang="en-US" altLang="zh-CN">
              <a:sym typeface="+mn-ea"/>
            </a:endParaRPr>
          </a:p>
          <a:p>
            <a:pPr lvl="2"/>
            <a:r>
              <a:rPr lang="en-US" altLang="zh-CN">
                <a:sym typeface="+mn-ea"/>
              </a:rPr>
              <a:t>pg_dump -U fishpano fishpano_db &gt;/tmp/20211221.pgdump</a:t>
            </a:r>
            <a:endParaRPr lang="en-US" altLang="zh-CN">
              <a:sym typeface="+mn-ea"/>
            </a:endParaRPr>
          </a:p>
          <a:p>
            <a:pPr lvl="2"/>
            <a:r>
              <a:rPr lang="en-US" altLang="zh-CN" b="1">
                <a:sym typeface="+mn-ea"/>
              </a:rPr>
              <a:t>sudo docker compose exec db pg_dump -U fishpano fishpano_db | gzip &gt;/tmp/20211221.pgdump.gz</a:t>
            </a:r>
            <a:endParaRPr lang="en-US" altLang="zh-CN" b="1">
              <a:sym typeface="+mn-ea"/>
            </a:endParaRPr>
          </a:p>
          <a:p>
            <a:pPr lvl="2"/>
            <a:r>
              <a:rPr lang="en-US" altLang="zh-CN" b="1">
                <a:sym typeface="+mn-ea"/>
              </a:rPr>
              <a:t>sudo docker compose exec db pg_dump -U panoservice panoservice_db &gt;db.20240719.sql</a:t>
            </a:r>
            <a:endParaRPr lang="en-US" altLang="zh-CN" b="1">
              <a:sym typeface="+mn-ea"/>
            </a:endParaRPr>
          </a:p>
          <a:p>
            <a:pPr lvl="1"/>
            <a:r>
              <a:rPr lang="en-US" altLang="zh-CN"/>
              <a:t>Reload</a:t>
            </a:r>
            <a:endParaRPr lang="en-US" altLang="zh-CN"/>
          </a:p>
          <a:p>
            <a:pPr lvl="2"/>
            <a:r>
              <a:rPr lang="en-US" altLang="zh-CN"/>
              <a:t>psql -d newdb -f db.sql</a:t>
            </a:r>
            <a:endParaRPr lang="en-US" altLang="zh-CN"/>
          </a:p>
          <a:p>
            <a:pPr lvl="2"/>
            <a:r>
              <a:rPr lang="en-US" altLang="zh-CN"/>
              <a:t>sudo docker compose exec db psql --username=fishai --dbname=fishai_db</a:t>
            </a:r>
            <a:endParaRPr lang="en-US" altLang="zh-CN"/>
          </a:p>
          <a:p>
            <a:pPr lvl="2"/>
            <a:r>
              <a:rPr lang="en-US" altLang="zh-CN"/>
              <a:t>psql -U fishpano fishpano_db &lt; {dumpfile}	</a:t>
            </a:r>
            <a:endParaRPr lang="en-US" altLang="zh-CN"/>
          </a:p>
          <a:p>
            <a:pPr lvl="2"/>
            <a:r>
              <a:rPr lang="en-US" altLang="zh-CN" b="1">
                <a:sym typeface="+mn-ea"/>
              </a:rPr>
              <a:t>sudo docker compose up -d db</a:t>
            </a:r>
            <a:endParaRPr lang="en-US" altLang="zh-CN" b="1">
              <a:sym typeface="+mn-ea"/>
            </a:endParaRPr>
          </a:p>
          <a:p>
            <a:pPr lvl="2"/>
            <a:r>
              <a:rPr lang="en-US" altLang="zh-CN" b="1">
                <a:sym typeface="+mn-ea"/>
              </a:rPr>
              <a:t>cat pgdump | sudo docker compose exec -T db psql -U fishpano fishpano_db</a:t>
            </a:r>
            <a:endParaRPr lang="en-US" altLang="zh-CN">
              <a:sym typeface="+mn-ea"/>
            </a:endParaRPr>
          </a:p>
          <a:p>
            <a:pPr lvl="0"/>
            <a:r>
              <a:rPr lang="en-US" altLang="zh-CN"/>
              <a:t>Create table from CSV</a:t>
            </a:r>
            <a:endParaRPr lang="en-US" altLang="zh-CN"/>
          </a:p>
          <a:p>
            <a:pPr lvl="1"/>
            <a:r>
              <a:rPr lang="en-US" altLang="zh-CN"/>
              <a:t>COPY table_name FROM 'path/to/data.csv' DELIMITER ',' CSV HEADER;</a:t>
            </a:r>
            <a:endParaRPr lang="en-US" altLang="zh-CN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903605" y="4906010"/>
          <a:ext cx="10744200" cy="1268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145"/>
                <a:gridCol w="5113655"/>
                <a:gridCol w="3581400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Purpose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Command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Note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4514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/>
                        <a:t>Remove not null for column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alter table model3d alter column time_uploaded drop not null;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4514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/>
                        <a:t>Add not null for column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alter table model3d alter column time_uploaded set not null;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Misc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Execute a sql file</a:t>
            </a:r>
            <a:endParaRPr lang="en-US" altLang="zh-CN"/>
          </a:p>
          <a:p>
            <a:pPr lvl="1"/>
            <a:r>
              <a:rPr lang="en-US" altLang="zh-CN"/>
              <a:t>psql -h hostname -d database_name -U user_name -p 5432 -a -q -f filepath</a:t>
            </a:r>
            <a:endParaRPr lang="en-US" altLang="zh-CN"/>
          </a:p>
          <a:p>
            <a:pPr lvl="0"/>
            <a:r>
              <a:rPr lang="en-US" altLang="zh-CN"/>
              <a:t>Dump a table as sql inserts</a:t>
            </a:r>
            <a:endParaRPr lang="en-US" altLang="zh-CN"/>
          </a:p>
          <a:p>
            <a:pPr lvl="1"/>
            <a:r>
              <a:rPr lang="en-US" altLang="zh-CN"/>
              <a:t>pg_dump  -h localhost -p 5432 -U user -W --table="table-name" --data-only --column-inserts database-name &gt; table.sql</a:t>
            </a:r>
            <a:endParaRPr lang="en-US" altLang="zh-CN"/>
          </a:p>
          <a:p>
            <a:pPr lvl="0"/>
            <a:r>
              <a:rPr lang="en-US" altLang="zh-CN"/>
              <a:t>See what’s going on</a:t>
            </a:r>
            <a:endParaRPr lang="en-US" altLang="zh-CN"/>
          </a:p>
          <a:p>
            <a:pPr lvl="1"/>
            <a:r>
              <a:rPr lang="en-US" altLang="zh-CN"/>
              <a:t>SELECT pid, query, state, now() - query_start AS duration FROM pg_stat_activity WHERE state &lt;&gt; 'idle' AND query NOT LIKE '%pg_stat_activity%';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Postgresql - pgAdmin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https://www.pgadmin.org/</a:t>
            </a:r>
            <a:endParaRPr lang="en-US" altLang="zh-CN"/>
          </a:p>
          <a:p>
            <a:pPr lvl="1"/>
            <a:r>
              <a:rPr lang="en-US" altLang="zh-CN"/>
              <a:t>https://www.pgadmin.org/download/</a:t>
            </a:r>
            <a:endParaRPr lang="en-US" altLang="zh-CN"/>
          </a:p>
          <a:p>
            <a:pPr lvl="0"/>
            <a:r>
              <a:rPr lang="en-US" altLang="zh-CN"/>
              <a:t>Usage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Postgresql - Internal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Basic</a:t>
            </a:r>
            <a:endParaRPr lang="en-US" altLang="zh-CN"/>
          </a:p>
          <a:p>
            <a:pPr lvl="1"/>
            <a:r>
              <a:rPr lang="en-US" altLang="zh-CN"/>
              <a:t>All data is located in base/</a:t>
            </a:r>
            <a:endParaRPr lang="en-US" altLang="zh-CN"/>
          </a:p>
          <a:p>
            <a:pPr lvl="1"/>
            <a:r>
              <a:rPr lang="en-US" altLang="zh-CN"/>
              <a:t>Every relation has a relfilenode</a:t>
            </a:r>
            <a:endParaRPr lang="en-US" altLang="zh-CN"/>
          </a:p>
          <a:p>
            <a:pPr lvl="1"/>
            <a:r>
              <a:rPr lang="en-US" altLang="zh-CN"/>
              <a:t>base/&lt;db oid&gt;/&lt;relfilenode&gt;</a:t>
            </a:r>
            <a:endParaRPr lang="en-US" altLang="zh-CN"/>
          </a:p>
          <a:p>
            <a:pPr lvl="0"/>
            <a:r>
              <a:rPr lang="en-US" altLang="zh-CN"/>
              <a:t>Commands</a:t>
            </a:r>
            <a:endParaRPr lang="en-US" altLang="zh-CN"/>
          </a:p>
          <a:p>
            <a:pPr lvl="1"/>
            <a:r>
              <a:rPr lang="en-US" altLang="zh-CN"/>
              <a:t>explain analyze select * from model3d;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Postgresql - Recover Data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172835" cy="5318760"/>
          </a:xfrm>
        </p:spPr>
        <p:txBody>
          <a:bodyPr>
            <a:normAutofit fontScale="60000"/>
          </a:bodyPr>
          <a:p>
            <a:r>
              <a:rPr lang="en-US" altLang="zh-CN"/>
              <a:t>Refer</a:t>
            </a:r>
            <a:endParaRPr lang="en-US" altLang="zh-CN"/>
          </a:p>
          <a:p>
            <a:pPr lvl="1"/>
            <a:r>
              <a:rPr lang="en-US" altLang="zh-CN"/>
              <a:t>https://www.postgresql.org/message-id/20050117195609.GA93502@winnie.fuhr.org</a:t>
            </a:r>
            <a:endParaRPr lang="en-US" altLang="zh-CN"/>
          </a:p>
          <a:p>
            <a:pPr lvl="0"/>
            <a:r>
              <a:rPr lang="en-US" altLang="zh-CN"/>
              <a:t>WAL (Write-Ahead-Logging)</a:t>
            </a:r>
            <a:endParaRPr lang="en-US" altLang="zh-CN"/>
          </a:p>
          <a:p>
            <a:pPr lvl="1"/>
            <a:r>
              <a:rPr lang="en-US" altLang="zh-CN" sz="2000"/>
              <a:t>_data/pg_wal/</a:t>
            </a:r>
            <a:endParaRPr lang="en-US" altLang="zh-CN"/>
          </a:p>
          <a:p>
            <a:pPr lvl="0"/>
            <a:r>
              <a:rPr lang="en-US" altLang="zh-CN"/>
              <a:t>PITR (Point In Time Recovery)	</a:t>
            </a:r>
            <a:endParaRPr lang="en-US" altLang="zh-CN"/>
          </a:p>
          <a:p>
            <a:pPr lvl="0"/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/>
              <a:t>Back up all the files related in db</a:t>
            </a:r>
            <a:endParaRPr lang="en-US" altLang="zh-CN"/>
          </a:p>
          <a:p>
            <a:pPr lvl="1"/>
            <a:r>
              <a:rPr lang="en-US" altLang="zh-CN"/>
              <a:t>pg_basebackup</a:t>
            </a:r>
            <a:endParaRPr lang="en-US" altLang="zh-CN"/>
          </a:p>
          <a:p>
            <a:pPr lvl="2"/>
            <a:r>
              <a:rPr lang="en-US" altLang="zh-CN"/>
              <a:t>sudo docker exec -u root -it model3d_db_1 pg_basebackup -h 127.0.0.1 -U model3d -p 5432 -Ft -Pv -Xf -z -Z5 -D ../backup/</a:t>
            </a:r>
            <a:endParaRPr lang="en-US" altLang="zh-CN"/>
          </a:p>
          <a:p>
            <a:pPr lvl="1"/>
            <a:r>
              <a:rPr lang="en-US" altLang="zh-CN"/>
              <a:t>SELECT oid FROM pg_database WHERE datname = current_database();</a:t>
            </a:r>
            <a:endParaRPr lang="en-US" altLang="zh-CN"/>
          </a:p>
          <a:p>
            <a:pPr lvl="2"/>
            <a:r>
              <a:rPr lang="en-US" altLang="zh-CN" sz="1800"/>
              <a:t>oid</a:t>
            </a:r>
            <a:endParaRPr lang="en-US" altLang="zh-CN" sz="1800"/>
          </a:p>
          <a:p>
            <a:pPr lvl="1"/>
            <a:r>
              <a:rPr lang="en-US" altLang="zh-CN"/>
              <a:t>SELECT relfilenode, reltoastrelid FROM pg_class WHERE relname = 'table_name';</a:t>
            </a:r>
            <a:endParaRPr lang="en-US" altLang="zh-CN"/>
          </a:p>
          <a:p>
            <a:pPr lvl="2"/>
            <a:r>
              <a:rPr lang="en-US" altLang="zh-CN" sz="1800"/>
              <a:t>relfilenode | reltoastrelid</a:t>
            </a:r>
            <a:endParaRPr lang="en-US" altLang="zh-CN" sz="1800"/>
          </a:p>
          <a:p>
            <a:pPr lvl="2"/>
            <a:r>
              <a:rPr lang="en-US" altLang="zh-CN"/>
              <a:t>The table's main file is $PGDATA/base/26492/36008 (also 36008.1, 36008.2, etc. if they exist).</a:t>
            </a:r>
            <a:endParaRPr lang="en-US" altLang="zh-CN"/>
          </a:p>
          <a:p>
            <a:pPr lvl="1"/>
            <a:r>
              <a:rPr lang="en-US" altLang="zh-CN"/>
              <a:t>SELECT relname, relfilenode FROM pg_class WHERE oid = {reltoastrelid};</a:t>
            </a:r>
            <a:endParaRPr lang="en-US" altLang="zh-CN"/>
          </a:p>
          <a:p>
            <a:pPr lvl="2"/>
            <a:r>
              <a:rPr lang="en-US" altLang="zh-CN"/>
              <a:t> relname     | relfilenode</a:t>
            </a:r>
            <a:endParaRPr lang="en-US" altLang="zh-CN"/>
          </a:p>
          <a:p>
            <a:pPr lvl="2"/>
            <a:r>
              <a:rPr lang="en-US" altLang="zh-CN"/>
              <a:t>The table's TOAST data is in $PGDATA/base/26492/36011*.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675" y="1271905"/>
            <a:ext cx="4722495" cy="23806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Sqlite-&gt;Postgresql - Sequel Gem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Install</a:t>
            </a:r>
            <a:endParaRPr lang="en-US" altLang="zh-CN"/>
          </a:p>
          <a:p>
            <a:pPr lvl="1"/>
            <a:r>
              <a:rPr lang="en-US" altLang="zh-CN"/>
              <a:t>apt install ruby ruby2.5-dev libsqlite3-dev </a:t>
            </a:r>
            <a:endParaRPr lang="en-US" altLang="zh-CN"/>
          </a:p>
          <a:p>
            <a:pPr lvl="1"/>
            <a:r>
              <a:rPr lang="en-US" altLang="zh-CN"/>
              <a:t>gem install sequel sqlite3 pg</a:t>
            </a:r>
            <a:endParaRPr lang="en-US" altLang="zh-CN"/>
          </a:p>
          <a:p>
            <a:pPr lvl="0"/>
            <a:r>
              <a:rPr lang="en-US" altLang="zh-CN"/>
              <a:t>Use</a:t>
            </a:r>
            <a:endParaRPr lang="en-US" altLang="zh-CN"/>
          </a:p>
          <a:p>
            <a:pPr lvl="1"/>
            <a:r>
              <a:rPr lang="en-US" altLang="zh-CN"/>
              <a:t>sequel -C sqlite:/www/input.sqlite3 postgres://user@localhost/db</a:t>
            </a:r>
            <a:endParaRPr lang="en-US" altLang="zh-CN"/>
          </a:p>
          <a:p>
            <a:pPr lvl="2"/>
            <a:r>
              <a:rPr lang="en-US" altLang="zh-CN"/>
              <a:t># /www/input.sqlite3 is full path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Sqlite-&gt;Postgresql - Dump/Load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10514965" cy="5316220"/>
          </a:xfrm>
        </p:spPr>
        <p:txBody>
          <a:bodyPr>
            <a:normAutofit/>
          </a:bodyPr>
          <a:p>
            <a:pPr lvl="0"/>
            <a:r>
              <a:rPr lang="en-US" altLang="zh-CN" sz="2000">
                <a:sym typeface="+mn-ea"/>
              </a:rPr>
              <a:t>references</a:t>
            </a:r>
            <a:endParaRPr lang="en-US" altLang="zh-CN" sz="2000">
              <a:sym typeface="+mn-ea"/>
            </a:endParaRPr>
          </a:p>
          <a:p>
            <a:pPr lvl="1"/>
            <a:r>
              <a:rPr lang="en-US" altLang="zh-CN" sz="1800">
                <a:sym typeface="+mn-ea"/>
              </a:rPr>
              <a:t>https://stackoverflow.com/questions/4581727/convert-sqlite-sql-dump-file-to-postgresql</a:t>
            </a:r>
            <a:endParaRPr lang="en-US" altLang="zh-CN" sz="1800">
              <a:sym typeface="+mn-ea"/>
            </a:endParaRPr>
          </a:p>
          <a:p>
            <a:pPr lvl="0"/>
            <a:r>
              <a:rPr lang="en-US" altLang="zh-CN" sz="2000">
                <a:sym typeface="+mn-ea"/>
              </a:rPr>
              <a:t>Steps</a:t>
            </a:r>
            <a:endParaRPr lang="en-US" altLang="zh-CN" sz="2000">
              <a:sym typeface="+mn-ea"/>
            </a:endParaRPr>
          </a:p>
          <a:p>
            <a:pPr lvl="1"/>
            <a:r>
              <a:rPr lang="en-US" altLang="zh-CN" sz="1800">
                <a:sym typeface="+mn-ea"/>
              </a:rPr>
              <a:t>dump</a:t>
            </a:r>
            <a:endParaRPr lang="en-US" altLang="zh-CN" sz="1800">
              <a:sym typeface="+mn-ea"/>
            </a:endParaRPr>
          </a:p>
          <a:p>
            <a:pPr lvl="2"/>
            <a:r>
              <a:rPr lang="en-US" altLang="zh-CN" sz="1600">
                <a:sym typeface="+mn-ea"/>
              </a:rPr>
              <a:t>.dump &gt; ./sqlite-dumpfile.sql</a:t>
            </a:r>
            <a:endParaRPr lang="en-US" altLang="zh-CN" sz="1600">
              <a:sym typeface="+mn-ea"/>
            </a:endParaRPr>
          </a:p>
          <a:p>
            <a:pPr lvl="1"/>
            <a:r>
              <a:rPr lang="en-US" altLang="zh-CN" sz="1800">
                <a:sym typeface="+mn-ea"/>
              </a:rPr>
              <a:t>Modify</a:t>
            </a:r>
            <a:endParaRPr lang="en-US" altLang="zh-CN" sz="1800">
              <a:sym typeface="+mn-ea"/>
            </a:endParaRPr>
          </a:p>
          <a:p>
            <a:pPr lvl="2"/>
            <a:r>
              <a:rPr lang="en-US" altLang="zh-CN" sz="1600">
                <a:sym typeface="+mn-ea"/>
              </a:rPr>
              <a:t>id: change type from “int” to “serial”, remove “autoincrement”</a:t>
            </a:r>
            <a:endParaRPr lang="en-US" altLang="zh-CN" sz="1600">
              <a:sym typeface="+mn-ea"/>
            </a:endParaRPr>
          </a:p>
          <a:p>
            <a:pPr lvl="2"/>
            <a:r>
              <a:rPr lang="en-US" altLang="zh-CN" sz="1600">
                <a:sym typeface="+mn-ea"/>
              </a:rPr>
              <a:t>change “datetime” column to “timestamp”</a:t>
            </a:r>
            <a:endParaRPr lang="en-US" altLang="zh-CN" sz="1600">
              <a:sym typeface="+mn-ea"/>
            </a:endParaRPr>
          </a:p>
          <a:p>
            <a:pPr lvl="2"/>
            <a:r>
              <a:rPr lang="en-US" altLang="zh-CN" sz="1600">
                <a:sym typeface="+mn-ea"/>
              </a:rPr>
              <a:t>boolean “1”-&gt;”1::boolean”, “0”-&gt;”0::boolean”</a:t>
            </a:r>
            <a:endParaRPr lang="en-US" altLang="zh-CN" sz="1600">
              <a:sym typeface="+mn-ea"/>
            </a:endParaRPr>
          </a:p>
          <a:p>
            <a:pPr lvl="2"/>
            <a:r>
              <a:rPr lang="en-US" altLang="zh-CN" sz="1600">
                <a:sym typeface="+mn-ea"/>
              </a:rPr>
              <a:t>“blob” type -&gt; “bytea”</a:t>
            </a:r>
            <a:endParaRPr lang="en-US" altLang="zh-CN" sz="1600">
              <a:sym typeface="+mn-ea"/>
            </a:endParaRPr>
          </a:p>
          <a:p>
            <a:pPr lvl="2"/>
            <a:r>
              <a:rPr lang="en-US" altLang="zh-CN" sz="1600">
                <a:sym typeface="+mn-ea"/>
              </a:rPr>
              <a:t>foreign key: “set constraints all deferred” in begin/commit pair</a:t>
            </a:r>
            <a:endParaRPr lang="en-US" altLang="zh-CN" sz="1600">
              <a:sym typeface="+mn-ea"/>
            </a:endParaRPr>
          </a:p>
          <a:p>
            <a:pPr lvl="1"/>
            <a:r>
              <a:rPr lang="en-US" altLang="zh-CN" sz="1800">
                <a:sym typeface="+mn-ea"/>
              </a:rPr>
              <a:t>Load</a:t>
            </a:r>
            <a:endParaRPr lang="en-US" altLang="zh-CN" sz="1800">
              <a:sym typeface="+mn-ea"/>
            </a:endParaRPr>
          </a:p>
          <a:p>
            <a:pPr lvl="2"/>
            <a:r>
              <a:rPr lang="en-US" altLang="zh-CN" sz="1600">
                <a:sym typeface="+mn-ea"/>
              </a:rPr>
              <a:t>psql -d dbname -U username -W &lt; ./sqlite-dumpfile.sql</a:t>
            </a:r>
            <a:endParaRPr lang="en-US" altLang="zh-CN" sz="1600">
              <a:sym typeface="+mn-ea"/>
            </a:endParaRPr>
          </a:p>
          <a:p>
            <a:pPr lvl="0"/>
            <a:r>
              <a:rPr lang="en-US" altLang="zh-CN" sz="2000">
                <a:sym typeface="+mn-ea"/>
              </a:rPr>
              <a:t>Issues</a:t>
            </a:r>
            <a:endParaRPr lang="en-US" altLang="zh-CN" sz="2000">
              <a:sym typeface="+mn-ea"/>
            </a:endParaRPr>
          </a:p>
          <a:p>
            <a:pPr lvl="1"/>
            <a:r>
              <a:rPr lang="en-US" altLang="zh-CN" sz="1800">
                <a:sym typeface="+mn-ea"/>
              </a:rPr>
              <a:t>Too many manual steps</a:t>
            </a:r>
            <a:endParaRPr lang="en-US" altLang="zh-CN" sz="1800">
              <a:sym typeface="+mn-ea"/>
            </a:endParaRPr>
          </a:p>
          <a:p>
            <a:pPr lvl="0"/>
            <a:endParaRPr lang="en-US" altLang="zh-CN" sz="18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Sqlite-&gt;Postgresql - PGLoader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7832725" cy="4549140"/>
          </a:xfrm>
        </p:spPr>
        <p:txBody>
          <a:bodyPr/>
          <a:p>
            <a:pPr lvl="0"/>
            <a:r>
              <a:rPr lang="en-US" altLang="zh-CN" sz="2400">
                <a:sym typeface="+mn-ea"/>
              </a:rPr>
              <a:t>pgloader</a:t>
            </a:r>
            <a:endParaRPr lang="en-US" altLang="zh-CN" sz="2400">
              <a:sym typeface="+mn-ea"/>
            </a:endParaRPr>
          </a:p>
          <a:p>
            <a:pPr lvl="1"/>
            <a:r>
              <a:rPr lang="en-US" altLang="zh-CN" sz="2400">
                <a:sym typeface="+mn-ea"/>
              </a:rPr>
              <a:t>reference: https://pgloader.readthedocs.io/en/latest/ref/sqlite.html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sudo apt install pgloader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create a file migrate.pgloader</a:t>
            </a:r>
            <a:endParaRPr lang="en-US" altLang="zh-CN" sz="2400">
              <a:sym typeface="+mn-ea"/>
            </a:endParaRPr>
          </a:p>
          <a:p>
            <a:pPr lvl="1"/>
            <a:r>
              <a:rPr lang="en-US" altLang="zh-CN" sz="2400">
                <a:sym typeface="+mn-ea"/>
              </a:rPr>
              <a:t>pgloader --debug migrate.pgloader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Issues:</a:t>
            </a:r>
            <a:endParaRPr lang="en-US" altLang="zh-CN" sz="2400"/>
          </a:p>
          <a:p>
            <a:pPr lvl="2"/>
            <a:r>
              <a:rPr lang="en-US" altLang="zh-CN" sz="2400">
                <a:sym typeface="+mn-ea"/>
              </a:rPr>
              <a:t>id cannot be created automatically</a:t>
            </a:r>
            <a:endParaRPr lang="en-US" altLang="zh-CN" sz="2400"/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796020" y="1474470"/>
            <a:ext cx="3054985" cy="289179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zh-CN" sz="1400"/>
              <a:t>migrate.pgloader</a:t>
            </a:r>
            <a:endParaRPr lang="en-US" altLang="zh-CN" sz="1400"/>
          </a:p>
          <a:p>
            <a:pPr algn="ctr"/>
            <a:endParaRPr lang="zh-CN" altLang="en-US" sz="1400"/>
          </a:p>
          <a:p>
            <a:r>
              <a:rPr lang="zh-CN" altLang="en-US" sz="1400"/>
              <a:t>load database</a:t>
            </a:r>
            <a:endParaRPr lang="zh-CN" altLang="en-US" sz="1400"/>
          </a:p>
          <a:p>
            <a:r>
              <a:rPr lang="zh-CN" altLang="en-US" sz="1400"/>
              <a:t>    from 'latest-sqlite-file.db'</a:t>
            </a:r>
            <a:endParaRPr lang="zh-CN" altLang="en-US" sz="1400"/>
          </a:p>
          <a:p>
            <a:r>
              <a:rPr lang="zh-CN" altLang="en-US" sz="1400"/>
              <a:t>    into postgresql:///new_db_name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with include drop, quote identifiers, create tables, create indexes, reset sequences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set work_mem to '16MB', maintenance_work_mem to '512 MB';</a:t>
            </a:r>
            <a:endParaRPr lang="zh-CN" altLang="en-US" sz="1400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SQLite -&gt; Postgresql - Issues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altLang="zh-CN" sz="2400">
                <a:sym typeface="+mn-ea"/>
              </a:rPr>
              <a:t>Issues</a:t>
            </a:r>
            <a:endParaRPr lang="en-US" altLang="zh-CN" sz="2400"/>
          </a:p>
          <a:p>
            <a:pPr lvl="1"/>
            <a:r>
              <a:rPr lang="en-US" altLang="zh-CN">
                <a:sym typeface="+mn-ea"/>
              </a:rPr>
              <a:t>table name (“user”, “order”, ...) is reserved keyword</a:t>
            </a:r>
            <a:endParaRPr lang="en-US" altLang="zh-CN"/>
          </a:p>
          <a:p>
            <a:pPr lvl="2"/>
            <a:r>
              <a:rPr lang="en-US" altLang="zh-CN">
                <a:sym typeface="+mn-ea"/>
              </a:rPr>
              <a:t>rename table first before migration (change in DBeaver because of foreign key handling)</a:t>
            </a:r>
            <a:endParaRPr lang="en-US" altLang="zh-CN">
              <a:sym typeface="+mn-ea"/>
            </a:endParaRPr>
          </a:p>
          <a:p>
            <a:pPr lvl="3"/>
            <a:r>
              <a:rPr lang="en-US" altLang="zh-CN" strike="sngStrike">
                <a:solidFill>
                  <a:schemeClr val="tx1"/>
                </a:solidFill>
                <a:uFillTx/>
                <a:sym typeface="+mn-ea"/>
              </a:rPr>
              <a:t>alter table “user” rename to “registered_user”</a:t>
            </a:r>
            <a:endParaRPr lang="en-US" altLang="zh-CN" strike="sngStrike">
              <a:solidFill>
                <a:schemeClr val="tx1"/>
              </a:solidFill>
              <a:uFillTx/>
              <a:sym typeface="+mn-ea"/>
            </a:endParaRPr>
          </a:p>
          <a:p>
            <a:pPr lvl="3"/>
            <a:r>
              <a:rPr lang="en-US" altLang="zh-CN" strike="sngStrike">
                <a:solidFill>
                  <a:schemeClr val="tx1"/>
                </a:solidFill>
                <a:uFillTx/>
                <a:sym typeface="+mn-ea"/>
              </a:rPr>
              <a:t>alter table “order” rename to “customer_order”</a:t>
            </a:r>
            <a:endParaRPr lang="en-US" altLang="zh-CN" strike="sngStrike">
              <a:solidFill>
                <a:schemeClr val="tx1"/>
              </a:solidFill>
              <a:uFillTx/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user_id=-1</a:t>
            </a:r>
            <a:endParaRPr lang="en-US" altLang="zh-CN"/>
          </a:p>
          <a:p>
            <a:pPr lvl="2"/>
            <a:r>
              <a:rPr lang="en-US" altLang="zh-CN">
                <a:sym typeface="+mn-ea"/>
              </a:rPr>
              <a:t>It’s not allowed as it’s used as foreign key</a:t>
            </a:r>
            <a:endParaRPr lang="en-US" altLang="zh-CN">
              <a:sym typeface="+mn-ea"/>
            </a:endParaRPr>
          </a:p>
          <a:p>
            <a:pPr lvl="2"/>
            <a:r>
              <a:rPr lang="en-US" altLang="zh-CN">
                <a:sym typeface="+mn-ea"/>
              </a:rPr>
              <a:t>Update sqlite db first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(psycopg2.OperationalError) lost synchronization with server: got message type "</a:t>
            </a:r>
            <a:endParaRPr lang="en-US" altLang="zh-CN">
              <a:sym typeface="+mn-ea"/>
            </a:endParaRPr>
          </a:p>
          <a:p>
            <a:pPr lvl="2"/>
            <a:r>
              <a:rPr lang="en-US" altLang="zh-CN" sz="1800">
                <a:sym typeface="+mn-ea"/>
              </a:rPr>
              <a:t>caused by “gunicorn --preload”</a:t>
            </a:r>
            <a:endParaRPr lang="en-US" altLang="zh-CN" sz="1800">
              <a:sym typeface="+mn-ea"/>
            </a:endParaRPr>
          </a:p>
          <a:p>
            <a:pPr lvl="2"/>
            <a:r>
              <a:rPr lang="en-US" altLang="zh-CN" sz="1800">
                <a:sym typeface="+mn-ea"/>
              </a:rPr>
              <a:t>solution: remove “--preload”</a:t>
            </a:r>
            <a:endParaRPr lang="en-US" altLang="zh-CN">
              <a:sym typeface="+mn-ea"/>
            </a:endParaRPr>
          </a:p>
          <a:p>
            <a:pPr lvl="1"/>
            <a:endParaRPr lang="en-US" altLang="zh-CN" sz="2665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SQL Server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Versions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1790" y="1268095"/>
            <a:ext cx="8526780" cy="4953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SQL Server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163820" cy="454914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http://statmap.co.uk/?page_id=9207</a:t>
            </a:r>
            <a:endParaRPr lang="en-US" altLang="zh-CN"/>
          </a:p>
          <a:p>
            <a:pPr lvl="0"/>
            <a:r>
              <a:rPr lang="en-US" altLang="zh-CN" sz="2400"/>
              <a:t>Export</a:t>
            </a:r>
            <a:endParaRPr lang="en-US" altLang="zh-CN" sz="2400"/>
          </a:p>
          <a:p>
            <a:pPr lvl="1"/>
            <a:endParaRPr lang="en-US" altLang="zh-CN"/>
          </a:p>
          <a:p>
            <a:pPr lvl="0"/>
            <a:endParaRPr lang="en-US" altLang="zh-CN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2537460" y="2960370"/>
            <a:ext cx="3464560" cy="33883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6691630" y="2960370"/>
            <a:ext cx="3660775" cy="338836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SSMS (SQL Server Management Studio)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https://learn.microsoft.com/zh-cn/sql/ssms/download-sql-server-management-studio-ssms?view=sql-server-ver16&amp;redirectedfrom=MSDN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Connect from Ubuntu 20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https://learn.microsoft.com/en-us/sql/linux/sql-server-linux-setup-tools?tabs=ubuntu-install&amp;view=sql-server-ver16#ubuntu</a:t>
            </a:r>
            <a:endParaRPr lang="en-US" altLang="zh-CN"/>
          </a:p>
          <a:p>
            <a:r>
              <a:rPr lang="en-US" altLang="zh-CN"/>
              <a:t>Commands</a:t>
            </a:r>
            <a:endParaRPr lang="en-US" altLang="zh-CN"/>
          </a:p>
          <a:p>
            <a:pPr lvl="1"/>
            <a:r>
              <a:rPr lang="en-US" altLang="zh-CN"/>
              <a:t>curl https://packages.microsoft.com/keys/microsoft.asc | sudo tee /etc/apt/trusted.gpg.d/microsoft.asc	// Import the public repository GPG keys</a:t>
            </a:r>
            <a:endParaRPr lang="en-US" altLang="zh-CN"/>
          </a:p>
          <a:p>
            <a:pPr lvl="1"/>
            <a:r>
              <a:rPr lang="en-US" altLang="zh-CN"/>
              <a:t>curl https://packages.microsoft.com/config/ubuntu/20.04/prod.list | sudo tee /etc/apt/sources.list.d/mssql-release.list	// Register repository</a:t>
            </a:r>
            <a:endParaRPr lang="en-US" altLang="zh-CN"/>
          </a:p>
          <a:p>
            <a:pPr lvl="1"/>
            <a:r>
              <a:rPr lang="en-US" altLang="zh-CN"/>
              <a:t>sudo apt-get update</a:t>
            </a:r>
            <a:endParaRPr lang="en-US" altLang="zh-CN"/>
          </a:p>
          <a:p>
            <a:pPr lvl="1"/>
            <a:r>
              <a:rPr lang="en-US" altLang="zh-CN"/>
              <a:t>sudo apt-get install mssql-tools18 unixodbc-dev</a:t>
            </a:r>
            <a:endParaRPr lang="en-US" altLang="zh-CN"/>
          </a:p>
          <a:p>
            <a:pPr lvl="1"/>
            <a:r>
              <a:rPr lang="en-US" altLang="zh-CN"/>
              <a:t>echo 'export PATH="$PATH:/opt/mssql-tools18/bin"' &gt;&gt; ~/.bashrc</a:t>
            </a:r>
            <a:endParaRPr lang="en-US" altLang="zh-CN"/>
          </a:p>
          <a:p>
            <a:pPr lvl="1"/>
            <a:r>
              <a:rPr lang="en-US" altLang="zh-CN"/>
              <a:t>source ~/.bashrc</a:t>
            </a:r>
            <a:endParaRPr lang="en-US" altLang="zh-CN"/>
          </a:p>
          <a:p>
            <a:pPr lvl="1"/>
            <a:r>
              <a:rPr lang="en-US" altLang="zh-CN"/>
              <a:t>sqlcmd -?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sqlcmd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Commands</a:t>
            </a:r>
            <a:endParaRPr lang="en-US" altLang="zh-CN"/>
          </a:p>
          <a:p>
            <a:pPr lvl="1"/>
            <a:r>
              <a:rPr lang="en-US" altLang="zh-CN"/>
              <a:t>sqlcmd -S tcp:&lt;computer name&gt;,&lt;port number&gt;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MySQL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Client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zh-CN"/>
              <a:t>mycli</a:t>
            </a:r>
            <a:endParaRPr lang="en-US" altLang="zh-CN"/>
          </a:p>
          <a:p>
            <a:pPr lvl="1"/>
            <a:r>
              <a:rPr lang="en-US" altLang="zh-CN"/>
              <a:t>https://thevaluable.dev/mysql-command-line-tool-mycli/</a:t>
            </a:r>
            <a:endParaRPr lang="en-US" altLang="zh-CN"/>
          </a:p>
          <a:p>
            <a:pPr lvl="1"/>
            <a:r>
              <a:rPr lang="en-US" altLang="zh-CN"/>
              <a:t>pip install mycli</a:t>
            </a:r>
            <a:endParaRPr lang="en-US" altLang="zh-CN"/>
          </a:p>
          <a:p>
            <a:pPr lvl="1"/>
            <a:r>
              <a:rPr lang="en-US" altLang="zh-CN"/>
              <a:t>mycli -h localhost -u root -P 3306</a:t>
            </a:r>
            <a:endParaRPr lang="en-US" altLang="zh-CN"/>
          </a:p>
          <a:p>
            <a:pPr lvl="1"/>
            <a:r>
              <a:rPr lang="en-US" altLang="zh-CN"/>
              <a:t>Commands</a:t>
            </a:r>
            <a:endParaRPr lang="en-US" altLang="zh-CN"/>
          </a:p>
          <a:p>
            <a:pPr lvl="2"/>
            <a:r>
              <a:rPr lang="en-US" altLang="zh-CN"/>
              <a:t>show databases</a:t>
            </a:r>
            <a:endParaRPr lang="en-US" altLang="zh-CN"/>
          </a:p>
          <a:p>
            <a:pPr lvl="2"/>
            <a:r>
              <a:rPr lang="en-US" altLang="zh-CN"/>
              <a:t>\l	# list databases</a:t>
            </a:r>
            <a:endParaRPr lang="en-US" altLang="zh-CN"/>
          </a:p>
          <a:p>
            <a:pPr lvl="2"/>
            <a:r>
              <a:rPr lang="en-US" altLang="zh-CN"/>
              <a:t>\dt	# dump tables</a:t>
            </a:r>
            <a:endParaRPr lang="en-US" altLang="zh-CN"/>
          </a:p>
          <a:p>
            <a:pPr lvl="0"/>
            <a:r>
              <a:rPr lang="en-US" altLang="zh-CN"/>
              <a:t>Usage</a:t>
            </a:r>
            <a:endParaRPr lang="en-US" altLang="zh-CN"/>
          </a:p>
          <a:p>
            <a:pPr lvl="1"/>
            <a:r>
              <a:rPr lang="en-US" altLang="zh-CN"/>
              <a:t>change password</a:t>
            </a:r>
            <a:endParaRPr lang="en-US" altLang="zh-CN"/>
          </a:p>
          <a:p>
            <a:pPr lvl="2"/>
            <a:r>
              <a:rPr lang="en-US" altLang="zh-CN"/>
              <a:t>mysql -u root -p</a:t>
            </a:r>
            <a:endParaRPr lang="en-US" altLang="zh-CN"/>
          </a:p>
          <a:p>
            <a:pPr lvl="2"/>
            <a:r>
              <a:rPr lang="en-US" altLang="zh-CN"/>
              <a:t>use mysql</a:t>
            </a:r>
            <a:endParaRPr lang="en-US" altLang="zh-CN"/>
          </a:p>
          <a:p>
            <a:pPr lvl="2"/>
            <a:r>
              <a:rPr lang="en-US" altLang="zh-CN"/>
              <a:t>update user set password=password("新密码") where user="root";</a:t>
            </a:r>
            <a:endParaRPr lang="en-US" altLang="zh-CN"/>
          </a:p>
          <a:p>
            <a:pPr lvl="2"/>
            <a:r>
              <a:rPr lang="en-US" altLang="zh-CN"/>
              <a:t>restart mysql service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Misc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Visualization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Grafana</a:t>
            </a:r>
            <a:endParaRPr lang="en-US" altLang="zh-CN"/>
          </a:p>
          <a:p>
            <a:pPr lvl="1"/>
            <a:r>
              <a:rPr lang="en-US" altLang="zh-CN"/>
              <a:t>https://medium.com/analytics-vidhya/grafana-with-postgresql-data-visualization-with-open-source-tool-36f5150fa290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DBeaver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411470" cy="4549140"/>
          </a:xfrm>
        </p:spPr>
        <p:txBody>
          <a:bodyPr/>
          <a:p>
            <a:r>
              <a:rPr lang="en-US" altLang="zh-CN"/>
              <a:t>Export table structures</a:t>
            </a:r>
            <a:endParaRPr lang="en-US" altLang="zh-CN"/>
          </a:p>
          <a:p>
            <a:pPr lvl="1"/>
            <a:r>
              <a:rPr lang="en-US" altLang="zh-CN"/>
              <a:t>select tables</a:t>
            </a:r>
            <a:endParaRPr lang="en-US" altLang="zh-CN"/>
          </a:p>
          <a:p>
            <a:pPr lvl="1"/>
            <a:r>
              <a:rPr lang="en-US" altLang="zh-CN"/>
              <a:t>right click, “Generate SQL” -&gt;”DDL”</a:t>
            </a:r>
            <a:endParaRPr lang="en-US" altLang="zh-CN"/>
          </a:p>
          <a:p>
            <a:pPr lvl="1"/>
            <a:r>
              <a:rPr lang="en-US" altLang="zh-CN"/>
              <a:t>copy in the popup</a:t>
            </a:r>
            <a:endParaRPr lang="en-US" altLang="zh-CN"/>
          </a:p>
          <a:p>
            <a:pPr lvl="1"/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378575" y="616585"/>
            <a:ext cx="2850515" cy="33235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8795" y="616585"/>
            <a:ext cx="2605405" cy="26701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3.xml><?xml version="1.0" encoding="utf-8"?>
<p:tagLst xmlns:p="http://schemas.openxmlformats.org/presentationml/2006/main">
  <p:tag name="KSO_WM_TEMPLATE_THUMBS_INDEX" val="1、9、12、16、19、20、24、27、28"/>
  <p:tag name="KSO_WM_TEMPLATE_CATEGORY" val="custom"/>
  <p:tag name="KSO_WM_TEMPLATE_INDEX" val="160402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160402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.xml><?xml version="1.0" encoding="utf-8"?>
<p:tagLst xmlns:p="http://schemas.openxmlformats.org/presentationml/2006/main">
  <p:tag name="KSO_WM_UNIT_TABLE_BEAUTIFY" val="smartTable{db681699-ff8a-4d65-bfe7-384b546ac036}"/>
  <p:tag name="TABLE_ENDDRAG_ORIGIN_RECT" val="846*330"/>
  <p:tag name="TABLE_ENDDRAG_RECT" val="55*79*846*330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2.xml><?xml version="1.0" encoding="utf-8"?>
<p:tagLst xmlns:p="http://schemas.openxmlformats.org/presentationml/2006/main">
  <p:tag name="KSO_WM_UNIT_TABLE_BEAUTIFY" val="smartTable{66b7b698-fbae-41fb-bc40-e680ffeaffa4}"/>
  <p:tag name="TABLE_ENDDRAG_ORIGIN_RECT" val="846*88"/>
  <p:tag name="TABLE_ENDDRAG_RECT" val="78*402*846*88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2.xml><?xml version="1.0" encoding="utf-8"?>
<p:tagLst xmlns:p="http://schemas.openxmlformats.org/presentationml/2006/main">
  <p:tag name="KSO_WM_UNIT_PLACING_PICTURE_USER_VIEWPORT" val="{&quot;height&quot;:10632,&quot;width&quot;:9120}"/>
</p:tagLst>
</file>

<file path=ppt/tags/tag3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4.xml><?xml version="1.0" encoding="utf-8"?>
<p:tagLst xmlns:p="http://schemas.openxmlformats.org/presentationml/2006/main">
  <p:tag name="COMMONDATA" val="eyJoZGlkIjoiYjRhZjQ5NWVmZmQxNmM3NmNkNDYxNWRmNzNmMjA1ZDAifQ=="/>
  <p:tag name="KSO_WPP_MARK_KEY" val="e2f632b4-0a6a-40c4-bafa-21f0d0b1ac36"/>
</p:tagLst>
</file>

<file path=ppt/theme/theme1.xml><?xml version="1.0" encoding="utf-8"?>
<a:theme xmlns:a="http://schemas.openxmlformats.org/drawingml/2006/main" name="A000120140530A02PPBG">
  <a:themeElements>
    <a:clrScheme name="160114.114">
      <a:dk1>
        <a:srgbClr val="47494B"/>
      </a:dk1>
      <a:lt1>
        <a:srgbClr val="FFFFFF"/>
      </a:lt1>
      <a:dk2>
        <a:srgbClr val="454749"/>
      </a:dk2>
      <a:lt2>
        <a:srgbClr val="FFFFFF"/>
      </a:lt2>
      <a:accent1>
        <a:srgbClr val="358CC1"/>
      </a:accent1>
      <a:accent2>
        <a:srgbClr val="2D9C9F"/>
      </a:accent2>
      <a:accent3>
        <a:srgbClr val="A4C37B"/>
      </a:accent3>
      <a:accent4>
        <a:srgbClr val="9D9394"/>
      </a:accent4>
      <a:accent5>
        <a:srgbClr val="84ADE4"/>
      </a:accent5>
      <a:accent6>
        <a:srgbClr val="FFC00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8181</Words>
  <Application>WPS 演示</Application>
  <PresentationFormat>宽屏</PresentationFormat>
  <Paragraphs>370</Paragraphs>
  <Slides>25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Arial</vt:lpstr>
      <vt:lpstr>宋体</vt:lpstr>
      <vt:lpstr>Wingdings</vt:lpstr>
      <vt:lpstr>黑体</vt:lpstr>
      <vt:lpstr>微软雅黑</vt:lpstr>
      <vt:lpstr>Arial Unicode MS</vt:lpstr>
      <vt:lpstr>A000120140530A02PPBG</vt:lpstr>
      <vt:lpstr>DB Notes</vt:lpstr>
      <vt:lpstr>SQL</vt:lpstr>
      <vt:lpstr>SQLite</vt:lpstr>
      <vt:lpstr>PostgreSql</vt:lpstr>
      <vt:lpstr>Intro</vt:lpstr>
      <vt:lpstr>Back up and Recover</vt:lpstr>
      <vt:lpstr>Misc</vt:lpstr>
      <vt:lpstr>Postgresql - pgAdmin</vt:lpstr>
      <vt:lpstr>Postgresql - Internal</vt:lpstr>
      <vt:lpstr>Postgresql - Recover Data</vt:lpstr>
      <vt:lpstr>Sqlite-&gt;Postgresql - Sequel Gem</vt:lpstr>
      <vt:lpstr>Sqlite-&gt;Postgresql - Dump/Load</vt:lpstr>
      <vt:lpstr>Sqlite-&gt;Postgresql - PGLoader</vt:lpstr>
      <vt:lpstr>SQLite -&gt; Postgresql - Issues</vt:lpstr>
      <vt:lpstr>SQL Server</vt:lpstr>
      <vt:lpstr>Versions</vt:lpstr>
      <vt:lpstr>SQL Server</vt:lpstr>
      <vt:lpstr>SSMS (SQL Server Management Studio)</vt:lpstr>
      <vt:lpstr>Connect from Ubuntu 20</vt:lpstr>
      <vt:lpstr>sqlcmd</vt:lpstr>
      <vt:lpstr>MySQL</vt:lpstr>
      <vt:lpstr>Client</vt:lpstr>
      <vt:lpstr>Misc</vt:lpstr>
      <vt:lpstr>Visualization</vt:lpstr>
      <vt:lpstr>DBeaver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VhuanTech</cp:lastModifiedBy>
  <cp:revision>387</cp:revision>
  <dcterms:created xsi:type="dcterms:W3CDTF">2019-06-19T02:08:00Z</dcterms:created>
  <dcterms:modified xsi:type="dcterms:W3CDTF">2026-03-23T02:42:54Z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2CB7174FB10244C9BEFA839C15503D33</vt:lpwstr>
  </property>
</Properties>
</file>