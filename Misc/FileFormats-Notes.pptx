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66" r:id="rId4"/>
    <p:sldId id="263" r:id="rId5"/>
    <p:sldId id="264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2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smtClean="0"/>
              <a:t>File Format Notes</a:t>
            </a:r>
            <a:endParaRPr lang="en-US" altLang="zh-CN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857885"/>
          </a:xfrm>
        </p:spPr>
        <p:txBody>
          <a:bodyPr>
            <a:normAutofit fontScale="85000"/>
          </a:bodyPr>
          <a:p>
            <a:pPr algn="ctr"/>
            <a:r>
              <a:rPr lang="en-US" altLang="zh-CN" smtClean="0"/>
              <a:t>Sparks Lu</a:t>
            </a:r>
            <a:endParaRPr lang="en-US" altLang="zh-CN" smtClean="0"/>
          </a:p>
          <a:p>
            <a:pPr algn="ctr"/>
            <a:r>
              <a:rPr lang="en-US" altLang="zh-CN" smtClean="0"/>
              <a:t>Last Updated: 10/8/2018</a:t>
            </a:r>
            <a:endParaRPr lang="en-US" altLang="zh-CN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JSON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Concept</a:t>
            </a:r>
            <a:endParaRPr lang="en-US" altLang="zh-CN"/>
          </a:p>
        </p:txBody>
      </p:sp>
      <p:pic>
        <p:nvPicPr>
          <p:cNvPr id="4" name="图片 3" descr="obje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1536065"/>
            <a:ext cx="5695950" cy="1076325"/>
          </a:xfrm>
          <a:prstGeom prst="rect">
            <a:avLst/>
          </a:prstGeom>
        </p:spPr>
      </p:pic>
      <p:pic>
        <p:nvPicPr>
          <p:cNvPr id="5" name="图片 4" descr="ar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2971165"/>
            <a:ext cx="5695950" cy="1076325"/>
          </a:xfrm>
          <a:prstGeom prst="rect">
            <a:avLst/>
          </a:prstGeom>
        </p:spPr>
      </p:pic>
      <p:pic>
        <p:nvPicPr>
          <p:cNvPr id="6" name="图片 5" descr="va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" y="4047490"/>
            <a:ext cx="5695950" cy="26479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34275" y="1156335"/>
            <a:ext cx="3631565" cy="3969385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"pi": 3.141,</a:t>
            </a:r>
            <a:endParaRPr lang="zh-CN" altLang="en-US"/>
          </a:p>
          <a:p>
            <a:r>
              <a:rPr lang="zh-CN" altLang="en-US"/>
              <a:t>  "happy": </a:t>
            </a:r>
            <a:r>
              <a:rPr lang="zh-CN" altLang="en-US" b="1"/>
              <a:t>true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  "name": "Niels",</a:t>
            </a:r>
            <a:endParaRPr lang="zh-CN" altLang="en-US"/>
          </a:p>
          <a:p>
            <a:r>
              <a:rPr lang="zh-CN" altLang="en-US"/>
              <a:t>  "nothing": </a:t>
            </a:r>
            <a:r>
              <a:rPr lang="zh-CN" altLang="en-US" b="1"/>
              <a:t>null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  "answer": {</a:t>
            </a:r>
            <a:endParaRPr lang="zh-CN" altLang="en-US"/>
          </a:p>
          <a:p>
            <a:r>
              <a:rPr lang="zh-CN" altLang="en-US"/>
              <a:t>    "everything": 42</a:t>
            </a:r>
            <a:endParaRPr lang="zh-CN" altLang="en-US"/>
          </a:p>
          <a:p>
            <a:r>
              <a:rPr lang="zh-CN" altLang="en-US"/>
              <a:t>  },</a:t>
            </a:r>
            <a:endParaRPr lang="zh-CN" altLang="en-US"/>
          </a:p>
          <a:p>
            <a:r>
              <a:rPr lang="zh-CN" altLang="en-US"/>
              <a:t>  "list": [1, 0, 2],</a:t>
            </a:r>
            <a:endParaRPr lang="zh-CN" altLang="en-US"/>
          </a:p>
          <a:p>
            <a:r>
              <a:rPr lang="zh-CN" altLang="en-US"/>
              <a:t>  "object": {</a:t>
            </a:r>
            <a:endParaRPr lang="zh-CN" altLang="en-US"/>
          </a:p>
          <a:p>
            <a:r>
              <a:rPr lang="zh-CN" altLang="en-US"/>
              <a:t>    "currency": "USD",</a:t>
            </a:r>
            <a:endParaRPr lang="zh-CN" altLang="en-US"/>
          </a:p>
          <a:p>
            <a:r>
              <a:rPr lang="zh-CN" altLang="en-US"/>
              <a:t>    "value": 42.99</a:t>
            </a:r>
            <a:endParaRPr lang="zh-CN" altLang="en-US"/>
          </a:p>
          <a:p>
            <a:r>
              <a:rPr lang="zh-CN" altLang="en-US"/>
              <a:t>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C++ Library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</a:t>
            </a:r>
            <a:endParaRPr lang="en-US" altLang="zh-CN"/>
          </a:p>
          <a:p>
            <a:pPr lvl="1"/>
            <a:r>
              <a:rPr lang="en-US" altLang="zh-CN"/>
              <a:t>https://github.com/nlohmann/json</a:t>
            </a:r>
            <a:endParaRPr lang="en-US" altLang="zh-CN"/>
          </a:p>
          <a:p>
            <a:pPr lvl="0"/>
            <a:r>
              <a:rPr lang="en-US" altLang="zh-CN"/>
              <a:t>JSON for Modern C++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33780" y="2868295"/>
            <a:ext cx="2709545" cy="313817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#include &lt;nlohmann/json.hpp&gt;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// for convenience</a:t>
            </a:r>
            <a:endParaRPr lang="zh-CN" altLang="en-US"/>
          </a:p>
          <a:p>
            <a:r>
              <a:rPr lang="zh-CN" altLang="en-US"/>
              <a:t>using json = nlohmann::json;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json j;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j["pi"] = 3.141;</a:t>
            </a:r>
            <a:endParaRPr lang="zh-CN" altLang="en-US"/>
          </a:p>
          <a:p>
            <a:r>
              <a:rPr lang="zh-CN" altLang="en-US"/>
              <a:t>j.push_back("foo");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79265" y="2896870"/>
            <a:ext cx="2672080" cy="92202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auto j3 = json::parse("{ \"happy\": true, \"pi\": 3.141 }");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279265" y="4157345"/>
            <a:ext cx="2672080" cy="3683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std::string s = j.dump();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YAML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Concept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9882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https://www.freecodecamp.org/news/what-is-yaml-the-yml-file-format/</a:t>
            </a:r>
            <a:endParaRPr lang="en-US" altLang="zh-CN"/>
          </a:p>
          <a:p>
            <a:pPr lvl="1"/>
            <a:r>
              <a:rPr lang="en-US" altLang="zh-CN"/>
              <a:t>https://docs.fileformat.com/programming/yaml/</a:t>
            </a:r>
            <a:endParaRPr lang="en-US" altLang="zh-CN"/>
          </a:p>
          <a:p>
            <a:pPr lvl="1"/>
            <a:r>
              <a:rPr lang="en-US" altLang="zh-CN"/>
              <a:t>https://docs.ansible.com/ansible/latest/reference_appendices/YAMLSyntax.html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534275" y="1156335"/>
            <a:ext cx="3631565" cy="2030095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Employees:</a:t>
            </a:r>
            <a:endParaRPr lang="zh-CN" altLang="en-US"/>
          </a:p>
          <a:p>
            <a:r>
              <a:rPr lang="zh-CN" altLang="en-US"/>
              <a:t>- name: John Doe</a:t>
            </a:r>
            <a:endParaRPr lang="zh-CN" altLang="en-US"/>
          </a:p>
          <a:p>
            <a:r>
              <a:rPr lang="zh-CN" altLang="en-US"/>
              <a:t>  department: Engineering</a:t>
            </a:r>
            <a:endParaRPr lang="zh-CN" altLang="en-US"/>
          </a:p>
          <a:p>
            <a:r>
              <a:rPr lang="zh-CN" altLang="en-US"/>
              <a:t>  country: USA</a:t>
            </a:r>
            <a:endParaRPr lang="zh-CN" altLang="en-US"/>
          </a:p>
          <a:p>
            <a:r>
              <a:rPr lang="zh-CN" altLang="en-US"/>
              <a:t>- name: Kate Kateson</a:t>
            </a:r>
            <a:endParaRPr lang="zh-CN" altLang="en-US"/>
          </a:p>
          <a:p>
            <a:r>
              <a:rPr lang="zh-CN" altLang="en-US"/>
              <a:t>  department: IT support</a:t>
            </a:r>
            <a:endParaRPr lang="zh-CN" altLang="en-US"/>
          </a:p>
          <a:p>
            <a:r>
              <a:rPr lang="zh-CN" altLang="en-US"/>
              <a:t>  country: United Kingdom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Mark</a:t>
            </a:r>
            <a:r>
              <a:rPr lang="en-US" altLang="zh-CN"/>
              <a:t>Down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20615" cy="4878705"/>
          </a:xfrm>
        </p:spPr>
        <p:txBody>
          <a:bodyPr>
            <a:normAutofit fontScale="60000"/>
          </a:bodyPr>
          <a:p>
            <a:r>
              <a:rPr lang="en-US" altLang="zh-CN"/>
              <a:t>Formatting</a:t>
            </a:r>
            <a:endParaRPr lang="en-US" altLang="zh-CN"/>
          </a:p>
          <a:p>
            <a:pPr lvl="1"/>
            <a:r>
              <a:rPr lang="en-US" altLang="zh-CN" sz="2000"/>
              <a:t>**Bold**</a:t>
            </a:r>
            <a:endParaRPr lang="en-US" altLang="zh-CN" sz="2000"/>
          </a:p>
          <a:p>
            <a:pPr lvl="1"/>
            <a:r>
              <a:rPr lang="en-US" altLang="zh-CN" sz="2000"/>
              <a:t>*Italic*</a:t>
            </a:r>
            <a:endParaRPr lang="en-US" altLang="zh-CN" sz="2000"/>
          </a:p>
          <a:p>
            <a:pPr lvl="1"/>
            <a:r>
              <a:rPr lang="en-US" altLang="zh-CN" sz="2000"/>
              <a:t>***Bold &amp; Italic***</a:t>
            </a:r>
            <a:endParaRPr lang="en-US" altLang="zh-CN" sz="2000"/>
          </a:p>
          <a:p>
            <a:pPr lvl="1"/>
            <a:r>
              <a:rPr lang="en-US" altLang="zh-CN" sz="2000"/>
              <a:t>`inline code`</a:t>
            </a:r>
            <a:endParaRPr lang="en-US" altLang="zh-CN" sz="2000"/>
          </a:p>
          <a:p>
            <a:pPr lvl="0"/>
            <a:r>
              <a:rPr lang="en-US" altLang="zh-CN"/>
              <a:t>Headers</a:t>
            </a:r>
            <a:endParaRPr lang="en-US" altLang="zh-CN"/>
          </a:p>
          <a:p>
            <a:pPr lvl="1"/>
            <a:r>
              <a:rPr lang="en-US" altLang="zh-CN" sz="2000"/>
              <a:t># H1</a:t>
            </a:r>
            <a:endParaRPr lang="en-US" altLang="zh-CN" sz="2000"/>
          </a:p>
          <a:p>
            <a:pPr lvl="1"/>
            <a:r>
              <a:rPr lang="en-US" altLang="zh-CN" sz="2000"/>
              <a:t>## H2</a:t>
            </a:r>
            <a:endParaRPr lang="en-US" altLang="zh-CN" sz="2000"/>
          </a:p>
          <a:p>
            <a:pPr lvl="1"/>
            <a:r>
              <a:rPr lang="en-US" altLang="zh-CN" sz="2000"/>
              <a:t>### H3</a:t>
            </a:r>
            <a:endParaRPr lang="en-US" altLang="zh-CN" sz="2000"/>
          </a:p>
          <a:p>
            <a:pPr lvl="0"/>
            <a:r>
              <a:rPr lang="en-US" altLang="zh-CN" sz="2400"/>
              <a:t>Unordered list</a:t>
            </a:r>
            <a:endParaRPr lang="en-US" altLang="zh-CN" sz="2400"/>
          </a:p>
          <a:p>
            <a:pPr lvl="1"/>
            <a:r>
              <a:rPr lang="en-US" altLang="zh-CN"/>
              <a:t>- Item</a:t>
            </a:r>
            <a:endParaRPr lang="en-US" altLang="zh-CN"/>
          </a:p>
          <a:p>
            <a:pPr lvl="0"/>
            <a:r>
              <a:rPr lang="en-US" altLang="zh-CN" sz="2400"/>
              <a:t>Ordered list</a:t>
            </a:r>
            <a:endParaRPr lang="en-US" altLang="zh-CN" sz="2400"/>
          </a:p>
          <a:p>
            <a:pPr lvl="1"/>
            <a:r>
              <a:rPr lang="en-US" altLang="zh-CN"/>
              <a:t>1. First</a:t>
            </a:r>
            <a:endParaRPr lang="en-US" altLang="zh-CN"/>
          </a:p>
          <a:p>
            <a:pPr lvl="0"/>
            <a:r>
              <a:rPr lang="en-US" altLang="zh-CN"/>
              <a:t>Task list</a:t>
            </a:r>
            <a:endParaRPr lang="en-US" altLang="zh-CN"/>
          </a:p>
          <a:p>
            <a:pPr lvl="1"/>
            <a:r>
              <a:rPr lang="en-US" altLang="zh-CN"/>
              <a:t>- [ ] Unchecked</a:t>
            </a:r>
            <a:endParaRPr lang="en-US" altLang="zh-CN"/>
          </a:p>
          <a:p>
            <a:pPr lvl="1"/>
            <a:r>
              <a:rPr lang="en-US" altLang="zh-CN"/>
              <a:t>- [x] Checked</a:t>
            </a:r>
            <a:endParaRPr lang="en-US" altLang="zh-CN"/>
          </a:p>
          <a:p>
            <a:pPr lvl="0"/>
            <a:r>
              <a:rPr lang="en-US" altLang="zh-CN" sz="2400"/>
              <a:t>Links</a:t>
            </a:r>
            <a:endParaRPr lang="en-US" altLang="zh-CN" sz="2400"/>
          </a:p>
          <a:p>
            <a:pPr lvl="1"/>
            <a:r>
              <a:rPr lang="en-US" altLang="zh-CN" sz="2000"/>
              <a:t>[Link text] (https://example.com)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07480" y="1211580"/>
            <a:ext cx="4920615" cy="48787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Code Blocks</a:t>
            </a:r>
            <a:endParaRPr lang="en-US" altLang="zh-CN"/>
          </a:p>
          <a:p>
            <a:pPr lvl="1"/>
            <a:r>
              <a:rPr lang="en-US" altLang="zh-CN"/>
              <a:t>inline</a:t>
            </a:r>
            <a:endParaRPr lang="en-US" altLang="zh-CN"/>
          </a:p>
          <a:p>
            <a:pPr lvl="2"/>
            <a:r>
              <a:rPr lang="en-US" altLang="zh-CN"/>
              <a:t>`a line of code`</a:t>
            </a:r>
            <a:endParaRPr lang="en-US" altLang="zh-CN"/>
          </a:p>
          <a:p>
            <a:pPr lvl="1"/>
            <a:r>
              <a:rPr lang="en-US" altLang="zh-CN"/>
              <a:t>Fenced block</a:t>
            </a:r>
            <a:endParaRPr lang="en-US" altLang="zh-CN"/>
          </a:p>
          <a:p>
            <a:pPr lvl="2"/>
            <a:r>
              <a:rPr lang="en-US" altLang="zh-CN"/>
              <a:t>```python</a:t>
            </a:r>
            <a:endParaRPr lang="en-US" altLang="zh-CN"/>
          </a:p>
          <a:p>
            <a:pPr lvl="2"/>
            <a:r>
              <a:rPr lang="en-US" altLang="zh-CN"/>
              <a:t>```</a:t>
            </a:r>
            <a:endParaRPr lang="en-US" altLang="zh-CN"/>
          </a:p>
          <a:p>
            <a:pPr lvl="0"/>
            <a:r>
              <a:rPr lang="en-US" altLang="zh-CN"/>
              <a:t>Tables</a:t>
            </a:r>
            <a:endParaRPr lang="en-US" altLang="zh-CN"/>
          </a:p>
          <a:p>
            <a:pPr lvl="1"/>
            <a:r>
              <a:rPr lang="en-US" altLang="zh-CN"/>
              <a:t>|Column1|Column2|</a:t>
            </a:r>
            <a:endParaRPr lang="en-US" altLang="zh-CN"/>
          </a:p>
          <a:p>
            <a:pPr lvl="1"/>
            <a:r>
              <a:rPr lang="en-US" altLang="zh-CN"/>
              <a:t>|Cell        |Cell         |</a:t>
            </a:r>
            <a:endParaRPr lang="en-US" altLang="zh-CN"/>
          </a:p>
          <a:p>
            <a:pPr lvl="0"/>
            <a:r>
              <a:rPr lang="en-US" altLang="zh-CN"/>
              <a:t>Horizontal rules</a:t>
            </a:r>
            <a:endParaRPr lang="en-US" altLang="zh-CN"/>
          </a:p>
          <a:p>
            <a:pPr lvl="1"/>
            <a:r>
              <a:rPr lang="en-US" altLang="zh-CN"/>
              <a:t>---</a:t>
            </a:r>
            <a:endParaRPr lang="en-US" altLang="zh-CN"/>
          </a:p>
          <a:p>
            <a:pPr lvl="1"/>
            <a:r>
              <a:rPr lang="en-US" altLang="zh-CN"/>
              <a:t>***</a:t>
            </a:r>
            <a:endParaRPr lang="en-US" altLang="zh-CN"/>
          </a:p>
          <a:p>
            <a:pPr lvl="1"/>
            <a:r>
              <a:rPr lang="en-US" altLang="zh-CN"/>
              <a:t>___</a:t>
            </a:r>
            <a:endParaRPr lang="en-US" altLang="zh-CN"/>
          </a:p>
          <a:p>
            <a:pPr lvl="0"/>
            <a:r>
              <a:rPr lang="en-US" altLang="zh-CN"/>
              <a:t>Escape</a:t>
            </a:r>
            <a:endParaRPr lang="en-US" altLang="zh-CN"/>
          </a:p>
          <a:p>
            <a:pPr lvl="1"/>
            <a:r>
              <a:rPr lang="en-US" altLang="zh-CN"/>
              <a:t>\</a:t>
            </a:r>
            <a:endParaRPr lang="en-US" altLang="zh-CN"/>
          </a:p>
          <a:p>
            <a:pPr lvl="0"/>
            <a:r>
              <a:rPr lang="en-US" altLang="zh-CN"/>
              <a:t>Emoji</a:t>
            </a:r>
            <a:endParaRPr lang="en-US" altLang="zh-CN"/>
          </a:p>
          <a:p>
            <a:pPr lvl="1"/>
            <a:r>
              <a:rPr lang="en-US" altLang="zh-CN"/>
              <a:t>:smile :rocket :warning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Mermaid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25160" cy="5052695"/>
          </a:xfrm>
        </p:spPr>
        <p:txBody>
          <a:bodyPr>
            <a:normAutofit fontScale="90000" lnSpcReduction="10000"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600"/>
              <a:t>https://github.com/mermaid-js/mermaid</a:t>
            </a:r>
            <a:endParaRPr lang="en-US" altLang="zh-CN" sz="1600"/>
          </a:p>
          <a:p>
            <a:pPr lvl="1"/>
            <a:r>
              <a:rPr lang="en-US" altLang="zh-CN" sz="1600"/>
              <a:t>https://zhuanlan.zhihu.com/p/627356428</a:t>
            </a:r>
            <a:endParaRPr lang="en-US" altLang="zh-CN" sz="1600"/>
          </a:p>
          <a:p>
            <a:pPr lvl="0"/>
            <a:r>
              <a:rPr lang="en-US" altLang="zh-CN" sz="2000"/>
              <a:t>Intro</a:t>
            </a:r>
            <a:endParaRPr lang="en-US" altLang="zh-CN" sz="2000"/>
          </a:p>
          <a:p>
            <a:pPr lvl="1"/>
            <a:r>
              <a:rPr lang="zh-CN" altLang="en-US" sz="1600"/>
              <a:t>开源的文本驱动图表生成工具</a:t>
            </a:r>
            <a:endParaRPr lang="zh-CN" altLang="en-US" sz="1600"/>
          </a:p>
          <a:p>
            <a:pPr lvl="1"/>
            <a:r>
              <a:rPr lang="zh-CN" altLang="en-US" sz="1600"/>
              <a:t>语言风格类似于</a:t>
            </a:r>
            <a:r>
              <a:rPr lang="en-US" altLang="zh-CN" sz="1600"/>
              <a:t> Markdown</a:t>
            </a:r>
            <a:endParaRPr lang="en-US" altLang="zh-CN" sz="1600"/>
          </a:p>
          <a:p>
            <a:pPr lvl="1"/>
            <a:r>
              <a:rPr lang="zh-CN" altLang="en-US" sz="1600"/>
              <a:t>优点：简单性和可移植性</a:t>
            </a:r>
            <a:endParaRPr lang="zh-CN" altLang="en-US" sz="1600"/>
          </a:p>
          <a:p>
            <a:pPr lvl="1"/>
            <a:r>
              <a:rPr lang="zh-CN" altLang="en-US" sz="1600"/>
              <a:t>支持图表类型</a:t>
            </a:r>
            <a:endParaRPr lang="zh-CN" altLang="en-US" sz="1600"/>
          </a:p>
          <a:p>
            <a:pPr lvl="2"/>
            <a:r>
              <a:rPr lang="zh-CN" altLang="en-US" sz="1400"/>
              <a:t>流程图（</a:t>
            </a:r>
            <a:r>
              <a:rPr lang="en-US" altLang="zh-CN" sz="1400"/>
              <a:t>Flowchart</a:t>
            </a:r>
            <a:r>
              <a:rPr lang="zh-CN" altLang="en-US" sz="1400"/>
              <a:t>）：展示过程、决策和操作流程。</a:t>
            </a:r>
            <a:endParaRPr lang="zh-CN" altLang="en-US" sz="1400"/>
          </a:p>
          <a:p>
            <a:pPr lvl="2"/>
            <a:r>
              <a:rPr lang="zh-CN" altLang="en-US" sz="1400"/>
              <a:t>序列图（</a:t>
            </a:r>
            <a:r>
              <a:rPr lang="en-US" altLang="zh-CN" sz="1400"/>
              <a:t>Sequence Diagram</a:t>
            </a:r>
            <a:r>
              <a:rPr lang="zh-CN" altLang="en-US" sz="1400"/>
              <a:t>）：展示对象之间的交互顺序。</a:t>
            </a:r>
            <a:endParaRPr lang="zh-CN" altLang="en-US" sz="1400"/>
          </a:p>
          <a:p>
            <a:pPr lvl="2"/>
            <a:r>
              <a:rPr lang="zh-CN" altLang="en-US" sz="1400"/>
              <a:t>甘特图（</a:t>
            </a:r>
            <a:r>
              <a:rPr lang="en-US" altLang="zh-CN" sz="1400"/>
              <a:t>Gantt Chart</a:t>
            </a:r>
            <a:r>
              <a:rPr lang="zh-CN" altLang="en-US" sz="1400"/>
              <a:t>）：展示项目计划和进度。</a:t>
            </a:r>
            <a:endParaRPr lang="zh-CN" altLang="en-US" sz="1400"/>
          </a:p>
          <a:p>
            <a:pPr lvl="2"/>
            <a:r>
              <a:rPr lang="zh-CN" altLang="en-US" sz="1400"/>
              <a:t>词云图（</a:t>
            </a:r>
            <a:r>
              <a:rPr lang="en-US" altLang="zh-CN" sz="1400"/>
              <a:t>Class Diagram</a:t>
            </a:r>
            <a:r>
              <a:rPr lang="zh-CN" altLang="en-US" sz="1400"/>
              <a:t>）：展示类的结构和关系。</a:t>
            </a:r>
            <a:endParaRPr lang="zh-CN" altLang="en-US" sz="1400"/>
          </a:p>
          <a:p>
            <a:pPr lvl="2"/>
            <a:r>
              <a:rPr lang="zh-CN" altLang="en-US" sz="1400"/>
              <a:t>饼图（</a:t>
            </a:r>
            <a:r>
              <a:rPr lang="en-US" altLang="zh-CN" sz="1400"/>
              <a:t>Pie Chart</a:t>
            </a:r>
            <a:r>
              <a:rPr lang="zh-CN" altLang="en-US" sz="1400"/>
              <a:t>）：展示数据占比。</a:t>
            </a:r>
            <a:endParaRPr lang="zh-CN" altLang="en-US" sz="1400"/>
          </a:p>
          <a:p>
            <a:pPr lvl="2"/>
            <a:r>
              <a:rPr lang="zh-CN" altLang="en-US" sz="1400"/>
              <a:t>捷径图（</a:t>
            </a:r>
            <a:r>
              <a:rPr lang="en-US" altLang="zh-CN" sz="1400"/>
              <a:t>Shortcut</a:t>
            </a:r>
            <a:r>
              <a:rPr lang="zh-CN" altLang="en-US" sz="1400"/>
              <a:t>）：简单展示快捷方式。</a:t>
            </a:r>
            <a:endParaRPr lang="zh-CN" altLang="en-US" sz="1400"/>
          </a:p>
          <a:p>
            <a:pPr lvl="2"/>
            <a:r>
              <a:rPr lang="zh-CN" altLang="en-US" sz="1400"/>
              <a:t>状态图（</a:t>
            </a:r>
            <a:r>
              <a:rPr lang="en-US" altLang="zh-CN" sz="1400"/>
              <a:t>State Diagram</a:t>
            </a:r>
            <a:r>
              <a:rPr lang="zh-CN" altLang="en-US" sz="1400"/>
              <a:t>）：展示对象状态的转换。</a:t>
            </a:r>
            <a:endParaRPr lang="zh-CN" altLang="en-US" sz="1400"/>
          </a:p>
          <a:p>
            <a:pPr lvl="2"/>
            <a:r>
              <a:rPr lang="zh-CN" altLang="en-US" sz="1400"/>
              <a:t>用户旅程图（</a:t>
            </a:r>
            <a:r>
              <a:rPr lang="en-US" altLang="zh-CN" sz="1400"/>
              <a:t>Journey</a:t>
            </a:r>
            <a:r>
              <a:rPr lang="zh-CN" altLang="en-US" sz="1400"/>
              <a:t>）：展示用户如何与应用程序交互。</a:t>
            </a:r>
            <a:endParaRPr lang="zh-CN" altLang="en-US" sz="1400"/>
          </a:p>
          <a:p>
            <a:pPr lvl="0"/>
            <a:r>
              <a:rPr lang="en-US" altLang="zh-CN" sz="2000"/>
              <a:t>Usage</a:t>
            </a:r>
            <a:endParaRPr lang="en-US" altLang="zh-CN" sz="2000"/>
          </a:p>
          <a:p>
            <a:pPr lvl="1"/>
            <a:r>
              <a:rPr lang="en-US" altLang="zh-CN" sz="1665"/>
              <a:t>Keyword: graph, subgraph, pie, --&gt;, -|&gt;, ---, --, =&gt;, ==&gt;, class, interface, participant, note, title, style, click, loop, alt, activate, deactivate, subroutine</a:t>
            </a:r>
            <a:endParaRPr lang="en-US" altLang="zh-CN" sz="1495"/>
          </a:p>
        </p:txBody>
      </p:sp>
      <p:sp>
        <p:nvSpPr>
          <p:cNvPr id="4" name="文本框 3"/>
          <p:cNvSpPr txBox="1"/>
          <p:nvPr/>
        </p:nvSpPr>
        <p:spPr>
          <a:xfrm>
            <a:off x="7106920" y="1289685"/>
            <a:ext cx="1814195" cy="1168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# flowchart</a:t>
            </a:r>
            <a:endParaRPr lang="en-US" altLang="zh-CN" sz="1400"/>
          </a:p>
          <a:p>
            <a:r>
              <a:rPr lang="en-US" altLang="zh-CN" sz="1400"/>
              <a:t>graph LR</a:t>
            </a:r>
            <a:endParaRPr lang="en-US" altLang="zh-CN" sz="1400"/>
          </a:p>
          <a:p>
            <a:r>
              <a:rPr lang="en-US" altLang="zh-CN" sz="1400"/>
              <a:t>   A--&gt;B;</a:t>
            </a:r>
            <a:endParaRPr lang="en-US" altLang="zh-CN" sz="1400"/>
          </a:p>
          <a:p>
            <a:r>
              <a:rPr lang="en-US" altLang="zh-CN" sz="1400"/>
              <a:t>   B--&gt;C;</a:t>
            </a:r>
            <a:endParaRPr lang="en-US" altLang="zh-CN" sz="1400"/>
          </a:p>
          <a:p>
            <a:r>
              <a:rPr lang="en-US" altLang="zh-CN" sz="1400"/>
              <a:t>   C--&gt;D;</a:t>
            </a:r>
            <a:endParaRPr lang="en-US" altLang="zh-CN" sz="1400"/>
          </a:p>
        </p:txBody>
      </p:sp>
      <p:sp>
        <p:nvSpPr>
          <p:cNvPr id="5" name="文本框 4"/>
          <p:cNvSpPr txBox="1"/>
          <p:nvPr/>
        </p:nvSpPr>
        <p:spPr>
          <a:xfrm>
            <a:off x="9140190" y="1289685"/>
            <a:ext cx="1814195" cy="953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sequenceDiagram</a:t>
            </a:r>
            <a:endParaRPr lang="en-US" altLang="zh-CN" sz="1400"/>
          </a:p>
          <a:p>
            <a:r>
              <a:rPr lang="en-US" altLang="zh-CN" sz="1400"/>
              <a:t>   A-&gt;&gt;B: Message 1</a:t>
            </a:r>
            <a:endParaRPr lang="en-US" altLang="zh-CN" sz="1400"/>
          </a:p>
          <a:p>
            <a:r>
              <a:rPr lang="en-US" altLang="zh-CN" sz="1400"/>
              <a:t>   B--&gt;&gt;A: Message 2</a:t>
            </a:r>
            <a:endParaRPr lang="en-US" altLang="zh-CN" sz="1400"/>
          </a:p>
        </p:txBody>
      </p:sp>
      <p:sp>
        <p:nvSpPr>
          <p:cNvPr id="6" name="文本框 5"/>
          <p:cNvSpPr txBox="1"/>
          <p:nvPr/>
        </p:nvSpPr>
        <p:spPr>
          <a:xfrm>
            <a:off x="9140190" y="2458085"/>
            <a:ext cx="1814195" cy="26765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gantt</a:t>
            </a:r>
            <a:endParaRPr lang="en-US" altLang="zh-CN" sz="1400"/>
          </a:p>
          <a:p>
            <a:r>
              <a:rPr lang="en-US" altLang="zh-CN" sz="1400"/>
              <a:t>   title Example Gantt Chart</a:t>
            </a:r>
            <a:endParaRPr lang="en-US" altLang="zh-CN" sz="1400"/>
          </a:p>
          <a:p>
            <a:r>
              <a:rPr lang="en-US" altLang="zh-CN" sz="1400"/>
              <a:t>   dateFormat  YYYY-MM-DD</a:t>
            </a:r>
            <a:endParaRPr lang="en-US" altLang="zh-CN" sz="1400"/>
          </a:p>
          <a:p>
            <a:r>
              <a:rPr lang="en-US" altLang="zh-CN" sz="1400"/>
              <a:t>   section Section</a:t>
            </a:r>
            <a:endParaRPr lang="en-US" altLang="zh-CN" sz="1400"/>
          </a:p>
          <a:p>
            <a:r>
              <a:rPr lang="en-US" altLang="zh-CN" sz="1400"/>
              <a:t>   task 1: 2019-01-01, 30d</a:t>
            </a:r>
            <a:endParaRPr lang="en-US" altLang="zh-CN" sz="1400"/>
          </a:p>
          <a:p>
            <a:r>
              <a:rPr lang="en-US" altLang="zh-CN" sz="1400"/>
              <a:t>   task 2: 2019-02-01, 14d</a:t>
            </a:r>
            <a:endParaRPr lang="en-US" altLang="zh-CN" sz="1400"/>
          </a:p>
          <a:p>
            <a:r>
              <a:rPr lang="en-US" altLang="zh-CN" sz="1400"/>
              <a:t>   task 3: 2019-03-01, 7d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7106920" y="2691130"/>
            <a:ext cx="1814195" cy="1383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pie</a:t>
            </a:r>
            <a:endParaRPr lang="en-US" altLang="zh-CN" sz="1400"/>
          </a:p>
          <a:p>
            <a:r>
              <a:rPr lang="en-US" altLang="zh-CN" sz="1400"/>
              <a:t>   title Example Pie Chart</a:t>
            </a:r>
            <a:endParaRPr lang="en-US" altLang="zh-CN" sz="1400"/>
          </a:p>
          <a:p>
            <a:r>
              <a:rPr lang="en-US" altLang="zh-CN" sz="1400"/>
              <a:t>   "First slice": 30</a:t>
            </a:r>
            <a:endParaRPr lang="en-US" altLang="zh-CN" sz="1400"/>
          </a:p>
          <a:p>
            <a:r>
              <a:rPr lang="en-US" altLang="zh-CN" sz="1400"/>
              <a:t>   "Second slice": 20</a:t>
            </a:r>
            <a:endParaRPr lang="en-US" altLang="zh-CN" sz="1400"/>
          </a:p>
          <a:p>
            <a:r>
              <a:rPr lang="en-US" altLang="zh-CN" sz="1400"/>
              <a:t>   "Third slice": 50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Tools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https://github.com/mermaid-js/mermaid-cli</a:t>
            </a:r>
            <a:endParaRPr lang="en-US" altLang="zh-CN"/>
          </a:p>
          <a:p>
            <a:pPr lvl="1"/>
            <a:r>
              <a:rPr lang="en-US" altLang="zh-CN"/>
              <a:t>npm install -g @mermaid-js/mermaid-cli</a:t>
            </a:r>
            <a:endParaRPr lang="en-US" altLang="zh-CN"/>
          </a:p>
          <a:p>
            <a:pPr lvl="1"/>
            <a:r>
              <a:rPr lang="en-US" altLang="zh-CN"/>
              <a:t>mmdc -i input.mmd -o output.svg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smtClean="0"/>
              <a:t>THANKS</a:t>
            </a:r>
            <a:endParaRPr lang="en-US" altLang="zh-CN" smtClean="0"/>
          </a:p>
        </p:txBody>
      </p:sp>
      <p:sp>
        <p:nvSpPr>
          <p:cNvPr id="3" name="文本占位符 2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谢谢聆听</a:t>
            </a:r>
            <a:endParaRPr lang="zh-CN" altLang="en-US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28*a*1"/>
  <p:tag name="KSO_WM_UNIT_CLEAR" val="1"/>
  <p:tag name="KSO_WM_UNIT_LAYERLEVEL" val="1"/>
  <p:tag name="KSO_WM_UNIT_VALUE" val="6"/>
  <p:tag name="KSO_WM_UNIT_ISCONTENTSTITLE" val="0"/>
  <p:tag name="KSO_WM_UNIT_HIGHLIGHT" val="0"/>
  <p:tag name="KSO_WM_UNIT_COMPATIBLE" val="0"/>
  <p:tag name="KSO_WM_UNIT_PRESET_TEXT" val="THANKS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28*b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" val="谢谢聆听"/>
</p:tagLst>
</file>

<file path=ppt/tags/tag19.xml><?xml version="1.0" encoding="utf-8"?>
<p:tagLst xmlns:p="http://schemas.openxmlformats.org/presentationml/2006/main">
  <p:tag name="KSO_WM_TEMPLATE_CATEGORY" val="custom"/>
  <p:tag name="KSO_WM_TEMPLATE_INDEX" val="160402"/>
  <p:tag name="KSO_WM_TAG_VERSION" val="1.0"/>
  <p:tag name="KSO_WM_SLIDE_ID" val="custom160402_28"/>
  <p:tag name="KSO_WM_SLIDE_INDEX" val="28"/>
  <p:tag name="KSO_WM_SLIDE_ITEM_CNT" val="1"/>
  <p:tag name="KSO_WM_SLIDE_LAYOUT" val="b_a"/>
  <p:tag name="KSO_WM_SLIDE_LAYOUT_CNT" val="1_1"/>
  <p:tag name="KSO_WM_SLIDE_TYPE" val="endPage"/>
  <p:tag name="KSO_WM_BEAUTIFY_FLAG" val="#wm#"/>
</p:tagLst>
</file>

<file path=ppt/tags/tag20.xml><?xml version="1.0" encoding="utf-8"?>
<p:tagLst xmlns:p="http://schemas.openxmlformats.org/presentationml/2006/main">
  <p:tag name="KSO_WPP_MARK_KEY" val="4f9b4b22-0777-477e-8010-78f1159b0aff"/>
  <p:tag name="COMMONDATA" val="eyJoZGlkIjoiYjRhZjQ5NWVmZmQxNmM3NmNkNDYxNWRmNzNmMjA1ZDAifQ==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2227</Words>
  <Application>WPS 演示</Application>
  <PresentationFormat>宽屏</PresentationFormat>
  <Paragraphs>160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1_A000120140530A02PPBG</vt:lpstr>
      <vt:lpstr>File Format Notes</vt:lpstr>
      <vt:lpstr>JSON</vt:lpstr>
      <vt:lpstr>Concept</vt:lpstr>
      <vt:lpstr>C++ Library</vt:lpstr>
      <vt:lpstr>YAML</vt:lpstr>
      <vt:lpstr>Concept</vt:lpstr>
      <vt:lpstr>MarkDown</vt:lpstr>
      <vt:lpstr>Intro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52</cp:revision>
  <dcterms:created xsi:type="dcterms:W3CDTF">2018-10-08T02:12:00Z</dcterms:created>
  <dcterms:modified xsi:type="dcterms:W3CDTF">2026-02-25T05:19:56Z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59836313152D4223B268B00368BF2DB8_12</vt:lpwstr>
  </property>
</Properties>
</file>