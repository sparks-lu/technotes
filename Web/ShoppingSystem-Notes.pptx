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9" r:id="rId4"/>
    <p:sldId id="260" r:id="rId5"/>
    <p:sldId id="264" r:id="rId6"/>
    <p:sldId id="261" r:id="rId7"/>
    <p:sldId id="262" r:id="rId8"/>
    <p:sldId id="266" r:id="rId9"/>
    <p:sldId id="263" r:id="rId10"/>
    <p:sldId id="265" r:id="rId11"/>
    <p:sldId id="270" r:id="rId12"/>
    <p:sldId id="271" r:id="rId13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gs" Target="tags/tag147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7" Type="http://schemas.openxmlformats.org/officeDocument/2006/relationships/tags" Target="../tags/tag74.xml"/><Relationship Id="rId6" Type="http://schemas.openxmlformats.org/officeDocument/2006/relationships/tags" Target="../tags/tag73.xml"/><Relationship Id="rId5" Type="http://schemas.openxmlformats.org/officeDocument/2006/relationships/tags" Target="../tags/tag72.xml"/><Relationship Id="rId4" Type="http://schemas.openxmlformats.org/officeDocument/2006/relationships/tags" Target="../tags/tag71.xml"/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0" Type="http://schemas.openxmlformats.org/officeDocument/2006/relationships/tags" Target="../tags/tag90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0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15.xml"/><Relationship Id="rId8" Type="http://schemas.openxmlformats.org/officeDocument/2006/relationships/tags" Target="../tags/tag114.xml"/><Relationship Id="rId7" Type="http://schemas.openxmlformats.org/officeDocument/2006/relationships/tags" Target="../tags/tag113.xml"/><Relationship Id="rId6" Type="http://schemas.openxmlformats.org/officeDocument/2006/relationships/tags" Target="../tags/tag112.xml"/><Relationship Id="rId5" Type="http://schemas.openxmlformats.org/officeDocument/2006/relationships/tags" Target="../tags/tag111.xml"/><Relationship Id="rId4" Type="http://schemas.openxmlformats.org/officeDocument/2006/relationships/tags" Target="../tags/tag110.xml"/><Relationship Id="rId3" Type="http://schemas.openxmlformats.org/officeDocument/2006/relationships/tags" Target="../tags/tag109.xml"/><Relationship Id="rId2" Type="http://schemas.openxmlformats.org/officeDocument/2006/relationships/tags" Target="../tags/tag108.xml"/><Relationship Id="rId10" Type="http://schemas.openxmlformats.org/officeDocument/2006/relationships/tags" Target="../tags/tag116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7" Type="http://schemas.openxmlformats.org/officeDocument/2006/relationships/tags" Target="../tags/tag122.xml"/><Relationship Id="rId6" Type="http://schemas.openxmlformats.org/officeDocument/2006/relationships/tags" Target="../tags/tag121.xml"/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>
            <a:off x="274320" y="321260"/>
            <a:ext cx="11683455" cy="39305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8" name="任意形状 8"/>
          <p:cNvSpPr/>
          <p:nvPr userDrawn="1">
            <p:custDataLst>
              <p:tags r:id="rId3"/>
            </p:custDataLst>
          </p:nvPr>
        </p:nvSpPr>
        <p:spPr>
          <a:xfrm>
            <a:off x="9490237" y="321259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99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9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261015" y="2411670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9471025" y="6254750"/>
            <a:ext cx="1800225" cy="76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>
            <p:custDataLst>
              <p:tags r:id="rId6"/>
            </p:custDataLst>
          </p:nvPr>
        </p:nvSpPr>
        <p:spPr>
          <a:xfrm flipV="1">
            <a:off x="750570" y="6305550"/>
            <a:ext cx="715645" cy="76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>
            <p:custDataLst>
              <p:tags r:id="rId7"/>
            </p:custDataLst>
          </p:nvPr>
        </p:nvSpPr>
        <p:spPr>
          <a:xfrm>
            <a:off x="1555115" y="6306820"/>
            <a:ext cx="88900" cy="76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>
            <p:custDataLst>
              <p:tags r:id="rId8"/>
            </p:custDataLst>
          </p:nvPr>
        </p:nvSpPr>
        <p:spPr>
          <a:xfrm>
            <a:off x="1731010" y="6306820"/>
            <a:ext cx="253365" cy="762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2"/>
            </p:custDataLst>
          </p:nvPr>
        </p:nvSpPr>
        <p:spPr>
          <a:xfrm>
            <a:off x="883644" y="809127"/>
            <a:ext cx="9144000" cy="1896745"/>
          </a:xfrm>
        </p:spPr>
        <p:txBody>
          <a:bodyPr lIns="91440" tIns="45720" rIns="91440" bIns="0" anchor="b" anchorCtr="0">
            <a:normAutofit/>
          </a:bodyPr>
          <a:lstStyle>
            <a:lvl1pPr algn="l">
              <a:defRPr sz="6600" b="1" spc="600" baseline="0">
                <a:latin typeface="Arial" panose="020B0604020202020204" pitchFamily="34" charset="0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3"/>
            </p:custDataLst>
          </p:nvPr>
        </p:nvSpPr>
        <p:spPr>
          <a:xfrm>
            <a:off x="883643" y="3017520"/>
            <a:ext cx="9144000" cy="890270"/>
          </a:xfrm>
        </p:spPr>
        <p:txBody>
          <a:bodyPr lIns="91440" tIns="0" rIns="91440" bIns="4572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4"/>
            </p:custDataLst>
          </p:nvPr>
        </p:nvSpPr>
        <p:spPr>
          <a:xfrm>
            <a:off x="883644" y="5050433"/>
            <a:ext cx="3365430" cy="579657"/>
          </a:xfrm>
        </p:spPr>
        <p:txBody>
          <a:bodyPr lIns="91440" tIns="45720" rIns="91440" bIns="45720">
            <a:normAutofit/>
          </a:bodyPr>
          <a:lstStyle>
            <a:lvl1pPr marL="0" indent="0">
              <a:buNone/>
              <a:defRPr sz="2400" baseline="0">
                <a:solidFill>
                  <a:schemeClr val="accent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 userDrawn="1">
            <p:custDataLst>
              <p:tags r:id="rId2"/>
            </p:custDataLst>
          </p:nvPr>
        </p:nvSpPr>
        <p:spPr>
          <a:xfrm>
            <a:off x="0" y="6474460"/>
            <a:ext cx="12249150" cy="3835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676775" y="2059757"/>
            <a:ext cx="6243774" cy="922021"/>
          </a:xfrm>
        </p:spPr>
        <p:txBody>
          <a:bodyPr lIns="91440" tIns="45720" rIns="91440" bIns="0" anchor="b" anchorCtr="0">
            <a:normAutofit/>
          </a:bodyPr>
          <a:lstStyle>
            <a:lvl1pPr>
              <a:defRPr sz="5400" u="none" strike="noStrike" kern="1200" cap="none" spc="300" normalizeH="0" baseline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4"/>
            </p:custDataLst>
          </p:nvPr>
        </p:nvSpPr>
        <p:spPr>
          <a:xfrm>
            <a:off x="4676775" y="3102596"/>
            <a:ext cx="6243774" cy="1401006"/>
          </a:xfrm>
        </p:spPr>
        <p:txBody>
          <a:bodyPr lIns="91440" tIns="0" rIns="91440" bIns="45720">
            <a:normAutofit/>
          </a:bodyPr>
          <a:lstStyle>
            <a:lvl1pPr marL="0" indent="0" eaLnBrk="1" fontAlgn="auto" latinLnBrk="0" hangingPunct="1"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7628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45227" y="952508"/>
            <a:ext cx="5283242" cy="5388907"/>
          </a:xfrm>
        </p:spPr>
        <p:txBody>
          <a:bodyPr>
            <a:noAutofit/>
          </a:bodyPr>
          <a:lstStyle>
            <a:lvl1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>
            <p:custDataLst>
              <p:tags r:id="rId2"/>
            </p:custDataLst>
          </p:nvPr>
        </p:nvSpPr>
        <p:spPr>
          <a:xfrm>
            <a:off x="266065" y="313690"/>
            <a:ext cx="11683365" cy="5634990"/>
          </a:xfrm>
          <a:prstGeom prst="rect">
            <a:avLst/>
          </a:prstGeom>
          <a:solidFill>
            <a:schemeClr val="tx2"/>
          </a:solidFill>
          <a:ln w="28575" cmpd="sng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9" name="矩形 8"/>
          <p:cNvSpPr/>
          <p:nvPr userDrawn="1">
            <p:custDataLst>
              <p:tags r:id="rId3"/>
            </p:custDataLst>
          </p:nvPr>
        </p:nvSpPr>
        <p:spPr>
          <a:xfrm>
            <a:off x="1422400" y="4064000"/>
            <a:ext cx="5283200" cy="12700"/>
          </a:xfrm>
          <a:prstGeom prst="rect">
            <a:avLst/>
          </a:prstGeom>
          <a:solidFill>
            <a:schemeClr val="accent1">
              <a:lumMod val="50000"/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任意形状 8"/>
          <p:cNvSpPr/>
          <p:nvPr userDrawn="1">
            <p:custDataLst>
              <p:tags r:id="rId4"/>
            </p:custDataLst>
          </p:nvPr>
        </p:nvSpPr>
        <p:spPr>
          <a:xfrm>
            <a:off x="9480712" y="313004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8" name="任意形状 9"/>
          <p:cNvSpPr/>
          <p:nvPr userDrawn="1">
            <p:custDataLst>
              <p:tags r:id="rId5"/>
            </p:custDataLst>
          </p:nvPr>
        </p:nvSpPr>
        <p:spPr>
          <a:xfrm rot="10800000">
            <a:off x="261015" y="4113028"/>
            <a:ext cx="1887415" cy="184012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99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1320799" y="2376714"/>
            <a:ext cx="6653601" cy="1607337"/>
          </a:xfrm>
        </p:spPr>
        <p:txBody>
          <a:bodyPr vert="horz" lIns="91440" tIns="45720" rIns="9144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96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形状 8"/>
          <p:cNvSpPr/>
          <p:nvPr userDrawn="1">
            <p:custDataLst>
              <p:tags r:id="rId2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63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>
            <p:custDataLst>
              <p:tags r:id="rId3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>
            <a:normAutofit/>
          </a:bodyPr>
          <a:lstStyle>
            <a:lvl1pPr>
              <a:defRPr sz="32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3"/>
            </p:custDataLst>
          </p:nvPr>
        </p:nvSpPr>
        <p:spPr>
          <a:xfrm rot="16200000">
            <a:off x="-21591" y="25773"/>
            <a:ext cx="1741805" cy="169862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10" name="任意形状 9"/>
          <p:cNvSpPr/>
          <p:nvPr userDrawn="1">
            <p:custDataLst>
              <p:tags r:id="rId4"/>
            </p:custDataLst>
          </p:nvPr>
        </p:nvSpPr>
        <p:spPr>
          <a:xfrm rot="10800000">
            <a:off x="0" y="5913755"/>
            <a:ext cx="976630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6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3825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任意形状 9"/>
          <p:cNvSpPr/>
          <p:nvPr userDrawn="1">
            <p:custDataLst>
              <p:tags r:id="rId3"/>
            </p:custDataLst>
          </p:nvPr>
        </p:nvSpPr>
        <p:spPr>
          <a:xfrm rot="16200000">
            <a:off x="-18383" y="15240"/>
            <a:ext cx="1243965" cy="121348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6" name="任意形状 8"/>
          <p:cNvSpPr/>
          <p:nvPr userDrawn="1">
            <p:custDataLst>
              <p:tags r:id="rId4"/>
            </p:custDataLst>
          </p:nvPr>
        </p:nvSpPr>
        <p:spPr>
          <a:xfrm>
            <a:off x="10344785" y="0"/>
            <a:ext cx="1847215" cy="1801495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/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>
            <a:normAutofit/>
          </a:bodyPr>
          <a:lstStyle>
            <a:lvl1pPr algn="ctr">
              <a:defRPr sz="36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9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3810" y="5029201"/>
            <a:ext cx="12192000" cy="1828799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0" name="任意形状 9"/>
          <p:cNvSpPr/>
          <p:nvPr userDrawn="1">
            <p:custDataLst>
              <p:tags r:id="rId3"/>
            </p:custDataLst>
          </p:nvPr>
        </p:nvSpPr>
        <p:spPr>
          <a:xfrm rot="10800000">
            <a:off x="3810" y="5905500"/>
            <a:ext cx="976630" cy="95250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tx2">
                  <a:lumMod val="90000"/>
                  <a:alpha val="24000"/>
                </a:schemeClr>
              </a:gs>
              <a:gs pos="100000">
                <a:schemeClr val="bg2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 dirty="0">
              <a:highlight>
                <a:srgbClr val="1171F1"/>
              </a:highlight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>
            <a:normAutofit/>
          </a:bodyPr>
          <a:lstStyle>
            <a:lvl1pPr algn="ctr">
              <a:defRPr sz="32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9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-3492"/>
            <a:ext cx="12192000" cy="914400"/>
          </a:xfrm>
          <a:prstGeom prst="rect">
            <a:avLst/>
          </a:prstGeom>
          <a:solidFill>
            <a:schemeClr val="tx2">
              <a:alpha val="7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79755" y="193040"/>
            <a:ext cx="11037570" cy="521335"/>
          </a:xfrm>
        </p:spPr>
        <p:txBody>
          <a:bodyPr>
            <a:noAutofit/>
          </a:bodyPr>
          <a:lstStyle>
            <a:lvl1pPr>
              <a:defRPr sz="28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>
            <a:normAutofit/>
          </a:bodyPr>
          <a:lstStyle>
            <a:lvl1pPr algn="ctr">
              <a:defRPr sz="6000" baseline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5" Type="http://schemas.openxmlformats.org/officeDocument/2006/relationships/theme" Target="../theme/theme2.xml"/><Relationship Id="rId24" Type="http://schemas.openxmlformats.org/officeDocument/2006/relationships/tags" Target="../tags/tag128.xml"/><Relationship Id="rId23" Type="http://schemas.openxmlformats.org/officeDocument/2006/relationships/tags" Target="../tags/tag127.xml"/><Relationship Id="rId22" Type="http://schemas.openxmlformats.org/officeDocument/2006/relationships/tags" Target="../tags/tag126.xml"/><Relationship Id="rId21" Type="http://schemas.openxmlformats.org/officeDocument/2006/relationships/tags" Target="../tags/tag125.xml"/><Relationship Id="rId20" Type="http://schemas.openxmlformats.org/officeDocument/2006/relationships/tags" Target="../tags/tag124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123.xml"/><Relationship Id="rId18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accent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75000"/>
              <a:lumOff val="2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tags" Target="../tags/tag129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tags" Target="../tags/tag13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37.xml"/><Relationship Id="rId2" Type="http://schemas.openxmlformats.org/officeDocument/2006/relationships/image" Target="../media/image1.jpeg"/><Relationship Id="rId1" Type="http://schemas.openxmlformats.org/officeDocument/2006/relationships/tags" Target="../tags/tag136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38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39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41.xml"/><Relationship Id="rId2" Type="http://schemas.openxmlformats.org/officeDocument/2006/relationships/image" Target="../media/image6.jpeg"/><Relationship Id="rId1" Type="http://schemas.openxmlformats.org/officeDocument/2006/relationships/tags" Target="../tags/tag140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tags" Target="../tags/tag143.xml"/><Relationship Id="rId2" Type="http://schemas.openxmlformats.org/officeDocument/2006/relationships/image" Target="../media/image7.jpeg"/><Relationship Id="rId1" Type="http://schemas.openxmlformats.org/officeDocument/2006/relationships/tags" Target="../tags/tag14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dirty="0">
                <a:solidFill>
                  <a:schemeClr val="accent1"/>
                </a:solidFill>
              </a:rPr>
              <a:t>Shopping System Notes</a:t>
            </a:r>
            <a:endParaRPr lang="en-US" altLang="zh-CN" dirty="0">
              <a:solidFill>
                <a:schemeClr val="accent1"/>
              </a:solidFill>
            </a:endParaRPr>
          </a:p>
        </p:txBody>
      </p:sp>
      <p:sp>
        <p:nvSpPr>
          <p:cNvPr id="15" name="副标题 14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dirty="0">
                <a:solidFill>
                  <a:schemeClr val="dk1">
                    <a:lumMod val="75000"/>
                    <a:lumOff val="25000"/>
                  </a:schemeClr>
                </a:solidFill>
                <a:sym typeface="Arial" panose="020B0604020202020204" pitchFamily="34" charset="0"/>
              </a:rPr>
              <a:t>单击此处添加副标题</a:t>
            </a:r>
            <a:endParaRPr lang="zh-CN" altLang="en-US" dirty="0">
              <a:solidFill>
                <a:schemeClr val="dk1">
                  <a:lumMod val="75000"/>
                  <a:lumOff val="25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2" name="文本占位符 1"/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/>
          <a:p>
            <a:r>
              <a:rPr lang="zh-CN" altLang="en-US" dirty="0">
                <a:solidFill>
                  <a:schemeClr val="accent1"/>
                </a:solidFill>
                <a:sym typeface="Arial" panose="020B0604020202020204" pitchFamily="34" charset="0"/>
              </a:rPr>
              <a:t>演讲者：</a:t>
            </a:r>
            <a:endParaRPr lang="zh-CN" altLang="en-US" dirty="0">
              <a:solidFill>
                <a:schemeClr val="accent1"/>
              </a:solidFill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OSS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https://github.com/Allen7D/mini-shop-server</a:t>
            </a:r>
            <a:endParaRPr lang="zh-CN" altLang="en-US"/>
          </a:p>
          <a:p>
            <a:pPr lvl="1"/>
            <a:r>
              <a:rPr lang="en-US" altLang="zh-CN"/>
              <a:t>Flask server</a:t>
            </a:r>
            <a:endParaRPr lang="en-US" altLang="zh-CN"/>
          </a:p>
          <a:p>
            <a:pPr lvl="0"/>
            <a:r>
              <a:rPr lang="en-US" altLang="zh-CN"/>
              <a:t>https://github.com/Exrick/xmall</a:t>
            </a:r>
            <a:endParaRPr lang="en-US" altLang="zh-CN"/>
          </a:p>
          <a:p>
            <a:pPr lvl="1"/>
            <a:r>
              <a:rPr lang="en-US" altLang="zh-CN"/>
              <a:t>Java, Vue</a:t>
            </a:r>
            <a:endParaRPr lang="en-US" altLang="zh-CN"/>
          </a:p>
          <a:p>
            <a:pPr lvl="0"/>
            <a:r>
              <a:rPr lang="en-US" altLang="zh-CN"/>
              <a:t>https://github.com/linlinjava/litemall</a:t>
            </a:r>
            <a:endParaRPr lang="en-US" altLang="zh-CN"/>
          </a:p>
          <a:p>
            <a:pPr lvl="1"/>
            <a:r>
              <a:rPr lang="en-US" altLang="zh-CN"/>
              <a:t>SpringBoot, Vue</a:t>
            </a:r>
            <a:endParaRPr lang="en-US" altLang="zh-CN"/>
          </a:p>
          <a:p>
            <a:pPr lvl="1"/>
            <a:r>
              <a:t>管理后台，微信小程序</a:t>
            </a:r>
          </a:p>
        </p:txBody>
      </p:sp>
      <p:sp>
        <p:nvSpPr>
          <p:cNvPr id="7" name="任意形状 8"/>
          <p:cNvSpPr/>
          <p:nvPr userDrawn="1">
            <p:custDataLst>
              <p:tags r:id="rId1"/>
            </p:custDataLst>
          </p:nvPr>
        </p:nvSpPr>
        <p:spPr>
          <a:xfrm>
            <a:off x="9727092" y="-51"/>
            <a:ext cx="2464998" cy="2403231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任意形状 8"/>
          <p:cNvSpPr/>
          <p:nvPr userDrawn="1">
            <p:custDataLst>
              <p:tags r:id="rId2"/>
            </p:custDataLst>
          </p:nvPr>
        </p:nvSpPr>
        <p:spPr>
          <a:xfrm rot="10800000">
            <a:off x="0" y="5480050"/>
            <a:ext cx="1412875" cy="1377950"/>
          </a:xfrm>
          <a:custGeom>
            <a:avLst/>
            <a:gdLst>
              <a:gd name="connsiteX0" fmla="*/ 361564 w 3507050"/>
              <a:gd name="connsiteY0" fmla="*/ 0 h 3419170"/>
              <a:gd name="connsiteX1" fmla="*/ 3507050 w 3507050"/>
              <a:gd name="connsiteY1" fmla="*/ 0 h 3419170"/>
              <a:gd name="connsiteX2" fmla="*/ 3507050 w 3507050"/>
              <a:gd name="connsiteY2" fmla="*/ 3045349 h 3419170"/>
              <a:gd name="connsiteX3" fmla="*/ 3329322 w 3507050"/>
              <a:gd name="connsiteY3" fmla="*/ 3151539 h 3419170"/>
              <a:gd name="connsiteX4" fmla="*/ 2254631 w 3507050"/>
              <a:gd name="connsiteY4" fmla="*/ 3419170 h 3419170"/>
              <a:gd name="connsiteX5" fmla="*/ 0 w 3507050"/>
              <a:gd name="connsiteY5" fmla="*/ 1201750 h 3419170"/>
              <a:gd name="connsiteX6" fmla="*/ 272122 w 3507050"/>
              <a:gd name="connsiteY6" fmla="*/ 144796 h 34191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507050" h="3419170">
                <a:moveTo>
                  <a:pt x="361564" y="0"/>
                </a:moveTo>
                <a:lnTo>
                  <a:pt x="3507050" y="0"/>
                </a:lnTo>
                <a:lnTo>
                  <a:pt x="3507050" y="3045349"/>
                </a:lnTo>
                <a:lnTo>
                  <a:pt x="3329322" y="3151539"/>
                </a:lnTo>
                <a:cubicBezTo>
                  <a:pt x="3009856" y="3322220"/>
                  <a:pt x="2643756" y="3419170"/>
                  <a:pt x="2254631" y="3419170"/>
                </a:cubicBezTo>
                <a:cubicBezTo>
                  <a:pt x="1009433" y="3419170"/>
                  <a:pt x="0" y="2426397"/>
                  <a:pt x="0" y="1201750"/>
                </a:cubicBezTo>
                <a:cubicBezTo>
                  <a:pt x="0" y="819048"/>
                  <a:pt x="98578" y="458990"/>
                  <a:pt x="272122" y="144796"/>
                </a:cubicBezTo>
                <a:close/>
              </a:path>
            </a:pathLst>
          </a:custGeom>
          <a:gradFill>
            <a:gsLst>
              <a:gs pos="0">
                <a:schemeClr val="bg2">
                  <a:alpha val="10000"/>
                </a:schemeClr>
              </a:gs>
              <a:gs pos="100000">
                <a:schemeClr val="tx2">
                  <a:lumMod val="90000"/>
                  <a:alpha val="2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kumimoji="1" lang="zh-CN" altLang="en-US" dirty="0">
              <a:solidFill>
                <a:schemeClr val="lt1"/>
              </a:solidFill>
              <a:highlight>
                <a:srgbClr val="1171F1"/>
              </a:highligh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参考架构</a:t>
            </a:r>
          </a:p>
        </p:txBody>
      </p:sp>
      <p:pic>
        <p:nvPicPr>
          <p:cNvPr id="101" name="图片 100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397760" y="647700"/>
            <a:ext cx="8229600" cy="589788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References 1 Flask</a:t>
            </a:r>
            <a:r>
              <a:t>商城</a:t>
            </a:r>
            <a:r>
              <a:rPr lang="en-US" altLang="zh-CN"/>
              <a:t> - 1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952500"/>
            <a:ext cx="10852150" cy="647700"/>
          </a:xfrm>
        </p:spPr>
        <p:txBody>
          <a:bodyPr/>
          <a:p>
            <a:r>
              <a:rPr lang="zh-CN" altLang="en-US"/>
              <a:t>https://www.cnblogs.com/yffxwyy/p/13792864.html</a:t>
            </a:r>
            <a:endParaRPr lang="zh-CN" altLang="en-US"/>
          </a:p>
          <a:p>
            <a:pPr lvl="1"/>
            <a:endParaRPr lang="zh-CN" altLang="en-US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583565" y="1929765"/>
            <a:ext cx="3594100" cy="37084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1" name="图片 100"/>
          <p:cNvPicPr/>
          <p:nvPr/>
        </p:nvPicPr>
        <p:blipFill>
          <a:blip r:embed="rId2"/>
          <a:stretch>
            <a:fillRect/>
          </a:stretch>
        </p:blipFill>
        <p:spPr>
          <a:xfrm>
            <a:off x="4483100" y="1447165"/>
            <a:ext cx="7327900" cy="2806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" name="图片 101"/>
          <p:cNvPicPr/>
          <p:nvPr/>
        </p:nvPicPr>
        <p:blipFill>
          <a:blip r:embed="rId3"/>
          <a:stretch>
            <a:fillRect/>
          </a:stretch>
        </p:blipFill>
        <p:spPr>
          <a:xfrm>
            <a:off x="4177665" y="4328795"/>
            <a:ext cx="5637530" cy="245237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DB Design - 1</a:t>
            </a:r>
            <a:endParaRPr lang="en-US" altLang="zh-CN"/>
          </a:p>
        </p:txBody>
      </p:sp>
      <p:pic>
        <p:nvPicPr>
          <p:cNvPr id="103" name="图片 102"/>
          <p:cNvPicPr/>
          <p:nvPr/>
        </p:nvPicPr>
        <p:blipFill>
          <a:blip r:embed="rId1"/>
          <a:stretch>
            <a:fillRect/>
          </a:stretch>
        </p:blipFill>
        <p:spPr>
          <a:xfrm>
            <a:off x="1087755" y="1231900"/>
            <a:ext cx="7723505" cy="481520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DB Design - 2</a:t>
            </a:r>
            <a:endParaRPr lang="en-US" altLang="zh-CN"/>
          </a:p>
        </p:txBody>
      </p:sp>
      <p:pic>
        <p:nvPicPr>
          <p:cNvPr id="103" name="图片 102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313430" y="530225"/>
            <a:ext cx="5873750" cy="613727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t>购物车及订单</a:t>
            </a:r>
          </a:p>
        </p:txBody>
      </p:sp>
      <p:sp>
        <p:nvSpPr>
          <p:cNvPr id="4" name="圆角矩形 3"/>
          <p:cNvSpPr/>
          <p:nvPr/>
        </p:nvSpPr>
        <p:spPr>
          <a:xfrm>
            <a:off x="1544320" y="1475740"/>
            <a:ext cx="2969260" cy="53086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加入购物车</a:t>
            </a:r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1544320" y="2493645"/>
            <a:ext cx="2969260" cy="53086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显示</a:t>
            </a:r>
            <a:r>
              <a:rPr lang="en-US" altLang="zh-CN"/>
              <a:t>“</a:t>
            </a:r>
            <a:r>
              <a:rPr lang="zh-CN" altLang="en-US"/>
              <a:t>创建订单</a:t>
            </a:r>
            <a:r>
              <a:rPr lang="en-US" altLang="zh-CN"/>
              <a:t>”</a:t>
            </a:r>
            <a:r>
              <a:rPr lang="zh-CN" altLang="en-US"/>
              <a:t>页面</a:t>
            </a:r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1544320" y="3483610"/>
            <a:ext cx="2969260" cy="53086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生成订单</a:t>
            </a:r>
            <a:endParaRPr lang="zh-CN" altLang="en-US"/>
          </a:p>
        </p:txBody>
      </p:sp>
      <p:cxnSp>
        <p:nvCxnSpPr>
          <p:cNvPr id="7" name="直接箭头连接符 6"/>
          <p:cNvCxnSpPr>
            <a:stCxn id="4" idx="2"/>
            <a:endCxn id="5" idx="0"/>
          </p:cNvCxnSpPr>
          <p:nvPr/>
        </p:nvCxnSpPr>
        <p:spPr>
          <a:xfrm>
            <a:off x="3028950" y="2006600"/>
            <a:ext cx="0" cy="4870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3028950" y="3024505"/>
            <a:ext cx="0" cy="4591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28950" y="2096770"/>
            <a:ext cx="13284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立即购买</a:t>
            </a:r>
            <a:endParaRPr lang="zh-CN" altLang="en-US" sz="1400"/>
          </a:p>
        </p:txBody>
      </p:sp>
      <p:sp>
        <p:nvSpPr>
          <p:cNvPr id="9" name="文本框 8"/>
          <p:cNvSpPr txBox="1"/>
          <p:nvPr/>
        </p:nvSpPr>
        <p:spPr>
          <a:xfrm>
            <a:off x="3116580" y="3114675"/>
            <a:ext cx="13284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提交订单</a:t>
            </a:r>
            <a:endParaRPr lang="zh-CN" altLang="en-US" sz="1400"/>
          </a:p>
        </p:txBody>
      </p:sp>
      <p:sp>
        <p:nvSpPr>
          <p:cNvPr id="10" name="圆角矩形 9"/>
          <p:cNvSpPr/>
          <p:nvPr/>
        </p:nvSpPr>
        <p:spPr>
          <a:xfrm>
            <a:off x="1544320" y="4375150"/>
            <a:ext cx="2969260" cy="53086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支付流程</a:t>
            </a:r>
            <a:endParaRPr lang="zh-CN" altLang="en-US"/>
          </a:p>
        </p:txBody>
      </p:sp>
      <p:cxnSp>
        <p:nvCxnSpPr>
          <p:cNvPr id="11" name="直接箭头连接符 10"/>
          <p:cNvCxnSpPr>
            <a:stCxn id="6" idx="2"/>
            <a:endCxn id="10" idx="0"/>
          </p:cNvCxnSpPr>
          <p:nvPr/>
        </p:nvCxnSpPr>
        <p:spPr>
          <a:xfrm>
            <a:off x="3028950" y="4014470"/>
            <a:ext cx="0" cy="3606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116580" y="4014470"/>
            <a:ext cx="13284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确认支付</a:t>
            </a:r>
            <a:endParaRPr lang="zh-CN" altLang="en-US" sz="1400"/>
          </a:p>
        </p:txBody>
      </p:sp>
      <p:pic>
        <p:nvPicPr>
          <p:cNvPr id="102" name="图片 101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943475" y="1489075"/>
            <a:ext cx="6888480" cy="288607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生成订单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952500"/>
            <a:ext cx="6130925" cy="1030605"/>
          </a:xfrm>
        </p:spPr>
        <p:txBody>
          <a:bodyPr/>
          <a:p>
            <a:r>
              <a:rPr lang="en-US" altLang="zh-CN"/>
              <a:t>References</a:t>
            </a:r>
            <a:endParaRPr lang="en-US" altLang="zh-CN"/>
          </a:p>
          <a:p>
            <a:pPr lvl="1"/>
            <a:r>
              <a:rPr lang="en-US" altLang="zh-CN"/>
              <a:t>https://www.jianshu.com/p/c244edbaf5c4</a:t>
            </a:r>
            <a:endParaRPr lang="en-US" altLang="zh-CN"/>
          </a:p>
          <a:p>
            <a:pPr marL="0" lvl="0" indent="0">
              <a:buNone/>
            </a:pPr>
            <a:endParaRPr lang="en-US" altLang="zh-CN"/>
          </a:p>
        </p:txBody>
      </p:sp>
      <p:sp>
        <p:nvSpPr>
          <p:cNvPr id="4" name="圆角矩形 3"/>
          <p:cNvSpPr/>
          <p:nvPr/>
        </p:nvSpPr>
        <p:spPr>
          <a:xfrm>
            <a:off x="7972425" y="1014095"/>
            <a:ext cx="2757805" cy="63119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生成订单编号</a:t>
            </a:r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7972425" y="1925955"/>
            <a:ext cx="2757805" cy="63119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获取购物车结算商品数据</a:t>
            </a:r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7972425" y="2827020"/>
            <a:ext cx="2757805" cy="63119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遍历结算商品：判断商品库存是否充足</a:t>
            </a: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7972425" y="3728085"/>
            <a:ext cx="2757805" cy="63119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更新</a:t>
            </a:r>
            <a:r>
              <a:rPr lang="en-US" altLang="zh-CN"/>
              <a:t>SKU</a:t>
            </a:r>
            <a:r>
              <a:rPr lang="zh-CN" altLang="en-US"/>
              <a:t>，减少商品库存，增加商品销量</a:t>
            </a:r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7972425" y="4629150"/>
            <a:ext cx="2757805" cy="63119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保存订单商品数据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7972425" y="5530215"/>
            <a:ext cx="2757805" cy="63119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购物车中删除已结算商品数据</a:t>
            </a:r>
            <a:endParaRPr lang="zh-CN" altLang="en-US"/>
          </a:p>
        </p:txBody>
      </p:sp>
      <p:cxnSp>
        <p:nvCxnSpPr>
          <p:cNvPr id="10" name="直接箭头连接符 9"/>
          <p:cNvCxnSpPr/>
          <p:nvPr/>
        </p:nvCxnSpPr>
        <p:spPr>
          <a:xfrm>
            <a:off x="9351645" y="1645285"/>
            <a:ext cx="0" cy="3378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>
            <a:off x="9351645" y="2557145"/>
            <a:ext cx="0" cy="2698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9351645" y="3458210"/>
            <a:ext cx="0" cy="2698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>
            <a:off x="9351645" y="4359275"/>
            <a:ext cx="0" cy="2698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>
            <a:stCxn id="8" idx="2"/>
            <a:endCxn id="9" idx="0"/>
          </p:cNvCxnSpPr>
          <p:nvPr/>
        </p:nvCxnSpPr>
        <p:spPr>
          <a:xfrm>
            <a:off x="9351645" y="5260340"/>
            <a:ext cx="0" cy="2698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支付宝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952500"/>
            <a:ext cx="5425440" cy="5388610"/>
          </a:xfrm>
        </p:spPr>
        <p:txBody>
          <a:bodyPr/>
          <a:p>
            <a:r>
              <a:t>参考</a:t>
            </a:r>
          </a:p>
          <a:p>
            <a:pPr lvl="1"/>
            <a:r>
              <a:rPr lang="en-US" altLang="zh-CN"/>
              <a:t>https://opendocs.alipay.com/open/02awe1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PayPal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952500"/>
            <a:ext cx="6187440" cy="5388610"/>
          </a:xfrm>
        </p:spPr>
        <p:txBody>
          <a:bodyPr/>
          <a:p>
            <a:r>
              <a:rPr lang="zh-CN" altLang="en-US"/>
              <a:t>参考</a:t>
            </a:r>
            <a:endParaRPr lang="zh-CN" altLang="en-US"/>
          </a:p>
          <a:p>
            <a:pPr lvl="1"/>
            <a:r>
              <a:rPr lang="en-US" altLang="zh-CN"/>
              <a:t>https://zhuanlan.zhihu.com/p/357219845</a:t>
            </a:r>
            <a:endParaRPr lang="en-US" altLang="zh-CN"/>
          </a:p>
          <a:p>
            <a:pPr lvl="1"/>
            <a:r>
              <a:rPr lang="en-US" altLang="zh-CN"/>
              <a:t>https://www.cnblogs.com/rickzhai/p/7924181.html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7"/>
  <p:tag name="KSO_WM_UNIT_LAYERLEVEL" val="1"/>
  <p:tag name="KSO_WM_TAG_VERSION" val="1.0"/>
  <p:tag name="KSO_WM_BEAUTIFY_FLAG" val="#wm#"/>
  <p:tag name="KSO_WM_UNIT_TYPE" val="y"/>
  <p:tag name="KSO_WM_UNIT_INDEX" val="7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1"/>
  <p:tag name="KSO_WM_UNIT_LAYERLEVEL" val="1"/>
  <p:tag name="KSO_WM_TAG_VERSION" val="1.0"/>
  <p:tag name="KSO_WM_BEAUTIFY_FLAG" val="#wm#"/>
  <p:tag name="KSO_WM_UNIT_TYPE" val="y"/>
  <p:tag name="KSO_WM_UNIT_INDEX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2"/>
  <p:tag name="KSO_WM_UNIT_LAYERLEVEL" val="1"/>
  <p:tag name="KSO_WM_TAG_VERSION" val="1.0"/>
  <p:tag name="KSO_WM_BEAUTIFY_FLAG" val="#wm#"/>
  <p:tag name="KSO_WM_UNIT_TYPE" val="y"/>
  <p:tag name="KSO_WM_UNIT_INDEX" val="2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3"/>
  <p:tag name="KSO_WM_UNIT_LAYERLEVEL" val="1"/>
  <p:tag name="KSO_WM_TAG_VERSION" val="1.0"/>
  <p:tag name="KSO_WM_BEAUTIFY_FLAG" val="#wm#"/>
  <p:tag name="KSO_WM_UNIT_TYPE" val="y"/>
  <p:tag name="KSO_WM_UNIT_INDEX" val="3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4"/>
  <p:tag name="KSO_WM_UNIT_LAYERLEVEL" val="1"/>
  <p:tag name="KSO_WM_TAG_VERSION" val="1.0"/>
  <p:tag name="KSO_WM_BEAUTIFY_FLAG" val="#wm#"/>
  <p:tag name="KSO_WM_UNIT_TYPE" val="y"/>
  <p:tag name="KSO_WM_UNIT_INDEX" val="4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5"/>
  <p:tag name="KSO_WM_UNIT_LAYERLEVEL" val="1"/>
  <p:tag name="KSO_WM_TAG_VERSION" val="1.0"/>
  <p:tag name="KSO_WM_BEAUTIFY_FLAG" val="#wm#"/>
  <p:tag name="KSO_WM_UNIT_TYPE" val="y"/>
  <p:tag name="KSO_WM_UNIT_INDEX" val="5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y*6"/>
  <p:tag name="KSO_WM_UNIT_LAYERLEVEL" val="1"/>
  <p:tag name="KSO_WM_TAG_VERSION" val="1.0"/>
  <p:tag name="KSO_WM_BEAUTIFY_FLAG" val="#wm#"/>
  <p:tag name="KSO_WM_UNIT_TYPE" val="y"/>
  <p:tag name="KSO_WM_UNIT_INDEX" val="6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  <p:tag name="KSO_WM_UNIT_BK_DARK_LIGHT" val="2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8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9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10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6915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TEMPLATE_SUBCATEGORY" val="0"/>
  <p:tag name="KSO_WM_TEMPLATE_MASTER_TYPE" val="1"/>
  <p:tag name="KSO_WM_TEMPLATE_COLOR_TYPE" val="1"/>
  <p:tag name="KSO_WM_TAG_VERSION" val="1.0"/>
  <p:tag name="KSO_WM_BEAUTIFY_FLAG" val="#wm#"/>
  <p:tag name="KSO_WM_TEMPLATE_CATEGORY" val="custom"/>
  <p:tag name="KSO_WM_TEMPLATE_INDEX" val="20206915"/>
  <p:tag name="KSO_WM_TEMPLATE_MASTER_THUMB_INDEX" val="12"/>
  <p:tag name="KSO_WM_TEMPLATE_THUMBS_INDEX" val="1、4、7、8、10、11、12、13、15"/>
</p:tagLst>
</file>

<file path=ppt/tags/tag12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6915_1*a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PRESET_TEXT" val="空白演示经典风格"/>
  <p:tag name="KSO_WM_UNIT_TEXT_FILL_FORE_SCHEMECOLOR_INDEX_BRIGHTNESS" val="0"/>
  <p:tag name="KSO_WM_UNIT_TEXT_FILL_FORE_SCHEMECOLOR_INDEX" val="5"/>
  <p:tag name="KSO_WM_UNIT_TEXT_FILL_TYPE" val="1"/>
</p:tagLst>
</file>

<file path=ppt/tags/tag13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7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6915_1*b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PRESET_TEXT" val="单击此处添加副标题"/>
  <p:tag name="KSO_WM_UNIT_TEXT_FILL_FORE_SCHEMECOLOR_INDEX_BRIGHTNESS" val="0.25"/>
  <p:tag name="KSO_WM_UNIT_TEXT_FILL_FORE_SCHEMECOLOR_INDEX" val="13"/>
  <p:tag name="KSO_WM_UNIT_TEXT_FILL_TYPE" val="1"/>
</p:tagLst>
</file>

<file path=ppt/tags/tag131.xml><?xml version="1.0" encoding="utf-8"?>
<p:tagLst xmlns:p="http://schemas.openxmlformats.org/presentationml/2006/main"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06915_1*f*1"/>
  <p:tag name="KSO_WM_TEMPLATE_CATEGORY" val="custom"/>
  <p:tag name="KSO_WM_TEMPLATE_INDEX" val="20206915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演讲者："/>
  <p:tag name="KSO_WM_UNIT_SUBTYPE" val="b"/>
  <p:tag name="KSO_WM_UNIT_TEXT_FILL_FORE_SCHEMECOLOR_INDEX_BRIGHTNESS" val="0"/>
  <p:tag name="KSO_WM_UNIT_TEXT_FILL_FORE_SCHEMECOLOR_INDEX" val="5"/>
  <p:tag name="KSO_WM_UNIT_TEXT_FILL_TYPE" val="1"/>
</p:tagLst>
</file>

<file path=ppt/tags/tag132.xml><?xml version="1.0" encoding="utf-8"?>
<p:tagLst xmlns:p="http://schemas.openxmlformats.org/presentationml/2006/main">
  <p:tag name="KSO_WM_SLIDE_ID" val="custom20206915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6915"/>
  <p:tag name="KSO_WM_SLIDE_LAYOUT" val="a_b_f"/>
  <p:tag name="KSO_WM_SLIDE_LAYOUT_CNT" val="1_1_1"/>
  <p:tag name="KSO_WM_TEMPLATE_THUMBS_INDEX" val="1、4、7、8、10、11、12、13、15"/>
  <p:tag name="KSO_WM_TEMPLATE_MASTER_THUMB_INDEX" val="1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1_BRIGHTNESS" val="0"/>
  <p:tag name="KSO_WM_UNIT_FILL_FORE_SCHEMECOLOR_INDEX_1" val="16"/>
  <p:tag name="KSO_WM_UNIT_FILL_FORE_SCHEMECOLOR_INDEX_1_POS" val="0"/>
  <p:tag name="KSO_WM_UNIT_FILL_FORE_SCHEMECOLOR_INDEX_1_TRANS" val="0.9"/>
  <p:tag name="KSO_WM_UNIT_FILL_FORE_SCHEMECOLOR_INDEX_2_BRIGHTNESS" val="-0.1"/>
  <p:tag name="KSO_WM_UNIT_FILL_FORE_SCHEMECOLOR_INDEX_2" val="15"/>
  <p:tag name="KSO_WM_UNIT_FILL_FORE_SCHEMECOLOR_INDEX_2_POS" val="1"/>
  <p:tag name="KSO_WM_UNIT_FILL_FORE_SCHEMECOLOR_INDEX_2_TRANS" val="0.76"/>
  <p:tag name="KSO_WM_UNIT_FILL_GRADIENT_TYPE" val="0"/>
  <p:tag name="KSO_WM_UNIT_FILL_GRADIENT_ANGLE" val="90"/>
  <p:tag name="KSO_WM_UNIT_FILL_GRADIENT_Direction" val="1"/>
  <p:tag name="KSO_WM_UNIT_FILL_TYPE" val="3"/>
  <p:tag name="KSO_WM_UNIT_TEXT_FILL_FORE_SCHEMECOLOR_INDEX_BRIGHTNESS" val="0"/>
  <p:tag name="KSO_WM_UNIT_TEXT_FILL_FORE_SCHEMECOLOR_INDEX" val="2"/>
  <p:tag name="KSO_WM_UNIT_TEXT_FILL_TYPE" val="1"/>
</p:tagLst>
</file>

<file path=ppt/tags/tag135.xml><?xml version="1.0" encoding="utf-8"?>
<p:tagLst xmlns:p="http://schemas.openxmlformats.org/presentationml/2006/main">
  <p:tag name="KSO_WM_BEAUTIFY_FLAG" val="#wm#"/>
  <p:tag name="KSO_WM_TEMPLATE_CATEGORY" val="custom"/>
  <p:tag name="KSO_WM_TEMPLATE_INDEX" val="20229149"/>
  <p:tag name="KSO_WM_SLIDE_BACKGROUND_TYPE" val="general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#wm#"/>
  <p:tag name="KSO_WM_TEMPLATE_CATEGORY" val="custom"/>
  <p:tag name="KSO_WM_TEMPLATE_INDEX" val="20229149"/>
</p:tagLst>
</file>

<file path=ppt/tags/tag138.xml><?xml version="1.0" encoding="utf-8"?>
<p:tagLst xmlns:p="http://schemas.openxmlformats.org/presentationml/2006/main">
  <p:tag name="KSO_WM_BEAUTIFY_FLAG" val="#wm#"/>
  <p:tag name="KSO_WM_TEMPLATE_CATEGORY" val="custom"/>
  <p:tag name="KSO_WM_TEMPLATE_INDEX" val="20229149"/>
</p:tagLst>
</file>

<file path=ppt/tags/tag139.xml><?xml version="1.0" encoding="utf-8"?>
<p:tagLst xmlns:p="http://schemas.openxmlformats.org/presentationml/2006/main">
  <p:tag name="KSO_WM_BEAUTIFY_FLAG" val="#wm#"/>
  <p:tag name="KSO_WM_TEMPLATE_CATEGORY" val="custom"/>
  <p:tag name="KSO_WM_TEMPLATE_INDEX" val="20229149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#wm#"/>
  <p:tag name="KSO_WM_TEMPLATE_CATEGORY" val="custom"/>
  <p:tag name="KSO_WM_TEMPLATE_INDEX" val="20229149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#wm#"/>
  <p:tag name="KSO_WM_TEMPLATE_CATEGORY" val="custom"/>
  <p:tag name="KSO_WM_TEMPLATE_INDEX" val="20229149"/>
</p:tagLst>
</file>

<file path=ppt/tags/tag144.xml><?xml version="1.0" encoding="utf-8"?>
<p:tagLst xmlns:p="http://schemas.openxmlformats.org/presentationml/2006/main">
  <p:tag name="KSO_WM_BEAUTIFY_FLAG" val="#wm#"/>
  <p:tag name="KSO_WM_TEMPLATE_CATEGORY" val="custom"/>
  <p:tag name="KSO_WM_TEMPLATE_INDEX" val="20229149"/>
</p:tagLst>
</file>

<file path=ppt/tags/tag145.xml><?xml version="1.0" encoding="utf-8"?>
<p:tagLst xmlns:p="http://schemas.openxmlformats.org/presentationml/2006/main">
  <p:tag name="KSO_WM_BEAUTIFY_FLAG" val="#wm#"/>
  <p:tag name="KSO_WM_TEMPLATE_CATEGORY" val="custom"/>
  <p:tag name="KSO_WM_TEMPLATE_INDEX" val="20229149"/>
</p:tagLst>
</file>

<file path=ppt/tags/tag146.xml><?xml version="1.0" encoding="utf-8"?>
<p:tagLst xmlns:p="http://schemas.openxmlformats.org/presentationml/2006/main">
  <p:tag name="KSO_WM_BEAUTIFY_FLAG" val="#wm#"/>
  <p:tag name="KSO_WM_TEMPLATE_CATEGORY" val="custom"/>
  <p:tag name="KSO_WM_TEMPLATE_INDEX" val="20229149"/>
</p:tagLst>
</file>

<file path=ppt/tags/tag147.xml><?xml version="1.0" encoding="utf-8"?>
<p:tagLst xmlns:p="http://schemas.openxmlformats.org/presentationml/2006/main">
  <p:tag name="commondata" val="eyJoZGlkIjoiYjRhZjQ5NWVmZmQxNmM3NmNkNDYxNWRmNzNmMjA1ZDAifQ=="/>
</p:tagLst>
</file>

<file path=ppt/theme/theme1.xml><?xml version="1.0" encoding="utf-8"?>
<a:theme xmlns:a="http://schemas.openxmlformats.org/drawingml/2006/main" name="WPS">
  <a:themeElements>
    <a:clrScheme name="WPS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6724B"/>
      </a:accent2>
      <a:accent3>
        <a:srgbClr val="EFBB1F"/>
      </a:accent3>
      <a:accent4>
        <a:srgbClr val="75BD42"/>
      </a:accent4>
      <a:accent5>
        <a:srgbClr val="30C0B4"/>
      </a:accent5>
      <a:accent6>
        <a:srgbClr val="E05269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F5F5F8"/>
      </a:dk2>
      <a:lt2>
        <a:srgbClr val="FFFFFF"/>
      </a:lt2>
      <a:accent1>
        <a:srgbClr val="577CCE"/>
      </a:accent1>
      <a:accent2>
        <a:srgbClr val="5999AF"/>
      </a:accent2>
      <a:accent3>
        <a:srgbClr val="5BA080"/>
      </a:accent3>
      <a:accent4>
        <a:srgbClr val="8BAA69"/>
      </a:accent4>
      <a:accent5>
        <a:srgbClr val="D6B250"/>
      </a:accent5>
      <a:accent6>
        <a:srgbClr val="E79647"/>
      </a:accent6>
      <a:hlink>
        <a:srgbClr val="0000FF"/>
      </a:hlink>
      <a:folHlink>
        <a:srgbClr val="FF00F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600</Words>
  <Application>WPS 演示</Application>
  <PresentationFormat>宽屏</PresentationFormat>
  <Paragraphs>72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Arial Unicode MS</vt:lpstr>
      <vt:lpstr>Calibri</vt:lpstr>
      <vt:lpstr>WPS</vt:lpstr>
      <vt:lpstr>2_Office 主题​​</vt:lpstr>
      <vt:lpstr>Shopping System Notes</vt:lpstr>
      <vt:lpstr>OSS</vt:lpstr>
      <vt:lpstr>参考架构</vt:lpstr>
      <vt:lpstr>References 1 Flask商城 - 1</vt:lpstr>
      <vt:lpstr>DB Design - 1</vt:lpstr>
      <vt:lpstr>DB Design - 2</vt:lpstr>
      <vt:lpstr>购物车及订单</vt:lpstr>
      <vt:lpstr>生成订单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Sparks Lu</dc:creator>
  <cp:lastModifiedBy>VhuanTech</cp:lastModifiedBy>
  <cp:revision>40</cp:revision>
  <dcterms:created xsi:type="dcterms:W3CDTF">2023-12-07T07:45:00Z</dcterms:created>
  <dcterms:modified xsi:type="dcterms:W3CDTF">2024-12-09T05:56:44Z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CA6226DB0AB642469002EB30DAC6981F_12</vt:lpwstr>
  </property>
  <property fmtid="{D5CDD505-2E9C-101B-9397-08002B2CF9AE}" pid="3" name="KSOProductBuildVer">
    <vt:lpwstr>2052-12.1.0.19302</vt:lpwstr>
  </property>
</Properties>
</file>