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0"/>
  </p:handoutMasterIdLst>
  <p:sldIdLst>
    <p:sldId id="256" r:id="rId3"/>
    <p:sldId id="780" r:id="rId5"/>
    <p:sldId id="296" r:id="rId6"/>
    <p:sldId id="352" r:id="rId7"/>
    <p:sldId id="295" r:id="rId8"/>
    <p:sldId id="436" r:id="rId9"/>
    <p:sldId id="520" r:id="rId10"/>
    <p:sldId id="259" r:id="rId11"/>
    <p:sldId id="262" r:id="rId12"/>
    <p:sldId id="268" r:id="rId13"/>
    <p:sldId id="600" r:id="rId14"/>
    <p:sldId id="779" r:id="rId15"/>
    <p:sldId id="269" r:id="rId16"/>
    <p:sldId id="260" r:id="rId17"/>
    <p:sldId id="261" r:id="rId18"/>
    <p:sldId id="258" r:id="rId19"/>
    <p:sldId id="284" r:id="rId20"/>
    <p:sldId id="285" r:id="rId21"/>
    <p:sldId id="495" r:id="rId22"/>
    <p:sldId id="392" r:id="rId23"/>
    <p:sldId id="276" r:id="rId24"/>
    <p:sldId id="557" r:id="rId25"/>
    <p:sldId id="267" r:id="rId26"/>
    <p:sldId id="283" r:id="rId27"/>
    <p:sldId id="332" r:id="rId28"/>
    <p:sldId id="411" r:id="rId29"/>
    <p:sldId id="477" r:id="rId30"/>
    <p:sldId id="676" r:id="rId31"/>
    <p:sldId id="677" r:id="rId32"/>
    <p:sldId id="706" r:id="rId33"/>
    <p:sldId id="778" r:id="rId34"/>
    <p:sldId id="735" r:id="rId35"/>
    <p:sldId id="297" r:id="rId36"/>
    <p:sldId id="299" r:id="rId37"/>
    <p:sldId id="380" r:id="rId38"/>
    <p:sldId id="343" r:id="rId39"/>
    <p:sldId id="298" r:id="rId40"/>
    <p:sldId id="320" r:id="rId41"/>
    <p:sldId id="326" r:id="rId42"/>
    <p:sldId id="391" r:id="rId43"/>
    <p:sldId id="587" r:id="rId44"/>
    <p:sldId id="390" r:id="rId45"/>
    <p:sldId id="429" r:id="rId46"/>
    <p:sldId id="470" r:id="rId47"/>
    <p:sldId id="580" r:id="rId48"/>
    <p:sldId id="641" r:id="rId49"/>
    <p:sldId id="662" r:id="rId50"/>
    <p:sldId id="290" r:id="rId51"/>
    <p:sldId id="291" r:id="rId52"/>
    <p:sldId id="289" r:id="rId53"/>
    <p:sldId id="426" r:id="rId54"/>
    <p:sldId id="292" r:id="rId55"/>
    <p:sldId id="293" r:id="rId56"/>
    <p:sldId id="764" r:id="rId57"/>
    <p:sldId id="766" r:id="rId58"/>
    <p:sldId id="765" r:id="rId59"/>
    <p:sldId id="655" r:id="rId60"/>
    <p:sldId id="656" r:id="rId61"/>
    <p:sldId id="637" r:id="rId62"/>
    <p:sldId id="781" r:id="rId63"/>
    <p:sldId id="638" r:id="rId64"/>
    <p:sldId id="652" r:id="rId65"/>
    <p:sldId id="775" r:id="rId66"/>
    <p:sldId id="782" r:id="rId67"/>
    <p:sldId id="598" r:id="rId68"/>
    <p:sldId id="599" r:id="rId69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4" Type="http://schemas.openxmlformats.org/officeDocument/2006/relationships/tags" Target="tags/tag75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slide" Target="slide65.xml"/><Relationship Id="rId5" Type="http://schemas.openxmlformats.org/officeDocument/2006/relationships/slide" Target="slide59.xml"/><Relationship Id="rId4" Type="http://schemas.openxmlformats.org/officeDocument/2006/relationships/slide" Target="slide57.xml"/><Relationship Id="rId3" Type="http://schemas.openxmlformats.org/officeDocument/2006/relationships/slide" Target="slide48.xml"/><Relationship Id="rId2" Type="http://schemas.openxmlformats.org/officeDocument/2006/relationships/slide" Target="slide33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3.png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2.xml"/><Relationship Id="rId2" Type="http://schemas.openxmlformats.org/officeDocument/2006/relationships/image" Target="../media/image6.png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7.png"/><Relationship Id="rId1" Type="http://schemas.openxmlformats.org/officeDocument/2006/relationships/tags" Target="../tags/tag3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4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7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000" smtClean="0"/>
              <a:t>JavaScript Notes</a:t>
            </a:r>
            <a:endParaRPr lang="en-US" altLang="zh-CN" sz="4000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416810"/>
            <a:ext cx="9144000" cy="376237"/>
          </a:xfrm>
        </p:spPr>
        <p:txBody>
          <a:bodyPr>
            <a:no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800" smtClean="0"/>
              <a:t>Sparks Lu</a:t>
            </a:r>
            <a:endParaRPr lang="en-US" altLang="zh-CN" sz="1800" smtClean="0"/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800" smtClean="0"/>
              <a:t>Last updated: 9/7/2024</a:t>
            </a:r>
            <a:endParaRPr lang="en-US" altLang="zh-CN" sz="1800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TOC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hlinkClick r:id="rId1" action="ppaction://hlinksldjump"/>
              </a:rPr>
              <a:t>General</a:t>
            </a:r>
            <a:endParaRPr lang="en-US" altLang="zh-CN"/>
          </a:p>
          <a:p>
            <a:r>
              <a:rPr lang="en-US" altLang="zh-CN">
                <a:hlinkClick r:id="rId2" action="ppaction://hlinksldjump"/>
              </a:rPr>
              <a:t>Image Process</a:t>
            </a:r>
            <a:endParaRPr lang="en-US" altLang="zh-CN"/>
          </a:p>
          <a:p>
            <a:r>
              <a:rPr lang="en-US" altLang="zh-CN">
                <a:hlinkClick r:id="rId3" action="ppaction://hlinksldjump"/>
              </a:rPr>
              <a:t>3D</a:t>
            </a:r>
            <a:endParaRPr lang="en-US" altLang="zh-CN"/>
          </a:p>
          <a:p>
            <a:r>
              <a:rPr lang="en-US" altLang="zh-CN">
                <a:hlinkClick r:id="rId4" action="ppaction://hlinksldjump"/>
              </a:rPr>
              <a:t>Data Visualization</a:t>
            </a:r>
            <a:endParaRPr lang="en-US" altLang="zh-CN"/>
          </a:p>
          <a:p>
            <a:r>
              <a:rPr lang="en-US" altLang="zh-CN">
                <a:hlinkClick r:id="rId5" action="ppaction://hlinksldjump"/>
              </a:rPr>
              <a:t>Misc.</a:t>
            </a:r>
            <a:endParaRPr lang="en-US" altLang="zh-CN"/>
          </a:p>
          <a:p>
            <a:r>
              <a:rPr lang="en-US" altLang="zh-CN">
                <a:hlinkClick r:id="rId6" action="ppaction://hlinksldjump"/>
              </a:rPr>
              <a:t>Interaction with Other Language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https://caniuse.com/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Architecture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3499485" y="1420495"/>
            <a:ext cx="3547110" cy="8909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Document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3499485" y="2733675"/>
            <a:ext cx="3547110" cy="8909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HTMLElement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8435" cy="4549140"/>
          </a:xfrm>
        </p:spPr>
        <p:txBody>
          <a:bodyPr/>
          <a:p>
            <a:r>
              <a:rPr lang="en-US" altLang="zh-CN"/>
              <a:t>console.log()</a:t>
            </a:r>
            <a:endParaRPr lang="en-US" altLang="zh-CN"/>
          </a:p>
          <a:p>
            <a:r>
              <a:rPr lang="en-US" altLang="zh-CN"/>
              <a:t>alert()</a:t>
            </a:r>
            <a:endParaRPr lang="en-US" altLang="zh-CN"/>
          </a:p>
          <a:p>
            <a:r>
              <a:rPr lang="en-US" altLang="zh-CN"/>
              <a:t>debugger</a:t>
            </a:r>
            <a:endParaRPr lang="en-US" altLang="zh-CN"/>
          </a:p>
          <a:p>
            <a:pPr lvl="1"/>
            <a:r>
              <a:rPr lang="en-US" altLang="zh-CN" sz="2000"/>
              <a:t>Pause when debug</a:t>
            </a:r>
            <a:endParaRPr lang="en-US" altLang="zh-CN"/>
          </a:p>
          <a:p>
            <a:r>
              <a:rPr lang="en-US" altLang="zh-CN"/>
              <a:t>console</a:t>
            </a:r>
            <a:endParaRPr lang="en-US" altLang="zh-CN"/>
          </a:p>
          <a:p>
            <a:pPr lvl="1"/>
            <a:r>
              <a:rPr lang="en-US" altLang="zh-CN"/>
              <a:t>window.performance.memory.jsHeapSizeLimit</a:t>
            </a:r>
            <a:endParaRPr lang="en-US" altLang="zh-CN"/>
          </a:p>
          <a:p>
            <a:pPr lvl="0"/>
            <a:r>
              <a:rPr lang="en-US" altLang="zh-CN"/>
              <a:t>memory leak</a:t>
            </a:r>
            <a:endParaRPr lang="en-US" altLang="zh-CN"/>
          </a:p>
          <a:p>
            <a:pPr lvl="1"/>
            <a:r>
              <a:rPr lang="en-US" altLang="zh-CN"/>
              <a:t>https://auth0.com/blog/four-types-of-leaks-in-your-javascript-code-and-how-to-get-rid-of-them/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30645" y="1154430"/>
            <a:ext cx="5612765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colorful console output</a:t>
            </a:r>
            <a:endParaRPr lang="en-US" altLang="zh-CN" sz="2000"/>
          </a:p>
          <a:p>
            <a:pPr lvl="1"/>
            <a:r>
              <a:rPr lang="en-US" altLang="zh-CN" sz="1800"/>
              <a:t>// ANSI 颜色代码  </a:t>
            </a:r>
            <a:endParaRPr lang="en-US" altLang="zh-CN" sz="1800"/>
          </a:p>
          <a:p>
            <a:pPr lvl="1"/>
            <a:r>
              <a:rPr lang="en-US" altLang="zh-CN" sz="1800"/>
              <a:t>const reset = "\x1b[0m"; // 重置所有属性  </a:t>
            </a:r>
            <a:endParaRPr lang="en-US" altLang="zh-CN" sz="1800"/>
          </a:p>
          <a:p>
            <a:pPr lvl="1"/>
            <a:r>
              <a:rPr lang="en-US" altLang="zh-CN" sz="1800"/>
              <a:t>const bold = "\x1b[1m"; // 加粗  </a:t>
            </a:r>
            <a:endParaRPr lang="en-US" altLang="zh-CN" sz="1800"/>
          </a:p>
          <a:p>
            <a:pPr lvl="1"/>
            <a:r>
              <a:rPr lang="en-US" altLang="zh-CN" sz="1800"/>
              <a:t>const underline = "\x1b[4m"; // 下划线  </a:t>
            </a:r>
            <a:endParaRPr lang="en-US" altLang="zh-CN" sz="1800"/>
          </a:p>
          <a:p>
            <a:pPr lvl="1"/>
            <a:r>
              <a:rPr lang="en-US" altLang="zh-CN" sz="1800"/>
              <a:t>const red = "\x1b[31m"; // 红色  </a:t>
            </a:r>
            <a:endParaRPr lang="en-US" altLang="zh-CN" sz="1800"/>
          </a:p>
          <a:p>
            <a:pPr lvl="1"/>
            <a:r>
              <a:rPr lang="en-US" altLang="zh-CN" sz="1800"/>
              <a:t>const green = "\x1b[32m"; // 绿色  </a:t>
            </a:r>
            <a:endParaRPr lang="en-US" altLang="zh-CN" sz="1800"/>
          </a:p>
          <a:p>
            <a:pPr lvl="1"/>
            <a:r>
              <a:rPr lang="en-US" altLang="zh-CN" sz="1800"/>
              <a:t>const yellow = "\x1b[33m"; // 黄色  </a:t>
            </a:r>
            <a:endParaRPr lang="en-US" altLang="zh-CN" sz="1800"/>
          </a:p>
          <a:p>
            <a:pPr lvl="1"/>
            <a:r>
              <a:rPr lang="en-US" altLang="zh-CN" sz="1800"/>
              <a:t>const blue = "\x1b[34m"; // 蓝色  </a:t>
            </a:r>
            <a:endParaRPr lang="en-US" altLang="zh-CN" sz="1800"/>
          </a:p>
          <a:p>
            <a:pPr lvl="1"/>
            <a:r>
              <a:rPr lang="en-US" altLang="zh-CN" sz="1800"/>
              <a:t>const magenta = "\x1b[35m"; // 品红  </a:t>
            </a:r>
            <a:endParaRPr lang="en-US" altLang="zh-CN" sz="1800"/>
          </a:p>
          <a:p>
            <a:pPr lvl="1"/>
            <a:r>
              <a:rPr lang="en-US" altLang="zh-CN" sz="1800"/>
              <a:t>const cyan = "\x1b[36m"; // 青色  </a:t>
            </a:r>
            <a:endParaRPr lang="en-US" altLang="zh-CN" sz="1800"/>
          </a:p>
          <a:p>
            <a:pPr lvl="1"/>
            <a:r>
              <a:rPr lang="en-US" altLang="zh-CN" sz="1800"/>
              <a:t>const white = "\x1b[37m"; // 白色  </a:t>
            </a:r>
            <a:endParaRPr lang="en-US" altLang="zh-CN" sz="1800"/>
          </a:p>
          <a:p>
            <a:pPr lvl="1"/>
            <a:r>
              <a:rPr lang="en-US" altLang="zh-CN" sz="1800"/>
              <a:t>console.log(red + "这是一个红色的文本" + reset);  </a:t>
            </a:r>
            <a:endParaRPr lang="en-US" altLang="zh-CN" sz="18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Coding Style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ESLint</a:t>
            </a:r>
            <a:endParaRPr lang="en-US" altLang="zh-CN"/>
          </a:p>
          <a:p>
            <a:pPr lvl="1"/>
            <a:r>
              <a:rPr lang="en-US" altLang="zh-CN"/>
              <a:t>Use // eslint-disable-next-line to ignore the next line.</a:t>
            </a:r>
            <a:endParaRPr lang="en-US" altLang="zh-CN"/>
          </a:p>
          <a:p>
            <a:pPr lvl="1"/>
            <a:r>
              <a:rPr lang="en-US" altLang="zh-CN"/>
              <a:t>Use /* eslint-disable */ to ignore all warnings in a file.</a:t>
            </a:r>
            <a:endParaRPr lang="en-US" altLang="zh-CN"/>
          </a:p>
          <a:p>
            <a:r>
              <a:rPr lang="en-US" altLang="zh-CN"/>
              <a:t>Standard</a:t>
            </a:r>
            <a:endParaRPr lang="en-US" altLang="zh-CN"/>
          </a:p>
          <a:p>
            <a:r>
              <a:rPr lang="en-US" altLang="zh-CN"/>
              <a:t>Airbnb</a:t>
            </a:r>
            <a:endParaRPr lang="en-US" altLang="zh-CN"/>
          </a:p>
          <a:p>
            <a:pPr lvl="1"/>
            <a:r>
              <a:rPr lang="en-US" altLang="zh-CN"/>
              <a:t>https://github.com/airbnb/javascript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Static Content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Change content</a:t>
            </a:r>
            <a:endParaRPr lang="en-US" altLang="zh-CN"/>
          </a:p>
          <a:p>
            <a:pPr lvl="1"/>
            <a:r>
              <a:rPr lang="en-US" altLang="zh-CN"/>
              <a:t>document.getElementById(“id”).innerHTML = “inner”</a:t>
            </a:r>
            <a:endParaRPr lang="en-US" altLang="zh-CN"/>
          </a:p>
          <a:p>
            <a:pPr lvl="1"/>
            <a:r>
              <a:rPr lang="en-US" altLang="zh-CN"/>
              <a:t>document.getElementById(“id”).style.display = “none”</a:t>
            </a:r>
            <a:endParaRPr lang="en-US" altLang="zh-CN"/>
          </a:p>
          <a:p>
            <a:pPr lvl="1"/>
            <a:r>
              <a:rPr lang="en-US" altLang="zh-CN"/>
              <a:t>document.getElementById(“id”).style.display = “block”</a:t>
            </a:r>
            <a:endParaRPr lang="en-US" altLang="zh-CN"/>
          </a:p>
          <a:p>
            <a:pPr lvl="0"/>
            <a:r>
              <a:rPr lang="en-US" altLang="zh-CN"/>
              <a:t>Change style</a:t>
            </a:r>
            <a:endParaRPr lang="en-US" altLang="zh-CN"/>
          </a:p>
          <a:p>
            <a:pPr lvl="1"/>
            <a:r>
              <a:rPr lang="en-US" altLang="zh-CN"/>
              <a:t>document.getElementById(“id”).style.fontSize = “30px”</a:t>
            </a:r>
            <a:endParaRPr lang="en-US" altLang="zh-CN"/>
          </a:p>
          <a:p>
            <a:pPr lvl="0"/>
            <a:r>
              <a:rPr lang="en-US" altLang="zh-CN"/>
              <a:t>Others</a:t>
            </a:r>
            <a:endParaRPr lang="en-US" altLang="zh-CN"/>
          </a:p>
          <a:p>
            <a:pPr lvl="1"/>
            <a:r>
              <a:rPr lang="en-US" altLang="zh-CN"/>
              <a:t>window.alert()</a:t>
            </a:r>
            <a:endParaRPr lang="en-US" altLang="zh-CN"/>
          </a:p>
          <a:p>
            <a:pPr lvl="1"/>
            <a:r>
              <a:rPr lang="en-US" altLang="zh-CN"/>
              <a:t>console.log()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Type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var, const</a:t>
            </a:r>
            <a:endParaRPr lang="en-US" altLang="zh-CN"/>
          </a:p>
          <a:p>
            <a:r>
              <a:rPr lang="en-US" altLang="zh-CN"/>
              <a:t>Value type</a:t>
            </a:r>
            <a:endParaRPr lang="en-US" altLang="zh-CN"/>
          </a:p>
          <a:p>
            <a:pPr lvl="1"/>
            <a:r>
              <a:rPr lang="en-US" altLang="zh-CN"/>
              <a:t>string, number, boolean, object, function</a:t>
            </a:r>
            <a:endParaRPr lang="en-US" altLang="zh-CN"/>
          </a:p>
          <a:p>
            <a:pPr lvl="0"/>
            <a:r>
              <a:rPr lang="en-US" altLang="zh-CN"/>
              <a:t>Object type</a:t>
            </a:r>
            <a:endParaRPr lang="en-US" altLang="zh-CN"/>
          </a:p>
          <a:p>
            <a:pPr lvl="1"/>
            <a:r>
              <a:rPr lang="en-US" altLang="zh-CN"/>
              <a:t>Object, Date, Array</a:t>
            </a:r>
            <a:endParaRPr lang="en-US" altLang="zh-CN"/>
          </a:p>
          <a:p>
            <a:pPr lvl="1"/>
            <a:r>
              <a:rPr lang="en-US" altLang="zh-CN"/>
              <a:t>Clone array</a:t>
            </a:r>
            <a:endParaRPr lang="en-US" altLang="zh-CN"/>
          </a:p>
          <a:p>
            <a:pPr lvl="2"/>
            <a:r>
              <a:rPr lang="en-US" altLang="zh-CN" sz="1800"/>
              <a:t>arrNew = arr.clone()</a:t>
            </a:r>
            <a:endParaRPr lang="en-US" altLang="zh-CN" sz="1800"/>
          </a:p>
          <a:p>
            <a:pPr lvl="2"/>
            <a:r>
              <a:rPr lang="en-US" altLang="zh-CN" sz="1800"/>
              <a:t>arrNew = [].concat(arr)</a:t>
            </a:r>
            <a:endParaRPr lang="en-US" altLang="zh-CN" sz="1800"/>
          </a:p>
          <a:p>
            <a:pPr lvl="2"/>
            <a:r>
              <a:rPr lang="en-US" altLang="zh-CN" sz="1800"/>
              <a:t>arrNew = [...arr]</a:t>
            </a:r>
            <a:endParaRPr lang="en-US" altLang="zh-CN"/>
          </a:p>
          <a:p>
            <a:pPr lvl="0"/>
            <a:r>
              <a:rPr lang="en-US" altLang="zh-CN"/>
              <a:t>null, undefined</a:t>
            </a:r>
            <a:endParaRPr lang="en-US" altLang="zh-CN"/>
          </a:p>
          <a:p>
            <a:pPr lvl="0"/>
            <a:r>
              <a:rPr lang="en-US" altLang="zh-CN"/>
              <a:t>typeof var</a:t>
            </a:r>
            <a:endParaRPr lang="en-US" altLang="zh-CN"/>
          </a:p>
          <a:p>
            <a:pPr lvl="0"/>
            <a:r>
              <a:rPr lang="en-US" altLang="zh-CN"/>
              <a:t>Type Conversion</a:t>
            </a:r>
            <a:endParaRPr lang="en-US" altLang="zh-CN"/>
          </a:p>
          <a:p>
            <a:pPr lvl="1"/>
            <a:r>
              <a:rPr lang="en-US" altLang="zh-CN"/>
              <a:t>String(var), var.toString()</a:t>
            </a:r>
            <a:endParaRPr lang="en-US" altLang="zh-CN"/>
          </a:p>
          <a:p>
            <a:pPr lvl="1"/>
            <a:r>
              <a:rPr lang="en-US" altLang="zh-CN"/>
              <a:t>Number(), NaN, str.parseInt(), str.parseFloat()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DOM</a:t>
            </a:r>
            <a:endParaRPr lang="en-US" altLang="zh-CN"/>
          </a:p>
        </p:txBody>
      </p:sp>
      <p:sp>
        <p:nvSpPr>
          <p:cNvPr id="4" name="流程图: 可选过程 3"/>
          <p:cNvSpPr/>
          <p:nvPr/>
        </p:nvSpPr>
        <p:spPr>
          <a:xfrm>
            <a:off x="4010025" y="2779395"/>
            <a:ext cx="2799080" cy="17595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Window</a:t>
            </a:r>
            <a:endParaRPr lang="en-US" altLang="zh-CN" sz="1400"/>
          </a:p>
          <a:p>
            <a:pPr algn="l"/>
            <a:r>
              <a:rPr lang="en-US" altLang="zh-CN" sz="1400"/>
              <a:t>- </a:t>
            </a:r>
            <a:r>
              <a:rPr lang="en-US" altLang="en-US" sz="1400">
                <a:sym typeface="+mn-ea"/>
              </a:rPr>
              <a:t>innerHeight, innerWidth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navigator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open()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close()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moveTo()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resizeTo()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zh-CN" sz="1400"/>
              <a:t>- b2a(data)</a:t>
            </a:r>
            <a:endParaRPr lang="en-US" altLang="zh-CN" sz="1400"/>
          </a:p>
        </p:txBody>
      </p:sp>
      <p:sp>
        <p:nvSpPr>
          <p:cNvPr id="5" name="流程图: 可选过程 4"/>
          <p:cNvSpPr/>
          <p:nvPr/>
        </p:nvSpPr>
        <p:spPr>
          <a:xfrm>
            <a:off x="756920" y="1980565"/>
            <a:ext cx="3053080" cy="2127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Document</a:t>
            </a:r>
            <a:endParaRPr lang="en-US" altLang="zh-CN" sz="1400"/>
          </a:p>
          <a:p>
            <a:pPr algn="l">
              <a:buClrTx/>
              <a:buSzTx/>
              <a:buFontTx/>
            </a:pPr>
            <a:r>
              <a:rPr lang="en-US" altLang="zh-CN" sz="1400"/>
              <a:t>- </a:t>
            </a:r>
            <a:r>
              <a:rPr lang="en-US" altLang="zh-CN" sz="1400">
                <a:sym typeface="+mn-ea"/>
              </a:rPr>
              <a:t>getElementById(id)</a:t>
            </a:r>
            <a:endParaRPr lang="en-US" altLang="zh-CN" sz="1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- getElementByTagName(name)</a:t>
            </a:r>
            <a:endParaRPr lang="en-US" altLang="zh-CN" sz="1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- getElementByClassName(name)</a:t>
            </a:r>
            <a:endParaRPr lang="en-US" altLang="zh-CN" sz="1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- createElement(elem)</a:t>
            </a:r>
            <a:endParaRPr lang="en-US" altLang="zh-CN" sz="1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- removeChild(elem)</a:t>
            </a:r>
            <a:endParaRPr lang="en-US" altLang="zh-CN" sz="1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/>
              <a:t>- appendChild(elem)</a:t>
            </a:r>
            <a:endParaRPr lang="en-US" altLang="zh-CN" sz="1400"/>
          </a:p>
          <a:p>
            <a:pPr algn="l">
              <a:buClrTx/>
              <a:buSzTx/>
              <a:buFontTx/>
            </a:pPr>
            <a:r>
              <a:rPr lang="en-US" altLang="zh-CN" sz="1400"/>
              <a:t>- replaceChild(elem)</a:t>
            </a:r>
            <a:endParaRPr lang="en-US" altLang="zh-CN" sz="1400"/>
          </a:p>
          <a:p>
            <a:pPr algn="l">
              <a:buClrTx/>
              <a:buSzTx/>
              <a:buFontTx/>
            </a:pPr>
            <a:r>
              <a:rPr lang="en-US" altLang="zh-CN" sz="1400"/>
              <a:t>- write(txt)</a:t>
            </a:r>
            <a:endParaRPr lang="en-US" altLang="zh-CN" sz="1400"/>
          </a:p>
        </p:txBody>
      </p:sp>
      <p:sp>
        <p:nvSpPr>
          <p:cNvPr id="6" name="流程图: 可选过程 5"/>
          <p:cNvSpPr/>
          <p:nvPr/>
        </p:nvSpPr>
        <p:spPr>
          <a:xfrm>
            <a:off x="7007860" y="3013075"/>
            <a:ext cx="2414905" cy="10953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Screen</a:t>
            </a:r>
            <a:endParaRPr lang="en-US" altLang="zh-CN" sz="1400"/>
          </a:p>
          <a:p>
            <a:pPr algn="l"/>
            <a:r>
              <a:rPr lang="en-US" altLang="zh-CN" sz="1400"/>
              <a:t>- </a:t>
            </a:r>
            <a:r>
              <a:rPr lang="en-US" altLang="en-US" sz="1400">
                <a:sym typeface="+mn-ea"/>
              </a:rPr>
              <a:t>width, height, availWidth, availHeight, colorDepth, pixelDepth</a:t>
            </a:r>
            <a:endParaRPr lang="en-US" altLang="zh-CN" sz="1400"/>
          </a:p>
        </p:txBody>
      </p:sp>
      <p:sp>
        <p:nvSpPr>
          <p:cNvPr id="7" name="流程图: 可选过程 6"/>
          <p:cNvSpPr/>
          <p:nvPr/>
        </p:nvSpPr>
        <p:spPr>
          <a:xfrm>
            <a:off x="7007860" y="1874520"/>
            <a:ext cx="2414905" cy="10953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Location</a:t>
            </a:r>
            <a:endParaRPr lang="en-US" altLang="zh-CN" sz="1400"/>
          </a:p>
          <a:p>
            <a:pPr algn="l"/>
            <a:r>
              <a:rPr lang="en-US" altLang="zh-CN" sz="1400"/>
              <a:t>- </a:t>
            </a:r>
            <a:r>
              <a:rPr lang="en-US" altLang="en-US" sz="1400">
                <a:sym typeface="+mn-ea"/>
              </a:rPr>
              <a:t>href, hostname, pathname, protocol, port, assign</a:t>
            </a:r>
            <a:endParaRPr lang="en-US" altLang="zh-CN" sz="1400"/>
          </a:p>
        </p:txBody>
      </p:sp>
      <p:sp>
        <p:nvSpPr>
          <p:cNvPr id="8" name="流程图: 可选过程 7"/>
          <p:cNvSpPr/>
          <p:nvPr/>
        </p:nvSpPr>
        <p:spPr>
          <a:xfrm>
            <a:off x="9473565" y="1842135"/>
            <a:ext cx="1798320" cy="10953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History</a:t>
            </a:r>
            <a:endParaRPr lang="en-US" altLang="zh-CN" sz="1400"/>
          </a:p>
          <a:p>
            <a:pPr algn="l"/>
            <a:r>
              <a:rPr lang="en-US" altLang="zh-CN" sz="1400"/>
              <a:t>- </a:t>
            </a:r>
            <a:r>
              <a:rPr lang="en-US" altLang="en-US" sz="1400">
                <a:sym typeface="+mn-ea"/>
              </a:rPr>
              <a:t>back()</a:t>
            </a:r>
            <a:endParaRPr lang="en-US" altLang="en-US" sz="1400">
              <a:sym typeface="+mn-ea"/>
            </a:endParaRPr>
          </a:p>
          <a:p>
            <a:pPr algn="l"/>
            <a:r>
              <a:rPr lang="en-US" altLang="en-US" sz="1400">
                <a:sym typeface="+mn-ea"/>
              </a:rPr>
              <a:t>- forward()</a:t>
            </a:r>
            <a:endParaRPr lang="en-US" altLang="zh-CN" sz="1400"/>
          </a:p>
        </p:txBody>
      </p:sp>
      <p:sp>
        <p:nvSpPr>
          <p:cNvPr id="9" name="流程图: 可选过程 8"/>
          <p:cNvSpPr/>
          <p:nvPr/>
        </p:nvSpPr>
        <p:spPr>
          <a:xfrm>
            <a:off x="4009390" y="1454150"/>
            <a:ext cx="2799715" cy="10953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Navigator</a:t>
            </a:r>
            <a:endParaRPr lang="en-US" altLang="zh-CN" sz="1400"/>
          </a:p>
          <a:p>
            <a:pPr algn="l"/>
            <a:r>
              <a:rPr lang="en-US" altLang="zh-CN" sz="1400"/>
              <a:t>- </a:t>
            </a:r>
            <a:r>
              <a:rPr lang="en-US" altLang="en-US" sz="1400">
                <a:sym typeface="+mn-ea"/>
              </a:rPr>
              <a:t>appName, appCodeName, appVersion, product, platform, cookieEnabled, userAgent, language, </a:t>
            </a:r>
            <a:endParaRPr lang="en-US" altLang="zh-CN" sz="1400"/>
          </a:p>
        </p:txBody>
      </p:sp>
      <p:cxnSp>
        <p:nvCxnSpPr>
          <p:cNvPr id="10" name="直接箭头连接符 9"/>
          <p:cNvCxnSpPr>
            <a:stCxn id="4" idx="0"/>
            <a:endCxn id="9" idx="2"/>
          </p:cNvCxnSpPr>
          <p:nvPr/>
        </p:nvCxnSpPr>
        <p:spPr>
          <a:xfrm flipV="1">
            <a:off x="5409565" y="2549525"/>
            <a:ext cx="0" cy="2298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60450" y="4768850"/>
            <a:ext cx="73399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en-US" altLang="en-US" sz="1200">
                <a:sym typeface="+mn-ea"/>
              </a:rPr>
              <a:t>popup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alert(str)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var r = confirm(str) true/false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var v = prompt('title', 'default-val')</a:t>
            </a:r>
            <a:endParaRPr lang="en-US" altLang="en-US" sz="1200"/>
          </a:p>
          <a:p>
            <a:pPr lvl="0"/>
            <a:r>
              <a:rPr lang="en-US" altLang="en-US" sz="1200">
                <a:sym typeface="+mn-ea"/>
              </a:rPr>
              <a:t>Timing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var t = setTimeout(func, ms)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clearTimeout(t)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var i = setInterval(func, ms)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clearInterval(i)</a:t>
            </a:r>
            <a:endParaRPr lang="en-US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DOM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Get width/height of HTML element</a:t>
            </a:r>
            <a:endParaRPr lang="en-US" altLang="zh-CN"/>
          </a:p>
          <a:p>
            <a:pPr lvl="1"/>
            <a:r>
              <a:rPr lang="en-US" altLang="zh-CN"/>
              <a:t>offsetWidth, offsetHeight (if size not defined in CSS)</a:t>
            </a:r>
            <a:endParaRPr lang="en-US" altLang="zh-CN"/>
          </a:p>
          <a:p>
            <a:pPr lvl="1"/>
            <a:r>
              <a:rPr lang="en-US" altLang="zh-CN"/>
              <a:t>getBoundingClientRect()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Promise/Async/Await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7972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https://segmentfault.com/a/1190000016788484</a:t>
            </a:r>
            <a:endParaRPr lang="en-US" altLang="zh-CN"/>
          </a:p>
          <a:p>
            <a:pPr lvl="0"/>
            <a:r>
              <a:rPr lang="en-US" altLang="zh-CN"/>
              <a:t>Promise</a:t>
            </a:r>
            <a:endParaRPr lang="en-US" altLang="zh-CN"/>
          </a:p>
          <a:p>
            <a:pPr lvl="1"/>
            <a:r>
              <a:rPr lang="en-US" altLang="zh-CN"/>
              <a:t>Promise.all(promises).then().catch()</a:t>
            </a:r>
            <a:endParaRPr lang="en-US" altLang="zh-CN"/>
          </a:p>
          <a:p>
            <a:pPr lvl="0"/>
            <a:r>
              <a:rPr lang="en-US" altLang="zh-CN"/>
              <a:t>async/await</a:t>
            </a:r>
            <a:endParaRPr lang="en-US" altLang="zh-CN"/>
          </a:p>
          <a:p>
            <a:pPr lvl="1"/>
            <a:r>
              <a:rPr lang="en-US" altLang="zh-CN"/>
              <a:t>await can only be used in async functions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Animation</a:t>
            </a:r>
            <a:endParaRPr lang="en-US" altLang="zh-CN"/>
          </a:p>
        </p:txBody>
      </p:sp>
      <p:pic>
        <p:nvPicPr>
          <p:cNvPr id="4" name="图片 3" descr="browser-suppor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87105" y="4081145"/>
            <a:ext cx="3204210" cy="242633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683895" y="1290320"/>
          <a:ext cx="10669905" cy="1795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0"/>
                <a:gridCol w="4300220"/>
                <a:gridCol w="3556635"/>
              </a:tblGrid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Function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Example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445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setInterval(callback, interval)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Run even if tab is hidden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marL="0" lvl="2" algn="l" fontAlgn="auto">
                        <a:buClrTx/>
                        <a:buSzTx/>
                        <a:buFontTx/>
                      </a:pPr>
                      <a:r>
                        <a:rPr lang="en-US" altLang="zh-CN" sz="1800">
                          <a:sym typeface="+mn-ea"/>
                        </a:rPr>
                        <a:t>var id = setInterval(f, interval)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 marL="0" lvl="2" algn="l" fontAlgn="auto">
                        <a:buClrTx/>
                        <a:buSzTx/>
                        <a:buFontTx/>
                      </a:pPr>
                      <a:r>
                        <a:rPr lang="en-US" altLang="zh-CN" sz="1800">
                          <a:sym typeface="+mn-ea"/>
                        </a:rPr>
                        <a:t>clearInterval(id)</a:t>
                      </a:r>
                      <a:endParaRPr lang="en-US" altLang="zh-CN"/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setTimeout(callback, timeout)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Run even if tab is hidden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35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requestAnimationFrame(callback)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Return request ID, which can be used as param in cancelAnimationFrame().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Not execute if tab is hidden.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All the animation code runs before the rendering and painting events.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Event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Events</a:t>
            </a:r>
            <a:endParaRPr lang="en-US" altLang="zh-CN"/>
          </a:p>
          <a:p>
            <a:pPr lvl="1"/>
            <a:r>
              <a:rPr lang="en-US" altLang="zh-CN"/>
              <a:t>onchange, onclick, onmouseover, onmouseout, onkeydown, onload</a:t>
            </a:r>
            <a:endParaRPr lang="en-US" altLang="zh-CN"/>
          </a:p>
          <a:p>
            <a:pPr lvl="1"/>
            <a:r>
              <a:rPr lang="en-US" altLang="en-US"/>
              <a:t>onmouseover, onmouseout, onmousedown, onmouseup</a:t>
            </a:r>
            <a:endParaRPr lang="en-US" altLang="en-US"/>
          </a:p>
          <a:p>
            <a:pPr lvl="1"/>
            <a:r>
              <a:rPr lang="en-US" altLang="en-US"/>
              <a:t>onfocus</a:t>
            </a:r>
            <a:endParaRPr lang="en-US" altLang="en-US"/>
          </a:p>
          <a:p>
            <a:pPr lvl="0"/>
            <a:r>
              <a:rPr lang="en-US" altLang="en-US"/>
              <a:t>Functino</a:t>
            </a:r>
            <a:endParaRPr lang="en-US" altLang="en-US"/>
          </a:p>
          <a:p>
            <a:pPr lvl="1"/>
            <a:r>
              <a:rPr lang="en-US" altLang="en-US"/>
              <a:t>addEventListener('event', func, useCapture)</a:t>
            </a:r>
            <a:endParaRPr lang="en-US" altLang="en-US"/>
          </a:p>
          <a:p>
            <a:pPr lvl="2"/>
            <a:r>
              <a:rPr lang="en-US" altLang="en-US" sz="1800"/>
              <a:t>useCapture: default false, bubble-way propagation; true: capture-way propagation</a:t>
            </a:r>
            <a:endParaRPr lang="en-US" altLang="en-US"/>
          </a:p>
          <a:p>
            <a:pPr lvl="1"/>
            <a:r>
              <a:rPr lang="en-US" altLang="en-US"/>
              <a:t>removeEventListener(event, func)</a:t>
            </a:r>
            <a:endParaRPr lang="en-US" altLang="en-US"/>
          </a:p>
          <a:p>
            <a:pPr lvl="0"/>
            <a:r>
              <a:rPr lang="en-US" altLang="en-US"/>
              <a:t>Logging events in Chrome</a:t>
            </a:r>
            <a:endParaRPr lang="en-US" altLang="en-US"/>
          </a:p>
          <a:p>
            <a:pPr lvl="1"/>
            <a:r>
              <a:rPr lang="en-US" altLang="en-US"/>
              <a:t>in “console” tab, input “monitorEvents(obj)”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Classes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Date</a:t>
            </a:r>
            <a:endParaRPr lang="en-US" altLang="zh-CN"/>
          </a:p>
          <a:p>
            <a:pPr lvl="1"/>
            <a:r>
              <a:rPr lang="en-US" altLang="zh-CN"/>
              <a:t>var now</a:t>
            </a:r>
            <a:r>
              <a:rPr lang="en-US" altLang="zh-CN"/>
              <a:t> = new Date()</a:t>
            </a:r>
            <a:endParaRPr lang="en-US" altLang="zh-CN"/>
          </a:p>
          <a:p>
            <a:pPr lvl="1"/>
            <a:r>
              <a:rPr lang="en-US" altLang="zh-CN"/>
              <a:t>var dt = new Date(year, month, date, hour, min, s, ms)</a:t>
            </a:r>
            <a:endParaRPr lang="en-US" altLang="zh-CN"/>
          </a:p>
          <a:p>
            <a:pPr lvl="1"/>
            <a:r>
              <a:rPr lang="en-US" altLang="zh-CN"/>
              <a:t>d.getTime(),</a:t>
            </a:r>
            <a:r>
              <a:rPr lang="en-US" altLang="zh-CN">
                <a:sym typeface="+mn-ea"/>
              </a:rPr>
              <a:t> getFullYear(), getMonth(),</a:t>
            </a:r>
            <a:r>
              <a:rPr lang="en-US" altLang="zh-CN"/>
              <a:t> getDate(), </a:t>
            </a:r>
            <a:r>
              <a:rPr lang="en-US" altLang="zh-CN">
                <a:sym typeface="+mn-ea"/>
              </a:rPr>
              <a:t>getDay(), </a:t>
            </a:r>
            <a:r>
              <a:rPr lang="en-US" altLang="zh-CN"/>
              <a:t>getHours()</a:t>
            </a:r>
            <a:r>
              <a:rPr lang="en-US" altLang="zh-CN">
                <a:sym typeface="+mn-ea"/>
              </a:rPr>
              <a:t>, getMinutes()</a:t>
            </a:r>
            <a:r>
              <a:rPr lang="en-US" altLang="zh-CN"/>
              <a:t>, getSeconds(), getMilliseconds()</a:t>
            </a:r>
            <a:endParaRPr lang="en-US" altLang="zh-CN"/>
          </a:p>
          <a:p>
            <a:pPr lvl="1"/>
            <a:r>
              <a:rPr lang="en-US" altLang="zh-CN"/>
              <a:t>d.getUTCxxx()</a:t>
            </a:r>
            <a:endParaRPr lang="en-US" altLang="zh-CN"/>
          </a:p>
          <a:p>
            <a:pPr lvl="1"/>
            <a:r>
              <a:rPr lang="en-US" altLang="zh-CN"/>
              <a:t>d.setXXX()</a:t>
            </a:r>
            <a:endParaRPr lang="en-US" altLang="zh-CN"/>
          </a:p>
          <a:p>
            <a:pPr lvl="0"/>
            <a:r>
              <a:rPr lang="en-US" altLang="zh-CN"/>
              <a:t>Math</a:t>
            </a:r>
            <a:endParaRPr lang="en-US" altLang="zh-CN"/>
          </a:p>
          <a:p>
            <a:pPr lvl="1"/>
            <a:r>
              <a:rPr lang="en-US" altLang="zh-CN"/>
              <a:t>Math.PI, Math.round(), Math.pow(), Math.sqrt(), Math.abs(), Math.ceil(), Math.floor(), Math.sin(), Math.cos(), Math.min(), Math.max(), Math.random()</a:t>
            </a:r>
            <a:endParaRPr lang="en-US" altLang="zh-CN"/>
          </a:p>
          <a:p>
            <a:pPr lvl="0"/>
            <a:r>
              <a:rPr lang="en-US" altLang="zh-CN"/>
              <a:t>JSON</a:t>
            </a:r>
            <a:endParaRPr lang="en-US" altLang="zh-CN"/>
          </a:p>
          <a:p>
            <a:pPr lvl="1"/>
            <a:r>
              <a:rPr lang="en-US" altLang="en-US"/>
              <a:t>var obj = </a:t>
            </a:r>
            <a:r>
              <a:rPr lang="en-US" altLang="zh-CN"/>
              <a:t>JSON.parse(str)</a:t>
            </a:r>
            <a:endParaRPr lang="en-US" altLang="zh-CN"/>
          </a:p>
          <a:p>
            <a:pPr lvl="1"/>
            <a:r>
              <a:rPr lang="en-US" altLang="en-US"/>
              <a:t>var str = JSON.stringify(obj)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String Operation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396740" cy="4549140"/>
          </a:xfrm>
        </p:spPr>
        <p:txBody>
          <a:bodyPr>
            <a:normAutofit fontScale="80000"/>
          </a:bodyPr>
          <a:p>
            <a:r>
              <a:rPr lang="en-US" altLang="zh-CN"/>
              <a:t>Methods</a:t>
            </a:r>
            <a:endParaRPr lang="en-US" altLang="zh-CN"/>
          </a:p>
          <a:p>
            <a:pPr lvl="1"/>
            <a:r>
              <a:rPr lang="en-US" altLang="zh-CN"/>
              <a:t>var len = str.length</a:t>
            </a:r>
            <a:endParaRPr lang="en-US" altLang="zh-CN"/>
          </a:p>
          <a:p>
            <a:pPr lvl="1"/>
            <a:r>
              <a:rPr lang="en-US" altLang="zh-CN"/>
              <a:t>var pos = str.indexOf(“locate”)</a:t>
            </a:r>
            <a:endParaRPr lang="en-US" altLang="zh-CN"/>
          </a:p>
          <a:p>
            <a:pPr lvl="1"/>
            <a:r>
              <a:rPr lang="en-US" altLang="zh-CN"/>
              <a:t>var pos = str.lastIndexOf(“locate”)</a:t>
            </a:r>
            <a:endParaRPr lang="en-US" altLang="zh-CN"/>
          </a:p>
          <a:p>
            <a:pPr lvl="1"/>
            <a:r>
              <a:rPr lang="en-US" altLang="zh-CN"/>
              <a:t>var substr = str.slice(start, end)</a:t>
            </a:r>
            <a:endParaRPr lang="en-US" altLang="zh-CN"/>
          </a:p>
          <a:p>
            <a:pPr lvl="1"/>
            <a:r>
              <a:rPr lang="en-US" altLang="zh-CN"/>
              <a:t>var substr = str.substr(start, len)</a:t>
            </a:r>
            <a:endParaRPr lang="en-US" altLang="zh-CN"/>
          </a:p>
          <a:p>
            <a:pPr lvl="1"/>
            <a:r>
              <a:rPr lang="en-US" altLang="zh-CN"/>
              <a:t>var str = str.replace(src, dest)</a:t>
            </a:r>
            <a:endParaRPr lang="en-US" altLang="zh-CN"/>
          </a:p>
          <a:p>
            <a:pPr lvl="1"/>
            <a:r>
              <a:rPr lang="en-US" altLang="zh-CN"/>
              <a:t>var up = str.toUpperCase()</a:t>
            </a:r>
            <a:endParaRPr lang="en-US" altLang="zh-CN"/>
          </a:p>
          <a:p>
            <a:pPr lvl="1"/>
            <a:r>
              <a:rPr lang="en-US" altLang="zh-CN"/>
              <a:t>var l = str.toLowerCase()</a:t>
            </a:r>
            <a:endParaRPr lang="en-US" altLang="zh-CN"/>
          </a:p>
          <a:p>
            <a:pPr lvl="1"/>
            <a:r>
              <a:rPr lang="en-US" altLang="zh-CN"/>
              <a:t>var concat = str.concat(“,”, str2)</a:t>
            </a:r>
            <a:endParaRPr lang="en-US" altLang="zh-CN"/>
          </a:p>
          <a:p>
            <a:pPr lvl="1"/>
            <a:r>
              <a:rPr lang="en-US" altLang="zh-CN"/>
              <a:t>var t = str.trim()</a:t>
            </a:r>
            <a:endParaRPr lang="en-US" altLang="zh-CN"/>
          </a:p>
          <a:p>
            <a:pPr lvl="1"/>
            <a:r>
              <a:rPr lang="en-US" altLang="zh-CN"/>
              <a:t>var ch = str.charAt(pos)</a:t>
            </a:r>
            <a:endParaRPr lang="en-US" altLang="zh-CN"/>
          </a:p>
          <a:p>
            <a:pPr lvl="1"/>
            <a:r>
              <a:rPr lang="en-US" altLang="zh-CN"/>
              <a:t>var code = str.charCodeAt(pos)</a:t>
            </a:r>
            <a:endParaRPr lang="en-US" altLang="zh-CN"/>
          </a:p>
          <a:p>
            <a:pPr lvl="1"/>
            <a:r>
              <a:rPr lang="en-US" altLang="zh-CN"/>
              <a:t>str[pos]</a:t>
            </a:r>
            <a:endParaRPr lang="en-US" altLang="zh-CN"/>
          </a:p>
          <a:p>
            <a:pPr lvl="1"/>
            <a:r>
              <a:rPr lang="en-US" altLang="zh-CN"/>
              <a:t>var arr = str.split(“,”)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76060" y="1154430"/>
            <a:ext cx="439674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Path Operation</a:t>
            </a:r>
            <a:endParaRPr lang="en-US" altLang="zh-CN"/>
          </a:p>
          <a:p>
            <a:pPr lvl="1"/>
            <a:r>
              <a:rPr lang="en-US" altLang="zh-CN"/>
              <a:t>var dirname = fn.substr(0, fn.lastIndexOf('/'))</a:t>
            </a:r>
            <a:endParaRPr lang="en-US" altLang="zh-CN"/>
          </a:p>
          <a:p>
            <a:pPr lvl="1"/>
            <a:r>
              <a:rPr lang="en-US" altLang="zh-CN"/>
              <a:t>var basename = fn.substr(fn.lastIndexOf('/') + 1)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DateTime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Date</a:t>
            </a:r>
            <a:endParaRPr lang="en-US" altLang="zh-CN"/>
          </a:p>
          <a:p>
            <a:pPr lvl="1"/>
            <a:r>
              <a:rPr lang="en-US" altLang="zh-CN"/>
              <a:t>var today = new Date()</a:t>
            </a:r>
            <a:endParaRPr lang="en-US" altLang="zh-CN"/>
          </a:p>
          <a:p>
            <a:pPr lvl="1"/>
            <a:r>
              <a:rPr lang="en-US" altLang="zh-CN"/>
              <a:t>today.getFullYear()</a:t>
            </a:r>
            <a:endParaRPr lang="en-US" altLang="zh-CN"/>
          </a:p>
          <a:p>
            <a:pPr lvl="1"/>
            <a:r>
              <a:rPr lang="en-US" altLang="zh-CN"/>
              <a:t>today.getMonth() + 1</a:t>
            </a:r>
            <a:endParaRPr lang="en-US" altLang="zh-CN"/>
          </a:p>
          <a:p>
            <a:pPr lvl="1"/>
            <a:r>
              <a:rPr lang="en-US" altLang="zh-CN"/>
              <a:t>today.getDate()</a:t>
            </a:r>
            <a:endParaRPr lang="en-US" altLang="zh-CN"/>
          </a:p>
          <a:p>
            <a:pPr lvl="1"/>
            <a:r>
              <a:rPr lang="en-US" altLang="zh-CN"/>
              <a:t>today.getHours()</a:t>
            </a:r>
            <a:endParaRPr lang="en-US" altLang="zh-CN"/>
          </a:p>
          <a:p>
            <a:pPr lvl="1"/>
            <a:r>
              <a:rPr lang="en-US" altLang="zh-CN"/>
              <a:t>today.getMinutes()</a:t>
            </a:r>
            <a:endParaRPr lang="en-US" altLang="zh-CN"/>
          </a:p>
          <a:p>
            <a:pPr lvl="1"/>
            <a:r>
              <a:rPr lang="en-US" altLang="zh-CN"/>
              <a:t>today.getSeconds()</a:t>
            </a:r>
            <a:endParaRPr lang="en-US" altLang="zh-CN"/>
          </a:p>
          <a:p>
            <a:pPr lvl="0"/>
            <a:r>
              <a:rPr lang="en-US" altLang="zh-CN"/>
              <a:t>Diff</a:t>
            </a:r>
            <a:endParaRPr lang="en-US" altLang="zh-CN"/>
          </a:p>
          <a:p>
            <a:pPr lvl="1"/>
            <a:r>
              <a:rPr lang="en-US" altLang="zh-CN"/>
              <a:t>date1 = new Date('str')</a:t>
            </a:r>
            <a:endParaRPr lang="en-US" altLang="zh-CN"/>
          </a:p>
          <a:p>
            <a:pPr lvl="1"/>
            <a:r>
              <a:rPr lang="en-US" altLang="zh-CN"/>
              <a:t>date2 = new Date('str')</a:t>
            </a:r>
            <a:endParaRPr lang="en-US" altLang="zh-CN"/>
          </a:p>
          <a:p>
            <a:pPr lvl="1"/>
            <a:r>
              <a:rPr lang="en-US" altLang="zh-CN"/>
              <a:t>diff = date1.getTime() - date2.getTime()	// in ms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Form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Email validation</a:t>
            </a:r>
            <a:endParaRPr lang="en-US" altLang="zh-CN"/>
          </a:p>
          <a:p>
            <a:pPr lvl="1"/>
            <a:r>
              <a:rPr lang="en-US" altLang="zh-CN"/>
              <a:t>/^\w+([\.-]?\w+)*@\w+([\.-]?\w+)*(\.\w{2,3})+$/</a:t>
            </a:r>
            <a:endParaRPr lang="en-US" altLang="zh-CN"/>
          </a:p>
          <a:p>
            <a:pPr lvl="0"/>
            <a:r>
              <a:rPr lang="en-US" altLang="zh-CN"/>
              <a:t>Phone validation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Storage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98870" cy="4991100"/>
          </a:xfrm>
        </p:spPr>
        <p:txBody>
          <a:bodyPr>
            <a:normAutofit fontScale="60000"/>
          </a:bodyPr>
          <a:p>
            <a:r>
              <a:rPr lang="en-US" altLang="zh-CN"/>
              <a:t>localStorage</a:t>
            </a:r>
            <a:endParaRPr lang="en-US" altLang="zh-CN"/>
          </a:p>
          <a:p>
            <a:pPr lvl="1"/>
            <a:r>
              <a:rPr lang="en-US" altLang="zh-CN"/>
              <a:t>persists until explicitly deleted</a:t>
            </a:r>
            <a:endParaRPr lang="en-US" altLang="zh-CN"/>
          </a:p>
          <a:p>
            <a:r>
              <a:rPr lang="en-US" altLang="zh-CN"/>
              <a:t>sessionStorage</a:t>
            </a:r>
            <a:endParaRPr lang="en-US" altLang="zh-CN"/>
          </a:p>
          <a:p>
            <a:pPr lvl="1"/>
            <a:r>
              <a:rPr lang="en-US" altLang="zh-CN"/>
              <a:t>changes are only available per tab</a:t>
            </a:r>
            <a:endParaRPr lang="en-US" altLang="zh-CN"/>
          </a:p>
          <a:p>
            <a:pPr lvl="0"/>
            <a:r>
              <a:rPr lang="en-US" altLang="zh-CN"/>
              <a:t>File</a:t>
            </a:r>
            <a:endParaRPr lang="en-US" altLang="zh-CN"/>
          </a:p>
          <a:p>
            <a:pPr lvl="1"/>
            <a:r>
              <a:rPr lang="en-US" altLang="zh-CN"/>
              <a:t>file-saver</a:t>
            </a:r>
            <a:endParaRPr lang="en-US" altLang="zh-CN"/>
          </a:p>
          <a:p>
            <a:pPr lvl="1"/>
            <a:r>
              <a:rPr lang="en-US" altLang="zh-CN"/>
              <a:t>https://github.com/eligrey/FileSaver.js/</a:t>
            </a:r>
            <a:endParaRPr lang="en-US" altLang="zh-CN"/>
          </a:p>
          <a:p>
            <a:pPr lvl="1"/>
            <a:r>
              <a:rPr lang="en-US" altLang="zh-CN"/>
              <a:t>import { saveAs } from 'file-saver'</a:t>
            </a:r>
            <a:endParaRPr lang="en-US" altLang="zh-CN"/>
          </a:p>
          <a:p>
            <a:pPr lvl="1"/>
            <a:r>
              <a:rPr lang="en-US" altLang="zh-CN"/>
              <a:t>example</a:t>
            </a:r>
            <a:endParaRPr lang="en-US" altLang="zh-CN"/>
          </a:p>
          <a:p>
            <a:pPr lvl="2"/>
            <a:r>
              <a:rPr lang="en-US" altLang="zh-CN"/>
              <a:t>var canvas = document.getElementById("my-canvas");</a:t>
            </a:r>
            <a:endParaRPr lang="en-US" altLang="zh-CN"/>
          </a:p>
          <a:p>
            <a:pPr lvl="2"/>
            <a:r>
              <a:rPr lang="en-US" altLang="zh-CN"/>
              <a:t>canvas.toBlob(function(blob) {</a:t>
            </a:r>
            <a:endParaRPr lang="en-US" altLang="zh-CN"/>
          </a:p>
          <a:p>
            <a:pPr lvl="2"/>
            <a:r>
              <a:rPr lang="en-US" altLang="zh-CN"/>
              <a:t>    saveAs(blob, "pretty image.png");</a:t>
            </a:r>
            <a:endParaRPr lang="en-US" altLang="zh-CN"/>
          </a:p>
          <a:p>
            <a:pPr lvl="2"/>
            <a:r>
              <a:rPr lang="en-US" altLang="zh-CN"/>
              <a:t>});</a:t>
            </a:r>
            <a:endParaRPr lang="en-US" altLang="zh-CN"/>
          </a:p>
          <a:p>
            <a:pPr lvl="0"/>
            <a:r>
              <a:rPr lang="en-US" altLang="zh-CN"/>
              <a:t>jszip</a:t>
            </a:r>
            <a:endParaRPr lang="en-US" altLang="zh-CN"/>
          </a:p>
          <a:p>
            <a:pPr lvl="1"/>
            <a:r>
              <a:rPr lang="en-US" altLang="zh-CN" sz="2000"/>
              <a:t>https://stuk.github.io/jszip/</a:t>
            </a:r>
            <a:endParaRPr lang="en-US" altLang="zh-CN" sz="2000"/>
          </a:p>
          <a:p>
            <a:pPr lvl="1"/>
            <a:r>
              <a:rPr lang="en-US" altLang="zh-CN" sz="2000"/>
              <a:t>generateAsync</a:t>
            </a:r>
            <a:endParaRPr lang="en-US" altLang="zh-CN" sz="2000"/>
          </a:p>
          <a:p>
            <a:pPr lvl="2"/>
            <a:r>
              <a:rPr lang="en-US" altLang="zh-CN"/>
              <a:t>type: nodebuffer, to save content with fs.writeFile()</a:t>
            </a:r>
            <a:endParaRPr lang="en-US" altLang="zh-CN"/>
          </a:p>
          <a:p>
            <a:pPr lvl="0"/>
            <a:r>
              <a:rPr lang="en-US" altLang="zh-CN"/>
              <a:t>jszipUtils</a:t>
            </a:r>
            <a:endParaRPr lang="en-US" altLang="zh-CN"/>
          </a:p>
          <a:p>
            <a:pPr lvl="1"/>
            <a:r>
              <a:rPr lang="en-US" altLang="zh-CN"/>
              <a:t>https://github.com/Stuk/jszip-utils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65035" y="1081405"/>
            <a:ext cx="4575810" cy="19380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000"/>
              <a:t>var zip = new JsZip()</a:t>
            </a:r>
            <a:endParaRPr lang="zh-CN" altLang="en-US" sz="1000"/>
          </a:p>
          <a:p>
            <a:r>
              <a:rPr lang="zh-CN" altLang="en-US" sz="1000"/>
              <a:t>var img = zip.folder('images')</a:t>
            </a:r>
            <a:endParaRPr lang="zh-CN" altLang="en-US" sz="1000"/>
          </a:p>
          <a:p>
            <a:r>
              <a:rPr lang="zh-CN" altLang="en-US" sz="1000"/>
              <a:t>fs.readFile('C:/tmp/1.jpg', function(err, data) {</a:t>
            </a:r>
            <a:endParaRPr lang="zh-CN" altLang="en-US" sz="1000"/>
          </a:p>
          <a:p>
            <a:r>
              <a:rPr lang="zh-CN" altLang="en-US" sz="1000"/>
              <a:t>  img.file('1.jpg', data, {base64: true})</a:t>
            </a:r>
            <a:endParaRPr lang="zh-CN" altLang="en-US" sz="1000"/>
          </a:p>
          <a:p>
            <a:r>
              <a:rPr lang="zh-CN" altLang="en-US" sz="1000"/>
              <a:t>  zip.generateAsync({type: </a:t>
            </a:r>
            <a:r>
              <a:rPr lang="zh-CN" altLang="en-US" sz="1000" b="1"/>
              <a:t>'nodebuffer'</a:t>
            </a:r>
            <a:r>
              <a:rPr lang="zh-CN" altLang="en-US" sz="1000"/>
              <a:t>}).then(function(content) {</a:t>
            </a:r>
            <a:endParaRPr lang="zh-CN" altLang="en-US" sz="1000"/>
          </a:p>
          <a:p>
            <a:r>
              <a:rPr lang="en-US" altLang="zh-CN" sz="1000"/>
              <a:t> </a:t>
            </a:r>
            <a:r>
              <a:rPr lang="zh-CN" altLang="en-US" sz="1000"/>
              <a:t>    console.log('Generated zip. content: ', content)</a:t>
            </a:r>
            <a:endParaRPr lang="zh-CN" altLang="en-US" sz="1000"/>
          </a:p>
          <a:p>
            <a:r>
              <a:rPr lang="zh-CN" altLang="en-US" sz="1000"/>
              <a:t>     fs.writeFile('C:/tmp/test.zip', content, (err) =&gt; {</a:t>
            </a:r>
            <a:endParaRPr lang="zh-CN" altLang="en-US" sz="1000"/>
          </a:p>
          <a:p>
            <a:r>
              <a:rPr lang="zh-CN" altLang="en-US" sz="1000"/>
              <a:t>     </a:t>
            </a:r>
            <a:r>
              <a:rPr lang="en-US" altLang="zh-CN" sz="1000"/>
              <a:t>  </a:t>
            </a:r>
            <a:r>
              <a:rPr lang="zh-CN" altLang="en-US" sz="1000"/>
              <a:t>if (err)</a:t>
            </a:r>
            <a:r>
              <a:rPr lang="en-US" altLang="zh-CN" sz="1000"/>
              <a:t> </a:t>
            </a:r>
            <a:r>
              <a:rPr lang="zh-CN" altLang="en-US" sz="1000"/>
              <a:t>throw err</a:t>
            </a:r>
            <a:endParaRPr lang="zh-CN" altLang="en-US" sz="1000"/>
          </a:p>
          <a:p>
            <a:r>
              <a:rPr lang="zh-CN" altLang="en-US" sz="1000"/>
              <a:t>     </a:t>
            </a:r>
            <a:r>
              <a:rPr lang="en-US" altLang="zh-CN" sz="1000"/>
              <a:t> </a:t>
            </a:r>
            <a:r>
              <a:rPr lang="zh-CN" altLang="en-US" sz="1000"/>
              <a:t>console.log('Saved test.zip file.')</a:t>
            </a:r>
            <a:endParaRPr lang="zh-CN" altLang="en-US" sz="1000"/>
          </a:p>
          <a:p>
            <a:r>
              <a:rPr lang="zh-CN" altLang="en-US" sz="1000"/>
              <a:t>    })</a:t>
            </a:r>
            <a:endParaRPr lang="zh-CN" altLang="en-US" sz="1000"/>
          </a:p>
          <a:p>
            <a:r>
              <a:rPr lang="zh-CN" altLang="en-US" sz="1000"/>
              <a:t>  })</a:t>
            </a:r>
            <a:endParaRPr lang="zh-CN" altLang="en-US" sz="1000"/>
          </a:p>
          <a:p>
            <a:r>
              <a:rPr lang="zh-CN" altLang="en-US" sz="1000"/>
              <a:t>})</a:t>
            </a:r>
            <a:endParaRPr lang="zh-CN" altLang="en-US" sz="1000"/>
          </a:p>
        </p:txBody>
      </p:sp>
      <p:sp>
        <p:nvSpPr>
          <p:cNvPr id="5" name="文本框 4"/>
          <p:cNvSpPr txBox="1"/>
          <p:nvPr/>
        </p:nvSpPr>
        <p:spPr>
          <a:xfrm>
            <a:off x="7265035" y="3132455"/>
            <a:ext cx="4575810" cy="70675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000"/>
              <a:t>zip.generateAsync({type:"</a:t>
            </a:r>
            <a:r>
              <a:rPr lang="zh-CN" altLang="en-US" sz="1000" b="1"/>
              <a:t>blob</a:t>
            </a:r>
            <a:r>
              <a:rPr lang="zh-CN" altLang="en-US" sz="1000"/>
              <a:t>"}).then(function (content) {</a:t>
            </a:r>
            <a:endParaRPr lang="zh-CN" altLang="en-US" sz="1000"/>
          </a:p>
          <a:p>
            <a:r>
              <a:rPr lang="zh-CN" altLang="en-US" sz="1000"/>
              <a:t>    // see FileSaver.js</a:t>
            </a:r>
            <a:endParaRPr lang="zh-CN" altLang="en-US" sz="1000"/>
          </a:p>
          <a:p>
            <a:r>
              <a:rPr lang="zh-CN" altLang="en-US" sz="1000"/>
              <a:t>    saveAs(content, "hello.zip");</a:t>
            </a:r>
            <a:endParaRPr lang="zh-CN" altLang="en-US" sz="1000"/>
          </a:p>
          <a:p>
            <a:r>
              <a:rPr lang="zh-CN" altLang="en-US" sz="1000"/>
              <a:t>});</a:t>
            </a:r>
            <a:endParaRPr lang="zh-CN" altLang="en-US" sz="1000"/>
          </a:p>
        </p:txBody>
      </p:sp>
      <p:sp>
        <p:nvSpPr>
          <p:cNvPr id="6" name="文本框 5"/>
          <p:cNvSpPr txBox="1"/>
          <p:nvPr/>
        </p:nvSpPr>
        <p:spPr>
          <a:xfrm>
            <a:off x="7265035" y="3925570"/>
            <a:ext cx="4575810" cy="132207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 sz="1000"/>
              <a:t>var imgData = canvas.toDataUrl()</a:t>
            </a:r>
            <a:endParaRPr lang="en-US" altLang="zh-CN" sz="1000"/>
          </a:p>
          <a:p>
            <a:r>
              <a:rPr lang="en-US" altLang="zh-CN" sz="1000"/>
              <a:t>imgData = imgData.replace(/^data:image\/(png|jpg);base64,/, "")</a:t>
            </a:r>
            <a:endParaRPr lang="en-US" altLang="zh-CN" sz="1000"/>
          </a:p>
          <a:p>
            <a:r>
              <a:rPr lang="zh-CN" altLang="en-US" sz="1000">
                <a:sym typeface="+mn-ea"/>
              </a:rPr>
              <a:t>var zip = new JsZip()</a:t>
            </a:r>
            <a:endParaRPr lang="zh-CN" altLang="en-US" sz="1000"/>
          </a:p>
          <a:p>
            <a:r>
              <a:rPr lang="en-US" altLang="zh-CN" sz="1000"/>
              <a:t>zip.file(‘1.png’, imgData, {base64: true})</a:t>
            </a:r>
            <a:endParaRPr lang="en-US" altLang="zh-CN" sz="1000"/>
          </a:p>
          <a:p>
            <a:r>
              <a:rPr lang="zh-CN" altLang="en-US" sz="1000">
                <a:sym typeface="+mn-ea"/>
              </a:rPr>
              <a:t>zip.generateAsync({type:"base64"}).then(function (content) {</a:t>
            </a:r>
            <a:endParaRPr lang="zh-CN" altLang="en-US" sz="1000"/>
          </a:p>
          <a:p>
            <a:r>
              <a:rPr lang="zh-CN" altLang="en-US" sz="1000">
                <a:sym typeface="+mn-ea"/>
              </a:rPr>
              <a:t>    location.href="data:application/zip;base64,"+content;</a:t>
            </a:r>
            <a:endParaRPr lang="zh-CN" altLang="en-US" sz="1000"/>
          </a:p>
          <a:p>
            <a:r>
              <a:rPr lang="en-US" altLang="zh-CN" sz="1000">
                <a:sym typeface="+mn-ea"/>
              </a:rPr>
              <a:t>  </a:t>
            </a:r>
            <a:r>
              <a:rPr lang="zh-CN" altLang="en-US" sz="1000">
                <a:sym typeface="+mn-ea"/>
              </a:rPr>
              <a:t>});</a:t>
            </a:r>
            <a:endParaRPr lang="en-US" altLang="zh-CN" sz="1000"/>
          </a:p>
          <a:p>
            <a:r>
              <a:rPr lang="en-US" altLang="zh-CN" sz="1000"/>
              <a:t>}</a:t>
            </a:r>
            <a:endParaRPr lang="en-US" altLang="zh-CN" sz="1000"/>
          </a:p>
        </p:txBody>
      </p:sp>
      <p:sp>
        <p:nvSpPr>
          <p:cNvPr id="7" name="文本框 6"/>
          <p:cNvSpPr txBox="1"/>
          <p:nvPr/>
        </p:nvSpPr>
        <p:spPr>
          <a:xfrm>
            <a:off x="7265035" y="5342255"/>
            <a:ext cx="4575810" cy="8604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 sz="1000"/>
              <a:t>zip.generateAsync({type:"blob"}).then(function(content){</a:t>
            </a:r>
            <a:endParaRPr lang="en-US" altLang="zh-CN" sz="1000"/>
          </a:p>
          <a:p>
            <a:r>
              <a:rPr lang="en-US" altLang="zh-CN" sz="1000"/>
              <a:t>  var file = new File([content], "name.zip");</a:t>
            </a:r>
            <a:endParaRPr lang="en-US" altLang="zh-CN" sz="1000"/>
          </a:p>
          <a:p>
            <a:r>
              <a:rPr lang="en-US" altLang="zh-CN" sz="1000"/>
              <a:t>  var formData = new FormData();</a:t>
            </a:r>
            <a:endParaRPr lang="en-US" altLang="zh-CN" sz="1000"/>
          </a:p>
          <a:p>
            <a:r>
              <a:rPr lang="en-US" altLang="zh-CN" sz="1000"/>
              <a:t>  formData.append('fileZip', file);</a:t>
            </a:r>
            <a:endParaRPr lang="en-US" altLang="zh-CN" sz="1000"/>
          </a:p>
          <a:p>
            <a:r>
              <a:rPr lang="en-US" altLang="zh-CN" sz="1000"/>
              <a:t>})</a:t>
            </a:r>
            <a:endParaRPr lang="en-US" altLang="zh-CN" sz="10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Bundle Javascript Library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Webpack</a:t>
            </a:r>
            <a:endParaRPr lang="en-US" altLang="zh-CN"/>
          </a:p>
          <a:p>
            <a:pPr lvl="1"/>
            <a:r>
              <a:rPr lang="en-US" altLang="zh-CN"/>
              <a:t>https://webpack.js.org/guides/author-libraries/</a:t>
            </a:r>
            <a:endParaRPr lang="en-US" altLang="zh-CN"/>
          </a:p>
          <a:p>
            <a:pPr lvl="1"/>
            <a:r>
              <a:rPr lang="en-US" altLang="zh-CN"/>
              <a:t>webpack.config.js</a:t>
            </a:r>
            <a:endParaRPr lang="en-US" altLang="zh-CN"/>
          </a:p>
          <a:p>
            <a:pPr lvl="1"/>
            <a:r>
              <a:rPr lang="en-US" altLang="zh-CN"/>
              <a:t>package.json</a:t>
            </a:r>
            <a:endParaRPr lang="en-US" altLang="zh-CN"/>
          </a:p>
          <a:p>
            <a:pPr lvl="1"/>
            <a:r>
              <a:rPr lang="en-US" altLang="zh-CN"/>
              <a:t>Run 'npm i'</a:t>
            </a:r>
            <a:endParaRPr lang="en-US" altLang="zh-CN"/>
          </a:p>
          <a:p>
            <a:pPr lvl="1"/>
            <a:r>
              <a:rPr lang="en-US" altLang="zh-CN"/>
              <a:t>Run 'webpack'</a:t>
            </a:r>
            <a:endParaRPr lang="en-US" altLang="zh-CN"/>
          </a:p>
          <a:p>
            <a:pPr lvl="0"/>
            <a:r>
              <a:rPr lang="en-US" altLang="zh-CN"/>
              <a:t>npm Packaging</a:t>
            </a:r>
            <a:endParaRPr lang="en-US" altLang="zh-CN"/>
          </a:p>
          <a:p>
            <a:pPr lvl="1"/>
            <a:r>
              <a:rPr lang="en-US" altLang="zh-CN"/>
              <a:t>https://docs.npmjs.com/packages-and-modules/contributing-packages-to-the-registry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jQuery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Find element</a:t>
            </a:r>
            <a:endParaRPr lang="en-US" altLang="en-US"/>
          </a:p>
          <a:p>
            <a:pPr lvl="1"/>
            <a:r>
              <a:rPr lang="en-US" altLang="en-US"/>
              <a:t>$('#id01'), $('.class1')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Canvas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408920" cy="993775"/>
          </a:xfrm>
        </p:spPr>
        <p:txBody>
          <a:bodyPr>
            <a:normAutofit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https://developer.mozilla.org/en-US/docs/Web/API/Canvas_API/Tutorial/Pixel_manipulation_with_canvas</a:t>
            </a:r>
            <a:endParaRPr lang="en-US" altLang="zh-CN"/>
          </a:p>
        </p:txBody>
      </p:sp>
      <p:sp>
        <p:nvSpPr>
          <p:cNvPr id="4" name="流程图: 可选过程 3"/>
          <p:cNvSpPr/>
          <p:nvPr/>
        </p:nvSpPr>
        <p:spPr>
          <a:xfrm>
            <a:off x="1682750" y="2670810"/>
            <a:ext cx="3834130" cy="122999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ImageData</a:t>
            </a:r>
            <a:endParaRPr lang="en-US" altLang="zh-CN" sz="1600"/>
          </a:p>
          <a:p>
            <a:pPr algn="l"/>
            <a:r>
              <a:rPr lang="en-US" altLang="zh-CN" sz="1600"/>
              <a:t>- width, height, data</a:t>
            </a:r>
            <a:endParaRPr lang="en-US" altLang="zh-CN" sz="1600"/>
          </a:p>
          <a:p>
            <a:pPr algn="l"/>
            <a:endParaRPr lang="en-US" altLang="zh-CN" sz="1600"/>
          </a:p>
        </p:txBody>
      </p:sp>
      <p:sp>
        <p:nvSpPr>
          <p:cNvPr id="5" name="流程图: 可选过程 4"/>
          <p:cNvSpPr/>
          <p:nvPr/>
        </p:nvSpPr>
        <p:spPr>
          <a:xfrm>
            <a:off x="1600835" y="4366895"/>
            <a:ext cx="3834130" cy="175387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HTMLCanvasElement</a:t>
            </a:r>
            <a:endParaRPr lang="en-US" altLang="zh-CN" sz="1600"/>
          </a:p>
          <a:p>
            <a:pPr algn="l"/>
            <a:r>
              <a:rPr lang="en-US" altLang="zh-CN" sz="1600"/>
              <a:t>- width  (logical), height (logical)</a:t>
            </a:r>
            <a:endParaRPr lang="en-US" altLang="zh-CN" sz="1600"/>
          </a:p>
          <a:p>
            <a:pPr algn="l"/>
            <a:r>
              <a:rPr lang="en-US" altLang="zh-CN" sz="1600"/>
              <a:t>- getContext()</a:t>
            </a:r>
            <a:endParaRPr lang="en-US" altLang="zh-CN" sz="1600"/>
          </a:p>
          <a:p>
            <a:pPr algn="l"/>
            <a:r>
              <a:rPr lang="en-US" altLang="zh-CN" sz="1600"/>
              <a:t>- toDataURL()</a:t>
            </a:r>
            <a:endParaRPr lang="en-US" altLang="zh-CN" sz="1600"/>
          </a:p>
          <a:p>
            <a:pPr algn="l"/>
            <a:r>
              <a:rPr lang="en-US" altLang="zh-CN" sz="1600"/>
              <a:t>- toBlob()</a:t>
            </a:r>
            <a:endParaRPr lang="en-US" altLang="zh-CN" sz="1600"/>
          </a:p>
        </p:txBody>
      </p:sp>
      <p:sp>
        <p:nvSpPr>
          <p:cNvPr id="6" name="流程图: 可选过程 5"/>
          <p:cNvSpPr/>
          <p:nvPr/>
        </p:nvSpPr>
        <p:spPr>
          <a:xfrm>
            <a:off x="6230620" y="4366895"/>
            <a:ext cx="3834130" cy="175387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/>
              <a:t>CanvasRenderingContext2D</a:t>
            </a:r>
            <a:endParaRPr lang="en-US" altLang="zh-CN" sz="1600"/>
          </a:p>
          <a:p>
            <a:pPr algn="l"/>
            <a:r>
              <a:rPr lang="en-US" altLang="zh-CN" sz="1600">
                <a:sym typeface="+mn-ea"/>
              </a:rPr>
              <a:t>- filter (grayscale(1), blur(len), invert())</a:t>
            </a:r>
            <a:endParaRPr lang="en-US" altLang="zh-CN" sz="1600">
              <a:sym typeface="+mn-ea"/>
            </a:endParaRPr>
          </a:p>
          <a:p>
            <a:pPr algn="l"/>
            <a:r>
              <a:rPr lang="en-US" altLang="zh-CN" sz="1600">
                <a:sym typeface="+mn-ea"/>
              </a:rPr>
              <a:t>- createImageData(width, height)</a:t>
            </a:r>
            <a:endParaRPr lang="en-US" altLang="zh-CN" sz="1600"/>
          </a:p>
          <a:p>
            <a:pPr algn="l"/>
            <a:r>
              <a:rPr lang="en-US" altLang="zh-CN" sz="1600">
                <a:sym typeface="+mn-ea"/>
              </a:rPr>
              <a:t>- getImageData(left, top, width, height)</a:t>
            </a:r>
            <a:endParaRPr lang="en-US" altLang="zh-CN" sz="1600"/>
          </a:p>
          <a:p>
            <a:pPr algn="l"/>
            <a:r>
              <a:rPr lang="en-US" altLang="zh-CN" sz="1600">
                <a:sym typeface="+mn-ea"/>
              </a:rPr>
              <a:t>- putImageData(data, left, top)</a:t>
            </a:r>
            <a:endParaRPr lang="en-US" altLang="zh-CN" sz="1600">
              <a:sym typeface="+mn-ea"/>
            </a:endParaRPr>
          </a:p>
          <a:p>
            <a:pPr algn="l"/>
            <a:r>
              <a:rPr lang="en-US" altLang="zh-CN" sz="1600"/>
              <a:t>- drawImage(x, y, w, h)</a:t>
            </a:r>
            <a:endParaRPr lang="en-US" altLang="zh-CN" sz="1600"/>
          </a:p>
        </p:txBody>
      </p:sp>
      <p:cxnSp>
        <p:nvCxnSpPr>
          <p:cNvPr id="7" name="直接箭头连接符 6"/>
          <p:cNvCxnSpPr>
            <a:stCxn id="4" idx="2"/>
            <a:endCxn id="5" idx="0"/>
          </p:cNvCxnSpPr>
          <p:nvPr/>
        </p:nvCxnSpPr>
        <p:spPr>
          <a:xfrm flipH="1">
            <a:off x="3517900" y="3900805"/>
            <a:ext cx="81915" cy="466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2"/>
            <a:endCxn id="6" idx="0"/>
          </p:cNvCxnSpPr>
          <p:nvPr/>
        </p:nvCxnSpPr>
        <p:spPr>
          <a:xfrm>
            <a:off x="3599815" y="3900805"/>
            <a:ext cx="4547870" cy="466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</a:t>
            </a:r>
            <a:r>
              <a:rPr lang="en-US" altLang="en-US"/>
              <a:t>C</a:t>
            </a:r>
            <a:r>
              <a:rPr lang="en-US" altLang="zh-CN"/>
              <a:t>harts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zh-CN"/>
              <a:t>Info</a:t>
            </a:r>
            <a:endParaRPr lang="en-US" altLang="zh-CN"/>
          </a:p>
          <a:p>
            <a:pPr lvl="1"/>
            <a:r>
              <a:rPr lang="en-US" altLang="zh-CN"/>
              <a:t>A declarative framework for rapid construction of web-based visualization</a:t>
            </a:r>
            <a:endParaRPr lang="en-US" altLang="zh-CN"/>
          </a:p>
          <a:p>
            <a:pPr lvl="1"/>
            <a:r>
              <a:rPr lang="en-US" altLang="en-US"/>
              <a:t>https://echarts.baidu.com</a:t>
            </a:r>
            <a:endParaRPr lang="en-US" altLang="en-US"/>
          </a:p>
          <a:p>
            <a:pPr lvl="0"/>
            <a:r>
              <a:rPr lang="en-US" altLang="en-US"/>
              <a:t>Usage</a:t>
            </a:r>
            <a:endParaRPr lang="en-US" altLang="en-US"/>
          </a:p>
          <a:p>
            <a:pPr lvl="1"/>
            <a:r>
              <a:rPr lang="en-US" altLang="en-US"/>
              <a:t>&lt;script src='echarts.min.js'&gt;&lt;/script&gt;</a:t>
            </a:r>
            <a:endParaRPr lang="en-US" altLang="en-US"/>
          </a:p>
          <a:p>
            <a:pPr lvl="1"/>
            <a:r>
              <a:rPr lang="en-US" altLang="en-US"/>
              <a:t>var myChart = echarts.init(document.getElementById('main'));</a:t>
            </a:r>
            <a:endParaRPr lang="en-US" altLang="en-US"/>
          </a:p>
          <a:p>
            <a:pPr lvl="1"/>
            <a:r>
              <a:rPr lang="en-US" altLang="en-US"/>
              <a:t>var option = {...};</a:t>
            </a:r>
            <a:endParaRPr lang="en-US" altLang="en-US"/>
          </a:p>
          <a:p>
            <a:pPr lvl="1"/>
            <a:r>
              <a:rPr lang="en-US" altLang="en-US"/>
              <a:t>myChart.setOption(option)</a:t>
            </a:r>
            <a:endParaRPr lang="en-US" altLang="en-US"/>
          </a:p>
          <a:p>
            <a:pPr lvl="0"/>
            <a:r>
              <a:rPr lang="en-US" altLang="en-US"/>
              <a:t>Options</a:t>
            </a:r>
            <a:endParaRPr lang="en-US" altLang="en-US"/>
          </a:p>
          <a:p>
            <a:pPr lvl="1"/>
            <a:r>
              <a:rPr lang="en-US" altLang="en-US"/>
              <a:t>theme: 'light', 'dark'</a:t>
            </a:r>
            <a:endParaRPr lang="en-US" altLang="en-US"/>
          </a:p>
          <a:p>
            <a:pPr lvl="1"/>
            <a:r>
              <a:rPr lang="en-US" altLang="en-US"/>
              <a:t>itemStyle, lineStyle, areaStyle, label</a:t>
            </a:r>
            <a:endParaRPr lang="en-US" altLang="en-US"/>
          </a:p>
          <a:p>
            <a:pPr lvl="1"/>
            <a:r>
              <a:rPr lang="en-US" altLang="en-US"/>
              <a:t>emphasis</a:t>
            </a:r>
            <a:endParaRPr lang="en-US" altLang="en-US"/>
          </a:p>
          <a:p>
            <a:pPr lvl="1"/>
            <a:r>
              <a:rPr lang="en-US" altLang="en-US"/>
              <a:t>dataset, seriesLayoutBy, encode</a:t>
            </a:r>
            <a:endParaRPr lang="en-US" altLang="en-US"/>
          </a:p>
          <a:p>
            <a:pPr lvl="1"/>
            <a:r>
              <a:rPr lang="en-US" altLang="en-US"/>
              <a:t>legend, title, visualMap, dataZoom, timeline</a:t>
            </a:r>
            <a:endParaRPr lang="en-US" altLang="en-US"/>
          </a:p>
          <a:p>
            <a:pPr lvl="0"/>
            <a:r>
              <a:rPr lang="en-US" altLang="en-US"/>
              <a:t>Others</a:t>
            </a:r>
            <a:endParaRPr lang="en-US" altLang="en-US"/>
          </a:p>
          <a:p>
            <a:pPr lvl="1"/>
            <a:r>
              <a:rPr lang="en-US" altLang="en-US"/>
              <a:t>showLoading()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Audio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047865" cy="4549140"/>
          </a:xfrm>
        </p:spPr>
        <p:txBody>
          <a:bodyPr/>
          <a:p>
            <a:r>
              <a:rPr lang="en-US" altLang="zh-CN" sz="2800"/>
              <a:t>recorder.js</a:t>
            </a:r>
            <a:endParaRPr lang="en-US" altLang="zh-CN" sz="2800"/>
          </a:p>
          <a:p>
            <a:pPr lvl="1"/>
            <a:r>
              <a:rPr lang="en-US" altLang="zh-CN" sz="2400"/>
              <a:t>supports only wav recording</a:t>
            </a:r>
            <a:endParaRPr lang="en-US" altLang="zh-CN" sz="2400"/>
          </a:p>
          <a:p>
            <a:pPr lvl="1"/>
            <a:r>
              <a:rPr lang="en-US" altLang="zh-CN" sz="2400"/>
              <a:t>records 16bit mono/2 channel audio at 44.1kHz or 48kHz</a:t>
            </a:r>
            <a:endParaRPr lang="en-US" altLang="zh-CN" sz="2400"/>
          </a:p>
          <a:p>
            <a:pPr lvl="1"/>
            <a:r>
              <a:rPr lang="en-US" altLang="zh-CN" sz="2400"/>
              <a:t>demo:https://github.com/addpipe/simple-recorderjs-demo</a:t>
            </a:r>
            <a:endParaRPr lang="en-US" altLang="zh-CN" sz="2400"/>
          </a:p>
          <a:p>
            <a:pPr lvl="0"/>
            <a:r>
              <a:rPr lang="en-US" altLang="zh-CN" sz="2880"/>
              <a:t>Auto play</a:t>
            </a:r>
            <a:endParaRPr lang="en-US" altLang="zh-CN" sz="2880"/>
          </a:p>
          <a:p>
            <a:pPr lvl="1"/>
            <a:r>
              <a:rPr lang="en-US" altLang="zh-CN" sz="2400"/>
              <a:t>https://blog.csdn.net/a545132569/article/details/82996445</a:t>
            </a:r>
            <a:endParaRPr lang="en-US" altLang="zh-CN" sz="2400"/>
          </a:p>
          <a:p>
            <a:pPr lvl="1"/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8135620" y="1211580"/>
            <a:ext cx="3872230" cy="396938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function toggleSound() {</a:t>
            </a:r>
            <a:endParaRPr lang="zh-CN" altLang="en-US"/>
          </a:p>
          <a:p>
            <a:r>
              <a:rPr lang="zh-CN" altLang="en-US"/>
              <a:t>            var music = document.getElementById("vd");  </a:t>
            </a:r>
            <a:endParaRPr lang="zh-CN" altLang="en-US"/>
          </a:p>
          <a:p>
            <a:r>
              <a:rPr lang="zh-CN" altLang="en-US"/>
              <a:t>                console.log(music);</a:t>
            </a:r>
            <a:endParaRPr lang="zh-CN" altLang="en-US"/>
          </a:p>
          <a:p>
            <a:r>
              <a:rPr lang="zh-CN" altLang="en-US"/>
              <a:t>                console.log(music.paused);</a:t>
            </a:r>
            <a:endParaRPr lang="zh-CN" altLang="en-US"/>
          </a:p>
          <a:p>
            <a:r>
              <a:rPr lang="zh-CN" altLang="en-US"/>
              <a:t>            if (music.paused) {</a:t>
            </a:r>
            <a:endParaRPr lang="zh-CN" altLang="en-US"/>
          </a:p>
          <a:p>
            <a:r>
              <a:rPr lang="zh-CN" altLang="en-US"/>
              <a:t>                music.paused=false;</a:t>
            </a:r>
            <a:endParaRPr lang="zh-CN" altLang="en-US"/>
          </a:p>
          <a:p>
            <a:r>
              <a:rPr lang="zh-CN" altLang="en-US"/>
              <a:t>                music.play();</a:t>
            </a:r>
            <a:endParaRPr lang="zh-CN" altLang="en-US"/>
          </a:p>
          <a:p>
            <a:r>
              <a:rPr lang="zh-CN" altLang="en-US"/>
              <a:t>            }  </a:t>
            </a:r>
            <a:endParaRPr lang="zh-CN" altLang="en-US"/>
          </a:p>
          <a:p>
            <a:r>
              <a:rPr lang="zh-CN" altLang="en-US"/>
              <a:t>            </a:t>
            </a:r>
            <a:endParaRPr lang="zh-CN" altLang="en-US"/>
          </a:p>
          <a:p>
            <a:r>
              <a:rPr lang="zh-CN" altLang="en-US"/>
              <a:t>        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setInterval("toggleSound()",1);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Responsive Design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https://www.cssscript.com/top-10-javascript-css-responsive-menus/</a:t>
            </a:r>
            <a:endParaRPr lang="zh-CN" altLang="en-US"/>
          </a:p>
          <a:p>
            <a:r>
              <a:rPr lang="en-US" altLang="zh-CN"/>
              <a:t>Adaptative image to fit any aspect-ratio image</a:t>
            </a:r>
            <a:endParaRPr lang="en-US" altLang="zh-CN"/>
          </a:p>
          <a:p>
            <a:pPr lvl="1"/>
            <a:r>
              <a:rPr lang="en-US" altLang="zh-CN"/>
              <a:t>https://stackoverflow.com/questions/12991351/css-force-image-resize-and-keep-aspect-ratio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941955"/>
            <a:ext cx="4714875" cy="1609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0" y="2770505"/>
            <a:ext cx="2581275" cy="19526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943725" cy="4549140"/>
          </a:xfrm>
        </p:spPr>
        <p:txBody>
          <a:bodyPr/>
          <a:p>
            <a:r>
              <a:rPr lang="en-US" altLang="zh-CN"/>
              <a:t>Baidu</a:t>
            </a:r>
            <a:endParaRPr lang="en-US" altLang="zh-CN"/>
          </a:p>
          <a:p>
            <a:pPr lvl="1"/>
            <a:r>
              <a:rPr lang="en-US" altLang="zh-CN"/>
              <a:t>https://ai.baidu.com/tech/speech/tts</a:t>
            </a:r>
            <a:endParaRPr lang="en-US" altLang="zh-CN"/>
          </a:p>
          <a:p>
            <a:pPr lvl="1"/>
            <a:r>
              <a:rPr lang="zh-CN" altLang="en-US"/>
              <a:t>收费</a:t>
            </a:r>
            <a:endParaRPr lang="zh-CN" altLang="en-US"/>
          </a:p>
          <a:p>
            <a:pPr lvl="2"/>
            <a:r>
              <a:rPr lang="zh-CN" altLang="en-US"/>
              <a:t>精品音库免费QPS默认为2，如果您通过百度云的企业认证，精品音库在线API接口的免费QPS将扩充至5；</a:t>
            </a:r>
            <a:endParaRPr lang="zh-CN" altLang="en-US"/>
          </a:p>
          <a:p>
            <a:pPr lvl="2"/>
            <a:r>
              <a:rPr lang="zh-CN" altLang="en-US"/>
              <a:t>基础音库免费QPS默认为5，企业认证后基础音库在线API接口的免费QPS将扩充至100。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45755" y="1211580"/>
            <a:ext cx="3705225" cy="2981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Tween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26150" cy="5081270"/>
          </a:xfrm>
        </p:spPr>
        <p:txBody>
          <a:bodyPr>
            <a:normAutofit fontScale="70000"/>
          </a:bodyPr>
          <a:p>
            <a:r>
              <a:rPr lang="en-US" altLang="zh-CN"/>
              <a:t>tween.js</a:t>
            </a:r>
            <a:endParaRPr lang="en-US" altLang="zh-CN"/>
          </a:p>
          <a:p>
            <a:pPr lvl="1"/>
            <a:r>
              <a:rPr lang="en-US" altLang="zh-CN"/>
              <a:t>https://github.com/tweenjs/tween.js/</a:t>
            </a:r>
            <a:endParaRPr lang="en-US" altLang="zh-CN"/>
          </a:p>
          <a:p>
            <a:pPr lvl="1"/>
            <a:r>
              <a:rPr lang="en-US" altLang="zh-CN"/>
              <a:t>http://learningthreejs.com/blog/2011/08/17/tweenjs-for-smooth-animation/</a:t>
            </a:r>
            <a:endParaRPr lang="en-US" altLang="zh-CN"/>
          </a:p>
          <a:p>
            <a:r>
              <a:rPr lang="en-US" altLang="zh-CN"/>
              <a:t>APIs</a:t>
            </a:r>
            <a:endParaRPr lang="en-US" altLang="zh-CN"/>
          </a:p>
          <a:p>
            <a:pPr lvl="1"/>
            <a:r>
              <a:rPr lang="en-US" altLang="zh-CN"/>
              <a:t>var tween = new TWEEN.Tween({})</a:t>
            </a:r>
            <a:endParaRPr lang="en-US" altLang="zh-CN"/>
          </a:p>
          <a:p>
            <a:pPr lvl="1"/>
            <a:r>
              <a:rPr lang="en-US" altLang="zh-CN"/>
              <a:t>tween.to({}, duration)</a:t>
            </a:r>
            <a:endParaRPr lang="en-US" altLang="zh-CN"/>
          </a:p>
          <a:p>
            <a:pPr lvl="1"/>
            <a:r>
              <a:rPr lang="en-US" altLang="zh-CN"/>
              <a:t>tween.easing(TWEEN.Easing.XXX)</a:t>
            </a:r>
            <a:endParaRPr lang="en-US" altLang="zh-CN"/>
          </a:p>
          <a:p>
            <a:pPr lvl="1"/>
            <a:r>
              <a:rPr lang="en-US" altLang="zh-CN"/>
              <a:t>tween.onUpdate(updateFunc)</a:t>
            </a:r>
            <a:endParaRPr lang="en-US" altLang="zh-CN"/>
          </a:p>
          <a:p>
            <a:pPr lvl="1"/>
            <a:r>
              <a:rPr lang="en-US" altLang="zh-CN"/>
              <a:t>tween.onComplete(completeFunc)</a:t>
            </a:r>
            <a:endParaRPr lang="en-US" altLang="zh-CN"/>
          </a:p>
          <a:p>
            <a:pPr lvl="1"/>
            <a:r>
              <a:rPr lang="en-US" altLang="zh-CN"/>
              <a:t>tween.delay(ms)</a:t>
            </a:r>
            <a:endParaRPr lang="en-US" altLang="zh-CN"/>
          </a:p>
          <a:p>
            <a:pPr lvl="1"/>
            <a:r>
              <a:rPr lang="en-US" altLang="zh-CN"/>
              <a:t>tween.start()</a:t>
            </a:r>
            <a:endParaRPr lang="en-US" altLang="zh-CN"/>
          </a:p>
          <a:p>
            <a:pPr lvl="1"/>
            <a:r>
              <a:rPr lang="en-US" altLang="zh-CN"/>
              <a:t>TWEEN.update()	// Need to be invoked periodically</a:t>
            </a:r>
            <a:endParaRPr lang="en-US" altLang="zh-CN"/>
          </a:p>
          <a:p>
            <a:pPr lvl="1"/>
            <a:r>
              <a:rPr lang="en-US" altLang="zh-CN"/>
              <a:t>tween.stop()</a:t>
            </a:r>
            <a:endParaRPr lang="en-US" altLang="zh-CN"/>
          </a:p>
          <a:p>
            <a:pPr lvl="1"/>
            <a:r>
              <a:rPr lang="en-US" altLang="zh-CN"/>
              <a:t>TWEEN.remove(tween)</a:t>
            </a:r>
            <a:endParaRPr lang="en-US" altLang="zh-CN"/>
          </a:p>
          <a:p>
            <a:pPr lvl="1"/>
            <a:r>
              <a:rPr lang="en-US" altLang="zh-CN"/>
              <a:t>tween.chain()</a:t>
            </a:r>
            <a:endParaRPr lang="en-US" altLang="zh-CN"/>
          </a:p>
          <a:p>
            <a:pPr lvl="0"/>
            <a:r>
              <a:rPr lang="en-US" altLang="zh-CN"/>
              <a:t>Easing</a:t>
            </a:r>
            <a:endParaRPr lang="en-US" altLang="zh-CN"/>
          </a:p>
          <a:p>
            <a:pPr lvl="1"/>
            <a:r>
              <a:rPr lang="en-US" altLang="zh-CN"/>
              <a:t>https://easings.net/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20865" y="1360805"/>
            <a:ext cx="4899025" cy="37452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Service Worker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35345" cy="5187950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https://www.geeksforgeeks.org/service-workers-in-javascript/</a:t>
            </a:r>
            <a:endParaRPr lang="en-US" altLang="zh-CN"/>
          </a:p>
          <a:p>
            <a:pPr lvl="1"/>
            <a:r>
              <a:rPr lang="en-US" altLang="zh-CN"/>
              <a:t>https://developer.mozilla.org/en-US/docs/Web/API/Service_Worker_API</a:t>
            </a:r>
            <a:endParaRPr lang="en-US" altLang="zh-CN"/>
          </a:p>
          <a:p>
            <a:pPr lvl="0"/>
            <a:r>
              <a:rPr lang="en-US" altLang="zh-CN"/>
              <a:t>Process</a:t>
            </a:r>
            <a:endParaRPr lang="en-US" altLang="zh-CN"/>
          </a:p>
          <a:p>
            <a:pPr lvl="1"/>
            <a:r>
              <a:rPr lang="en-US" altLang="zh-CN"/>
              <a:t>Registration</a:t>
            </a:r>
            <a:endParaRPr lang="en-US" altLang="zh-CN"/>
          </a:p>
          <a:p>
            <a:pPr lvl="1"/>
            <a:r>
              <a:rPr lang="en-US" altLang="zh-CN"/>
              <a:t>Installation</a:t>
            </a:r>
            <a:endParaRPr lang="en-US" altLang="zh-CN"/>
          </a:p>
          <a:p>
            <a:pPr lvl="1"/>
            <a:r>
              <a:rPr lang="en-US" altLang="zh-CN"/>
              <a:t>Activation</a:t>
            </a:r>
            <a:endParaRPr lang="en-US" altLang="zh-CN"/>
          </a:p>
          <a:p>
            <a:pPr lvl="1"/>
            <a:r>
              <a:rPr lang="en-US" altLang="zh-CN"/>
              <a:t>Fetching</a:t>
            </a:r>
            <a:endParaRPr lang="en-US" altLang="zh-CN"/>
          </a:p>
          <a:p>
            <a:pPr lvl="0"/>
            <a:r>
              <a:rPr lang="en-US" altLang="zh-CN" sz="2400"/>
              <a:t>Cannot do</a:t>
            </a:r>
            <a:endParaRPr lang="en-US" altLang="zh-CN" sz="2400"/>
          </a:p>
          <a:p>
            <a:pPr lvl="1"/>
            <a:r>
              <a:rPr lang="en-US" altLang="zh-CN" sz="2000"/>
              <a:t>access the parent, Window, Document, DOM object</a:t>
            </a:r>
            <a:endParaRPr lang="en-US" altLang="zh-CN" sz="2000"/>
          </a:p>
          <a:p>
            <a:pPr lvl="0"/>
            <a:r>
              <a:rPr lang="en-US" altLang="zh-CN" sz="2400"/>
              <a:t>Can</a:t>
            </a:r>
            <a:endParaRPr lang="en-US" altLang="zh-CN" sz="2400"/>
          </a:p>
          <a:p>
            <a:pPr lvl="1"/>
            <a:r>
              <a:rPr lang="en-US" altLang="zh-CN" sz="2000"/>
              <a:t>cache assets and api calls</a:t>
            </a:r>
            <a:endParaRPr lang="en-US" altLang="zh-CN" sz="2000"/>
          </a:p>
          <a:p>
            <a:pPr lvl="1"/>
            <a:r>
              <a:rPr lang="en-US" altLang="zh-CN" sz="2000"/>
              <a:t>manage push notifications</a:t>
            </a:r>
            <a:endParaRPr lang="en-US" altLang="zh-CN" sz="2000"/>
          </a:p>
          <a:p>
            <a:pPr lvl="1"/>
            <a:r>
              <a:rPr lang="en-US" altLang="zh-CN" sz="2000"/>
              <a:t>control the network traffic</a:t>
            </a:r>
            <a:endParaRPr lang="en-US" altLang="zh-CN" sz="2000"/>
          </a:p>
          <a:p>
            <a:pPr lvl="1"/>
            <a:r>
              <a:rPr lang="en-US" altLang="zh-CN" sz="2000"/>
              <a:t>store the app cache</a:t>
            </a:r>
            <a:endParaRPr lang="en-US" altLang="zh-CN" sz="2000"/>
          </a:p>
          <a:p>
            <a:pPr lvl="0"/>
            <a:r>
              <a:rPr lang="en-US" altLang="zh-CN"/>
              <a:t>Common use case</a:t>
            </a:r>
            <a:endParaRPr lang="en-US" altLang="zh-CN"/>
          </a:p>
          <a:p>
            <a:pPr lvl="1"/>
            <a:r>
              <a:rPr lang="en-US" altLang="zh-CN" sz="2000"/>
              <a:t>offline-optimized user experience</a:t>
            </a:r>
            <a:endParaRPr lang="en-US" altLang="zh-CN" sz="2000"/>
          </a:p>
          <a:p>
            <a:pPr lvl="1"/>
            <a:r>
              <a:rPr lang="en-US" altLang="zh-CN" sz="2000"/>
              <a:t>sending push notifications</a:t>
            </a:r>
            <a:endParaRPr lang="en-US" altLang="zh-CN" sz="2000"/>
          </a:p>
          <a:p>
            <a:pPr lvl="1"/>
            <a:r>
              <a:rPr lang="en-US" altLang="zh-CN" sz="2000"/>
              <a:t>background sync</a:t>
            </a:r>
            <a:endParaRPr lang="en-US" altLang="zh-CN"/>
          </a:p>
          <a:p>
            <a:pPr lvl="0"/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714615" y="1271905"/>
            <a:ext cx="4284980" cy="2809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7947025" y="4180840"/>
            <a:ext cx="382079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if (navigator.serviceWorker) {</a:t>
            </a:r>
            <a:endParaRPr lang="zh-CN" altLang="en-US" sz="1000"/>
          </a:p>
          <a:p>
            <a:r>
              <a:rPr lang="zh-CN" altLang="en-US" sz="1000"/>
              <a:t>  // Start registration process on every page load</a:t>
            </a:r>
            <a:endParaRPr lang="zh-CN" altLang="en-US" sz="1000"/>
          </a:p>
          <a:p>
            <a:r>
              <a:rPr lang="zh-CN" altLang="en-US" sz="1000"/>
              <a:t>  window.addEventListener('load', () =&gt; {</a:t>
            </a:r>
            <a:endParaRPr lang="zh-CN" altLang="en-US" sz="1000"/>
          </a:p>
          <a:p>
            <a:r>
              <a:rPr lang="zh-CN" altLang="en-US" sz="1000"/>
              <a:t>      navigator.serviceWorker</a:t>
            </a:r>
            <a:endParaRPr lang="zh-CN" altLang="en-US" sz="1000"/>
          </a:p>
          <a:p>
            <a:r>
              <a:rPr lang="zh-CN" altLang="en-US" sz="1000"/>
              <a:t>          // The register function takes as argument</a:t>
            </a:r>
            <a:endParaRPr lang="zh-CN" altLang="en-US" sz="1000"/>
          </a:p>
          <a:p>
            <a:r>
              <a:rPr lang="zh-CN" altLang="en-US" sz="1000"/>
              <a:t>          // the file path to the worker's file</a:t>
            </a:r>
            <a:endParaRPr lang="zh-CN" altLang="en-US" sz="1000"/>
          </a:p>
          <a:p>
            <a:r>
              <a:rPr lang="zh-CN" altLang="en-US" sz="1000"/>
              <a:t>          .register('/service_worker.js')</a:t>
            </a:r>
            <a:endParaRPr lang="zh-CN" altLang="en-US" sz="1000"/>
          </a:p>
          <a:p>
            <a:r>
              <a:rPr lang="zh-CN" altLang="en-US" sz="1000"/>
              <a:t>          // Gives us registration object</a:t>
            </a:r>
            <a:endParaRPr lang="zh-CN" altLang="en-US" sz="1000"/>
          </a:p>
          <a:p>
            <a:r>
              <a:rPr lang="zh-CN" altLang="en-US" sz="1000"/>
              <a:t>          .then(reg =&gt; console.log('Service Worker Registered'))</a:t>
            </a:r>
            <a:endParaRPr lang="zh-CN" altLang="en-US" sz="1000"/>
          </a:p>
          <a:p>
            <a:r>
              <a:rPr lang="zh-CN" altLang="en-US" sz="1000"/>
              <a:t>          .catch(swErr =&gt; console.log(</a:t>
            </a:r>
            <a:endParaRPr lang="zh-CN" altLang="en-US" sz="1000"/>
          </a:p>
          <a:p>
            <a:r>
              <a:rPr lang="zh-CN" altLang="en-US" sz="1000"/>
              <a:t>                `Service Worker Installation Error: ${swErr}}`));</a:t>
            </a:r>
            <a:endParaRPr lang="zh-CN" altLang="en-US" sz="1000"/>
          </a:p>
          <a:p>
            <a:r>
              <a:rPr lang="zh-CN" altLang="en-US" sz="1000"/>
              <a:t>    });</a:t>
            </a:r>
            <a:endParaRPr lang="zh-CN" altLang="en-US" sz="1000"/>
          </a:p>
          <a:p>
            <a:r>
              <a:rPr lang="zh-CN" altLang="en-US" sz="1000"/>
              <a:t>}</a:t>
            </a:r>
            <a:endParaRPr lang="zh-CN" altLang="en-US" sz="1000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WebAssembly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38445" cy="4549140"/>
          </a:xfrm>
        </p:spPr>
        <p:txBody>
          <a:bodyPr>
            <a:normAutofit fontScale="90000"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https://developer.mozilla.org/en-US/docs/Web/JavaScript/Reference/Global_Objects/WebAssembly</a:t>
            </a:r>
            <a:endParaRPr lang="en-US" altLang="zh-CN"/>
          </a:p>
          <a:p>
            <a:pPr lvl="0"/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/>
              <a:t>low-level assembly-like language</a:t>
            </a:r>
            <a:endParaRPr lang="en-US" altLang="zh-CN" sz="2000"/>
          </a:p>
          <a:p>
            <a:pPr lvl="1"/>
            <a:r>
              <a:rPr lang="en-US" altLang="zh-CN"/>
              <a:t>designed to run alongside JavaScript, allowing both to work together</a:t>
            </a:r>
            <a:endParaRPr lang="en-US" altLang="zh-CN"/>
          </a:p>
          <a:p>
            <a:pPr lvl="0"/>
            <a:r>
              <a:rPr lang="en-US" altLang="zh-CN"/>
              <a:t>Use</a:t>
            </a:r>
            <a:endParaRPr lang="en-US" altLang="zh-CN"/>
          </a:p>
          <a:p>
            <a:pPr lvl="1"/>
            <a:r>
              <a:rPr lang="en-US" altLang="zh-CN"/>
              <a:t>WebAssembly.instantiate()	// load webassembly codes</a:t>
            </a:r>
            <a:endParaRPr lang="en-US" altLang="zh-CN"/>
          </a:p>
          <a:p>
            <a:pPr lvl="1"/>
            <a:r>
              <a:rPr lang="en-US" altLang="zh-CN"/>
              <a:t>WebAssembly.Memory() WebAssembly.Table() create new memory and table instances</a:t>
            </a:r>
            <a:endParaRPr lang="en-US" altLang="zh-CN"/>
          </a:p>
          <a:p>
            <a:pPr lvl="1"/>
            <a:r>
              <a:rPr lang="en-US" altLang="zh-CN"/>
              <a:t>WebAssembly.CompileError() WebAssembly.LinkError() WebAssembly.RuntimeError()</a:t>
            </a:r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301105" y="1417320"/>
            <a:ext cx="5785485" cy="7874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Javascript Modules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https://developer.mozilla.org/en-US/docs/Web/JavaScript/Guide/Modules</a:t>
            </a:r>
            <a:endParaRPr lang="en-US" altLang="zh-CN"/>
          </a:p>
          <a:p>
            <a:pPr lvl="0"/>
            <a:r>
              <a:rPr lang="en-US" altLang="zh-CN"/>
              <a:t>Modules</a:t>
            </a:r>
            <a:endParaRPr lang="en-US" altLang="zh-CN"/>
          </a:p>
          <a:p>
            <a:pPr lvl="1"/>
            <a:r>
              <a:rPr lang="en-US" altLang="zh-CN"/>
              <a:t>import</a:t>
            </a:r>
            <a:endParaRPr lang="en-US" altLang="zh-CN"/>
          </a:p>
          <a:p>
            <a:pPr lvl="1"/>
            <a:r>
              <a:rPr lang="en-US" altLang="zh-CN"/>
              <a:t>export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Libraries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https://fireworks.js.org/</a:t>
            </a:r>
            <a:endParaRPr lang="en-US" altLang="zh-CN"/>
          </a:p>
          <a:p>
            <a:pPr lvl="1"/>
            <a:r>
              <a:rPr lang="en-US" altLang="zh-CN"/>
              <a:t>fireworks effects</a:t>
            </a:r>
            <a:endParaRPr lang="en-US" altLang="zh-CN"/>
          </a:p>
          <a:p>
            <a:pPr lvl="1"/>
            <a:r>
              <a:rPr lang="en-US" altLang="zh-CN"/>
              <a:t>MIT</a:t>
            </a:r>
            <a:endParaRPr lang="en-US" altLang="zh-CN"/>
          </a:p>
          <a:p>
            <a:pPr lvl="1"/>
            <a:r>
              <a:rPr lang="en-US" altLang="zh-CN"/>
              <a:t>2D?</a:t>
            </a:r>
            <a:endParaRPr lang="en-US" altLang="zh-CN"/>
          </a:p>
          <a:p>
            <a:pPr lvl="0"/>
            <a:r>
              <a:rPr lang="en-US" altLang="zh-CN"/>
              <a:t>https://github.com/tsparticles/tsparticles</a:t>
            </a:r>
            <a:endParaRPr lang="en-US" altLang="zh-CN"/>
          </a:p>
          <a:p>
            <a:pPr lvl="1"/>
            <a:r>
              <a:rPr lang="en-US" altLang="zh-CN"/>
              <a:t>various particles effects</a:t>
            </a:r>
            <a:endParaRPr lang="en-US" altLang="zh-CN"/>
          </a:p>
          <a:p>
            <a:pPr lvl="1"/>
            <a:r>
              <a:rPr lang="en-US" altLang="zh-CN"/>
              <a:t>MIT</a:t>
            </a:r>
            <a:endParaRPr lang="en-US" altLang="zh-CN"/>
          </a:p>
          <a:p>
            <a:pPr lvl="1"/>
            <a:r>
              <a:rPr lang="en-US" altLang="zh-CN"/>
              <a:t>2D?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npm: unable to verify the first certificate</a:t>
            </a:r>
            <a:endParaRPr lang="zh-CN" altLang="en-US"/>
          </a:p>
          <a:p>
            <a:pPr lvl="1"/>
            <a:r>
              <a:rPr lang="zh-CN" altLang="en-US"/>
              <a:t>npm config set registry http://registry.npmjs.org/ --global</a:t>
            </a:r>
            <a:endParaRPr lang="zh-CN" altLang="en-US"/>
          </a:p>
          <a:p>
            <a:pPr lvl="1"/>
            <a:r>
              <a:rPr lang="en-US" altLang="zh-CN"/>
              <a:t>npm config set registry http://registry.npm.taobao.org/ --global</a:t>
            </a:r>
            <a:endParaRPr lang="en-US" altLang="zh-CN"/>
          </a:p>
          <a:p>
            <a:pPr lvl="1"/>
            <a:r>
              <a:rPr lang="en-US" altLang="zh-CN"/>
              <a:t>npm config set strict SSL false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Process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https://webkid.io/blog/image-processing-in-javascript/</a:t>
            </a:r>
            <a:endParaRPr lang="en-US" altLang="zh-CN"/>
          </a:p>
          <a:p>
            <a:pPr lvl="1"/>
            <a:r>
              <a:rPr lang="en-US" altLang="zh-CN"/>
              <a:t>https://github.com/image-js/image-js</a:t>
            </a:r>
            <a:endParaRPr lang="en-US" altLang="zh-CN"/>
          </a:p>
          <a:p>
            <a:pPr lvl="1"/>
            <a:r>
              <a:rPr lang="en-US" altLang="zh-CN"/>
              <a:t>https://github.com/meltingice/CamanJS/</a:t>
            </a:r>
            <a:endParaRPr lang="en-US" altLang="zh-CN"/>
          </a:p>
          <a:p>
            <a:pPr lvl="1"/>
            <a:r>
              <a:rPr lang="en-US" altLang="zh-CN"/>
              <a:t>https://bashooka.com/coding/best-of-20-javascript-image-processing-plugins/</a:t>
            </a:r>
            <a:endParaRPr lang="en-US" altLang="zh-CN"/>
          </a:p>
          <a:p>
            <a:pPr lvl="1"/>
            <a:r>
              <a:rPr lang="en-US" altLang="zh-CN"/>
              <a:t>https://codegeekz.com/best-javascript-image-manipulation-libraries/</a:t>
            </a:r>
            <a:endParaRPr lang="en-US" altLang="zh-CN"/>
          </a:p>
          <a:p>
            <a:pPr lvl="1"/>
            <a:r>
              <a:rPr lang="en-US" altLang="zh-CN"/>
              <a:t>https://github.com/oliver-moran/jimp</a:t>
            </a:r>
            <a:endParaRPr lang="en-US" altLang="zh-CN"/>
          </a:p>
          <a:p>
            <a:pPr lvl="1"/>
            <a:r>
              <a:rPr lang="en-US" altLang="zh-CN"/>
              <a:t>https://sharp.pixelplumbing.com/</a:t>
            </a:r>
            <a:endParaRPr lang="en-US" altLang="zh-CN"/>
          </a:p>
          <a:p>
            <a:pPr lvl="1"/>
            <a:r>
              <a:rPr lang="en-US" altLang="zh-CN"/>
              <a:t>https://github.com/vanruesc/postprocessing</a:t>
            </a:r>
            <a:endParaRPr lang="en-US" altLang="zh-CN"/>
          </a:p>
          <a:p>
            <a:pPr lvl="1"/>
            <a:r>
              <a:rPr lang="en-US" altLang="zh-CN"/>
              <a:t>https://github.com/foo123/FILTER.js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Viewer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https://ourcodeworld.com/articles/read/54/top-10-gallery-and-photo-viewer-plugins-for-javascript-and-jquery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Sharp</a:t>
            </a:r>
            <a:endParaRPr lang="en-US" altLang="zh-CN"/>
          </a:p>
          <a:p>
            <a:pPr lvl="1"/>
            <a:r>
              <a:rPr lang="en-US" altLang="zh-CN"/>
              <a:t>https://github.com/lovell/sharp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Process Libraries</a:t>
            </a:r>
            <a:endParaRPr lang="en-US" altLang="zh-CN"/>
          </a:p>
        </p:txBody>
      </p:sp>
      <p:pic>
        <p:nvPicPr>
          <p:cNvPr id="6" name="图片 5" descr="tabl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1241425"/>
            <a:ext cx="3756660" cy="5283200"/>
          </a:xfrm>
          <a:prstGeom prst="rect">
            <a:avLst/>
          </a:prstGeom>
        </p:spPr>
      </p:pic>
      <p:pic>
        <p:nvPicPr>
          <p:cNvPr id="7" name="图片 6" descr="fun_effec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602105"/>
            <a:ext cx="6350000" cy="4775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SVG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https://github.com/svgdotjs</a:t>
            </a:r>
            <a:endParaRPr lang="en-US" altLang="zh-CN"/>
          </a:p>
          <a:p>
            <a:pPr lvl="1"/>
            <a:r>
              <a:rPr lang="en-US" altLang="zh-CN"/>
              <a:t>https://svgjs.com/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Canvas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3970655" cy="4549140"/>
          </a:xfrm>
          <a:ln>
            <a:solidFill>
              <a:srgbClr val="FFC000"/>
            </a:solidFill>
          </a:ln>
        </p:spPr>
        <p:txBody>
          <a:bodyPr/>
          <a:p>
            <a:pPr marL="0" indent="0">
              <a:buNone/>
            </a:pPr>
            <a:r>
              <a:rPr lang="en-US" altLang="zh-CN" sz="1800"/>
              <a:t>HTMLCanvasElement</a:t>
            </a:r>
            <a:endParaRPr lang="en-US" altLang="zh-CN" sz="1800"/>
          </a:p>
          <a:p>
            <a:pPr marL="0" lvl="0" indent="0">
              <a:buNone/>
            </a:pPr>
            <a:r>
              <a:rPr lang="en-US" altLang="zh-CN" sz="1800"/>
              <a:t>&lt;canvas&gt;</a:t>
            </a:r>
            <a:endParaRPr lang="en-US" altLang="zh-CN" sz="1800"/>
          </a:p>
          <a:p>
            <a:pPr marL="0" lvl="0" indent="0">
              <a:buNone/>
            </a:pPr>
            <a:r>
              <a:rPr lang="en-US" altLang="zh-CN" sz="1800"/>
              <a:t>Properties: </a:t>
            </a:r>
            <a:endParaRPr lang="en-US" altLang="zh-CN" sz="1800"/>
          </a:p>
          <a:p>
            <a:pPr marL="0" lvl="0" indent="0">
              <a:buNone/>
            </a:pPr>
            <a:r>
              <a:rPr lang="en-US" altLang="zh-CN" sz="1800"/>
              <a:t>	width</a:t>
            </a:r>
            <a:endParaRPr lang="en-US" altLang="zh-CN" sz="1800"/>
          </a:p>
          <a:p>
            <a:pPr marL="0" lvl="0" indent="0">
              <a:buNone/>
            </a:pPr>
            <a:r>
              <a:rPr lang="en-US" altLang="zh-CN" sz="1800"/>
              <a:t>	height</a:t>
            </a:r>
            <a:endParaRPr lang="en-US" altLang="zh-CN" sz="1800"/>
          </a:p>
          <a:p>
            <a:pPr marL="0" lvl="0" indent="0">
              <a:buNone/>
            </a:pPr>
            <a:r>
              <a:rPr lang="en-US" altLang="zh-CN" sz="1800"/>
              <a:t>Methods: </a:t>
            </a:r>
            <a:endParaRPr lang="en-US" altLang="zh-CN" sz="18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800"/>
              <a:t>getContext()</a:t>
            </a:r>
            <a:endParaRPr lang="en-US" altLang="zh-CN" sz="18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800"/>
              <a:t>toDataURL()</a:t>
            </a:r>
            <a:endParaRPr lang="en-US" altLang="zh-CN" sz="1800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Draw2D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7283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https://github.com/freegroup/draw2d</a:t>
            </a:r>
            <a:endParaRPr lang="en-US" altLang="zh-CN"/>
          </a:p>
          <a:p>
            <a:pPr lvl="1"/>
            <a:r>
              <a:rPr lang="en-US" altLang="zh-CN"/>
              <a:t>http://www.draw2d.org/draw2d/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7680325" y="4821555"/>
            <a:ext cx="13042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Port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141720" y="5685155"/>
            <a:ext cx="13042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Input</a:t>
            </a:r>
            <a:r>
              <a:rPr lang="en-US" altLang="zh-CN"/>
              <a:t>Port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680325" y="5685155"/>
            <a:ext cx="13042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Hybrid</a:t>
            </a:r>
            <a:r>
              <a:rPr lang="en-US" altLang="zh-CN"/>
              <a:t>Port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9180195" y="5685155"/>
            <a:ext cx="13042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Output</a:t>
            </a:r>
            <a:r>
              <a:rPr lang="en-US" altLang="zh-CN"/>
              <a:t>Port</a:t>
            </a:r>
            <a:endParaRPr lang="en-US" altLang="zh-CN"/>
          </a:p>
        </p:txBody>
      </p:sp>
      <p:cxnSp>
        <p:nvCxnSpPr>
          <p:cNvPr id="8" name="直接连接符 7"/>
          <p:cNvCxnSpPr>
            <a:endCxn id="5" idx="0"/>
          </p:cNvCxnSpPr>
          <p:nvPr/>
        </p:nvCxnSpPr>
        <p:spPr>
          <a:xfrm flipH="1">
            <a:off x="6793865" y="5229225"/>
            <a:ext cx="1433830" cy="455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" idx="2"/>
            <a:endCxn id="6" idx="0"/>
          </p:cNvCxnSpPr>
          <p:nvPr/>
        </p:nvCxnSpPr>
        <p:spPr>
          <a:xfrm>
            <a:off x="8332470" y="5483860"/>
            <a:ext cx="0" cy="201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7" idx="0"/>
          </p:cNvCxnSpPr>
          <p:nvPr/>
        </p:nvCxnSpPr>
        <p:spPr>
          <a:xfrm>
            <a:off x="8175625" y="5255260"/>
            <a:ext cx="1656715" cy="429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680325" y="3893185"/>
            <a:ext cx="137668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Node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512945" y="3893185"/>
            <a:ext cx="137668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Connection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2876550" y="4716780"/>
            <a:ext cx="21678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ConnectionRouter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5331460" y="4716780"/>
            <a:ext cx="216789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ConnectionAnchor</a:t>
            </a:r>
            <a:endParaRPr lang="en-US" altLang="zh-CN"/>
          </a:p>
        </p:txBody>
      </p:sp>
      <p:cxnSp>
        <p:nvCxnSpPr>
          <p:cNvPr id="15" name="直接连接符 14"/>
          <p:cNvCxnSpPr>
            <a:stCxn id="12" idx="2"/>
            <a:endCxn id="13" idx="0"/>
          </p:cNvCxnSpPr>
          <p:nvPr/>
        </p:nvCxnSpPr>
        <p:spPr>
          <a:xfrm flipH="1">
            <a:off x="3960495" y="4555490"/>
            <a:ext cx="1240790" cy="161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4" idx="0"/>
            <a:endCxn id="12" idx="2"/>
          </p:cNvCxnSpPr>
          <p:nvPr/>
        </p:nvCxnSpPr>
        <p:spPr>
          <a:xfrm flipH="1" flipV="1">
            <a:off x="5201285" y="4555490"/>
            <a:ext cx="1214120" cy="161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141720" y="2953385"/>
            <a:ext cx="137668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Figure</a:t>
            </a:r>
            <a:endParaRPr lang="en-US" altLang="zh-CN"/>
          </a:p>
        </p:txBody>
      </p:sp>
      <p:cxnSp>
        <p:nvCxnSpPr>
          <p:cNvPr id="18" name="直接连接符 17"/>
          <p:cNvCxnSpPr>
            <a:stCxn id="17" idx="2"/>
            <a:endCxn id="11" idx="0"/>
          </p:cNvCxnSpPr>
          <p:nvPr/>
        </p:nvCxnSpPr>
        <p:spPr>
          <a:xfrm>
            <a:off x="6830060" y="3615690"/>
            <a:ext cx="1538605" cy="277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281795" y="4821555"/>
            <a:ext cx="1376680" cy="662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Image</a:t>
            </a:r>
            <a:endParaRPr lang="en-US" altLang="zh-CN"/>
          </a:p>
        </p:txBody>
      </p:sp>
      <p:cxnSp>
        <p:nvCxnSpPr>
          <p:cNvPr id="20" name="直接连接符 19"/>
          <p:cNvCxnSpPr>
            <a:stCxn id="19" idx="0"/>
            <a:endCxn id="11" idx="2"/>
          </p:cNvCxnSpPr>
          <p:nvPr/>
        </p:nvCxnSpPr>
        <p:spPr>
          <a:xfrm flipH="1" flipV="1">
            <a:off x="8368665" y="4555490"/>
            <a:ext cx="1601470" cy="266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4" idx="0"/>
          </p:cNvCxnSpPr>
          <p:nvPr/>
        </p:nvCxnSpPr>
        <p:spPr>
          <a:xfrm flipV="1">
            <a:off x="8332470" y="4537075"/>
            <a:ext cx="9588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2" idx="0"/>
            <a:endCxn id="17" idx="2"/>
          </p:cNvCxnSpPr>
          <p:nvPr/>
        </p:nvCxnSpPr>
        <p:spPr>
          <a:xfrm flipV="1">
            <a:off x="5201285" y="3615690"/>
            <a:ext cx="1628775" cy="277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Encryption/Decryption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29300" cy="3856355"/>
          </a:xfrm>
        </p:spPr>
        <p:txBody>
          <a:bodyPr>
            <a:normAutofit/>
          </a:bodyPr>
          <a:p>
            <a:r>
              <a:rPr lang="en-US" altLang="zh-CN" sz="1600"/>
              <a:t>CryptoJS</a:t>
            </a:r>
            <a:endParaRPr lang="en-US" altLang="zh-CN" sz="1600"/>
          </a:p>
          <a:p>
            <a:pPr lvl="1"/>
            <a:r>
              <a:rPr lang="en-US" altLang="zh-CN" sz="1200"/>
              <a:t>References</a:t>
            </a:r>
            <a:endParaRPr lang="en-US" altLang="zh-CN" sz="1200"/>
          </a:p>
          <a:p>
            <a:pPr lvl="2"/>
            <a:r>
              <a:rPr lang="en-US" altLang="zh-CN" sz="1200"/>
              <a:t>https://cryptojs.gitbook.io/docs/</a:t>
            </a:r>
            <a:endParaRPr lang="en-US" altLang="zh-CN" sz="1200"/>
          </a:p>
          <a:p>
            <a:pPr lvl="2"/>
            <a:r>
              <a:rPr lang="en-US" altLang="zh-CN" sz="1200"/>
              <a:t>https://newbedev.com/cryptojs-aes-encryption-and-java-aes-decryption/</a:t>
            </a:r>
            <a:endParaRPr lang="en-US" altLang="zh-CN" sz="1200"/>
          </a:p>
          <a:p>
            <a:pPr lvl="2"/>
            <a:r>
              <a:rPr lang="en-US" altLang="zh-CN" sz="1200"/>
              <a:t>https://github.com/tpenaranda/vue-cryptojs</a:t>
            </a:r>
            <a:endParaRPr lang="en-US" altLang="zh-CN" sz="1200"/>
          </a:p>
          <a:p>
            <a:pPr lvl="1"/>
            <a:r>
              <a:rPr lang="en-US" altLang="zh-CN" sz="1200"/>
              <a:t>Hashing</a:t>
            </a:r>
            <a:endParaRPr lang="en-US" altLang="zh-CN" sz="1200"/>
          </a:p>
          <a:p>
            <a:pPr lvl="2"/>
            <a:r>
              <a:rPr lang="en-US" altLang="zh-CN" sz="1200"/>
              <a:t>MD5, SHA-1, SHA-2, SHA-3, RIPEMD-160, HMAC, PBKDF2</a:t>
            </a:r>
            <a:endParaRPr lang="en-US" altLang="zh-CN" sz="1200"/>
          </a:p>
          <a:p>
            <a:pPr lvl="3"/>
            <a:r>
              <a:rPr lang="en-US" altLang="zh-CN" sz="1200"/>
              <a:t>var hash = CryptoJS.MD5("Message");</a:t>
            </a:r>
            <a:endParaRPr lang="en-US" altLang="zh-CN" sz="1200"/>
          </a:p>
          <a:p>
            <a:pPr lvl="3"/>
            <a:r>
              <a:rPr lang="en-US" altLang="zh-CN" sz="1200"/>
              <a:t>var hash = CryptoJS.SHA1("Message");</a:t>
            </a:r>
            <a:endParaRPr lang="en-US" altLang="zh-CN" sz="1200"/>
          </a:p>
          <a:p>
            <a:pPr lvl="1"/>
            <a:r>
              <a:rPr lang="en-US" altLang="zh-CN" sz="1200"/>
              <a:t>Ciphers</a:t>
            </a:r>
            <a:endParaRPr lang="en-US" altLang="zh-CN" sz="1200"/>
          </a:p>
          <a:p>
            <a:pPr lvl="2"/>
            <a:r>
              <a:rPr lang="en-US" altLang="zh-CN" sz="1200"/>
              <a:t>AES</a:t>
            </a:r>
            <a:endParaRPr lang="en-US" altLang="zh-CN" sz="1200"/>
          </a:p>
          <a:p>
            <a:pPr lvl="3"/>
            <a:r>
              <a:rPr lang="en-US" altLang="zh-CN" sz="1000"/>
              <a:t>var encrypted = CryptoJS.AES.encrypt("Message", "Secret Passphrase");</a:t>
            </a:r>
            <a:endParaRPr lang="en-US" altLang="zh-CN" sz="1000"/>
          </a:p>
          <a:p>
            <a:pPr lvl="3"/>
            <a:r>
              <a:rPr lang="en-US" altLang="zh-CN" sz="1000"/>
              <a:t>var decrypted = CryptoJS.AES.decrypt(encrypted, "Secret Passphrase");</a:t>
            </a:r>
            <a:endParaRPr lang="en-US" altLang="zh-CN" sz="1000"/>
          </a:p>
          <a:p>
            <a:pPr lvl="2"/>
            <a:r>
              <a:rPr lang="en-US" altLang="zh-CN" sz="1200"/>
              <a:t>DES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6813550" y="1083945"/>
            <a:ext cx="4540250" cy="53232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000"/>
              <a:t>// crypto module</a:t>
            </a:r>
            <a:endParaRPr lang="zh-CN" altLang="en-US" sz="1000"/>
          </a:p>
          <a:p>
            <a:r>
              <a:rPr lang="zh-CN" altLang="en-US" sz="1000"/>
              <a:t>const crypto = require("crypto");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const algorithm = "aes-256-cbc"; 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generate 16 bytes of random data</a:t>
            </a:r>
            <a:endParaRPr lang="zh-CN" altLang="en-US" sz="1000"/>
          </a:p>
          <a:p>
            <a:r>
              <a:rPr lang="zh-CN" altLang="en-US" sz="1000"/>
              <a:t>const initVector = crypto.randomBytes(16);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protected data</a:t>
            </a:r>
            <a:endParaRPr lang="zh-CN" altLang="en-US" sz="1000"/>
          </a:p>
          <a:p>
            <a:r>
              <a:rPr lang="zh-CN" altLang="en-US" sz="1000"/>
              <a:t>const message = "This is a secret message";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secret key generate 32 bytes of random data</a:t>
            </a:r>
            <a:endParaRPr lang="zh-CN" altLang="en-US" sz="1000"/>
          </a:p>
          <a:p>
            <a:r>
              <a:rPr lang="zh-CN" altLang="en-US" sz="1000"/>
              <a:t>const Securitykey = crypto.randomBytes(32);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the cipher function</a:t>
            </a:r>
            <a:endParaRPr lang="zh-CN" altLang="en-US" sz="1000"/>
          </a:p>
          <a:p>
            <a:r>
              <a:rPr lang="zh-CN" altLang="en-US" sz="1000"/>
              <a:t>const cipher = crypto.</a:t>
            </a:r>
            <a:r>
              <a:rPr lang="zh-CN" altLang="en-US" sz="1000" b="1"/>
              <a:t>createCipheriv</a:t>
            </a:r>
            <a:r>
              <a:rPr lang="zh-CN" altLang="en-US" sz="1000"/>
              <a:t>(algorithm, Securitykey, initVector);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encrypt the message</a:t>
            </a:r>
            <a:endParaRPr lang="zh-CN" altLang="en-US" sz="1000"/>
          </a:p>
          <a:p>
            <a:r>
              <a:rPr lang="zh-CN" altLang="en-US" sz="1000"/>
              <a:t>// input encoding</a:t>
            </a:r>
            <a:endParaRPr lang="zh-CN" altLang="en-US" sz="1000"/>
          </a:p>
          <a:p>
            <a:r>
              <a:rPr lang="zh-CN" altLang="en-US" sz="1000"/>
              <a:t>// output encoding</a:t>
            </a:r>
            <a:endParaRPr lang="zh-CN" altLang="en-US" sz="1000"/>
          </a:p>
          <a:p>
            <a:r>
              <a:rPr lang="zh-CN" altLang="en-US" sz="1000"/>
              <a:t>let encryptedData = cipher.update(message, "utf-8", "hex");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encryptedData += cipher.final("hex");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console.log("Encrypted message: " + encryptedData);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the decipher function</a:t>
            </a:r>
            <a:endParaRPr lang="zh-CN" altLang="en-US" sz="1000"/>
          </a:p>
          <a:p>
            <a:r>
              <a:rPr lang="zh-CN" altLang="en-US" sz="1000"/>
              <a:t>const decipher = crypto.</a:t>
            </a:r>
            <a:r>
              <a:rPr lang="zh-CN" altLang="en-US" sz="1000" b="1"/>
              <a:t>createDecipheriv</a:t>
            </a:r>
            <a:r>
              <a:rPr lang="zh-CN" altLang="en-US" sz="1000"/>
              <a:t>(algorithm, Securitykey, initVector);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let decryptedData = decipher.update(encryptedData, "hex", "utf-8");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decryptedData += decipher.final("utf8");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console.log("Decrypted message: " + decryptedData);</a:t>
            </a:r>
            <a:endParaRPr lang="zh-CN" altLang="en-US" sz="1000"/>
          </a:p>
        </p:txBody>
      </p:sp>
      <p:sp>
        <p:nvSpPr>
          <p:cNvPr id="5" name="文本框 4"/>
          <p:cNvSpPr txBox="1"/>
          <p:nvPr/>
        </p:nvSpPr>
        <p:spPr>
          <a:xfrm>
            <a:off x="1438910" y="5067935"/>
            <a:ext cx="4951095" cy="1168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000"/>
              <a:t>// </a:t>
            </a:r>
            <a:r>
              <a:rPr lang="zh-CN" altLang="en-US" sz="1000"/>
              <a:t>npm install vue-cryptojs</a:t>
            </a:r>
            <a:endParaRPr lang="zh-CN" altLang="en-US" sz="1000"/>
          </a:p>
          <a:p>
            <a:r>
              <a:rPr lang="zh-CN" altLang="en-US" sz="1000"/>
              <a:t>import VueCryptojs from 'vue-cryptojs'</a:t>
            </a:r>
            <a:endParaRPr lang="zh-CN" altLang="en-US" sz="1000"/>
          </a:p>
          <a:p>
            <a:r>
              <a:rPr lang="zh-CN" altLang="en-US" sz="1000"/>
              <a:t>Vue.use(VueCryptojs)</a:t>
            </a:r>
            <a:endParaRPr lang="zh-CN" altLang="en-US" sz="1000"/>
          </a:p>
          <a:p>
            <a:r>
              <a:rPr lang="zh-CN" altLang="en-US" sz="1000"/>
              <a:t>const encryptedText = this.$CryptoJS.AES.encrypt("Hi There!", "Secret Passphrase").toString()</a:t>
            </a:r>
            <a:endParaRPr lang="zh-CN" altLang="en-US" sz="1000"/>
          </a:p>
          <a:p>
            <a:r>
              <a:rPr lang="zh-CN" altLang="en-US" sz="1000"/>
              <a:t>const decryptedText = this.$CryptoJS.AES.decrypt(encryptedText, "Secret Passphrase").toString(this.CryptoJS.enc.Utf8)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Cytoscape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8322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https://js.cytoscape.org/</a:t>
            </a:r>
            <a:endParaRPr lang="en-US" altLang="zh-CN"/>
          </a:p>
          <a:p>
            <a:r>
              <a:rPr lang="en-US" altLang="zh-CN"/>
              <a:t>Points</a:t>
            </a:r>
            <a:endParaRPr lang="en-US" altLang="zh-CN"/>
          </a:p>
          <a:p>
            <a:pPr lvl="1"/>
            <a:r>
              <a:rPr lang="en-US" altLang="zh-CN"/>
              <a:t> A compound parent node does not have independent dimensions (position and size), as those values are automatically inferred by the positions and dimensions of the descendant nodes.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Raphael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vector graphics drawing</a:t>
            </a:r>
            <a:endParaRPr lang="en-US" altLang="zh-CN"/>
          </a:p>
          <a:p>
            <a:pPr lvl="0"/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http://raphaeljs.com/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merge-images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https://www.npmjs.com/package/merge-images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 Map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HTML image map</a:t>
            </a:r>
            <a:endParaRPr lang="en-US" altLang="zh-CN"/>
          </a:p>
          <a:p>
            <a:pPr lvl="1"/>
            <a:r>
              <a:rPr lang="en-US" altLang="zh-CN"/>
              <a:t>usemap tag of image</a:t>
            </a:r>
            <a:endParaRPr lang="en-US" altLang="zh-CN"/>
          </a:p>
          <a:p>
            <a:pPr lvl="1"/>
            <a:r>
              <a:rPr lang="en-US" altLang="zh-CN"/>
              <a:t>map</a:t>
            </a:r>
            <a:endParaRPr lang="en-US" altLang="zh-CN"/>
          </a:p>
          <a:p>
            <a:pPr lvl="1"/>
            <a:r>
              <a:rPr lang="en-US" altLang="zh-CN"/>
              <a:t>area</a:t>
            </a:r>
            <a:endParaRPr lang="en-US" altLang="zh-CN"/>
          </a:p>
          <a:p>
            <a:pPr lvl="2"/>
            <a:r>
              <a:rPr lang="en-US" altLang="zh-CN"/>
              <a:t>shape, coords, href, target, onMouseOver, onMouseOut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140065" y="1211580"/>
            <a:ext cx="3643630" cy="332295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      &lt;!-- Create  Mappings --&gt;</a:t>
            </a:r>
            <a:endParaRPr lang="zh-CN" altLang="en-US" sz="1400"/>
          </a:p>
          <a:p>
            <a:r>
              <a:rPr lang="zh-CN" altLang="en-US" sz="1400"/>
              <a:t>      &lt;img src = "/images/usemap.gif" alt = "HTML Map" border = "0" </a:t>
            </a:r>
            <a:r>
              <a:rPr lang="zh-CN" altLang="en-US" sz="1400" b="1"/>
              <a:t>usemap = "#tutorials"</a:t>
            </a:r>
            <a:r>
              <a:rPr lang="zh-CN" altLang="en-US" sz="1400"/>
              <a:t>/&gt;</a:t>
            </a:r>
            <a:endParaRPr lang="zh-CN" altLang="en-US" sz="1400"/>
          </a:p>
          <a:p>
            <a:r>
              <a:rPr lang="zh-CN" altLang="en-US" sz="1400"/>
              <a:t>      &lt;</a:t>
            </a:r>
            <a:r>
              <a:rPr lang="zh-CN" altLang="en-US" sz="1400" b="1"/>
              <a:t>map name = "tutorials"</a:t>
            </a:r>
            <a:r>
              <a:rPr lang="zh-CN" altLang="en-US" sz="1400"/>
              <a:t>&gt;</a:t>
            </a:r>
            <a:endParaRPr lang="zh-CN" altLang="en-US" sz="1400"/>
          </a:p>
          <a:p>
            <a:r>
              <a:rPr lang="zh-CN" altLang="en-US" sz="1400"/>
              <a:t>         &lt;area shape="poly" </a:t>
            </a:r>
            <a:endParaRPr lang="zh-CN" altLang="en-US" sz="1400"/>
          </a:p>
          <a:p>
            <a:r>
              <a:rPr lang="zh-CN" altLang="en-US" sz="1400"/>
              <a:t>            coords = "74,0,113,29,98,72,52,72,38,27"</a:t>
            </a:r>
            <a:endParaRPr lang="zh-CN" altLang="en-US" sz="1400"/>
          </a:p>
          <a:p>
            <a:r>
              <a:rPr lang="zh-CN" altLang="en-US" sz="1400"/>
              <a:t>            href = "/perl/index.htm" alt = "Perl Tutorial"</a:t>
            </a:r>
            <a:endParaRPr lang="zh-CN" altLang="en-US" sz="1400"/>
          </a:p>
          <a:p>
            <a:r>
              <a:rPr lang="zh-CN" altLang="en-US" sz="1400"/>
              <a:t>            target = "_self" </a:t>
            </a:r>
            <a:endParaRPr lang="zh-CN" altLang="en-US" sz="1400"/>
          </a:p>
          <a:p>
            <a:r>
              <a:rPr lang="zh-CN" altLang="en-US" sz="1400"/>
              <a:t>            onMouseOver = "showTutorial('perl')" </a:t>
            </a:r>
            <a:endParaRPr lang="zh-CN" altLang="en-US" sz="1400"/>
          </a:p>
          <a:p>
            <a:r>
              <a:rPr lang="zh-CN" altLang="en-US" sz="1400"/>
              <a:t>            onMouseOut = "showTutorial('')"/&gt;         </a:t>
            </a:r>
            <a:endParaRPr lang="zh-CN" altLang="en-US" sz="1400"/>
          </a:p>
          <a:p>
            <a:r>
              <a:rPr lang="zh-CN" altLang="en-US" sz="1400"/>
              <a:t>      &lt;/map&gt;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Konva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786370" cy="4549140"/>
          </a:xfrm>
        </p:spPr>
        <p:txBody>
          <a:bodyPr>
            <a:normAutofit lnSpcReduction="10000"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https://konvajs.org/</a:t>
            </a:r>
            <a:endParaRPr lang="en-US" altLang="zh-CN" sz="1400"/>
          </a:p>
          <a:p>
            <a:pPr lvl="0"/>
            <a:r>
              <a:rPr lang="en-US" altLang="zh-CN" sz="1600"/>
              <a:t>Shape</a:t>
            </a:r>
            <a:endParaRPr lang="en-US" altLang="zh-CN" sz="1600"/>
          </a:p>
          <a:p>
            <a:pPr lvl="1"/>
            <a:r>
              <a:rPr lang="en-US" altLang="zh-CN" sz="1400"/>
              <a:t>Basic shapes</a:t>
            </a:r>
            <a:endParaRPr lang="en-US" altLang="zh-CN" sz="1400"/>
          </a:p>
          <a:p>
            <a:pPr lvl="2"/>
            <a:r>
              <a:rPr lang="en-US" altLang="zh-CN" sz="1200"/>
              <a:t>Rect, Circle, Ellipse, Line, Polygon, Spline, Star, Path, RegularPolygon, Image, SVG, Blob, Text, TextPath, Label</a:t>
            </a:r>
            <a:endParaRPr lang="en-US" altLang="zh-CN" sz="1200"/>
          </a:p>
          <a:p>
            <a:pPr lvl="1"/>
            <a:r>
              <a:rPr lang="en-US" altLang="zh-CN" sz="1400"/>
              <a:t>Styles</a:t>
            </a:r>
            <a:endParaRPr lang="en-US" altLang="zh-CN" sz="1400"/>
          </a:p>
          <a:p>
            <a:pPr lvl="2"/>
            <a:r>
              <a:rPr lang="en-US" altLang="zh-CN" sz="1200"/>
              <a:t>Fill: solid color, gradients, images</a:t>
            </a:r>
            <a:endParaRPr lang="en-US" altLang="zh-CN" sz="1200"/>
          </a:p>
          <a:p>
            <a:pPr lvl="2"/>
            <a:r>
              <a:rPr lang="en-US" altLang="zh-CN" sz="1200"/>
              <a:t>Stroke: color</a:t>
            </a:r>
            <a:endParaRPr lang="en-US" altLang="zh-CN" sz="1200"/>
          </a:p>
          <a:p>
            <a:pPr lvl="2"/>
            <a:r>
              <a:rPr lang="en-US" altLang="zh-CN" sz="1200"/>
              <a:t>Shadow: color, offset, opacity, blur</a:t>
            </a:r>
            <a:endParaRPr lang="en-US" altLang="zh-CN" sz="1200"/>
          </a:p>
          <a:p>
            <a:pPr lvl="2"/>
            <a:r>
              <a:rPr lang="en-US" altLang="zh-CN" sz="1200"/>
              <a:t>Opacity</a:t>
            </a:r>
            <a:endParaRPr lang="en-US" altLang="zh-CN" sz="1200"/>
          </a:p>
          <a:p>
            <a:pPr lvl="1"/>
            <a:r>
              <a:rPr lang="en-US" altLang="zh-CN" sz="1400"/>
              <a:t>Events</a:t>
            </a:r>
            <a:endParaRPr lang="en-US" altLang="zh-CN" sz="1400"/>
          </a:p>
          <a:p>
            <a:pPr lvl="2"/>
            <a:r>
              <a:rPr lang="en-US" altLang="zh-CN" sz="1200"/>
              <a:t>click, dblclick, mouseover, tap, dbltap, touchstart, dragstart, dragmove, dragend</a:t>
            </a:r>
            <a:endParaRPr lang="en-US" altLang="zh-CN" sz="1200"/>
          </a:p>
          <a:p>
            <a:pPr lvl="2"/>
            <a:r>
              <a:rPr lang="en-US" altLang="zh-CN" sz="1200"/>
              <a:t>scaleXChange, fillChange</a:t>
            </a:r>
            <a:endParaRPr lang="en-US" altLang="zh-CN" sz="1200"/>
          </a:p>
          <a:p>
            <a:pPr lvl="1"/>
            <a:r>
              <a:rPr lang="en-US" altLang="zh-CN" sz="1400"/>
              <a:t>Filters</a:t>
            </a:r>
            <a:endParaRPr lang="en-US" altLang="zh-CN" sz="1400"/>
          </a:p>
          <a:p>
            <a:pPr lvl="2"/>
            <a:r>
              <a:rPr lang="en-US" altLang="zh-CN" sz="1200"/>
              <a:t>blur, invert, noise</a:t>
            </a:r>
            <a:endParaRPr lang="en-US" altLang="zh-CN" sz="1200"/>
          </a:p>
          <a:p>
            <a:pPr lvl="1"/>
            <a:r>
              <a:rPr lang="en-US" altLang="zh-CN" sz="1400"/>
              <a:t>Animation</a:t>
            </a:r>
            <a:endParaRPr lang="en-US" altLang="zh-CN" sz="1400"/>
          </a:p>
          <a:p>
            <a:pPr lvl="2"/>
            <a:r>
              <a:rPr lang="en-US" altLang="zh-CN" sz="1200"/>
              <a:t>Konva.Animation</a:t>
            </a:r>
            <a:endParaRPr lang="en-US" altLang="zh-CN" sz="1200"/>
          </a:p>
          <a:p>
            <a:pPr lvl="2"/>
            <a:r>
              <a:rPr lang="en-US" altLang="zh-CN" sz="1200"/>
              <a:t>Konva.Tween</a:t>
            </a:r>
            <a:endParaRPr lang="en-US" altLang="zh-CN" sz="1200"/>
          </a:p>
        </p:txBody>
      </p:sp>
      <p:sp>
        <p:nvSpPr>
          <p:cNvPr id="4" name="圆角矩形 3"/>
          <p:cNvSpPr/>
          <p:nvPr/>
        </p:nvSpPr>
        <p:spPr>
          <a:xfrm>
            <a:off x="9326880" y="4604385"/>
            <a:ext cx="1933575" cy="7454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Stage</a:t>
            </a:r>
            <a:endParaRPr lang="en-US" altLang="zh-CN"/>
          </a:p>
          <a:p>
            <a:pPr algn="ctr"/>
            <a:r>
              <a:rPr lang="en-US" altLang="zh-CN"/>
              <a:t>- toJSON()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9326880" y="3695065"/>
            <a:ext cx="1933575" cy="7454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Layer</a:t>
            </a:r>
            <a:endParaRPr lang="en-US" altLang="zh-CN"/>
          </a:p>
          <a:p>
            <a:pPr algn="ctr"/>
            <a:r>
              <a:rPr lang="en-US" altLang="zh-CN"/>
              <a:t>- add()</a:t>
            </a:r>
            <a:endParaRPr lang="en-US" altLang="zh-CN"/>
          </a:p>
          <a:p>
            <a:pPr algn="ctr"/>
            <a:r>
              <a:rPr lang="en-US" altLang="zh-CN"/>
              <a:t>- find()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318625" y="2785745"/>
            <a:ext cx="1933575" cy="7454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Group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9326880" y="1862455"/>
            <a:ext cx="1933575" cy="7454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Shape</a:t>
            </a:r>
            <a:endParaRPr lang="en-US" altLang="zh-CN"/>
          </a:p>
          <a:p>
            <a:pPr algn="ctr"/>
            <a:r>
              <a:rPr lang="en-US" altLang="zh-CN"/>
              <a:t>- getStage()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p5.js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88865" cy="5463540"/>
          </a:xfrm>
        </p:spPr>
        <p:txBody>
          <a:bodyPr>
            <a:normAutofit fontScale="90000" lnSpcReduction="1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https://p5js.org/</a:t>
            </a:r>
            <a:endParaRPr lang="en-US" altLang="zh-CN"/>
          </a:p>
          <a:p>
            <a:pPr lvl="0"/>
            <a:r>
              <a:rPr lang="en-US" altLang="zh-CN"/>
              <a:t>Properties</a:t>
            </a:r>
            <a:endParaRPr lang="en-US" altLang="zh-CN"/>
          </a:p>
          <a:p>
            <a:pPr lvl="1"/>
            <a:r>
              <a:rPr lang="en-US" altLang="zh-CN" sz="2000"/>
              <a:t>width</a:t>
            </a:r>
            <a:endParaRPr lang="en-US" altLang="zh-CN" sz="2000"/>
          </a:p>
          <a:p>
            <a:pPr lvl="1"/>
            <a:r>
              <a:rPr lang="en-US" altLang="zh-CN" sz="2000"/>
              <a:t>height</a:t>
            </a:r>
            <a:endParaRPr lang="en-US" altLang="zh-CN" sz="2000"/>
          </a:p>
          <a:p>
            <a:pPr lvl="1"/>
            <a:r>
              <a:rPr lang="en-US" altLang="zh-CN" sz="2000"/>
              <a:t>frameCount</a:t>
            </a:r>
            <a:endParaRPr lang="en-US" altLang="zh-CN" sz="2000"/>
          </a:p>
          <a:p>
            <a:pPr lvl="1"/>
            <a:r>
              <a:rPr lang="en-US" altLang="zh-CN" sz="2000"/>
              <a:t>mouseIsPressed</a:t>
            </a:r>
            <a:endParaRPr lang="en-US" altLang="zh-CN" sz="2000"/>
          </a:p>
          <a:p>
            <a:pPr lvl="1"/>
            <a:r>
              <a:rPr lang="en-US" altLang="zh-CN" sz="2000"/>
              <a:t>mouseX, mouseY</a:t>
            </a:r>
            <a:endParaRPr lang="en-US" altLang="zh-CN"/>
          </a:p>
          <a:p>
            <a:pPr lvl="0"/>
            <a:r>
              <a:rPr lang="en-US" altLang="zh-CN"/>
              <a:t>Functions</a:t>
            </a:r>
            <a:endParaRPr lang="en-US" altLang="zh-CN"/>
          </a:p>
          <a:p>
            <a:pPr lvl="1"/>
            <a:r>
              <a:rPr lang="en-US" altLang="zh-CN"/>
              <a:t>preload(), setup(), draw()</a:t>
            </a:r>
            <a:endParaRPr lang="en-US" altLang="zh-CN"/>
          </a:p>
          <a:p>
            <a:pPr lvl="1"/>
            <a:r>
              <a:rPr lang="en-US" altLang="zh-CN" sz="2000"/>
              <a:t>createCanvas(width, height)</a:t>
            </a:r>
            <a:endParaRPr lang="en-US" altLang="zh-CN" sz="2000"/>
          </a:p>
          <a:p>
            <a:pPr lvl="1"/>
            <a:r>
              <a:rPr lang="en-US" altLang="zh-CN" sz="2000"/>
              <a:t>resizeCanvas(width, height)</a:t>
            </a:r>
            <a:endParaRPr lang="en-US" altLang="zh-CN"/>
          </a:p>
          <a:p>
            <a:pPr lvl="1"/>
            <a:r>
              <a:rPr lang="en-US" altLang="zh-CN"/>
              <a:t>draw()</a:t>
            </a:r>
            <a:endParaRPr lang="en-US" altLang="zh-CN"/>
          </a:p>
          <a:p>
            <a:pPr lvl="1"/>
            <a:r>
              <a:rPr lang="en-US" altLang="zh-CN"/>
              <a:t>redraw(nTimes)</a:t>
            </a:r>
            <a:endParaRPr lang="en-US" altLang="zh-CN"/>
          </a:p>
          <a:p>
            <a:pPr lvl="1"/>
            <a:r>
              <a:rPr lang="en-US" altLang="zh-CN"/>
              <a:t>frameRate(fps)</a:t>
            </a:r>
            <a:endParaRPr lang="en-US" altLang="zh-CN"/>
          </a:p>
          <a:p>
            <a:pPr lvl="1"/>
            <a:r>
              <a:rPr lang="en-US" altLang="zh-CN"/>
              <a:t>loop()</a:t>
            </a:r>
            <a:endParaRPr lang="en-US" altLang="zh-CN"/>
          </a:p>
          <a:p>
            <a:pPr lvl="1"/>
            <a:r>
              <a:rPr lang="en-US" altLang="zh-CN"/>
              <a:t>noLoop()</a:t>
            </a:r>
            <a:endParaRPr lang="en-US" altLang="zh-CN"/>
          </a:p>
          <a:p>
            <a:pPr lvl="1"/>
            <a:r>
              <a:rPr lang="en-US" altLang="zh-CN"/>
              <a:t>background(color)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64935" y="1177290"/>
            <a:ext cx="4888865" cy="53530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400">
                <a:sym typeface="+mn-ea"/>
              </a:rPr>
              <a:t>noFill()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fill(color)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noStoke()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stroke(color)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strokeWeight(weight)</a:t>
            </a:r>
            <a:endParaRPr lang="en-US" altLang="zh-CN" sz="1400"/>
          </a:p>
          <a:p>
            <a:pPr lvl="1"/>
            <a:r>
              <a:rPr lang="en-US" altLang="zh-CN" sz="1400"/>
              <a:t>createGraphics(width, height) // offscreen buffer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point(x, y)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line(x1, y1,x2, y2)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rect(x, y, width, height)</a:t>
            </a:r>
            <a:endParaRPr lang="en-US" altLang="zh-CN" sz="1400"/>
          </a:p>
          <a:p>
            <a:pPr lvl="1"/>
            <a:r>
              <a:rPr lang="en-US" altLang="zh-CN" sz="1400"/>
              <a:t>triangle(x1, y1, x2, y2, x3, y3)</a:t>
            </a:r>
            <a:endParaRPr lang="en-US" altLang="zh-CN" sz="1400"/>
          </a:p>
          <a:p>
            <a:pPr lvl="1"/>
            <a:r>
              <a:rPr lang="en-US" altLang="zh-CN" sz="1400"/>
              <a:t>quad(x1, y1, x2, y2, x3, y3, x4, y4)</a:t>
            </a:r>
            <a:endParaRPr lang="en-US" altLang="zh-CN" sz="1400"/>
          </a:p>
          <a:p>
            <a:pPr lvl="1"/>
            <a:r>
              <a:rPr lang="en-US" altLang="zh-CN" sz="1400"/>
              <a:t>ellipse()</a:t>
            </a:r>
            <a:endParaRPr lang="en-US" altLang="zh-CN" sz="1400"/>
          </a:p>
          <a:p>
            <a:pPr lvl="1"/>
            <a:r>
              <a:rPr lang="en-US" altLang="zh-CN" sz="1400"/>
              <a:t>ellipseMode(RADIUS)</a:t>
            </a:r>
            <a:endParaRPr lang="en-US" altLang="zh-CN" sz="1400"/>
          </a:p>
          <a:p>
            <a:pPr lvl="1"/>
            <a:r>
              <a:rPr lang="en-US" altLang="zh-CN" sz="1400"/>
              <a:t>arc()</a:t>
            </a:r>
            <a:endParaRPr lang="en-US" altLang="zh-CN" sz="1400"/>
          </a:p>
          <a:p>
            <a:pPr lvl="1"/>
            <a:r>
              <a:rPr lang="en-US" altLang="zh-CN" sz="1400"/>
              <a:t>noSmooth()</a:t>
            </a:r>
            <a:endParaRPr lang="en-US" altLang="zh-CN" sz="1400"/>
          </a:p>
          <a:p>
            <a:pPr lvl="1"/>
            <a:r>
              <a:rPr lang="en-US" altLang="zh-CN" sz="1400"/>
              <a:t>text(string, x, y)</a:t>
            </a:r>
            <a:endParaRPr lang="en-US" altLang="zh-CN" sz="1400"/>
          </a:p>
          <a:p>
            <a:pPr lvl="1"/>
            <a:r>
              <a:rPr lang="en-US" altLang="zh-CN" sz="1400"/>
              <a:t>image(img, top, left)</a:t>
            </a:r>
            <a:endParaRPr lang="en-US" altLang="zh-CN" sz="1400"/>
          </a:p>
          <a:p>
            <a:pPr lvl="1"/>
            <a:r>
              <a:rPr lang="en-US" altLang="zh-CN" sz="1400"/>
              <a:t>img = loadImage(image_url)</a:t>
            </a:r>
            <a:endParaRPr lang="en-US" altLang="zh-CN" sz="1400"/>
          </a:p>
          <a:p>
            <a:pPr lvl="1"/>
            <a:r>
              <a:rPr lang="en-US" altLang="zh-CN" sz="1400"/>
              <a:t>createCapture(VIDEO/AUDIO)</a:t>
            </a:r>
            <a:endParaRPr lang="en-US" altLang="zh-CN" sz="1400"/>
          </a:p>
          <a:p>
            <a:pPr lvl="1"/>
            <a:r>
              <a:rPr lang="en-US" altLang="zh-CN" sz="1400"/>
              <a:t>input = createFileInput(handleFile);</a:t>
            </a:r>
            <a:endParaRPr lang="en-US" altLang="zh-CN" sz="1400"/>
          </a:p>
          <a:p>
            <a:pPr lvl="1"/>
            <a:r>
              <a:rPr lang="en-US" altLang="zh-CN" sz="1400"/>
              <a:t>img = createImg(file.data, ‘’)</a:t>
            </a:r>
            <a:endParaRPr lang="en-US" altLang="zh-CN" sz="1400"/>
          </a:p>
          <a:p>
            <a:pPr lvl="1"/>
            <a:r>
              <a:rPr lang="en-US" altLang="zh-CN" sz="1400"/>
              <a:t>createSelect()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3D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General framework</a:t>
            </a:r>
            <a:endParaRPr lang="en-US" altLang="zh-CN"/>
          </a:p>
          <a:p>
            <a:pPr lvl="1"/>
            <a:r>
              <a:rPr lang="en-US" altLang="zh-CN"/>
              <a:t>Three.js</a:t>
            </a:r>
            <a:endParaRPr lang="en-US" altLang="zh-CN"/>
          </a:p>
          <a:p>
            <a:pPr lvl="1"/>
            <a:r>
              <a:rPr lang="en-US" altLang="zh-CN"/>
              <a:t>A-F</a:t>
            </a:r>
            <a:r>
              <a:rPr lang="en-US" altLang="zh-CN"/>
              <a:t>rame</a:t>
            </a:r>
            <a:endParaRPr lang="en-US" altLang="zh-CN"/>
          </a:p>
          <a:p>
            <a:pPr lvl="2"/>
            <a:r>
              <a:rPr lang="en-US" altLang="zh-CN"/>
              <a:t>https://aframe.io/</a:t>
            </a:r>
            <a:endParaRPr lang="en-US" altLang="zh-CN"/>
          </a:p>
          <a:p>
            <a:pPr lvl="2"/>
            <a:r>
              <a:rPr lang="en-US" altLang="zh-CN"/>
              <a:t>https://github.com/aframevr/aframe</a:t>
            </a:r>
            <a:endParaRPr lang="en-US" altLang="zh-CN"/>
          </a:p>
          <a:p>
            <a:pPr lvl="1"/>
            <a:r>
              <a:rPr lang="en-US" altLang="zh-CN"/>
              <a:t>PlayCanvas</a:t>
            </a:r>
            <a:endParaRPr lang="en-US" altLang="zh-CN"/>
          </a:p>
          <a:p>
            <a:pPr lvl="2"/>
            <a:r>
              <a:rPr lang="en-US" altLang="zh-CN"/>
              <a:t>https://playcanvas.com/</a:t>
            </a:r>
            <a:endParaRPr lang="en-US" altLang="zh-CN"/>
          </a:p>
          <a:p>
            <a:pPr lvl="2"/>
            <a:r>
              <a:rPr lang="en-US" altLang="zh-CN"/>
              <a:t>https://github.com/playcanvas/engine</a:t>
            </a:r>
            <a:endParaRPr lang="en-US" altLang="zh-CN"/>
          </a:p>
          <a:p>
            <a:pPr lvl="1"/>
            <a:r>
              <a:rPr lang="en-US" altLang="zh-CN" sz="2000"/>
              <a:t>Babylon.js</a:t>
            </a:r>
            <a:endParaRPr lang="en-US" altLang="zh-CN" sz="2000"/>
          </a:p>
          <a:p>
            <a:pPr lvl="2"/>
            <a:r>
              <a:rPr lang="en-US" altLang="zh-CN"/>
              <a:t>http://www.babylonjs.com/</a:t>
            </a:r>
            <a:endParaRPr lang="en-US" altLang="zh-CN"/>
          </a:p>
          <a:p>
            <a:pPr lvl="0"/>
            <a:r>
              <a:rPr lang="en-US" altLang="zh-CN"/>
              <a:t>3D Model View</a:t>
            </a:r>
            <a:endParaRPr lang="en-US" altLang="zh-CN"/>
          </a:p>
          <a:p>
            <a:pPr lvl="1"/>
            <a:r>
              <a:rPr lang="en-US" altLang="zh-CN" sz="2000"/>
              <a:t>Google ModelViewer</a:t>
            </a:r>
            <a:endParaRPr lang="en-US" altLang="zh-CN" sz="2000"/>
          </a:p>
          <a:p>
            <a:pPr lvl="2"/>
            <a:r>
              <a:rPr lang="en-US" altLang="zh-CN"/>
              <a:t>https://modelviewer.dev/</a:t>
            </a:r>
            <a:endParaRPr lang="en-US" altLang="zh-CN"/>
          </a:p>
          <a:p>
            <a:pPr lvl="0"/>
            <a:r>
              <a:rPr lang="en-US" altLang="zh-CN"/>
              <a:t>https://manu.ninja/25-real-world-applications-using-webgl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Three.js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54761"/>
            <a:ext cx="10515600" cy="4549140"/>
          </a:xfrm>
        </p:spPr>
        <p:txBody>
          <a:bodyPr/>
          <a:p>
            <a:r>
              <a:rPr lang="en-US" altLang="zh-CN"/>
              <a:t>Ref</a:t>
            </a:r>
            <a:endParaRPr lang="en-US" altLang="zh-CN"/>
          </a:p>
          <a:p>
            <a:pPr lvl="1"/>
            <a:r>
              <a:rPr lang="en-US" altLang="zh-CN"/>
              <a:t>https://github.com/mrdoob/three.js/</a:t>
            </a:r>
            <a:endParaRPr lang="en-US" altLang="zh-CN"/>
          </a:p>
          <a:p>
            <a:pPr lvl="1"/>
            <a:r>
              <a:rPr lang="en-US" altLang="zh-CN"/>
              <a:t>https://threejs.org/</a:t>
            </a:r>
            <a:endParaRPr lang="en-US" altLang="zh-CN"/>
          </a:p>
        </p:txBody>
      </p:sp>
      <p:sp>
        <p:nvSpPr>
          <p:cNvPr id="4" name="流程图: 可选过程 3"/>
          <p:cNvSpPr/>
          <p:nvPr/>
        </p:nvSpPr>
        <p:spPr>
          <a:xfrm>
            <a:off x="3333750" y="2284730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PerspectiveCamera</a:t>
            </a:r>
            <a:endParaRPr lang="en-US" altLang="zh-CN"/>
          </a:p>
        </p:txBody>
      </p:sp>
      <p:sp>
        <p:nvSpPr>
          <p:cNvPr id="5" name="流程图: 可选过程 4"/>
          <p:cNvSpPr/>
          <p:nvPr/>
        </p:nvSpPr>
        <p:spPr>
          <a:xfrm>
            <a:off x="3333750" y="3828415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Scene</a:t>
            </a:r>
            <a:endParaRPr lang="en-US" altLang="zh-CN"/>
          </a:p>
        </p:txBody>
      </p:sp>
      <p:sp>
        <p:nvSpPr>
          <p:cNvPr id="6" name="流程图: 可选过程 5"/>
          <p:cNvSpPr/>
          <p:nvPr/>
        </p:nvSpPr>
        <p:spPr>
          <a:xfrm>
            <a:off x="414655" y="3834765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WebGLRenderer</a:t>
            </a:r>
            <a:endParaRPr lang="en-US" altLang="zh-CN"/>
          </a:p>
          <a:p>
            <a:pPr algn="ctr"/>
            <a:r>
              <a:rPr lang="en-US" altLang="zh-CN"/>
              <a:t>- render(scene, camera)</a:t>
            </a:r>
            <a:endParaRPr lang="en-US" altLang="zh-CN"/>
          </a:p>
        </p:txBody>
      </p:sp>
      <p:sp>
        <p:nvSpPr>
          <p:cNvPr id="7" name="流程图: 可选过程 6"/>
          <p:cNvSpPr/>
          <p:nvPr/>
        </p:nvSpPr>
        <p:spPr>
          <a:xfrm>
            <a:off x="6341110" y="3828415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Mesh</a:t>
            </a:r>
            <a:endParaRPr lang="en-US" altLang="zh-CN"/>
          </a:p>
          <a:p>
            <a:pPr algn="ctr"/>
            <a:r>
              <a:rPr lang="en-US" altLang="zh-CN"/>
              <a:t>- Mesh(geometry, material)</a:t>
            </a:r>
            <a:endParaRPr lang="en-US" altLang="zh-CN"/>
          </a:p>
        </p:txBody>
      </p:sp>
      <p:sp>
        <p:nvSpPr>
          <p:cNvPr id="8" name="流程图: 可选过程 7"/>
          <p:cNvSpPr/>
          <p:nvPr/>
        </p:nvSpPr>
        <p:spPr>
          <a:xfrm>
            <a:off x="9157970" y="2121535"/>
            <a:ext cx="2435225" cy="469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BoxGeometry</a:t>
            </a:r>
            <a:endParaRPr lang="en-US" altLang="zh-CN"/>
          </a:p>
        </p:txBody>
      </p:sp>
      <p:sp>
        <p:nvSpPr>
          <p:cNvPr id="9" name="流程图: 可选过程 8"/>
          <p:cNvSpPr/>
          <p:nvPr/>
        </p:nvSpPr>
        <p:spPr>
          <a:xfrm>
            <a:off x="9157970" y="2923540"/>
            <a:ext cx="2435225" cy="469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MeshNormalMaterial</a:t>
            </a:r>
            <a:endParaRPr lang="en-US" altLang="zh-CN"/>
          </a:p>
        </p:txBody>
      </p:sp>
      <p:cxnSp>
        <p:nvCxnSpPr>
          <p:cNvPr id="10" name="直接连接符 9"/>
          <p:cNvCxnSpPr>
            <a:stCxn id="6" idx="3"/>
            <a:endCxn id="4" idx="1"/>
          </p:cNvCxnSpPr>
          <p:nvPr/>
        </p:nvCxnSpPr>
        <p:spPr>
          <a:xfrm flipV="1">
            <a:off x="2849880" y="2754630"/>
            <a:ext cx="483870" cy="1550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" idx="3"/>
            <a:endCxn id="5" idx="1"/>
          </p:cNvCxnSpPr>
          <p:nvPr/>
        </p:nvCxnSpPr>
        <p:spPr>
          <a:xfrm flipV="1">
            <a:off x="2849880" y="4298315"/>
            <a:ext cx="48387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7" idx="1"/>
            <a:endCxn id="5" idx="3"/>
          </p:cNvCxnSpPr>
          <p:nvPr/>
        </p:nvCxnSpPr>
        <p:spPr>
          <a:xfrm flipH="1">
            <a:off x="5768975" y="4298315"/>
            <a:ext cx="572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8" idx="1"/>
            <a:endCxn id="7" idx="3"/>
          </p:cNvCxnSpPr>
          <p:nvPr/>
        </p:nvCxnSpPr>
        <p:spPr>
          <a:xfrm flipH="1">
            <a:off x="8776335" y="2356485"/>
            <a:ext cx="381635" cy="194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7" idx="3"/>
            <a:endCxn id="9" idx="1"/>
          </p:cNvCxnSpPr>
          <p:nvPr/>
        </p:nvCxnSpPr>
        <p:spPr>
          <a:xfrm flipV="1">
            <a:off x="8776335" y="3158490"/>
            <a:ext cx="381635" cy="1139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可选过程 14"/>
          <p:cNvSpPr/>
          <p:nvPr/>
        </p:nvSpPr>
        <p:spPr>
          <a:xfrm>
            <a:off x="6341110" y="2651125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AmbientLight</a:t>
            </a:r>
            <a:endParaRPr lang="en-US" altLang="zh-CN"/>
          </a:p>
        </p:txBody>
      </p:sp>
      <p:cxnSp>
        <p:nvCxnSpPr>
          <p:cNvPr id="16" name="直接连接符 15"/>
          <p:cNvCxnSpPr>
            <a:stCxn id="15" idx="1"/>
            <a:endCxn id="5" idx="3"/>
          </p:cNvCxnSpPr>
          <p:nvPr/>
        </p:nvCxnSpPr>
        <p:spPr>
          <a:xfrm flipH="1">
            <a:off x="5768975" y="3121025"/>
            <a:ext cx="572135" cy="1177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可选过程 16"/>
          <p:cNvSpPr/>
          <p:nvPr/>
        </p:nvSpPr>
        <p:spPr>
          <a:xfrm>
            <a:off x="6341110" y="1548130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DirectionalLight</a:t>
            </a:r>
            <a:endParaRPr lang="en-US" altLang="zh-CN"/>
          </a:p>
        </p:txBody>
      </p:sp>
      <p:cxnSp>
        <p:nvCxnSpPr>
          <p:cNvPr id="18" name="直接连接符 17"/>
          <p:cNvCxnSpPr>
            <a:stCxn id="17" idx="1"/>
            <a:endCxn id="5" idx="3"/>
          </p:cNvCxnSpPr>
          <p:nvPr/>
        </p:nvCxnSpPr>
        <p:spPr>
          <a:xfrm flipH="1">
            <a:off x="5768975" y="2018030"/>
            <a:ext cx="572135" cy="2280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可选过程 18"/>
          <p:cNvSpPr/>
          <p:nvPr/>
        </p:nvSpPr>
        <p:spPr>
          <a:xfrm>
            <a:off x="9157970" y="4855845"/>
            <a:ext cx="2435225" cy="7772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MTLLoader</a:t>
            </a:r>
            <a:endParaRPr lang="en-US" altLang="zh-CN"/>
          </a:p>
          <a:p>
            <a:pPr algn="ctr"/>
            <a:r>
              <a:rPr lang="en-US" altLang="zh-CN"/>
              <a:t>- load(fn, callback)</a:t>
            </a:r>
            <a:endParaRPr lang="en-US" altLang="zh-CN"/>
          </a:p>
        </p:txBody>
      </p:sp>
      <p:sp>
        <p:nvSpPr>
          <p:cNvPr id="20" name="流程图: 可选过程 19"/>
          <p:cNvSpPr/>
          <p:nvPr/>
        </p:nvSpPr>
        <p:spPr>
          <a:xfrm>
            <a:off x="9157970" y="5714365"/>
            <a:ext cx="2435225" cy="76390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OBJ</a:t>
            </a:r>
            <a:r>
              <a:rPr lang="en-US" altLang="zh-CN"/>
              <a:t>Loader</a:t>
            </a:r>
            <a:endParaRPr lang="en-US" altLang="zh-CN"/>
          </a:p>
          <a:p>
            <a:pPr algn="ctr"/>
            <a:r>
              <a:rPr lang="en-US" altLang="zh-CN"/>
              <a:t>- load(fn, callback)</a:t>
            </a:r>
            <a:endParaRPr lang="en-US" altLang="zh-CN"/>
          </a:p>
        </p:txBody>
      </p:sp>
      <p:cxnSp>
        <p:nvCxnSpPr>
          <p:cNvPr id="21" name="直接连接符 20"/>
          <p:cNvCxnSpPr>
            <a:stCxn id="7" idx="3"/>
            <a:endCxn id="19" idx="1"/>
          </p:cNvCxnSpPr>
          <p:nvPr/>
        </p:nvCxnSpPr>
        <p:spPr>
          <a:xfrm>
            <a:off x="8776335" y="4298315"/>
            <a:ext cx="381635" cy="946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7" idx="3"/>
            <a:endCxn id="20" idx="1"/>
          </p:cNvCxnSpPr>
          <p:nvPr/>
        </p:nvCxnSpPr>
        <p:spPr>
          <a:xfrm>
            <a:off x="8776335" y="4298315"/>
            <a:ext cx="381635" cy="1798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流程图: 可选过程 22"/>
          <p:cNvSpPr/>
          <p:nvPr/>
        </p:nvSpPr>
        <p:spPr>
          <a:xfrm>
            <a:off x="3333750" y="5244465"/>
            <a:ext cx="2435225" cy="9398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OrbitControls</a:t>
            </a:r>
            <a:endParaRPr lang="en-US" altLang="zh-CN"/>
          </a:p>
        </p:txBody>
      </p:sp>
      <p:cxnSp>
        <p:nvCxnSpPr>
          <p:cNvPr id="24" name="直接连接符 23"/>
          <p:cNvCxnSpPr>
            <a:stCxn id="6" idx="3"/>
            <a:endCxn id="23" idx="1"/>
          </p:cNvCxnSpPr>
          <p:nvPr/>
        </p:nvCxnSpPr>
        <p:spPr>
          <a:xfrm>
            <a:off x="2849880" y="4304665"/>
            <a:ext cx="483870" cy="1409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图: 可选过程 24"/>
          <p:cNvSpPr/>
          <p:nvPr/>
        </p:nvSpPr>
        <p:spPr>
          <a:xfrm>
            <a:off x="9157970" y="1548130"/>
            <a:ext cx="2435225" cy="469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Sphere</a:t>
            </a:r>
            <a:r>
              <a:rPr lang="en-US" altLang="zh-CN"/>
              <a:t>Geometry</a:t>
            </a:r>
            <a:endParaRPr lang="en-US" altLang="zh-CN"/>
          </a:p>
        </p:txBody>
      </p:sp>
      <p:cxnSp>
        <p:nvCxnSpPr>
          <p:cNvPr id="26" name="直接连接符 25"/>
          <p:cNvCxnSpPr>
            <a:stCxn id="25" idx="1"/>
            <a:endCxn id="7" idx="3"/>
          </p:cNvCxnSpPr>
          <p:nvPr/>
        </p:nvCxnSpPr>
        <p:spPr>
          <a:xfrm flipH="1">
            <a:off x="8776335" y="1783080"/>
            <a:ext cx="381635" cy="2515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图: 可选过程 26"/>
          <p:cNvSpPr/>
          <p:nvPr/>
        </p:nvSpPr>
        <p:spPr>
          <a:xfrm>
            <a:off x="9157970" y="3556000"/>
            <a:ext cx="2435225" cy="469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MeshPhong</a:t>
            </a:r>
            <a:r>
              <a:rPr lang="en-US" altLang="zh-CN"/>
              <a:t>Material</a:t>
            </a:r>
            <a:endParaRPr lang="en-US" altLang="zh-CN"/>
          </a:p>
        </p:txBody>
      </p:sp>
      <p:cxnSp>
        <p:nvCxnSpPr>
          <p:cNvPr id="28" name="直接连接符 27"/>
          <p:cNvCxnSpPr>
            <a:stCxn id="7" idx="3"/>
            <a:endCxn id="27" idx="1"/>
          </p:cNvCxnSpPr>
          <p:nvPr/>
        </p:nvCxnSpPr>
        <p:spPr>
          <a:xfrm flipV="1">
            <a:off x="8776335" y="3790950"/>
            <a:ext cx="381635" cy="507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图: 可选过程 28"/>
          <p:cNvSpPr/>
          <p:nvPr/>
        </p:nvSpPr>
        <p:spPr>
          <a:xfrm>
            <a:off x="9157970" y="4069715"/>
            <a:ext cx="2435225" cy="469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Sprite</a:t>
            </a:r>
            <a:r>
              <a:rPr lang="en-US" altLang="zh-CN"/>
              <a:t>Material</a:t>
            </a:r>
            <a:endParaRPr lang="en-US" altLang="zh-CN"/>
          </a:p>
        </p:txBody>
      </p:sp>
      <p:cxnSp>
        <p:nvCxnSpPr>
          <p:cNvPr id="30" name="直接连接符 29"/>
          <p:cNvCxnSpPr>
            <a:stCxn id="7" idx="3"/>
            <a:endCxn id="29" idx="1"/>
          </p:cNvCxnSpPr>
          <p:nvPr/>
        </p:nvCxnSpPr>
        <p:spPr>
          <a:xfrm>
            <a:off x="8776335" y="4298315"/>
            <a:ext cx="381635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Three.js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VR support</a:t>
            </a:r>
            <a:endParaRPr lang="en-US" altLang="zh-CN"/>
          </a:p>
          <a:p>
            <a:pPr lvl="1" algn="l">
              <a:buClrTx/>
              <a:buSzTx/>
            </a:pPr>
            <a:r>
              <a:rPr lang="zh-CN" altLang="en-US">
                <a:sym typeface="+mn-ea"/>
              </a:rPr>
              <a:t>https://threejs.org/docs/#manual/en/introduction/How-to-create-VR-content</a:t>
            </a:r>
            <a:endParaRPr lang="zh-CN" altLang="en-US"/>
          </a:p>
          <a:p>
            <a:pPr lvl="1"/>
            <a:r>
              <a:rPr lang="zh-CN" altLang="en-US"/>
              <a:t>https://immersiveweb.dev/#three.js</a:t>
            </a:r>
            <a:endParaRPr lang="zh-CN" altLang="en-US"/>
          </a:p>
          <a:p>
            <a:pPr lvl="1"/>
            <a:r>
              <a:rPr lang="zh-CN" altLang="en-US"/>
              <a:t>https://tutorialsforvr.com/enable-threejs-vr/</a:t>
            </a:r>
            <a:endParaRPr lang="zh-CN" altLang="en-US"/>
          </a:p>
          <a:p>
            <a:pPr lvl="1"/>
            <a:r>
              <a:rPr lang="zh-CN" altLang="en-US"/>
              <a:t>https://www.davrous.com/2017/07/07/from-zero-to-hero-creating-webvr-experiences-with-babylon-js-on-all-platforms/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A-Frame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99480" cy="4549140"/>
          </a:xfrm>
        </p:spPr>
        <p:txBody>
          <a:bodyPr/>
          <a:p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/>
              <a:t>Declarative DOM-based Entity-Component-System</a:t>
            </a:r>
            <a:endParaRPr lang="en-US" altLang="zh-CN"/>
          </a:p>
          <a:p>
            <a:pPr lvl="1"/>
            <a:r>
              <a:rPr lang="en-US" altLang="zh-CN"/>
              <a:t>Component-based development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58330" y="1631950"/>
            <a:ext cx="4859020" cy="35998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&lt;html&gt;</a:t>
            </a:r>
            <a:endParaRPr lang="zh-CN" altLang="en-US" sz="1200"/>
          </a:p>
          <a:p>
            <a:r>
              <a:rPr lang="zh-CN" altLang="en-US" sz="1200"/>
              <a:t>  &lt;head&gt;</a:t>
            </a:r>
            <a:endParaRPr lang="zh-CN" altLang="en-US" sz="1200"/>
          </a:p>
          <a:p>
            <a:r>
              <a:rPr lang="zh-CN" altLang="en-US" sz="1200"/>
              <a:t>    &lt;script src="https://aframe.io/releases/1.0.0/aframe.min.js"&gt;&lt;/script&gt;</a:t>
            </a:r>
            <a:endParaRPr lang="zh-CN" altLang="en-US" sz="1200"/>
          </a:p>
          <a:p>
            <a:r>
              <a:rPr lang="zh-CN" altLang="en-US" sz="1200"/>
              <a:t>  &lt;/head&gt;</a:t>
            </a:r>
            <a:endParaRPr lang="zh-CN" altLang="en-US" sz="1200"/>
          </a:p>
          <a:p>
            <a:r>
              <a:rPr lang="zh-CN" altLang="en-US" sz="1200"/>
              <a:t>  &lt;body&gt;</a:t>
            </a:r>
            <a:endParaRPr lang="zh-CN" altLang="en-US" sz="1200"/>
          </a:p>
          <a:p>
            <a:r>
              <a:rPr lang="zh-CN" altLang="en-US" sz="1200"/>
              <a:t>    &lt;a-scene&gt;</a:t>
            </a:r>
            <a:endParaRPr lang="zh-CN" altLang="en-US" sz="1200"/>
          </a:p>
          <a:p>
            <a:r>
              <a:rPr lang="zh-CN" altLang="en-US" sz="1200"/>
              <a:t>      &lt;a-box position="-1 0.5 -3" rotation="0 45 0" color="#4CC3D9"&gt;&lt;/a-box&gt;</a:t>
            </a:r>
            <a:endParaRPr lang="zh-CN" altLang="en-US" sz="1200"/>
          </a:p>
          <a:p>
            <a:r>
              <a:rPr lang="zh-CN" altLang="en-US" sz="1200"/>
              <a:t>      &lt;a-sphere position="0 1.25 -5" radius="1.25" color="#EF2D5E"&gt;&lt;/a-sphere&gt;</a:t>
            </a:r>
            <a:endParaRPr lang="zh-CN" altLang="en-US" sz="1200"/>
          </a:p>
          <a:p>
            <a:r>
              <a:rPr lang="zh-CN" altLang="en-US" sz="1200"/>
              <a:t>      &lt;a-cylinder position="1 0.75 -3" radius="0.5" height="1.5" color="#FFC65D"&gt;&lt;/a-cylinder&gt;</a:t>
            </a:r>
            <a:endParaRPr lang="zh-CN" altLang="en-US" sz="1200"/>
          </a:p>
          <a:p>
            <a:r>
              <a:rPr lang="zh-CN" altLang="en-US" sz="1200"/>
              <a:t>      &lt;a-plane position="0 0 -4" rotation="-90 0 0" width="4" height="4" color="#7BC8A4"&gt;&lt;/a-plane&gt;</a:t>
            </a:r>
            <a:endParaRPr lang="zh-CN" altLang="en-US" sz="1200"/>
          </a:p>
          <a:p>
            <a:r>
              <a:rPr lang="zh-CN" altLang="en-US" sz="1200"/>
              <a:t>      &lt;a-sky color="#ECECEC"&gt;&lt;/a-sky&gt;</a:t>
            </a:r>
            <a:endParaRPr lang="zh-CN" altLang="en-US" sz="1200"/>
          </a:p>
          <a:p>
            <a:r>
              <a:rPr lang="zh-CN" altLang="en-US" sz="1200"/>
              <a:t>    &lt;/a-scene&gt;</a:t>
            </a:r>
            <a:endParaRPr lang="zh-CN" altLang="en-US" sz="1200"/>
          </a:p>
          <a:p>
            <a:r>
              <a:rPr lang="zh-CN" altLang="en-US" sz="1200"/>
              <a:t>  &lt;/body&gt;</a:t>
            </a:r>
            <a:endParaRPr lang="zh-CN" altLang="en-US" sz="1200"/>
          </a:p>
          <a:p>
            <a:r>
              <a:rPr lang="zh-CN" altLang="en-US" sz="1200"/>
              <a:t>&lt;/html&gt;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6958330" y="5374005"/>
            <a:ext cx="4859020" cy="95313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&lt;a-entity geometry="primitive: sphere; radius: 1.5"</a:t>
            </a:r>
            <a:endParaRPr lang="zh-CN" altLang="en-US" sz="1400"/>
          </a:p>
          <a:p>
            <a:r>
              <a:rPr lang="zh-CN" altLang="en-US" sz="1400"/>
              <a:t>          light="type: point; color: white; intensity: 2"</a:t>
            </a:r>
            <a:endParaRPr lang="zh-CN" altLang="en-US" sz="1400"/>
          </a:p>
          <a:p>
            <a:r>
              <a:rPr lang="zh-CN" altLang="en-US" sz="1400"/>
              <a:t>          material="color: white; shader: flat; src: glow.jpg"</a:t>
            </a:r>
            <a:endParaRPr lang="zh-CN" altLang="en-US" sz="1400"/>
          </a:p>
          <a:p>
            <a:r>
              <a:rPr lang="zh-CN" altLang="en-US" sz="1400"/>
              <a:t>          position="0 0 -5"&gt;&lt;/a-entity&gt;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Google ModelViewer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/>
              <a:t>Only glTF/GLB models are supported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99605" y="1414780"/>
            <a:ext cx="4845050" cy="27997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&lt;script type="module" src="https://unpkg.com/@google/model-viewer/dist/model-viewer.js"&gt;&lt;/script&gt;</a:t>
            </a:r>
            <a:endParaRPr lang="zh-CN" altLang="en-US" sz="1600"/>
          </a:p>
          <a:p>
            <a:r>
              <a:rPr lang="zh-CN" altLang="en-US" sz="1600"/>
              <a:t>&lt;script nomodule src="https://unpkg.com/@google/model-viewer/dist/model-viewer-legacy.js"&gt;&lt;/script&gt;</a:t>
            </a:r>
            <a:endParaRPr lang="zh-CN" altLang="en-US" sz="1600"/>
          </a:p>
          <a:p>
            <a:r>
              <a:rPr lang="zh-CN" altLang="en-US" sz="1600"/>
              <a:t>&lt;!-- Use it like any other HTML element --&gt;</a:t>
            </a:r>
            <a:endParaRPr lang="zh-CN" altLang="en-US" sz="1600"/>
          </a:p>
          <a:p>
            <a:r>
              <a:rPr lang="zh-CN" altLang="en-US" sz="1600"/>
              <a:t>&lt;model-viewer src="examples/assets/Astronaut.glb" alt="A 3D model of an astronaut" auto-rotate camera-controls background-color="#455A64"&gt;&lt;/model-viewer&gt;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Babylon.js - Basic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64505" cy="4549140"/>
          </a:xfrm>
        </p:spPr>
        <p:txBody>
          <a:bodyPr>
            <a:normAutofit lnSpcReduction="20000"/>
          </a:bodyPr>
          <a:p>
            <a:r>
              <a:rPr lang="en-US" altLang="zh-CN" sz="2000"/>
              <a:t>Intro</a:t>
            </a:r>
            <a:endParaRPr lang="en-US" altLang="zh-CN" sz="2000"/>
          </a:p>
          <a:p>
            <a:pPr lvl="1"/>
            <a:r>
              <a:rPr lang="en-US" altLang="zh-CN" sz="1800"/>
              <a:t>open source Javascript framework for building 3D games with HTML5 and WEBGL.</a:t>
            </a:r>
            <a:endParaRPr lang="en-US" altLang="zh-CN" sz="1800"/>
          </a:p>
          <a:p>
            <a:pPr lvl="0"/>
            <a:r>
              <a:rPr lang="en-US" altLang="zh-CN" sz="2000"/>
              <a:t>Components</a:t>
            </a:r>
            <a:endParaRPr lang="en-US" altLang="zh-CN" sz="2000"/>
          </a:p>
          <a:p>
            <a:pPr lvl="1"/>
            <a:r>
              <a:rPr lang="en-US" altLang="zh-CN" sz="1800"/>
              <a:t>3D shapes, like box, sphere, cylinder, cone, ground, height ground, AxisLine, etc.</a:t>
            </a:r>
            <a:endParaRPr lang="en-US" altLang="zh-CN" sz="1800"/>
          </a:p>
          <a:p>
            <a:pPr lvl="1"/>
            <a:r>
              <a:rPr lang="en-US" altLang="zh-CN" sz="1800"/>
              <a:t>camera, lights</a:t>
            </a:r>
            <a:endParaRPr lang="en-US" altLang="zh-CN" sz="1800"/>
          </a:p>
          <a:p>
            <a:pPr lvl="1"/>
            <a:r>
              <a:rPr lang="en-US" altLang="zh-CN" sz="1800"/>
              <a:t>mesh, materials, textures</a:t>
            </a:r>
            <a:endParaRPr lang="en-US" altLang="zh-CN" sz="1800"/>
          </a:p>
          <a:p>
            <a:pPr lvl="1"/>
            <a:r>
              <a:rPr lang="en-US" altLang="zh-CN" sz="1800"/>
              <a:t>sprites</a:t>
            </a:r>
            <a:endParaRPr lang="en-US" altLang="zh-CN" sz="1800"/>
          </a:p>
          <a:p>
            <a:pPr lvl="1"/>
            <a:r>
              <a:rPr lang="en-US" altLang="zh-CN" sz="1800"/>
              <a:t>morphing</a:t>
            </a:r>
            <a:endParaRPr lang="en-US" altLang="zh-CN" sz="1800"/>
          </a:p>
          <a:p>
            <a:pPr lvl="1"/>
            <a:r>
              <a:rPr lang="en-US" altLang="zh-CN" sz="1800"/>
              <a:t>mesh interaction and collision detection</a:t>
            </a:r>
            <a:endParaRPr lang="en-US" altLang="zh-CN" sz="1800"/>
          </a:p>
          <a:p>
            <a:pPr lvl="1"/>
            <a:r>
              <a:rPr lang="en-US" altLang="zh-CN" sz="1800"/>
              <a:t>physics engine plugin</a:t>
            </a:r>
            <a:endParaRPr lang="en-US" altLang="zh-CN" sz="1800"/>
          </a:p>
          <a:p>
            <a:pPr lvl="1"/>
            <a:r>
              <a:rPr lang="en-US" altLang="zh-CN" sz="1800"/>
              <a:t>action manager</a:t>
            </a:r>
            <a:endParaRPr lang="en-US" altLang="zh-CN" sz="1800"/>
          </a:p>
          <a:p>
            <a:pPr lvl="1"/>
            <a:r>
              <a:rPr lang="en-US" altLang="zh-CN" sz="1800"/>
              <a:t>solid particles</a:t>
            </a:r>
            <a:endParaRPr lang="en-US" altLang="zh-CN" sz="1800"/>
          </a:p>
          <a:p>
            <a:pPr lvl="1"/>
            <a:r>
              <a:rPr lang="en-US" altLang="zh-CN" sz="1800"/>
              <a:t>support for bones and skeletons</a:t>
            </a:r>
            <a:endParaRPr lang="en-US" altLang="zh-CN" sz="1800"/>
          </a:p>
          <a:p>
            <a:pPr lvl="1"/>
            <a:r>
              <a:rPr lang="en-US" altLang="zh-CN" sz="1800"/>
              <a:t>music, sound, etc.</a:t>
            </a:r>
            <a:endParaRPr lang="en-US" altLang="zh-CN" sz="1800"/>
          </a:p>
        </p:txBody>
      </p:sp>
      <p:sp>
        <p:nvSpPr>
          <p:cNvPr id="4" name="文本框 3"/>
          <p:cNvSpPr txBox="1"/>
          <p:nvPr/>
        </p:nvSpPr>
        <p:spPr>
          <a:xfrm>
            <a:off x="7100570" y="1473835"/>
            <a:ext cx="4558665" cy="2891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var </a:t>
            </a:r>
            <a:r>
              <a:rPr lang="zh-CN" altLang="en-US" sz="1400" b="1"/>
              <a:t>canvas </a:t>
            </a:r>
            <a:r>
              <a:rPr lang="zh-CN" altLang="en-US" sz="1400"/>
              <a:t>= document.getElementById("renderCanvas");</a:t>
            </a:r>
            <a:endParaRPr lang="zh-CN" altLang="en-US" sz="1400"/>
          </a:p>
          <a:p>
            <a:r>
              <a:rPr lang="zh-CN" altLang="en-US" sz="1400"/>
              <a:t>var </a:t>
            </a:r>
            <a:r>
              <a:rPr lang="zh-CN" altLang="en-US" sz="1400" b="1"/>
              <a:t>engine </a:t>
            </a:r>
            <a:r>
              <a:rPr lang="zh-CN" altLang="en-US" sz="1400"/>
              <a:t>= new BABYLON.Engine(canvas, true);</a:t>
            </a:r>
            <a:endParaRPr lang="zh-CN" altLang="en-US" sz="1400"/>
          </a:p>
          <a:p>
            <a:r>
              <a:rPr lang="zh-CN" altLang="en-US" sz="1400"/>
              <a:t>var createScene  = function() {</a:t>
            </a:r>
            <a:endParaRPr lang="zh-CN" altLang="en-US" sz="1400"/>
          </a:p>
          <a:p>
            <a:r>
              <a:rPr lang="zh-CN" altLang="en-US" sz="1400"/>
              <a:t>       var </a:t>
            </a:r>
            <a:r>
              <a:rPr lang="zh-CN" altLang="en-US" sz="1400" b="1"/>
              <a:t>scene </a:t>
            </a:r>
            <a:r>
              <a:rPr lang="zh-CN" altLang="en-US" sz="1400"/>
              <a:t>= new BABYLON.Scene(engine);</a:t>
            </a:r>
            <a:endParaRPr lang="zh-CN" altLang="en-US" sz="1400"/>
          </a:p>
          <a:p>
            <a:r>
              <a:rPr lang="zh-CN" altLang="en-US" sz="1400"/>
              <a:t>        scene.clearColor = new BABYLON.Color3(1, 0.8, 0.8);</a:t>
            </a:r>
            <a:endParaRPr lang="zh-CN" altLang="en-US" sz="1400"/>
          </a:p>
          <a:p>
            <a:r>
              <a:rPr lang="zh-CN" altLang="en-US" sz="1400"/>
              <a:t>        return scene;</a:t>
            </a:r>
            <a:endParaRPr lang="zh-CN" altLang="en-US" sz="1400"/>
          </a:p>
          <a:p>
            <a:r>
              <a:rPr lang="zh-CN" altLang="en-US" sz="1400"/>
              <a:t>};</a:t>
            </a:r>
            <a:endParaRPr lang="zh-CN" altLang="en-US" sz="1400"/>
          </a:p>
          <a:p>
            <a:r>
              <a:rPr lang="zh-CN" altLang="en-US" sz="1400"/>
              <a:t>var scene = createScene();</a:t>
            </a:r>
            <a:endParaRPr lang="zh-CN" altLang="en-US" sz="1400"/>
          </a:p>
          <a:p>
            <a:r>
              <a:rPr lang="zh-CN" altLang="en-US" sz="1400"/>
              <a:t>engine.</a:t>
            </a:r>
            <a:r>
              <a:rPr lang="zh-CN" altLang="en-US" sz="1400" b="1"/>
              <a:t>runRenderLoop</a:t>
            </a:r>
            <a:r>
              <a:rPr lang="zh-CN" altLang="en-US" sz="1400"/>
              <a:t>(function() {</a:t>
            </a:r>
            <a:endParaRPr lang="zh-CN" altLang="en-US" sz="1400"/>
          </a:p>
          <a:p>
            <a:r>
              <a:rPr lang="zh-CN" altLang="en-US" sz="1400"/>
              <a:t>      scene.render();</a:t>
            </a:r>
            <a:endParaRPr lang="zh-CN" altLang="en-US" sz="1400"/>
          </a:p>
          <a:p>
            <a:r>
              <a:rPr lang="zh-CN" altLang="en-US" sz="1400"/>
              <a:t>});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Babylon.js - Architecture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1507490" y="372491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Engine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1507490" y="271907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Scene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1507490" y="473075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Canvas</a:t>
            </a:r>
            <a:endParaRPr lang="en-US" altLang="zh-CN"/>
          </a:p>
        </p:txBody>
      </p:sp>
      <p:cxnSp>
        <p:nvCxnSpPr>
          <p:cNvPr id="7" name="直接箭头连接符 6"/>
          <p:cNvCxnSpPr>
            <a:stCxn id="4" idx="2"/>
          </p:cNvCxnSpPr>
          <p:nvPr/>
        </p:nvCxnSpPr>
        <p:spPr>
          <a:xfrm>
            <a:off x="2604135" y="4367530"/>
            <a:ext cx="0" cy="622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5" idx="2"/>
            <a:endCxn id="4" idx="0"/>
          </p:cNvCxnSpPr>
          <p:nvPr/>
        </p:nvCxnSpPr>
        <p:spPr>
          <a:xfrm>
            <a:off x="2604135" y="3361690"/>
            <a:ext cx="0" cy="363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3997960" y="110998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ArcRotateCamera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997325" y="185674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PointLight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3997325" y="260350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Mesh</a:t>
            </a:r>
            <a:endParaRPr lang="en-US" altLang="zh-CN"/>
          </a:p>
        </p:txBody>
      </p:sp>
      <p:cxnSp>
        <p:nvCxnSpPr>
          <p:cNvPr id="12" name="肘形连接符 11"/>
          <p:cNvCxnSpPr>
            <a:stCxn id="5" idx="3"/>
            <a:endCxn id="9" idx="1"/>
          </p:cNvCxnSpPr>
          <p:nvPr/>
        </p:nvCxnSpPr>
        <p:spPr>
          <a:xfrm flipV="1">
            <a:off x="3700780" y="1431290"/>
            <a:ext cx="297180" cy="16090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5" idx="3"/>
            <a:endCxn id="10" idx="1"/>
          </p:cNvCxnSpPr>
          <p:nvPr/>
        </p:nvCxnSpPr>
        <p:spPr>
          <a:xfrm flipV="1">
            <a:off x="3700780" y="2178050"/>
            <a:ext cx="296545" cy="862330"/>
          </a:xfrm>
          <a:prstGeom prst="bentConnector3">
            <a:avLst>
              <a:gd name="adj1" fmla="val 5010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5" idx="3"/>
            <a:endCxn id="11" idx="1"/>
          </p:cNvCxnSpPr>
          <p:nvPr/>
        </p:nvCxnSpPr>
        <p:spPr>
          <a:xfrm flipV="1">
            <a:off x="3700780" y="2924810"/>
            <a:ext cx="296545" cy="115570"/>
          </a:xfrm>
          <a:prstGeom prst="bentConnector3">
            <a:avLst>
              <a:gd name="adj1" fmla="val 5010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3997960" y="574802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Color3</a:t>
            </a:r>
            <a:endParaRPr lang="en-US" altLang="zh-CN"/>
          </a:p>
        </p:txBody>
      </p:sp>
      <p:sp>
        <p:nvSpPr>
          <p:cNvPr id="16" name="圆角矩形 15"/>
          <p:cNvSpPr/>
          <p:nvPr/>
        </p:nvSpPr>
        <p:spPr>
          <a:xfrm>
            <a:off x="6641465" y="260350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StandardMaterial</a:t>
            </a:r>
            <a:endParaRPr lang="en-US" altLang="zh-CN"/>
          </a:p>
        </p:txBody>
      </p:sp>
      <p:cxnSp>
        <p:nvCxnSpPr>
          <p:cNvPr id="17" name="肘形连接符 16"/>
          <p:cNvCxnSpPr>
            <a:stCxn id="16" idx="1"/>
            <a:endCxn id="11" idx="3"/>
          </p:cNvCxnSpPr>
          <p:nvPr/>
        </p:nvCxnSpPr>
        <p:spPr>
          <a:xfrm rot="10800000" flipV="1">
            <a:off x="6190615" y="2924810"/>
            <a:ext cx="450850" cy="317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9218295" y="260350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Texture</a:t>
            </a:r>
            <a:endParaRPr lang="en-US" altLang="zh-CN"/>
          </a:p>
        </p:txBody>
      </p:sp>
      <p:cxnSp>
        <p:nvCxnSpPr>
          <p:cNvPr id="19" name="直接连接符 18"/>
          <p:cNvCxnSpPr>
            <a:stCxn id="16" idx="3"/>
            <a:endCxn id="18" idx="1"/>
          </p:cNvCxnSpPr>
          <p:nvPr/>
        </p:nvCxnSpPr>
        <p:spPr>
          <a:xfrm>
            <a:off x="8834755" y="2924810"/>
            <a:ext cx="3835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6450330" y="574802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Vector3</a:t>
            </a:r>
            <a:endParaRPr lang="en-US" altLang="zh-CN"/>
          </a:p>
        </p:txBody>
      </p:sp>
      <p:sp>
        <p:nvSpPr>
          <p:cNvPr id="21" name="圆角矩形 20"/>
          <p:cNvSpPr/>
          <p:nvPr/>
        </p:nvSpPr>
        <p:spPr>
          <a:xfrm>
            <a:off x="3997325" y="3724910"/>
            <a:ext cx="2193290" cy="642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Animation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Babylon.js - Classes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03605" y="1407160"/>
            <a:ext cx="3132455" cy="17532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b="1"/>
              <a:t>Scene</a:t>
            </a:r>
            <a:endParaRPr lang="en-US" altLang="zh-CN" b="1"/>
          </a:p>
          <a:p>
            <a:r>
              <a:rPr lang="en-US" altLang="zh-CN"/>
              <a:t>  clearColor</a:t>
            </a:r>
            <a:endParaRPr lang="en-US" altLang="zh-CN"/>
          </a:p>
          <a:p>
            <a:r>
              <a:rPr lang="en-US" altLang="zh-CN"/>
              <a:t>  ambientColor</a:t>
            </a:r>
            <a:endParaRPr lang="en-US" altLang="zh-CN"/>
          </a:p>
          <a:p>
            <a:r>
              <a:rPr lang="en-US" altLang="zh-CN"/>
              <a:t>  fogMode</a:t>
            </a:r>
            <a:endParaRPr lang="en-US" altLang="zh-CN"/>
          </a:p>
          <a:p>
            <a:r>
              <a:rPr lang="en-US" altLang="zh-CN"/>
              <a:t>  beginAnimation()</a:t>
            </a:r>
            <a:endParaRPr lang="en-US" altLang="zh-CN"/>
          </a:p>
          <a:p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529455" y="1407160"/>
            <a:ext cx="3132455" cy="17532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b="1"/>
              <a:t>Mesh</a:t>
            </a:r>
            <a:endParaRPr lang="en-US" altLang="zh-CN" b="1"/>
          </a:p>
          <a:p>
            <a:r>
              <a:rPr lang="en-US" altLang="zh-CN"/>
              <a:t>  </a:t>
            </a:r>
            <a:r>
              <a:rPr lang="en-US" altLang="zh-CN">
                <a:sym typeface="+mn-ea"/>
              </a:rPr>
              <a:t>position (Vector3)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</a:t>
            </a:r>
            <a:r>
              <a:rPr lang="en-US" altLang="zh-CN"/>
              <a:t>scaling (Vector3)</a:t>
            </a:r>
            <a:endParaRPr lang="en-US" altLang="zh-CN"/>
          </a:p>
          <a:p>
            <a:r>
              <a:rPr lang="en-US" altLang="zh-CN"/>
              <a:t>  rotation (Vector3)</a:t>
            </a:r>
            <a:endParaRPr lang="en-US" altLang="zh-CN"/>
          </a:p>
          <a:p>
            <a:r>
              <a:rPr lang="en-US" altLang="zh-CN"/>
              <a:t>  material (StandardMaterial)</a:t>
            </a:r>
            <a:endParaRPr lang="en-US" altLang="zh-CN"/>
          </a:p>
          <a:p>
            <a:r>
              <a:rPr lang="en-US" altLang="zh-CN"/>
              <a:t>  animations (Animation)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529455" y="3849370"/>
            <a:ext cx="3132455" cy="9220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b="1"/>
              <a:t>Texture</a:t>
            </a:r>
            <a:endParaRPr lang="en-US" altLang="zh-CN" b="1"/>
          </a:p>
          <a:p>
            <a:r>
              <a:rPr lang="en-US" altLang="zh-CN"/>
              <a:t>  </a:t>
            </a:r>
            <a:r>
              <a:rPr lang="en-US" altLang="zh-CN">
                <a:sym typeface="+mn-ea"/>
              </a:rPr>
              <a:t>uScale</a:t>
            </a:r>
            <a:endParaRPr lang="en-US" altLang="zh-CN">
              <a:sym typeface="+mn-ea"/>
            </a:endParaRPr>
          </a:p>
          <a:p>
            <a:r>
              <a:rPr lang="en-US" altLang="zh-CN"/>
              <a:t>  vScale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03605" y="3849370"/>
            <a:ext cx="3132455" cy="9220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b="1"/>
              <a:t>Material</a:t>
            </a:r>
            <a:endParaRPr lang="en-US" altLang="zh-CN" b="1"/>
          </a:p>
          <a:p>
            <a:r>
              <a:rPr lang="en-US" altLang="zh-CN"/>
              <a:t>  </a:t>
            </a:r>
            <a:r>
              <a:rPr lang="en-US" altLang="zh-CN">
                <a:sym typeface="+mn-ea"/>
              </a:rPr>
              <a:t>diffuseColor</a:t>
            </a:r>
            <a:endParaRPr lang="en-US" altLang="zh-CN">
              <a:sym typeface="+mn-ea"/>
            </a:endParaRPr>
          </a:p>
          <a:p>
            <a:r>
              <a:rPr lang="en-US" altLang="zh-CN"/>
              <a:t>  diffuseTexture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155305" y="3849370"/>
            <a:ext cx="3132455" cy="17532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b="1"/>
              <a:t>Animation</a:t>
            </a:r>
            <a:endParaRPr lang="en-US" altLang="zh-CN" b="1"/>
          </a:p>
          <a:p>
            <a:r>
              <a:rPr lang="en-US" altLang="zh-CN"/>
              <a:t>  setKeys([])</a:t>
            </a:r>
            <a:endParaRPr lang="en-US" altLang="zh-CN"/>
          </a:p>
          <a:p>
            <a:r>
              <a:rPr lang="en-US" altLang="zh-CN"/>
              <a:t>  pause()</a:t>
            </a:r>
            <a:endParaRPr lang="en-US" altLang="zh-CN"/>
          </a:p>
          <a:p>
            <a:r>
              <a:rPr lang="en-US" altLang="zh-CN"/>
              <a:t>  stop()</a:t>
            </a:r>
            <a:endParaRPr lang="en-US" altLang="zh-CN"/>
          </a:p>
          <a:p>
            <a:r>
              <a:rPr lang="en-US" altLang="zh-CN"/>
              <a:t>  restart()</a:t>
            </a:r>
            <a:endParaRPr lang="en-US" altLang="zh-CN"/>
          </a:p>
          <a:p>
            <a:r>
              <a:rPr lang="en-US" altLang="zh-CN"/>
              <a:t>  reset()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Visualization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QRCode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https://towardsdatascience.com/the-importance-of-interactive-data-visualization-5e125cb04ce3</a:t>
            </a:r>
            <a:endParaRPr lang="en-US" altLang="zh-CN"/>
          </a:p>
          <a:p>
            <a:pPr lvl="0"/>
            <a:r>
              <a:rPr lang="en-US" altLang="zh-CN"/>
              <a:t>Libraries</a:t>
            </a:r>
            <a:endParaRPr lang="en-US" altLang="zh-CN"/>
          </a:p>
          <a:p>
            <a:pPr lvl="1"/>
            <a:r>
              <a:rPr lang="en-US" altLang="zh-CN"/>
              <a:t>Low-level</a:t>
            </a:r>
            <a:endParaRPr lang="en-US" altLang="zh-CN"/>
          </a:p>
          <a:p>
            <a:pPr lvl="2"/>
            <a:r>
              <a:rPr lang="en-US" altLang="zh-CN"/>
              <a:t>D3</a:t>
            </a:r>
            <a:endParaRPr lang="en-US" altLang="zh-CN"/>
          </a:p>
          <a:p>
            <a:pPr lvl="1"/>
            <a:r>
              <a:rPr lang="en-US" altLang="zh-CN"/>
              <a:t>High-level</a:t>
            </a:r>
            <a:endParaRPr lang="en-US" altLang="zh-CN"/>
          </a:p>
          <a:p>
            <a:pPr lvl="2"/>
            <a:r>
              <a:rPr lang="en-US" altLang="zh-CN"/>
              <a:t>Vega, Vega-Lite</a:t>
            </a:r>
            <a:endParaRPr lang="en-US" altLang="zh-CN"/>
          </a:p>
          <a:p>
            <a:pPr lvl="1"/>
            <a:r>
              <a:rPr lang="en-US" altLang="zh-CN"/>
              <a:t>Top-level</a:t>
            </a:r>
            <a:endParaRPr lang="en-US" altLang="zh-CN"/>
          </a:p>
          <a:p>
            <a:pPr lvl="2"/>
            <a:r>
              <a:rPr lang="en-US" altLang="zh-CN"/>
              <a:t>Voyager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Misc.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Animation Packages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61560" cy="4549140"/>
          </a:xfrm>
        </p:spPr>
        <p:txBody>
          <a:bodyPr/>
          <a:p>
            <a:r>
              <a:rPr lang="en-US" altLang="zh-CN" sz="1800"/>
              <a:t>GSAP</a:t>
            </a:r>
            <a:endParaRPr lang="en-US" altLang="zh-CN" sz="1800"/>
          </a:p>
          <a:p>
            <a:pPr lvl="1"/>
            <a:r>
              <a:rPr lang="en-US" altLang="zh-CN" sz="1600"/>
              <a:t>Intro</a:t>
            </a:r>
            <a:endParaRPr lang="en-US" altLang="zh-CN" sz="1600"/>
          </a:p>
          <a:p>
            <a:pPr lvl="2"/>
            <a:r>
              <a:rPr lang="en-US" altLang="zh-CN" sz="1400"/>
              <a:t>gsap.com</a:t>
            </a:r>
            <a:endParaRPr lang="en-US" altLang="zh-CN" sz="1400"/>
          </a:p>
          <a:p>
            <a:pPr lvl="2"/>
            <a:r>
              <a:rPr lang="en-US" altLang="zh-CN" sz="1400"/>
              <a:t>license: Custom (free for most uses)</a:t>
            </a:r>
            <a:endParaRPr lang="en-US" altLang="zh-CN" sz="1400"/>
          </a:p>
          <a:p>
            <a:pPr lvl="1"/>
            <a:r>
              <a:rPr lang="en-US" altLang="zh-CN" sz="1600"/>
              <a:t>Usage</a:t>
            </a:r>
            <a:endParaRPr lang="en-US" altLang="zh-CN" sz="1600"/>
          </a:p>
          <a:p>
            <a:pPr lvl="2"/>
            <a:r>
              <a:rPr lang="en-US" altLang="zh-CN" sz="1400"/>
              <a:t>pnpm add gsap</a:t>
            </a:r>
            <a:endParaRPr lang="en-US" altLang="zh-CN" sz="1400"/>
          </a:p>
          <a:p>
            <a:pPr lvl="2"/>
            <a:r>
              <a:rPr lang="en-US" altLang="zh-CN" sz="1400"/>
              <a:t>import { gsap } from "gsap";</a:t>
            </a:r>
            <a:endParaRPr lang="en-US" altLang="zh-CN" sz="1400"/>
          </a:p>
          <a:p>
            <a:pPr lvl="0"/>
            <a:r>
              <a:rPr lang="en-US" altLang="zh-CN" sz="1800"/>
              <a:t>Tween.js</a:t>
            </a:r>
            <a:endParaRPr lang="en-US" altLang="zh-CN" sz="1800"/>
          </a:p>
          <a:p>
            <a:pPr lvl="1"/>
            <a:r>
              <a:rPr lang="en-US" altLang="zh-CN" sz="1600"/>
              <a:t>Intro</a:t>
            </a:r>
            <a:endParaRPr lang="en-US" altLang="zh-CN" sz="1600"/>
          </a:p>
          <a:p>
            <a:pPr lvl="2"/>
            <a:r>
              <a:rPr lang="en-US" altLang="zh-CN" sz="1400"/>
              <a:t>MIT license</a:t>
            </a:r>
            <a:endParaRPr lang="en-US" altLang="zh-CN" sz="14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699760" y="1361440"/>
            <a:ext cx="5984875" cy="206756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5699760" y="3606165"/>
            <a:ext cx="4934585" cy="24771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QRCode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https://code-boxx.com/generate-qr-code-javascript/#:~:text=To%20generate%20QR%20codes%20in%20Javascript%3A%201%20Load,var%20qrc%20%3D%20new%20QRCode%20%28document.getElementById%20%28%22qrcode%22%29%2C%20%22http%3A%2F%2Fsite.com%2F%22%29%3B</a:t>
            </a:r>
            <a:endParaRPr lang="en-US" altLang="zh-CN"/>
          </a:p>
          <a:p>
            <a:pPr lvl="0"/>
            <a:r>
              <a:rPr lang="en-US" altLang="zh-CN"/>
              <a:t>qrcodejs</a:t>
            </a:r>
            <a:endParaRPr lang="en-US" altLang="zh-CN"/>
          </a:p>
          <a:p>
            <a:pPr lvl="1"/>
            <a:r>
              <a:rPr lang="en-US" altLang="zh-CN"/>
              <a:t>https://cdnjs.com/libraries/qrcodejs</a:t>
            </a:r>
            <a:endParaRPr lang="en-US" altLang="zh-CN"/>
          </a:p>
          <a:p>
            <a:pPr lvl="1"/>
            <a:r>
              <a:rPr lang="en-US" altLang="zh-CN"/>
              <a:t>var qrc = new QRCode(document.getElementById("qrcode"), "content");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Input validation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https://developpaper.com/javascript-text-box-verification-code-based-on-regular-expression/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Face Detection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/>
              <a:t>face-api.js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References</a:t>
            </a:r>
            <a:endParaRPr lang="en-US" altLang="zh-CN"/>
          </a:p>
          <a:p>
            <a:pPr lvl="2"/>
            <a:r>
              <a:rPr lang="en-US" altLang="zh-CN"/>
              <a:t>https://github.com/justadudewhohacks/face-api.js</a:t>
            </a:r>
            <a:endParaRPr lang="en-US" altLang="zh-CN"/>
          </a:p>
          <a:p>
            <a:pPr lvl="2"/>
            <a:r>
              <a:rPr lang="en-US" altLang="zh-CN"/>
              <a:t>https://segmentfault.com/a/1190000040583469</a:t>
            </a:r>
            <a:endParaRPr lang="en-US" altLang="zh-CN"/>
          </a:p>
          <a:p>
            <a:pPr lvl="1"/>
            <a:r>
              <a:rPr lang="en-US" altLang="zh-CN"/>
              <a:t>Intro</a:t>
            </a:r>
            <a:endParaRPr lang="en-US" altLang="zh-CN"/>
          </a:p>
          <a:p>
            <a:pPr lvl="2"/>
            <a:r>
              <a:rPr lang="zh-CN" altLang="en-US"/>
              <a:t>基于</a:t>
            </a:r>
            <a:r>
              <a:rPr lang="en-US" altLang="zh-CN"/>
              <a:t>tensorflow.js</a:t>
            </a:r>
            <a:endParaRPr lang="en-US" altLang="zh-CN"/>
          </a:p>
          <a:p>
            <a:pPr lvl="2"/>
            <a:r>
              <a:rPr lang="en-US" altLang="zh-CN"/>
              <a:t>Features: face recognition, facial landmarks detection, facial expression recognition, age estimation, gender recognition, 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 Crypto API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24425" cy="4549140"/>
          </a:xfrm>
        </p:spPr>
        <p:txBody>
          <a:bodyPr/>
          <a:p>
            <a:r>
              <a:rPr lang="en-US" altLang="zh-CN" sz="1800"/>
              <a:t>Intro</a:t>
            </a:r>
            <a:endParaRPr lang="en-US" altLang="zh-CN" sz="1800"/>
          </a:p>
          <a:p>
            <a:pPr lvl="1"/>
            <a:r>
              <a:rPr lang="en-US" altLang="zh-CN" sz="1600"/>
              <a:t>built-in browser API that allows you to perform secure cryptographic operations directly in JavaScript, without needing external libraries.</a:t>
            </a:r>
            <a:endParaRPr lang="en-US" altLang="zh-CN" sz="1600"/>
          </a:p>
          <a:p>
            <a:pPr lvl="1"/>
            <a:r>
              <a:rPr lang="en-US" altLang="zh-CN" sz="1600"/>
              <a:t>window.crypto.subtle</a:t>
            </a:r>
            <a:endParaRPr lang="en-US" altLang="zh-CN" sz="1600"/>
          </a:p>
          <a:p>
            <a:pPr lvl="0"/>
            <a:r>
              <a:rPr lang="en-US" altLang="zh-CN" sz="1800"/>
              <a:t>Features</a:t>
            </a:r>
            <a:endParaRPr lang="en-US" altLang="zh-CN" sz="1800"/>
          </a:p>
          <a:p>
            <a:pPr lvl="1"/>
            <a:r>
              <a:rPr lang="en-US" altLang="zh-CN" sz="1600"/>
              <a:t>generate, import, export cryptographic keys</a:t>
            </a:r>
            <a:endParaRPr lang="en-US" altLang="zh-CN" sz="1600"/>
          </a:p>
          <a:p>
            <a:pPr lvl="1"/>
            <a:r>
              <a:rPr lang="en-US" altLang="zh-CN" sz="1600"/>
              <a:t>encrypt, decrypt (AES-GCM, AES-CBS, RSA-OAEP, etc.)</a:t>
            </a:r>
            <a:endParaRPr lang="en-US" altLang="zh-CN" sz="1600"/>
          </a:p>
          <a:p>
            <a:pPr lvl="1"/>
            <a:r>
              <a:rPr lang="en-US" altLang="zh-CN" sz="1600"/>
              <a:t>hash data (SHA-1, SHA-256, etc.)</a:t>
            </a:r>
            <a:endParaRPr lang="en-US" altLang="zh-CN" sz="1600"/>
          </a:p>
          <a:p>
            <a:pPr lvl="1"/>
            <a:r>
              <a:rPr lang="en-US" altLang="zh-CN" sz="1600"/>
              <a:t>sign, verify digital signatures</a:t>
            </a:r>
            <a:endParaRPr lang="en-US" altLang="zh-CN" sz="1600"/>
          </a:p>
          <a:p>
            <a:pPr lvl="1"/>
            <a:r>
              <a:rPr lang="en-US" altLang="zh-CN" sz="1600"/>
              <a:t>derive keys (PBKDF2, HKDF, ECDH)</a:t>
            </a:r>
            <a:endParaRPr lang="en-US" altLang="zh-CN" sz="1600"/>
          </a:p>
          <a:p>
            <a:pPr lvl="0"/>
            <a:r>
              <a:rPr lang="en-US" altLang="zh-CN" sz="1800"/>
              <a:t>Limitations</a:t>
            </a:r>
            <a:endParaRPr lang="en-US" altLang="zh-CN" sz="1800"/>
          </a:p>
          <a:p>
            <a:pPr lvl="1"/>
            <a:r>
              <a:rPr lang="en-US" altLang="zh-CN" sz="1600"/>
              <a:t>only works in https or localhost</a:t>
            </a:r>
            <a:endParaRPr lang="en-US" altLang="zh-CN" sz="1600"/>
          </a:p>
          <a:p>
            <a:pPr lvl="1"/>
            <a:r>
              <a:rPr lang="en-US" altLang="zh-CN" sz="1600"/>
              <a:t>synchronous methos are limited</a:t>
            </a:r>
            <a:endParaRPr lang="en-US" altLang="zh-CN" sz="1600"/>
          </a:p>
          <a:p>
            <a:pPr lvl="1"/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Interaction with Other Language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Call Python Function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  <p:tag name="KSO_WM_SLIDE_MODEL_TYPE" val="cover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REFSHAPE" val="954434956"/>
  <p:tag name="KSO_WM_UNIT_PLACING_PICTURE_USER_VIEWPORT" val="{&quot;height&quot;:7860,&quot;width&quot;:10380}"/>
</p:tagLst>
</file>

<file path=ppt/tags/tag19.xml><?xml version="1.0" encoding="utf-8"?>
<p:tagLst xmlns:p="http://schemas.openxmlformats.org/presentationml/2006/main">
  <p:tag name="KSO_WM_UNIT_TABLE_BEAUTIFY" val="smartTable{0bafd17d-c47b-41ce-adf8-7fe5cd76de8a}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REFSHAPE" val="817661980"/>
  <p:tag name="KSO_WM_UNIT_PLACING_PICTURE_USER_VIEWPORT" val="{&quot;height&quot;:4695,&quot;width&quot;:5835}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UNIT_PLACING_PICTURE_USER_VIEWPORT" val="{&quot;height&quot;:11880,&quot;width&quot;:15540}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REFSHAPE" val="1066456668"/>
  <p:tag name="KSO_WM_UNIT_PLACING_PICTURE_USER_VIEWPORT" val="{&quot;height&quot;:15840,&quot;width&quot;:11264}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5.xml><?xml version="1.0" encoding="utf-8"?>
<p:tagLst xmlns:p="http://schemas.openxmlformats.org/presentationml/2006/main">
  <p:tag name="COMMONDATA" val="eyJoZGlkIjoiYjRhZjQ5NWVmZmQxNmM3NmNkNDYxNWRmNzNmMjA1ZDAifQ=="/>
  <p:tag name="KSO_WPP_MARK_KEY" val="a35375c5-519a-4add-9bbc-1782d173b1f9"/>
  <p:tag name="commondata" val="eyJoZGlkIjoiYjk5ODM0YmMxOWJiYWQyNDU4MGIzYWRmYTA0ZmI5NDcifQ==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19827</Words>
  <Application>WPS 演示</Application>
  <PresentationFormat>宽屏</PresentationFormat>
  <Paragraphs>993</Paragraphs>
  <Slides>66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3" baseType="lpstr">
      <vt:lpstr>Arial</vt:lpstr>
      <vt:lpstr>宋体</vt:lpstr>
      <vt:lpstr>Wingdings</vt:lpstr>
      <vt:lpstr>黑体</vt:lpstr>
      <vt:lpstr>微软雅黑</vt:lpstr>
      <vt:lpstr>Arial Unicode MS</vt:lpstr>
      <vt:lpstr>1_A000120140530A02PPBG</vt:lpstr>
      <vt:lpstr>JavaScript Notes</vt:lpstr>
      <vt:lpstr>TOC</vt:lpstr>
      <vt:lpstr>General</vt:lpstr>
      <vt:lpstr>References</vt:lpstr>
      <vt:lpstr>Architecture</vt:lpstr>
      <vt:lpstr>Debug</vt:lpstr>
      <vt:lpstr>Coding Style</vt:lpstr>
      <vt:lpstr>Change Static Content</vt:lpstr>
      <vt:lpstr>Data Type</vt:lpstr>
      <vt:lpstr>DOM</vt:lpstr>
      <vt:lpstr>DOM 2</vt:lpstr>
      <vt:lpstr>Promise/Async/Await</vt:lpstr>
      <vt:lpstr>Animation</vt:lpstr>
      <vt:lpstr>Event</vt:lpstr>
      <vt:lpstr>Classes</vt:lpstr>
      <vt:lpstr>String Operation</vt:lpstr>
      <vt:lpstr>DateTime</vt:lpstr>
      <vt:lpstr>Form</vt:lpstr>
      <vt:lpstr>Storage</vt:lpstr>
      <vt:lpstr>Bundle Javascript Library</vt:lpstr>
      <vt:lpstr>jQuery</vt:lpstr>
      <vt:lpstr>Canvas</vt:lpstr>
      <vt:lpstr>eCharts</vt:lpstr>
      <vt:lpstr>Audio</vt:lpstr>
      <vt:lpstr>Responsive Design</vt:lpstr>
      <vt:lpstr>TTS</vt:lpstr>
      <vt:lpstr>Tween</vt:lpstr>
      <vt:lpstr>Service Worker</vt:lpstr>
      <vt:lpstr>WebAssembly</vt:lpstr>
      <vt:lpstr>Javascript Modules</vt:lpstr>
      <vt:lpstr>Libraries</vt:lpstr>
      <vt:lpstr>FAQ</vt:lpstr>
      <vt:lpstr>Image Process</vt:lpstr>
      <vt:lpstr>References</vt:lpstr>
      <vt:lpstr>Viewer</vt:lpstr>
      <vt:lpstr>List</vt:lpstr>
      <vt:lpstr>Image Process Libraries</vt:lpstr>
      <vt:lpstr>SVG</vt:lpstr>
      <vt:lpstr>Canvas</vt:lpstr>
      <vt:lpstr>Draw2D</vt:lpstr>
      <vt:lpstr>Encryption/Decryption</vt:lpstr>
      <vt:lpstr>Cytoscape</vt:lpstr>
      <vt:lpstr>Raphael</vt:lpstr>
      <vt:lpstr>merge-images</vt:lpstr>
      <vt:lpstr>Image Map</vt:lpstr>
      <vt:lpstr>Konva</vt:lpstr>
      <vt:lpstr>p5.js</vt:lpstr>
      <vt:lpstr>3D</vt:lpstr>
      <vt:lpstr>Overview</vt:lpstr>
      <vt:lpstr>Three.js</vt:lpstr>
      <vt:lpstr>Three.js 2</vt:lpstr>
      <vt:lpstr>A-Frame</vt:lpstr>
      <vt:lpstr>Google ModelViewer</vt:lpstr>
      <vt:lpstr>Babylon.js - Basic</vt:lpstr>
      <vt:lpstr>Babylon.js - Architecture</vt:lpstr>
      <vt:lpstr>Babylon.js - Classes</vt:lpstr>
      <vt:lpstr>Data Visualization</vt:lpstr>
      <vt:lpstr>QRCode</vt:lpstr>
      <vt:lpstr>Misc.</vt:lpstr>
      <vt:lpstr>Animation Packages</vt:lpstr>
      <vt:lpstr>QRCode</vt:lpstr>
      <vt:lpstr>Input validation</vt:lpstr>
      <vt:lpstr>Face Detection</vt:lpstr>
      <vt:lpstr>Web Crypto API</vt:lpstr>
      <vt:lpstr>Interaction with Other Language</vt:lpstr>
      <vt:lpstr>Call Python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754</cp:revision>
  <dcterms:created xsi:type="dcterms:W3CDTF">2019-08-08T10:14:00Z</dcterms:created>
  <dcterms:modified xsi:type="dcterms:W3CDTF">2025-10-09T04:18:25Z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9FDE10DEE5084F45A179D13EF46C847F</vt:lpwstr>
  </property>
</Properties>
</file>