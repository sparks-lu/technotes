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3"/>
    <p:sldId id="266" r:id="rId4"/>
    <p:sldId id="344" r:id="rId5"/>
    <p:sldId id="283" r:id="rId6"/>
    <p:sldId id="310" r:id="rId7"/>
    <p:sldId id="273" r:id="rId8"/>
    <p:sldId id="272" r:id="rId9"/>
    <p:sldId id="274" r:id="rId10"/>
    <p:sldId id="279" r:id="rId11"/>
    <p:sldId id="300" r:id="rId12"/>
    <p:sldId id="328" r:id="rId13"/>
    <p:sldId id="343" r:id="rId14"/>
    <p:sldId id="268" r:id="rId15"/>
    <p:sldId id="270" r:id="rId16"/>
    <p:sldId id="291" r:id="rId17"/>
    <p:sldId id="293" r:id="rId18"/>
    <p:sldId id="292" r:id="rId19"/>
    <p:sldId id="296" r:id="rId20"/>
    <p:sldId id="301" r:id="rId21"/>
    <p:sldId id="325" r:id="rId22"/>
    <p:sldId id="342" r:id="rId23"/>
    <p:sldId id="339" r:id="rId24"/>
    <p:sldId id="298" r:id="rId25"/>
    <p:sldId id="261" r:id="rId26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3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Node.js Notes</a:t>
            </a:r>
            <a:endParaRPr lang="en-US" altLang="zh-CN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695325"/>
          </a:xfrm>
        </p:spPr>
        <p:txBody>
          <a:bodyPr>
            <a:normAutofit fontScale="65000"/>
          </a:bodyPr>
          <a:p>
            <a:pPr algn="ctr"/>
            <a:r>
              <a:rPr lang="en-US" altLang="zh-CN" smtClean="0"/>
              <a:t>Sparks Lu</a:t>
            </a:r>
            <a:endParaRPr lang="en-US" altLang="zh-CN" smtClean="0"/>
          </a:p>
          <a:p>
            <a:pPr algn="ctr"/>
            <a:r>
              <a:rPr lang="en-US" altLang="zh-CN" smtClean="0"/>
              <a:t>Last updated: 6/3/2021</a:t>
            </a:r>
            <a:endParaRPr lang="en-US" altLang="zh-CN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z="2800">
                <a:sym typeface="+mn-ea"/>
              </a:rPr>
              <a:t>Overview</a:t>
            </a:r>
            <a:endParaRPr lang="en-US" altLang="zh-CN" sz="28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Runtime environment for executing JS code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Features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Asynchronous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node --version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node -p "process.arch"	// 32bit or 64bit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 sz="2000"/>
              <a:t>Global object</a:t>
            </a:r>
            <a:endParaRPr lang="en-US" altLang="zh-CN" sz="2000"/>
          </a:p>
          <a:p>
            <a:pPr lvl="1"/>
            <a:r>
              <a:rPr lang="en-US" altLang="zh-CN" sz="1800"/>
              <a:t>global, window, module, __filename, __dirname</a:t>
            </a:r>
            <a:endParaRPr lang="zh-CN" altLang="zh-CN" sz="1800"/>
          </a:p>
          <a:p>
            <a:pPr lvl="1"/>
            <a:r>
              <a:rPr lang="en-US" altLang="zh-CN" sz="1800"/>
              <a:t>require: load module</a:t>
            </a:r>
            <a:endParaRPr lang="en-US" altLang="zh-CN" sz="1800"/>
          </a:p>
          <a:p>
            <a:pPr lvl="1"/>
            <a:endParaRPr lang="en-US" altLang="zh-CN" sz="1800"/>
          </a:p>
        </p:txBody>
      </p:sp>
      <p:pic>
        <p:nvPicPr>
          <p:cNvPr id="4" name="图片 3" descr="job-postin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770" y="572770"/>
            <a:ext cx="4232275" cy="2954655"/>
          </a:xfrm>
          <a:prstGeom prst="rect">
            <a:avLst/>
          </a:prstGeom>
        </p:spPr>
      </p:pic>
      <p:pic>
        <p:nvPicPr>
          <p:cNvPr id="5" name="图片 4" descr="Untitl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315" y="4088130"/>
            <a:ext cx="5626100" cy="2635250"/>
          </a:xfrm>
          <a:prstGeom prst="rect">
            <a:avLst/>
          </a:prstGeom>
        </p:spPr>
      </p:pic>
      <p:pic>
        <p:nvPicPr>
          <p:cNvPr id="7" name="图片 6" descr="XRCpTL96SHSVAYjLeX6RW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05" y="4328795"/>
            <a:ext cx="4038600" cy="23945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Versions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578600" cy="4549140"/>
          </a:xfrm>
        </p:spPr>
        <p:txBody>
          <a:bodyPr/>
          <a:p>
            <a:r>
              <a:rPr lang="en-US" altLang="zh-CN"/>
              <a:t>v16</a:t>
            </a:r>
            <a:endParaRPr lang="en-US" altLang="zh-CN"/>
          </a:p>
          <a:p>
            <a:pPr lvl="1"/>
            <a:r>
              <a:rPr lang="en-US" altLang="zh-CN"/>
              <a:t>Node.js 16+ headers assume C++11/14 features like std::remove_cv_t (which requires GCC ≥ 5)</a:t>
            </a:r>
            <a:endParaRPr lang="en-US" altLang="zh-CN"/>
          </a:p>
          <a:p>
            <a:pPr lvl="2"/>
            <a:r>
              <a:rPr lang="en-US" altLang="zh-CN"/>
              <a:t>gcc --version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54320" cy="4549140"/>
          </a:xfrm>
        </p:spPr>
        <p:txBody>
          <a:bodyPr>
            <a:normAutofit lnSpcReduction="10000"/>
          </a:bodyPr>
          <a:p>
            <a:r>
              <a:rPr lang="en-US" altLang="zh-CN"/>
              <a:t>Linux install</a:t>
            </a:r>
            <a:endParaRPr lang="en-US" altLang="zh-CN"/>
          </a:p>
          <a:p>
            <a:pPr lvl="1"/>
            <a:r>
              <a:rPr lang="en-US" altLang="zh-CN"/>
              <a:t>curl -sL https://deb.nodesource.com/setup_16.x | sudo -E bash -</a:t>
            </a:r>
            <a:endParaRPr lang="en-US" altLang="zh-CN"/>
          </a:p>
          <a:p>
            <a:pPr lvl="1"/>
            <a:r>
              <a:rPr lang="en-US" altLang="zh-CN"/>
              <a:t>sudo apt-get install -y nodejs</a:t>
            </a:r>
            <a:endParaRPr lang="en-US" altLang="zh-CN"/>
          </a:p>
          <a:p>
            <a:pPr lvl="1"/>
            <a:r>
              <a:rPr lang="en-US" altLang="zh-CN"/>
              <a:t>npm install --global windows-build-tools</a:t>
            </a:r>
            <a:endParaRPr lang="en-US" altLang="zh-CN"/>
          </a:p>
          <a:p>
            <a:pPr lvl="0"/>
            <a:r>
              <a:rPr lang="en-US" altLang="zh-CN"/>
              <a:t>Windows install</a:t>
            </a:r>
            <a:endParaRPr lang="en-US" altLang="zh-CN"/>
          </a:p>
          <a:p>
            <a:pPr lvl="1"/>
            <a:r>
              <a:rPr lang="en-US" altLang="zh-CN"/>
              <a:t>download installer from https://nodejs.org/en/download</a:t>
            </a:r>
            <a:endParaRPr lang="en-US" altLang="zh-CN"/>
          </a:p>
          <a:p>
            <a:pPr lvl="2"/>
            <a:r>
              <a:rPr lang="en-US" altLang="zh-CN" sz="1800"/>
              <a:t>Python and VS tools need to be installed along with it</a:t>
            </a:r>
            <a:endParaRPr lang="en-US" altLang="zh-CN" sz="1800"/>
          </a:p>
          <a:p>
            <a:pPr lvl="0"/>
            <a:r>
              <a:rPr lang="en-US" altLang="zh-CN" sz="2400"/>
              <a:t>Install check</a:t>
            </a:r>
            <a:endParaRPr lang="en-US" altLang="zh-CN" sz="2400"/>
          </a:p>
          <a:p>
            <a:pPr lvl="1"/>
            <a:r>
              <a:rPr lang="en-US" altLang="zh-CN" sz="2000"/>
              <a:t>node -v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1545" y="1620520"/>
            <a:ext cx="5590540" cy="2912110"/>
          </a:xfrm>
          <a:prstGeom prst="rect">
            <a:avLst/>
          </a:prstGeom>
          <a:noFill/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NVM (Node.js Version Manager)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75985" cy="5036820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https://github.com/nvm-sh/nvm (Linux)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https://github.com/coreybutler/nvm-windows (Widnows)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Windows install</a:t>
            </a:r>
            <a:endParaRPr lang="en-US" altLang="zh-CN"/>
          </a:p>
          <a:p>
            <a:pPr lvl="1"/>
            <a:r>
              <a:rPr lang="en-US" altLang="zh-CN"/>
              <a:t>Download installers</a:t>
            </a:r>
            <a:endParaRPr lang="en-US" altLang="zh-CN"/>
          </a:p>
          <a:p>
            <a:pPr lvl="2"/>
            <a:r>
              <a:rPr lang="en-US" altLang="zh-CN"/>
              <a:t>https://github.com/coreybutler/nvm-windows/releases</a:t>
            </a:r>
            <a:endParaRPr lang="en-US" altLang="zh-CN"/>
          </a:p>
          <a:p>
            <a:pPr lvl="1"/>
            <a:r>
              <a:rPr lang="en-US" altLang="zh-CN"/>
              <a:t>backup %UserProfile%\.npmrc</a:t>
            </a:r>
            <a:endParaRPr lang="en-US" altLang="zh-CN"/>
          </a:p>
          <a:p>
            <a:pPr lvl="1"/>
            <a:r>
              <a:rPr lang="en-US" altLang="zh-CN"/>
              <a:t>delete %AppData%\npm</a:t>
            </a:r>
            <a:endParaRPr lang="en-US" altLang="zh-CN"/>
          </a:p>
          <a:p>
            <a:pPr lvl="0"/>
            <a:r>
              <a:rPr lang="en-US" altLang="zh-CN" sz="2400"/>
              <a:t>Linux install</a:t>
            </a:r>
            <a:endParaRPr lang="en-US" altLang="zh-CN" sz="2400"/>
          </a:p>
          <a:p>
            <a:pPr lvl="1"/>
            <a:r>
              <a:rPr lang="en-US" altLang="zh-CN"/>
              <a:t>curl -o- https://raw.githubusercontent.com/nvm-sh/nvm/v0.39.5/install.sh | bash</a:t>
            </a:r>
            <a:endParaRPr lang="en-US" altLang="zh-CN"/>
          </a:p>
          <a:p>
            <a:pPr lvl="1"/>
            <a:r>
              <a:rPr lang="en-US" altLang="zh-CN"/>
              <a:t>log out and log in again</a:t>
            </a:r>
            <a:endParaRPr lang="en-US" altLang="zh-CN"/>
          </a:p>
          <a:p>
            <a:pPr lvl="0"/>
            <a:r>
              <a:rPr lang="en-US" altLang="zh-CN" sz="2400"/>
              <a:t>Usage</a:t>
            </a:r>
            <a:endParaRPr lang="en-US" altLang="zh-CN" sz="2400"/>
          </a:p>
          <a:p>
            <a:pPr lvl="1"/>
            <a:r>
              <a:rPr lang="en-US" altLang="zh-CN" sz="2000"/>
              <a:t>nvm list</a:t>
            </a:r>
            <a:endParaRPr lang="en-US" altLang="zh-CN" sz="2000"/>
          </a:p>
          <a:p>
            <a:pPr lvl="1"/>
            <a:r>
              <a:rPr lang="en-US" altLang="zh-CN" sz="2000"/>
              <a:t>nvm list available	// list available node versions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nvm install {version} {arch}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arch: 32 or 64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nvm install 16.20.2 64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sz="2000"/>
              <a:t>nvm use {version}</a:t>
            </a:r>
            <a:endParaRPr lang="en-US" altLang="zh-CN" sz="2000"/>
          </a:p>
          <a:p>
            <a:pPr lvl="1"/>
            <a:r>
              <a:rPr lang="en-US" altLang="zh-CN" sz="2000"/>
              <a:t>nvm uninstall {version}</a:t>
            </a:r>
            <a:endParaRPr lang="en-US" altLang="zh-CN" sz="2000"/>
          </a:p>
          <a:p>
            <a:pPr lvl="1"/>
            <a:r>
              <a:rPr lang="en-US" altLang="zh-CN"/>
              <a:t>nvm alias default [ version_here] 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Full Stack Development</a:t>
            </a:r>
            <a:endParaRPr lang="en-US" altLang="zh-CN"/>
          </a:p>
        </p:txBody>
      </p:sp>
      <p:pic>
        <p:nvPicPr>
          <p:cNvPr id="6" name="图片 5" descr="Pros-and-Cons-of-Javascript-Full-Stack-Development-Full-Stack-Developer-Skills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0870" y="320040"/>
            <a:ext cx="3504565" cy="2393315"/>
          </a:xfrm>
          <a:prstGeom prst="rect">
            <a:avLst/>
          </a:prstGeom>
        </p:spPr>
      </p:pic>
      <p:sp>
        <p:nvSpPr>
          <p:cNvPr id="4" name="流程图: 可选过程 3"/>
          <p:cNvSpPr/>
          <p:nvPr/>
        </p:nvSpPr>
        <p:spPr>
          <a:xfrm>
            <a:off x="549275" y="5267960"/>
            <a:ext cx="278765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Linux</a:t>
            </a:r>
            <a:endParaRPr lang="en-US" altLang="zh-CN"/>
          </a:p>
        </p:txBody>
      </p:sp>
      <p:sp>
        <p:nvSpPr>
          <p:cNvPr id="5" name="流程图: 可选过程 4"/>
          <p:cNvSpPr/>
          <p:nvPr/>
        </p:nvSpPr>
        <p:spPr>
          <a:xfrm>
            <a:off x="539750" y="4524375"/>
            <a:ext cx="278765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Apache</a:t>
            </a:r>
            <a:endParaRPr lang="en-US" altLang="zh-CN"/>
          </a:p>
        </p:txBody>
      </p:sp>
      <p:sp>
        <p:nvSpPr>
          <p:cNvPr id="7" name="流程图: 可选过程 6"/>
          <p:cNvSpPr/>
          <p:nvPr/>
        </p:nvSpPr>
        <p:spPr>
          <a:xfrm>
            <a:off x="549275" y="3794760"/>
            <a:ext cx="1223645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PHP</a:t>
            </a:r>
            <a:endParaRPr lang="en-US" altLang="zh-CN"/>
          </a:p>
        </p:txBody>
      </p:sp>
      <p:sp>
        <p:nvSpPr>
          <p:cNvPr id="8" name="流程图: 可选过程 7"/>
          <p:cNvSpPr/>
          <p:nvPr/>
        </p:nvSpPr>
        <p:spPr>
          <a:xfrm>
            <a:off x="2047240" y="3804285"/>
            <a:ext cx="1223645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MySQL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226695" y="3256915"/>
            <a:ext cx="3413125" cy="284543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LAMP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4142105" y="5287010"/>
            <a:ext cx="278765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Node.js</a:t>
            </a:r>
            <a:endParaRPr lang="en-US" altLang="zh-CN"/>
          </a:p>
        </p:txBody>
      </p:sp>
      <p:sp>
        <p:nvSpPr>
          <p:cNvPr id="11" name="流程图: 可选过程 10"/>
          <p:cNvSpPr/>
          <p:nvPr/>
        </p:nvSpPr>
        <p:spPr>
          <a:xfrm>
            <a:off x="4132580" y="4543425"/>
            <a:ext cx="278765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AngularJS</a:t>
            </a:r>
            <a:endParaRPr lang="en-US" altLang="zh-CN"/>
          </a:p>
        </p:txBody>
      </p:sp>
      <p:sp>
        <p:nvSpPr>
          <p:cNvPr id="12" name="流程图: 可选过程 11"/>
          <p:cNvSpPr/>
          <p:nvPr/>
        </p:nvSpPr>
        <p:spPr>
          <a:xfrm>
            <a:off x="4142105" y="3813810"/>
            <a:ext cx="133858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Express</a:t>
            </a:r>
            <a:endParaRPr lang="en-US" altLang="zh-CN"/>
          </a:p>
        </p:txBody>
      </p:sp>
      <p:sp>
        <p:nvSpPr>
          <p:cNvPr id="13" name="流程图: 可选过程 12"/>
          <p:cNvSpPr/>
          <p:nvPr/>
        </p:nvSpPr>
        <p:spPr>
          <a:xfrm>
            <a:off x="5592445" y="3823335"/>
            <a:ext cx="127127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MongoDB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3819525" y="3257550"/>
            <a:ext cx="3413125" cy="28448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MEAN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5" name="流程图: 可选过程 14"/>
          <p:cNvSpPr/>
          <p:nvPr/>
        </p:nvSpPr>
        <p:spPr>
          <a:xfrm>
            <a:off x="7706360" y="5287010"/>
            <a:ext cx="278765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Python</a:t>
            </a:r>
            <a:endParaRPr lang="en-US" altLang="zh-CN"/>
          </a:p>
        </p:txBody>
      </p:sp>
      <p:sp>
        <p:nvSpPr>
          <p:cNvPr id="17" name="流程图: 可选过程 16"/>
          <p:cNvSpPr/>
          <p:nvPr/>
        </p:nvSpPr>
        <p:spPr>
          <a:xfrm>
            <a:off x="7706360" y="3813810"/>
            <a:ext cx="133858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Django</a:t>
            </a:r>
            <a:endParaRPr lang="en-US" altLang="zh-CN"/>
          </a:p>
        </p:txBody>
      </p:sp>
      <p:sp>
        <p:nvSpPr>
          <p:cNvPr id="18" name="流程图: 可选过程 17"/>
          <p:cNvSpPr/>
          <p:nvPr/>
        </p:nvSpPr>
        <p:spPr>
          <a:xfrm>
            <a:off x="9156700" y="3823335"/>
            <a:ext cx="1271270" cy="66357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MySQL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7383780" y="3257550"/>
            <a:ext cx="3413125" cy="28448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MEAN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Server</a:t>
            </a:r>
            <a:endParaRPr lang="en-US" altLang="zh-CN"/>
          </a:p>
          <a:p>
            <a:pPr lvl="1"/>
            <a:r>
              <a:rPr lang="en-US" altLang="zh-CN"/>
              <a:t>Express.js</a:t>
            </a:r>
            <a:endParaRPr lang="en-US" altLang="zh-CN"/>
          </a:p>
          <a:p>
            <a:pPr lvl="0"/>
            <a:r>
              <a:rPr lang="en-US" altLang="zh-CN"/>
              <a:t>Fontend</a:t>
            </a:r>
            <a:endParaRPr lang="en-US" altLang="zh-CN"/>
          </a:p>
          <a:p>
            <a:pPr lvl="1"/>
            <a:r>
              <a:rPr lang="en-US" altLang="zh-CN"/>
              <a:t>Angular.js</a:t>
            </a:r>
            <a:endParaRPr lang="en-US" altLang="zh-CN"/>
          </a:p>
          <a:p>
            <a:pPr lvl="0"/>
            <a:r>
              <a:rPr lang="en-US" altLang="zh-CN"/>
              <a:t>DB</a:t>
            </a:r>
            <a:endParaRPr lang="en-US" altLang="zh-CN"/>
          </a:p>
          <a:p>
            <a:pPr lvl="1"/>
            <a:r>
              <a:rPr lang="en-US" altLang="zh-CN"/>
              <a:t>MongoDB</a:t>
            </a:r>
            <a:endParaRPr lang="en-US" altLang="zh-CN"/>
          </a:p>
        </p:txBody>
      </p:sp>
      <p:pic>
        <p:nvPicPr>
          <p:cNvPr id="4" name="图片 3" descr="Full-Stack-J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885" y="1211580"/>
            <a:ext cx="6276975" cy="4707890"/>
          </a:xfrm>
          <a:prstGeom prst="rect">
            <a:avLst/>
          </a:prstGeom>
        </p:spPr>
      </p:pic>
      <p:pic>
        <p:nvPicPr>
          <p:cNvPr id="5" name="图片 4" descr="The-difference-between-the-monolithic-and-microservices-architecture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" y="3538855"/>
            <a:ext cx="3543935" cy="3114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Pros and Cons of Full-Stack JS Approach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Pros</a:t>
            </a:r>
            <a:endParaRPr lang="en-US" altLang="zh-CN"/>
          </a:p>
          <a:p>
            <a:pPr lvl="1"/>
            <a:r>
              <a:rPr lang="en-US" altLang="zh-CN"/>
              <a:t>Common language, better team efficiency with less resources</a:t>
            </a:r>
            <a:endParaRPr lang="en-US" altLang="zh-CN"/>
          </a:p>
          <a:p>
            <a:pPr lvl="1"/>
            <a:r>
              <a:rPr lang="en-US" altLang="zh-CN"/>
              <a:t>Extensive code reuse</a:t>
            </a:r>
            <a:endParaRPr lang="en-US" altLang="zh-CN"/>
          </a:p>
          <a:p>
            <a:pPr lvl="1"/>
            <a:r>
              <a:rPr lang="en-US" altLang="zh-CN"/>
              <a:t>High performance and speed</a:t>
            </a:r>
            <a:endParaRPr lang="en-US" altLang="zh-CN"/>
          </a:p>
          <a:p>
            <a:pPr lvl="1"/>
            <a:r>
              <a:rPr lang="en-US" altLang="zh-CN"/>
              <a:t>Huge talent pool</a:t>
            </a:r>
            <a:endParaRPr lang="en-US" altLang="zh-CN"/>
          </a:p>
          <a:p>
            <a:pPr lvl="1"/>
            <a:r>
              <a:rPr lang="en-US" altLang="zh-CN"/>
              <a:t>Extensive knowledge base</a:t>
            </a:r>
            <a:endParaRPr lang="en-US" altLang="zh-CN"/>
          </a:p>
          <a:p>
            <a:pPr lvl="1"/>
            <a:r>
              <a:rPr lang="en-US" altLang="zh-CN"/>
              <a:t>Free, open-source toolset</a:t>
            </a:r>
            <a:endParaRPr lang="en-US" altLang="zh-CN"/>
          </a:p>
          <a:p>
            <a:pPr lvl="0"/>
            <a:r>
              <a:rPr lang="en-US" altLang="zh-CN"/>
              <a:t>Cons</a:t>
            </a:r>
            <a:endParaRPr lang="en-US" altLang="zh-CN"/>
          </a:p>
          <a:p>
            <a:pPr lvl="1"/>
            <a:r>
              <a:rPr lang="en-US" altLang="zh-CN"/>
              <a:t>Insufficiency with computation-heavy backend</a:t>
            </a:r>
            <a:endParaRPr lang="en-US" altLang="zh-CN"/>
          </a:p>
          <a:p>
            <a:pPr lvl="1"/>
            <a:r>
              <a:rPr lang="en-US" altLang="zh-CN"/>
              <a:t>Relatively young technologies</a:t>
            </a:r>
            <a:endParaRPr lang="en-US" altLang="zh-CN"/>
          </a:p>
          <a:p>
            <a:pPr lvl="1"/>
            <a:r>
              <a:rPr lang="en-US" altLang="zh-CN"/>
              <a:t>Jack of all trade, master of none</a:t>
            </a:r>
            <a:endParaRPr lang="en-US" altLang="zh-CN"/>
          </a:p>
          <a:p>
            <a:pPr lvl="1"/>
            <a:r>
              <a:rPr lang="en-US" altLang="zh-CN"/>
              <a:t>Drawbacks of every separate tool in the stack combined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Package Management - npm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784725" cy="4755515"/>
          </a:xfrm>
        </p:spPr>
        <p:txBody>
          <a:bodyPr>
            <a:noAutofit/>
          </a:bodyPr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400"/>
              <a:t>https://docs.npmjs.com/common-errors</a:t>
            </a:r>
            <a:endParaRPr lang="en-US" altLang="zh-CN" sz="1400"/>
          </a:p>
          <a:p>
            <a:pPr lvl="0"/>
            <a:r>
              <a:rPr lang="en-US" altLang="zh-CN" sz="1800">
                <a:sym typeface="+mn-ea"/>
              </a:rPr>
              <a:t>Clean up packages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400">
                <a:sym typeface="+mn-ea"/>
              </a:rPr>
              <a:t>cnpm install depcheck -g</a:t>
            </a:r>
            <a:endParaRPr lang="en-US" altLang="zh-CN" sz="1400"/>
          </a:p>
          <a:p>
            <a:pPr lvl="1"/>
            <a:r>
              <a:rPr lang="en-US" altLang="zh-CN" sz="1400">
                <a:sym typeface="+mn-ea"/>
              </a:rPr>
              <a:t>depcheck</a:t>
            </a:r>
            <a:endParaRPr lang="en-US" altLang="zh-CN" sz="1400">
              <a:sym typeface="+mn-ea"/>
            </a:endParaRPr>
          </a:p>
          <a:p>
            <a:pPr lvl="0"/>
            <a:r>
              <a:rPr lang="en-US" altLang="zh-CN" sz="1800">
                <a:sym typeface="+mn-ea"/>
              </a:rPr>
              <a:t>npx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600"/>
              <a:t>Run a command from a local or remote</a:t>
            </a:r>
            <a:endParaRPr lang="en-US" altLang="zh-CN" sz="1600"/>
          </a:p>
          <a:p>
            <a:pPr lvl="1"/>
            <a:r>
              <a:rPr lang="zh-CN" altLang="en-US" sz="1600"/>
              <a:t>通过</a:t>
            </a:r>
            <a:r>
              <a:rPr lang="en-US" altLang="zh-CN" sz="1600"/>
              <a:t> npx</a:t>
            </a:r>
            <a:r>
              <a:rPr lang="zh-CN" altLang="en-US" sz="1600"/>
              <a:t>，可以避免将工具安装到全局环境中，从而减少潜在冲突和管理上的复杂性。</a:t>
            </a:r>
            <a:endParaRPr lang="zh-CN" altLang="en-US" sz="1600"/>
          </a:p>
          <a:p>
            <a:pPr lvl="1"/>
            <a:r>
              <a:rPr lang="en-US" altLang="zh-CN" sz="1600"/>
              <a:t>Logic</a:t>
            </a:r>
            <a:endParaRPr lang="en-US" altLang="zh-CN" sz="1600"/>
          </a:p>
          <a:p>
            <a:pPr lvl="2"/>
            <a:r>
              <a:rPr lang="zh-CN" altLang="en-US" sz="1400"/>
              <a:t>优先</a:t>
            </a:r>
            <a:r>
              <a:rPr lang="en-US" altLang="zh-CN" sz="1400"/>
              <a:t>node_modules/.bin </a:t>
            </a:r>
            <a:r>
              <a:rPr lang="zh-CN" altLang="en-US" sz="1400"/>
              <a:t>中找到的版本</a:t>
            </a:r>
            <a:endParaRPr lang="zh-CN" altLang="en-US" sz="1400"/>
          </a:p>
          <a:p>
            <a:pPr lvl="2"/>
            <a:r>
              <a:rPr lang="zh-CN" altLang="en-US" sz="1400"/>
              <a:t>如果没有找到，尝试从</a:t>
            </a:r>
            <a:r>
              <a:rPr lang="en-US" altLang="zh-CN" sz="1400"/>
              <a:t> npm </a:t>
            </a:r>
            <a:r>
              <a:rPr lang="zh-CN" altLang="en-US" sz="1400"/>
              <a:t>下载最新版本并执行。</a:t>
            </a:r>
            <a:endParaRPr lang="zh-CN" altLang="en-US" sz="1400"/>
          </a:p>
          <a:p>
            <a:pPr lvl="2"/>
            <a:r>
              <a:rPr lang="zh-CN" altLang="en-US" sz="1400"/>
              <a:t>默认情况下，</a:t>
            </a:r>
            <a:r>
              <a:rPr lang="en-US" altLang="zh-CN" sz="1400"/>
              <a:t>npx </a:t>
            </a:r>
            <a:r>
              <a:rPr lang="zh-CN" altLang="en-US" sz="1400"/>
              <a:t>不会在本地安装任何东西，除非明确指定了</a:t>
            </a:r>
            <a:r>
              <a:rPr lang="en-US" altLang="zh-CN" sz="1400"/>
              <a:t> --install </a:t>
            </a:r>
            <a:r>
              <a:rPr lang="zh-CN" altLang="en-US" sz="1400"/>
              <a:t>选项。</a:t>
            </a:r>
            <a:endParaRPr lang="zh-CN" altLang="en-US" sz="1400"/>
          </a:p>
          <a:p>
            <a:pPr lvl="1"/>
            <a:r>
              <a:rPr lang="en-US" altLang="zh-CN" sz="1600"/>
              <a:t>npm package</a:t>
            </a:r>
            <a:endParaRPr lang="en-US" altLang="zh-CN" sz="1600"/>
          </a:p>
          <a:p>
            <a:pPr lvl="1"/>
            <a:r>
              <a:rPr lang="en-US" altLang="zh-CN" sz="1600"/>
              <a:t>npx eslint .</a:t>
            </a:r>
            <a:endParaRPr lang="en-US" altLang="zh-CN" sz="1600"/>
          </a:p>
          <a:p>
            <a:pPr lvl="1"/>
            <a:r>
              <a:rPr lang="en-US" altLang="zh-CN" sz="1600"/>
              <a:t>npx @vue/cli create my-vue-app</a:t>
            </a:r>
            <a:endParaRPr lang="en-US" altLang="zh-CN" sz="1600"/>
          </a:p>
          <a:p>
            <a:pPr lvl="1"/>
            <a:r>
              <a:rPr lang="en-US" altLang="zh-CN" sz="1600"/>
              <a:t>npx create-react-app my-app</a:t>
            </a:r>
            <a:endParaRPr lang="en-US" altLang="zh-CN" sz="16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657340" y="1195070"/>
            <a:ext cx="5393690" cy="503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1800"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911215" y="1097915"/>
          <a:ext cx="5921375" cy="501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590"/>
                <a:gridCol w="3486785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Commnad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Explanation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1">
                          <a:sym typeface="+mn-ea"/>
                        </a:rPr>
                        <a:t>npm config list</a:t>
                      </a:r>
                      <a:endParaRPr lang="en-US" altLang="zh-CN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 b="1">
                          <a:sym typeface="+mn-ea"/>
                        </a:rPr>
                        <a:t>~/.npmrc,  ~/.npm/_logs/</a:t>
                      </a:r>
                      <a:endParaRPr lang="en-US" altLang="zh-CN" sz="1200" b="1"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 b="1">
                          <a:sym typeface="+mn-ea"/>
                        </a:rPr>
                        <a:t>npm config set registry http://registry.npm.taobao.org/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Set npm registry mirror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npm config get registry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Get npm registry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npm list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local installed packages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npm list -g 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global installed packages</a:t>
                      </a:r>
                      <a:endParaRPr lang="en-US" altLang="zh-CN" sz="1200"/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npm install &lt;package-name&gt;@version-number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Install a package</a:t>
                      </a:r>
                      <a:endParaRPr lang="en-US" altLang="zh-CN" sz="1200"/>
                    </a:p>
                    <a:p>
                      <a:pPr marL="0" lvl="1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-g  // global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-S  // install and save to package.json</a:t>
                      </a:r>
                      <a:endParaRPr lang="en-US" altLang="zh-CN" sz="1200"/>
                    </a:p>
                    <a:p>
                      <a:pPr>
                        <a:buNone/>
                      </a:pPr>
                      <a:r>
                        <a:rPr lang="en-US" altLang="zh-CN" sz="1200"/>
                        <a:t>--verbose // verbose output</a:t>
                      </a:r>
                      <a:endParaRPr lang="en-US" altLang="zh-CN" sz="1200"/>
                    </a:p>
                  </a:txBody>
                  <a:tcPr/>
                </a:tc>
              </a:tr>
              <a:tr h="276225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npm uninstall &lt;package-name&gt;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Uninstall a package</a:t>
                      </a: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 b="1">
                          <a:sym typeface="+mn-ea"/>
                        </a:rPr>
                        <a:t>npm view &lt;package-name&gt; versions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List available versions of a package</a:t>
                      </a:r>
                      <a:endParaRPr lang="en-US" altLang="zh-CN" sz="1200"/>
                    </a:p>
                  </a:txBody>
                  <a:tcPr/>
                </a:tc>
              </a:tr>
              <a:tr h="344805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npm search &lt;keyword&gt;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Search npm package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npm update &lt;package-name&gt;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npm update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Update all packages with newer minor version listed in package.json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npm cache clean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Clean npm cache</a:t>
                      </a:r>
                      <a:endParaRPr lang="en-US" altLang="zh-CN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npm outdated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List outdated packages</a:t>
                      </a:r>
                      <a:endParaRPr lang="en-US" altLang="zh-CN" sz="12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Package Management - yarn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63160" cy="5311140"/>
          </a:xfrm>
        </p:spPr>
        <p:txBody>
          <a:bodyPr>
            <a:normAutofit fontScale="70000"/>
          </a:bodyPr>
          <a:p>
            <a:pPr lvl="0"/>
            <a:r>
              <a:rPr lang="en-US" altLang="zh-CN" sz="2400">
                <a:sym typeface="+mn-ea"/>
              </a:rPr>
              <a:t>yarn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cnpm i -g yarn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yarn config list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~/.yarnrc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yarn config set registry http://registry.npm.taobao.org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yarn config set registry http://registry.yarnpkg.com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yarn install --verbose</a:t>
            </a:r>
            <a:endParaRPr lang="en-US" altLang="zh-CN"/>
          </a:p>
          <a:p>
            <a:pPr lvl="1"/>
            <a:r>
              <a:rPr lang="en-US" altLang="zh-CN"/>
              <a:t>yarn add &lt;package&gt;</a:t>
            </a:r>
            <a:endParaRPr lang="en-US" altLang="zh-CN"/>
          </a:p>
          <a:p>
            <a:pPr lvl="1"/>
            <a:r>
              <a:rPr lang="en-US" altLang="zh-CN"/>
              <a:t>yarn remove &lt;package&gt;</a:t>
            </a:r>
            <a:endParaRPr lang="en-US" altLang="zh-CN"/>
          </a:p>
          <a:p>
            <a:pPr lvl="1"/>
            <a:r>
              <a:rPr lang="en-US" altLang="zh-CN"/>
              <a:t>yarn list</a:t>
            </a:r>
            <a:endParaRPr lang="en-US" altLang="zh-CN"/>
          </a:p>
          <a:p>
            <a:pPr lvl="2"/>
            <a:r>
              <a:rPr lang="en-US" altLang="zh-CN"/>
              <a:t>list installed packages in tree style</a:t>
            </a:r>
            <a:endParaRPr lang="en-US" altLang="zh-CN"/>
          </a:p>
          <a:p>
            <a:pPr lvl="2"/>
            <a:r>
              <a:rPr lang="en-US" altLang="zh-CN"/>
              <a:t>yarn list --pattern jszip</a:t>
            </a:r>
            <a:endParaRPr lang="en-US" altLang="zh-CN"/>
          </a:p>
          <a:p>
            <a:pPr lvl="1"/>
            <a:r>
              <a:rPr lang="en-US" altLang="zh-CN"/>
              <a:t>yarn info &lt;package-name&gt; versions --json | jq '.data'</a:t>
            </a:r>
            <a:endParaRPr lang="en-US" altLang="zh-CN"/>
          </a:p>
          <a:p>
            <a:pPr lvl="2"/>
            <a:r>
              <a:rPr lang="en-US" altLang="zh-CN"/>
              <a:t>list all available versions for a package</a:t>
            </a:r>
            <a:endParaRPr lang="en-US" altLang="zh-CN"/>
          </a:p>
          <a:p>
            <a:pPr lvl="1"/>
            <a:r>
              <a:rPr lang="en-US" altLang="zh-CN"/>
              <a:t>package cache</a:t>
            </a:r>
            <a:endParaRPr lang="en-US" altLang="zh-CN"/>
          </a:p>
          <a:p>
            <a:pPr lvl="2"/>
            <a:r>
              <a:rPr lang="en-US" altLang="zh-CN"/>
              <a:t>~/.cache/yarn/</a:t>
            </a:r>
            <a:endParaRPr lang="en-US" altLang="zh-CN"/>
          </a:p>
          <a:p>
            <a:pPr lvl="2"/>
            <a:r>
              <a:rPr lang="en-US" altLang="zh-CN"/>
              <a:t>yarn cache dir</a:t>
            </a:r>
            <a:endParaRPr lang="en-US" altLang="zh-CN"/>
          </a:p>
          <a:p>
            <a:pPr lvl="2"/>
            <a:r>
              <a:rPr lang="en-US" altLang="zh-CN"/>
              <a:t>yarn cache list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yarn cache clean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Package Management - pnpm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54775" cy="4549140"/>
          </a:xfrm>
        </p:spPr>
        <p:txBody>
          <a:bodyPr>
            <a:normAutofit/>
          </a:bodyPr>
          <a:p>
            <a:r>
              <a:rPr lang="en-US" altLang="zh-CN" sz="1800"/>
              <a:t>Intro</a:t>
            </a:r>
            <a:endParaRPr lang="en-US" altLang="zh-CN" sz="1800"/>
          </a:p>
          <a:p>
            <a:pPr lvl="1"/>
            <a:r>
              <a:rPr lang="zh-CN" altLang="en-US" sz="1600"/>
              <a:t>https://github.com/pnpm/pnpm</a:t>
            </a:r>
            <a:endParaRPr lang="zh-CN" altLang="en-US" sz="1600"/>
          </a:p>
          <a:p>
            <a:pPr lvl="1" algn="l">
              <a:buClrTx/>
              <a:buSzTx/>
            </a:pPr>
            <a:r>
              <a:rPr lang="zh-CN" altLang="en-US" sz="1600"/>
              <a:t>node: '&gt;=18.12'</a:t>
            </a:r>
            <a:endParaRPr lang="zh-CN" altLang="en-US" sz="1600"/>
          </a:p>
          <a:p>
            <a:r>
              <a:rPr lang="en-US" altLang="zh-CN" sz="1800"/>
              <a:t>Install</a:t>
            </a:r>
            <a:endParaRPr lang="en-US" altLang="zh-CN" sz="1800"/>
          </a:p>
          <a:p>
            <a:pPr lvl="1"/>
            <a:r>
              <a:rPr lang="en-US" altLang="zh-CN" sz="1600"/>
              <a:t>Windows</a:t>
            </a:r>
            <a:endParaRPr lang="en-US" altLang="zh-CN" sz="1600"/>
          </a:p>
          <a:p>
            <a:pPr lvl="2"/>
            <a:r>
              <a:rPr lang="en-US" altLang="zh-CN" sz="1400"/>
              <a:t>Using PowerShell, iwr https://get.pnpm.io/install.ps1 -useb | iex</a:t>
            </a:r>
            <a:endParaRPr lang="en-US" altLang="zh-CN" sz="1400"/>
          </a:p>
          <a:p>
            <a:pPr lvl="1"/>
            <a:r>
              <a:rPr lang="en-US" altLang="zh-CN" sz="1600"/>
              <a:t>POSIX</a:t>
            </a:r>
            <a:endParaRPr lang="en-US" altLang="zh-CN" sz="1600"/>
          </a:p>
          <a:p>
            <a:pPr lvl="2"/>
            <a:r>
              <a:rPr lang="en-US" altLang="zh-CN" sz="1400"/>
              <a:t>curl -fsSL https://get.pnpm.io/install.sh | sh -</a:t>
            </a:r>
            <a:endParaRPr lang="en-US" altLang="zh-CN" sz="1400"/>
          </a:p>
          <a:p>
            <a:pPr lvl="1"/>
            <a:r>
              <a:rPr lang="en-US" altLang="zh-CN" sz="1600"/>
              <a:t>npm install -g pnpm</a:t>
            </a:r>
            <a:endParaRPr lang="en-US" altLang="zh-CN" sz="1600"/>
          </a:p>
          <a:p>
            <a:pPr lvl="0"/>
            <a:r>
              <a:rPr lang="en-US" altLang="zh-CN" sz="1800"/>
              <a:t>Usage</a:t>
            </a:r>
            <a:endParaRPr lang="en-US" altLang="zh-CN" sz="1800"/>
          </a:p>
          <a:p>
            <a:pPr lvl="1"/>
            <a:r>
              <a:rPr lang="en-US" altLang="zh-CN" sz="1600"/>
              <a:t>pnpm config get registry</a:t>
            </a:r>
            <a:endParaRPr lang="en-US" altLang="zh-CN" sz="1600"/>
          </a:p>
          <a:p>
            <a:pPr lvl="1"/>
            <a:r>
              <a:rPr lang="en-US" altLang="zh-CN" sz="1600"/>
              <a:t>pnpm config set registry https://registry.npmmirror.com/</a:t>
            </a:r>
            <a:endParaRPr lang="en-US" altLang="zh-CN" sz="1600"/>
          </a:p>
          <a:p>
            <a:pPr lvl="1"/>
            <a:r>
              <a:rPr lang="en-US" altLang="zh-CN" sz="1600"/>
              <a:t>pnpm install</a:t>
            </a:r>
            <a:endParaRPr lang="en-US" altLang="zh-CN" sz="1600"/>
          </a:p>
          <a:p>
            <a:pPr lvl="1"/>
            <a:r>
              <a:rPr lang="en-US" altLang="zh-CN" sz="1600"/>
              <a:t>pnpm approve-builds</a:t>
            </a:r>
            <a:endParaRPr lang="en-US" altLang="zh-CN" sz="1600"/>
          </a:p>
          <a:p>
            <a:pPr lvl="1"/>
            <a:r>
              <a:rPr lang="en-US" altLang="zh-CN" sz="1600"/>
              <a:t>pnpm add {package}</a:t>
            </a: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1275" y="1066165"/>
            <a:ext cx="4206240" cy="3040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Node.js Project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npm init</a:t>
            </a:r>
            <a:endParaRPr lang="en-US" altLang="zh-CN"/>
          </a:p>
          <a:p>
            <a:pPr lvl="1"/>
            <a:r>
              <a:rPr lang="en-US" altLang="zh-CN"/>
              <a:t>modify index.js</a:t>
            </a:r>
            <a:endParaRPr lang="en-US" altLang="zh-CN"/>
          </a:p>
          <a:p>
            <a:pPr lvl="1"/>
            <a:r>
              <a:rPr lang="en-US" altLang="zh-CN"/>
              <a:t>node index.js // run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Interface with C++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FFI (Foreign Function Interface)</a:t>
            </a:r>
            <a:endParaRPr lang="en-US" altLang="zh-CN"/>
          </a:p>
          <a:p>
            <a:pPr lvl="1"/>
            <a:r>
              <a:rPr lang="en-US" altLang="zh-CN"/>
              <a:t>node-ffi</a:t>
            </a:r>
            <a:endParaRPr lang="en-US" altLang="zh-CN"/>
          </a:p>
          <a:p>
            <a:pPr lvl="2"/>
            <a:r>
              <a:rPr lang="en-US" altLang="zh-CN"/>
              <a:t>Node.js add-on for loading and calling dynamic libraries using pure JS</a:t>
            </a:r>
            <a:endParaRPr lang="en-US" altLang="zh-CN"/>
          </a:p>
          <a:p>
            <a:pPr lvl="1"/>
            <a:r>
              <a:rPr lang="en-US" altLang="zh-CN"/>
              <a:t>https://github.com/node-ffi/node-ffi/wiki/Node-FFI-Tutorial</a:t>
            </a:r>
            <a:endParaRPr lang="en-US" altLang="zh-CN"/>
          </a:p>
          <a:p>
            <a:pPr lvl="0"/>
            <a:r>
              <a:rPr lang="en-US" altLang="zh-CN"/>
              <a:t>SWIG</a:t>
            </a:r>
            <a:endParaRPr lang="en-US" altLang="zh-CN"/>
          </a:p>
          <a:p>
            <a:pPr lvl="1"/>
            <a:r>
              <a:rPr lang="en-US" altLang="zh-CN"/>
              <a:t>Interface compiler that connects programs written in C/C++ with scripting languages such as JS, Python, etc.</a:t>
            </a:r>
            <a:endParaRPr lang="en-US" altLang="zh-CN"/>
          </a:p>
          <a:p>
            <a:pPr lvl="1"/>
            <a:r>
              <a:rPr lang="en-US" altLang="zh-CN"/>
              <a:t>http://www.swig.org/tutorial.html</a:t>
            </a:r>
            <a:endParaRPr lang="en-US" altLang="zh-CN"/>
          </a:p>
          <a:p>
            <a:pPr lvl="0"/>
            <a:r>
              <a:rPr lang="en-US" altLang="zh-CN"/>
              <a:t>Emscripten</a:t>
            </a:r>
            <a:endParaRPr lang="en-US" altLang="zh-CN"/>
          </a:p>
          <a:p>
            <a:pPr lvl="1"/>
            <a:r>
              <a:rPr lang="en-US" altLang="zh-CN"/>
              <a:t>Compile LLVM into JS</a:t>
            </a:r>
            <a:endParaRPr lang="en-US" altLang="zh-CN"/>
          </a:p>
          <a:p>
            <a:pPr lvl="1"/>
            <a:r>
              <a:rPr lang="en-US" altLang="zh-CN"/>
              <a:t>http://kripken.github.io/emscripten-site/docs/getting_started/index.html</a:t>
            </a:r>
            <a:endParaRPr lang="en-US" altLang="zh-CN"/>
          </a:p>
          <a:p>
            <a:pPr lvl="0"/>
            <a:r>
              <a:rPr lang="en-US" altLang="zh-CN"/>
              <a:t>nbind</a:t>
            </a:r>
            <a:endParaRPr lang="en-US" altLang="zh-CN"/>
          </a:p>
          <a:p>
            <a:pPr lvl="1"/>
            <a:r>
              <a:rPr lang="en-US" altLang="zh-CN"/>
              <a:t>https://github.com/charto/nbind</a:t>
            </a:r>
            <a:endParaRPr lang="en-US" altLang="zh-CN"/>
          </a:p>
        </p:txBody>
      </p:sp>
      <p:pic>
        <p:nvPicPr>
          <p:cNvPr id="4" name="图片 3" descr="EmscriptenToolch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2005" y="1905"/>
            <a:ext cx="3347085" cy="19869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node-opencv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</a:t>
            </a:r>
            <a:endParaRPr lang="en-US" altLang="zh-CN"/>
          </a:p>
          <a:p>
            <a:pPr lvl="1"/>
            <a:r>
              <a:rPr lang="en-US" altLang="zh-CN"/>
              <a:t>https://github.com/peterbraden/node-opencv</a:t>
            </a:r>
            <a:endParaRPr lang="en-US" altLang="zh-CN"/>
          </a:p>
          <a:p>
            <a:pPr lvl="1"/>
            <a:r>
              <a:rPr lang="en-US" altLang="zh-CN"/>
              <a:t>https://community.risingstack.com/opencv-tutorial-computer-vision-with-node-js/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Web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15025" cy="4549140"/>
          </a:xfrm>
        </p:spPr>
        <p:txBody>
          <a:bodyPr>
            <a:normAutofit lnSpcReduction="2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https://nodejs.org/en/docs/guides/nodejs-docker-webapp/</a:t>
            </a:r>
            <a:endParaRPr lang="en-US" altLang="zh-CN"/>
          </a:p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mkdir proj &amp; cd proj</a:t>
            </a:r>
            <a:endParaRPr lang="en-US" altLang="zh-CN"/>
          </a:p>
          <a:p>
            <a:pPr lvl="1"/>
            <a:r>
              <a:rPr lang="en-US" altLang="zh-CN"/>
              <a:t>cnpm init</a:t>
            </a:r>
            <a:endParaRPr lang="en-US" altLang="zh-CN"/>
          </a:p>
          <a:p>
            <a:pPr lvl="1"/>
            <a:r>
              <a:rPr lang="en-US" altLang="zh-CN"/>
              <a:t>create app.js</a:t>
            </a:r>
            <a:endParaRPr lang="en-US" altLang="zh-CN"/>
          </a:p>
          <a:p>
            <a:pPr lvl="1"/>
            <a:r>
              <a:rPr lang="en-US" altLang="zh-CN"/>
              <a:t>create package.json</a:t>
            </a:r>
            <a:endParaRPr lang="en-US" altLang="zh-CN"/>
          </a:p>
          <a:p>
            <a:pPr lvl="1"/>
            <a:r>
              <a:rPr lang="en-US" altLang="zh-CN"/>
              <a:t>run “node app.js”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80555" y="406400"/>
            <a:ext cx="4267200" cy="36309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 b="1"/>
              <a:t>server.js</a:t>
            </a:r>
            <a:endParaRPr lang="en-US" altLang="zh-CN" sz="1000" b="1"/>
          </a:p>
          <a:p>
            <a:endParaRPr lang="en-US" altLang="zh-CN" sz="1000"/>
          </a:p>
          <a:p>
            <a:r>
              <a:rPr lang="zh-CN" altLang="en-US" sz="1000"/>
              <a:t>const express = require("express");</a:t>
            </a:r>
            <a:endParaRPr lang="zh-CN" altLang="en-US" sz="1000"/>
          </a:p>
          <a:p>
            <a:r>
              <a:rPr lang="zh-CN" altLang="en-US" sz="1000"/>
              <a:t>const bodyParser = require("body-parser")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// New app using express module</a:t>
            </a:r>
            <a:endParaRPr lang="zh-CN" altLang="en-US" sz="1000"/>
          </a:p>
          <a:p>
            <a:r>
              <a:rPr lang="zh-CN" altLang="en-US" sz="1000"/>
              <a:t>const app = express();</a:t>
            </a:r>
            <a:endParaRPr lang="zh-CN" altLang="en-US" sz="1000"/>
          </a:p>
          <a:p>
            <a:r>
              <a:rPr lang="zh-CN" altLang="en-US" sz="1000"/>
              <a:t>app.use(bodyParser.urlencoded({</a:t>
            </a:r>
            <a:endParaRPr lang="zh-CN" altLang="en-US" sz="1000"/>
          </a:p>
          <a:p>
            <a:r>
              <a:rPr lang="zh-CN" altLang="en-US" sz="1000"/>
              <a:t>  extended:true</a:t>
            </a:r>
            <a:endParaRPr lang="zh-CN" altLang="en-US" sz="1000"/>
          </a:p>
          <a:p>
            <a:r>
              <a:rPr lang="zh-CN" altLang="en-US" sz="1000"/>
              <a:t>}));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app.get("/", function(req, res) {</a:t>
            </a:r>
            <a:endParaRPr lang="zh-CN" altLang="en-US" sz="1000"/>
          </a:p>
          <a:p>
            <a:r>
              <a:rPr lang="zh-CN" altLang="en-US" sz="1000"/>
              <a:t>  console.log('Received get request')</a:t>
            </a:r>
            <a:endParaRPr lang="zh-CN" altLang="en-US" sz="1000"/>
          </a:p>
          <a:p>
            <a:r>
              <a:rPr lang="zh-CN" altLang="en-US" sz="1000"/>
              <a:t>  res.send('Received get request')</a:t>
            </a:r>
            <a:endParaRPr lang="zh-CN" altLang="en-US" sz="1000"/>
          </a:p>
          <a:p>
            <a:r>
              <a:rPr lang="zh-CN" altLang="en-US" sz="1000"/>
              <a:t>});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app.post("/qrcode", function(req, res) {</a:t>
            </a:r>
            <a:endParaRPr lang="zh-CN" altLang="en-US" sz="1000"/>
          </a:p>
          <a:p>
            <a:r>
              <a:rPr lang="zh-CN" altLang="en-US" sz="1000"/>
              <a:t>  res.send("Received post request, body=", req.body);</a:t>
            </a:r>
            <a:endParaRPr lang="zh-CN" altLang="en-US" sz="1000"/>
          </a:p>
          <a:p>
            <a:r>
              <a:rPr lang="zh-CN" altLang="en-US" sz="1000"/>
              <a:t>});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app.listen(8080, function(){</a:t>
            </a:r>
            <a:endParaRPr lang="zh-CN" altLang="en-US" sz="1000"/>
          </a:p>
          <a:p>
            <a:r>
              <a:rPr lang="zh-CN" altLang="en-US" sz="1000"/>
              <a:t>  console.log("server is running on port 8080");</a:t>
            </a:r>
            <a:endParaRPr lang="zh-CN" altLang="en-US" sz="1000"/>
          </a:p>
          <a:p>
            <a:r>
              <a:rPr lang="zh-CN" altLang="en-US" sz="1000"/>
              <a:t>})</a:t>
            </a:r>
            <a:endParaRPr lang="zh-CN" altLang="en-US" sz="1000"/>
          </a:p>
        </p:txBody>
      </p:sp>
      <p:sp>
        <p:nvSpPr>
          <p:cNvPr id="6" name="文本框 5"/>
          <p:cNvSpPr txBox="1"/>
          <p:nvPr/>
        </p:nvSpPr>
        <p:spPr>
          <a:xfrm>
            <a:off x="6980555" y="4037330"/>
            <a:ext cx="4266565" cy="25533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 b="1"/>
              <a:t>package.json</a:t>
            </a:r>
            <a:endParaRPr lang="en-US" altLang="zh-CN" sz="1000" b="1"/>
          </a:p>
          <a:p>
            <a:endParaRPr lang="en-US" altLang="zh-CN" sz="1000"/>
          </a:p>
          <a:p>
            <a:r>
              <a:rPr lang="zh-CN" altLang="en-US" sz="1000"/>
              <a:t>{</a:t>
            </a:r>
            <a:endParaRPr lang="zh-CN" altLang="en-US" sz="1000"/>
          </a:p>
          <a:p>
            <a:r>
              <a:rPr lang="zh-CN" altLang="en-US" sz="1000"/>
              <a:t>  "name": "docker_web_app",</a:t>
            </a:r>
            <a:endParaRPr lang="zh-CN" altLang="en-US" sz="1000"/>
          </a:p>
          <a:p>
            <a:r>
              <a:rPr lang="zh-CN" altLang="en-US" sz="1000"/>
              <a:t>  "version": "1.0.0",</a:t>
            </a:r>
            <a:endParaRPr lang="zh-CN" altLang="en-US" sz="1000"/>
          </a:p>
          <a:p>
            <a:r>
              <a:rPr lang="zh-CN" altLang="en-US" sz="1000"/>
              <a:t>  "description": "Node.js on Docker",</a:t>
            </a:r>
            <a:endParaRPr lang="zh-CN" altLang="en-US" sz="1000"/>
          </a:p>
          <a:p>
            <a:r>
              <a:rPr lang="zh-CN" altLang="en-US" sz="1000"/>
              <a:t>  "author": "First Last &lt;first.last@example.com&gt;",</a:t>
            </a:r>
            <a:endParaRPr lang="zh-CN" altLang="en-US" sz="1000"/>
          </a:p>
          <a:p>
            <a:r>
              <a:rPr lang="zh-CN" altLang="en-US" sz="1000"/>
              <a:t>  "main": "server.js",</a:t>
            </a:r>
            <a:endParaRPr lang="zh-CN" altLang="en-US" sz="1000"/>
          </a:p>
          <a:p>
            <a:r>
              <a:rPr lang="zh-CN" altLang="en-US" sz="1000"/>
              <a:t>  "scripts": {</a:t>
            </a:r>
            <a:endParaRPr lang="zh-CN" altLang="en-US" sz="1000"/>
          </a:p>
          <a:p>
            <a:r>
              <a:rPr lang="zh-CN" altLang="en-US" sz="1000"/>
              <a:t>    "start": "node server.js"</a:t>
            </a:r>
            <a:endParaRPr lang="zh-CN" altLang="en-US" sz="1000"/>
          </a:p>
          <a:p>
            <a:r>
              <a:rPr lang="zh-CN" altLang="en-US" sz="1000"/>
              <a:t>  },</a:t>
            </a:r>
            <a:endParaRPr lang="zh-CN" altLang="en-US" sz="1000"/>
          </a:p>
          <a:p>
            <a:r>
              <a:rPr lang="zh-CN" altLang="en-US" sz="1000"/>
              <a:t>  "dependencies": {</a:t>
            </a:r>
            <a:endParaRPr lang="zh-CN" altLang="en-US" sz="1000"/>
          </a:p>
          <a:p>
            <a:r>
              <a:rPr lang="zh-CN" altLang="en-US" sz="1000"/>
              <a:t>    "express": "^4.16.1",</a:t>
            </a:r>
            <a:endParaRPr lang="zh-CN" altLang="en-US" sz="1000"/>
          </a:p>
          <a:p>
            <a:r>
              <a:rPr lang="zh-CN" altLang="en-US" sz="1000"/>
              <a:t>    "body-parser": "^1.19.1"</a:t>
            </a:r>
            <a:endParaRPr lang="zh-CN" altLang="en-US" sz="1000"/>
          </a:p>
          <a:p>
            <a:r>
              <a:rPr lang="zh-CN" altLang="en-US" sz="1000"/>
              <a:t>  }</a:t>
            </a:r>
            <a:endParaRPr lang="zh-CN" altLang="en-US" sz="1000"/>
          </a:p>
          <a:p>
            <a:r>
              <a:rPr lang="zh-CN" altLang="en-US" sz="1000"/>
              <a:t>}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 Server using Docker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00470" cy="4549140"/>
          </a:xfrm>
        </p:spPr>
        <p:txBody>
          <a:bodyPr/>
          <a:p>
            <a:pPr lvl="0"/>
            <a:r>
              <a:rPr lang="en-US" altLang="zh-CN" sz="2400">
                <a:sym typeface="+mn-ea"/>
              </a:rPr>
              <a:t>Docker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create Dockerfile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create server.js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run “docker build . -t node-web-app”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 sz="2400">
                <a:sym typeface="+mn-ea"/>
              </a:rPr>
              <a:t>run “docker run -p 8080:8080 -d node-web-app”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87895" y="1317625"/>
            <a:ext cx="4267200" cy="34766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 b="1"/>
              <a:t>Dockerfile</a:t>
            </a:r>
            <a:endParaRPr lang="en-US" altLang="zh-CN" sz="1000" b="1"/>
          </a:p>
          <a:p>
            <a:endParaRPr lang="en-US" altLang="zh-CN" sz="1000"/>
          </a:p>
          <a:p>
            <a:r>
              <a:rPr lang="en-US" altLang="zh-CN" sz="1000"/>
              <a:t>FROM node:16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 Create app directory</a:t>
            </a:r>
            <a:endParaRPr lang="en-US" altLang="zh-CN" sz="1000"/>
          </a:p>
          <a:p>
            <a:r>
              <a:rPr lang="en-US" altLang="zh-CN" sz="1000"/>
              <a:t>WORKDIR /usr/src/app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 Install app dependencies</a:t>
            </a:r>
            <a:endParaRPr lang="en-US" altLang="zh-CN" sz="1000"/>
          </a:p>
          <a:p>
            <a:r>
              <a:rPr lang="en-US" altLang="zh-CN" sz="1000"/>
              <a:t># A wildcard is used to ensure both package.json AND package-lock.json are copied</a:t>
            </a:r>
            <a:endParaRPr lang="en-US" altLang="zh-CN" sz="1000"/>
          </a:p>
          <a:p>
            <a:r>
              <a:rPr lang="en-US" altLang="zh-CN" sz="1000"/>
              <a:t># where available (npm@5+)</a:t>
            </a:r>
            <a:endParaRPr lang="en-US" altLang="zh-CN" sz="1000"/>
          </a:p>
          <a:p>
            <a:r>
              <a:rPr lang="en-US" altLang="zh-CN" sz="1000"/>
              <a:t>COPY package*.json ./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RUN npm install</a:t>
            </a:r>
            <a:endParaRPr lang="en-US" altLang="zh-CN" sz="1000"/>
          </a:p>
          <a:p>
            <a:r>
              <a:rPr lang="en-US" altLang="zh-CN" sz="1000"/>
              <a:t># If you are building your code for production</a:t>
            </a:r>
            <a:endParaRPr lang="en-US" altLang="zh-CN" sz="1000"/>
          </a:p>
          <a:p>
            <a:r>
              <a:rPr lang="en-US" altLang="zh-CN" sz="1000"/>
              <a:t># RUN npm ci --only=production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 Bundle app source</a:t>
            </a:r>
            <a:endParaRPr lang="en-US" altLang="zh-CN" sz="1000"/>
          </a:p>
          <a:p>
            <a:r>
              <a:rPr lang="en-US" altLang="zh-CN" sz="1000"/>
              <a:t>COPY . .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EXPOSE 8080</a:t>
            </a:r>
            <a:endParaRPr lang="en-US" altLang="zh-CN" sz="1000"/>
          </a:p>
          <a:p>
            <a:r>
              <a:rPr lang="en-US" altLang="zh-CN" sz="1000"/>
              <a:t>CMD [ "node", "server.js" ]</a:t>
            </a:r>
            <a:endParaRPr lang="en-US" altLang="zh-CN" sz="1000"/>
          </a:p>
        </p:txBody>
      </p:sp>
      <p:sp>
        <p:nvSpPr>
          <p:cNvPr id="4" name="文本框 3"/>
          <p:cNvSpPr txBox="1"/>
          <p:nvPr/>
        </p:nvSpPr>
        <p:spPr>
          <a:xfrm>
            <a:off x="7287895" y="5197475"/>
            <a:ext cx="2540000" cy="706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 b="1"/>
              <a:t>.dockerignore</a:t>
            </a:r>
            <a:endParaRPr lang="en-US" altLang="zh-CN" sz="1000" b="1"/>
          </a:p>
          <a:p>
            <a:endParaRPr lang="en-US" altLang="zh-CN" sz="1000"/>
          </a:p>
          <a:p>
            <a:r>
              <a:rPr lang="zh-CN" altLang="en-US" sz="1000"/>
              <a:t>node_modules</a:t>
            </a:r>
            <a:endParaRPr lang="zh-CN" altLang="en-US" sz="1000"/>
          </a:p>
          <a:p>
            <a:r>
              <a:rPr lang="zh-CN" altLang="en-US" sz="1000"/>
              <a:t>npm-debug.log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Express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95240" cy="4549140"/>
          </a:xfrm>
        </p:spPr>
        <p:txBody>
          <a:bodyPr/>
          <a:p>
            <a:r>
              <a:rPr lang="en-US" altLang="zh-CN"/>
              <a:t>Steps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767955" y="1167130"/>
            <a:ext cx="3677285" cy="45231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/* express的服务器 */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//1. 导入express</a:t>
            </a:r>
            <a:endParaRPr lang="zh-CN" altLang="en-US" sz="1200"/>
          </a:p>
          <a:p>
            <a:r>
              <a:rPr lang="zh-CN" altLang="en-US" sz="1200"/>
              <a:t>var express = require('express')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//2. 创建express服务器</a:t>
            </a:r>
            <a:endParaRPr lang="zh-CN" altLang="en-US" sz="1200"/>
          </a:p>
          <a:p>
            <a:r>
              <a:rPr lang="zh-CN" altLang="en-US" sz="1200"/>
              <a:t>var server = express()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//3. 访问服务器(get或者post)</a:t>
            </a:r>
            <a:endParaRPr lang="zh-CN" altLang="en-US" sz="1200"/>
          </a:p>
          <a:p>
            <a:r>
              <a:rPr lang="zh-CN" altLang="en-US" sz="1200"/>
              <a:t>//参数一: 请求根路径</a:t>
            </a:r>
            <a:endParaRPr lang="zh-CN" altLang="en-US" sz="1200"/>
          </a:p>
          <a:p>
            <a:r>
              <a:rPr lang="zh-CN" altLang="en-US" sz="1200"/>
              <a:t>//3.1 get请求</a:t>
            </a:r>
            <a:endParaRPr lang="zh-CN" altLang="en-US" sz="1200"/>
          </a:p>
          <a:p>
            <a:r>
              <a:rPr lang="zh-CN" altLang="en-US" sz="1200"/>
              <a:t>server.get('/', function (request, response) {</a:t>
            </a:r>
            <a:endParaRPr lang="zh-CN" altLang="en-US" sz="1200"/>
          </a:p>
          <a:p>
            <a:r>
              <a:rPr lang="zh-CN" altLang="en-US" sz="1200"/>
              <a:t>    // console.log(request)</a:t>
            </a:r>
            <a:endParaRPr lang="zh-CN" altLang="en-US" sz="1200"/>
          </a:p>
          <a:p>
            <a:r>
              <a:rPr lang="zh-CN" altLang="en-US" sz="1200"/>
              <a:t>    response.send('get请求成功')</a:t>
            </a:r>
            <a:endParaRPr lang="zh-CN" altLang="en-US" sz="1200"/>
          </a:p>
          <a:p>
            <a:r>
              <a:rPr lang="zh-CN" altLang="en-US" sz="1200"/>
              <a:t>})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//3.2 post请求</a:t>
            </a:r>
            <a:endParaRPr lang="zh-CN" altLang="en-US" sz="1200"/>
          </a:p>
          <a:p>
            <a:r>
              <a:rPr lang="zh-CN" altLang="en-US" sz="1200"/>
              <a:t>server.post('/', function (request, response) {</a:t>
            </a:r>
            <a:endParaRPr lang="zh-CN" altLang="en-US" sz="1200"/>
          </a:p>
          <a:p>
            <a:r>
              <a:rPr lang="zh-CN" altLang="en-US" sz="1200"/>
              <a:t>    response.send('post请求成功')</a:t>
            </a:r>
            <a:endParaRPr lang="zh-CN" altLang="en-US" sz="1200"/>
          </a:p>
          <a:p>
            <a:r>
              <a:rPr lang="zh-CN" altLang="en-US" sz="1200"/>
              <a:t>})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//4. 绑定端口</a:t>
            </a:r>
            <a:endParaRPr lang="zh-CN" altLang="en-US" sz="1200"/>
          </a:p>
          <a:p>
            <a:r>
              <a:rPr lang="zh-CN" altLang="en-US" sz="1200"/>
              <a:t>server.listen(4040)</a:t>
            </a:r>
            <a:endParaRPr lang="zh-CN" altLang="en-US" sz="1200"/>
          </a:p>
          <a:p>
            <a:r>
              <a:rPr lang="zh-CN" altLang="en-US" sz="1200"/>
              <a:t>console.log('启动4040')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Module Import and Export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https://www.freecodecamp.org/news/requiring-modules-in-node-js-everything-you-need-to-know-e7fbd119be8</a:t>
            </a:r>
            <a:endParaRPr lang="en-US" altLang="zh-CN"/>
          </a:p>
          <a:p>
            <a:pPr lvl="0"/>
            <a:r>
              <a:rPr lang="en-US" altLang="zh-CN"/>
              <a:t>require(‘module’)</a:t>
            </a:r>
            <a:endParaRPr lang="en-US" altLang="zh-CN"/>
          </a:p>
          <a:p>
            <a:pPr lvl="1"/>
            <a:r>
              <a:rPr lang="en-US" altLang="zh-CN"/>
              <a:t>steps: resolving, loading, wrapping, evaluating, caching</a:t>
            </a:r>
            <a:endParaRPr lang="en-US" altLang="zh-CN"/>
          </a:p>
          <a:p>
            <a:pPr lvl="1"/>
            <a:r>
              <a:rPr lang="en-US" altLang="zh-CN"/>
              <a:t>resolving</a:t>
            </a:r>
            <a:endParaRPr lang="en-US" altLang="zh-CN"/>
          </a:p>
          <a:p>
            <a:pPr lvl="2"/>
            <a:r>
              <a:rPr lang="en-US" altLang="zh-CN"/>
              <a:t>module.paths</a:t>
            </a:r>
            <a:endParaRPr lang="en-US" altLang="zh-CN"/>
          </a:p>
          <a:p>
            <a:pPr lvl="2"/>
            <a:r>
              <a:rPr lang="en-US" altLang="zh-CN"/>
              <a:t>index.js is used by default if require a folder</a:t>
            </a:r>
            <a:endParaRPr lang="en-US" altLang="zh-CN"/>
          </a:p>
          <a:p>
            <a:pPr lvl="2"/>
            <a:r>
              <a:rPr lang="en-US" altLang="zh-CN"/>
              <a:t>main property in package.json is used if require a folder</a:t>
            </a:r>
            <a:endParaRPr lang="en-US" altLang="zh-CN"/>
          </a:p>
          <a:p>
            <a:pPr lvl="1"/>
            <a:r>
              <a:rPr lang="en-US" altLang="zh-CN"/>
              <a:t>require.resolve</a:t>
            </a:r>
            <a:endParaRPr lang="en-US" altLang="zh-CN"/>
          </a:p>
          <a:p>
            <a:pPr lvl="2"/>
            <a:r>
              <a:rPr lang="en-US" altLang="zh-CN"/>
              <a:t>Only resolving, no other steps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Node-sass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614035" cy="4549140"/>
          </a:xfrm>
        </p:spPr>
        <p:txBody>
          <a:bodyPr/>
          <a:p>
            <a:pPr lvl="0"/>
            <a:r>
              <a:rPr lang="en-US" altLang="zh-CN" sz="2400">
                <a:sym typeface="+mn-ea"/>
              </a:rPr>
              <a:t>FAQ</a:t>
            </a:r>
            <a:endParaRPr lang="en-US" altLang="zh-CN" sz="2400"/>
          </a:p>
          <a:p>
            <a:pPr lvl="1"/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063740" y="851535"/>
            <a:ext cx="4488180" cy="55245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set DEBUG=*,-not_this</a:t>
            </a:r>
            <a:endParaRPr lang="zh-CN" altLang="en-US"/>
          </a:p>
          <a:p>
            <a:pPr lvl="1"/>
            <a:r>
              <a:rPr lang="en-US" altLang="zh-CN"/>
              <a:t>set DEBUG= to turn off debug output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Printer - printer module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7800" cy="4549140"/>
          </a:xfrm>
        </p:spPr>
        <p:txBody>
          <a:bodyPr>
            <a:normAutofit lnSpcReduction="10000"/>
          </a:bodyPr>
          <a:p>
            <a:pPr lvl="0"/>
            <a:r>
              <a:rPr lang="en-US" altLang="zh-CN" sz="2000">
                <a:sym typeface="+mn-ea"/>
              </a:rPr>
              <a:t>Install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npm install printer --legacy-peer-deps</a:t>
            </a:r>
            <a:endParaRPr lang="en-US" altLang="zh-CN" sz="2000"/>
          </a:p>
          <a:p>
            <a:pPr lvl="1"/>
            <a:r>
              <a:rPr lang="en-US" altLang="zh-CN" sz="2000"/>
              <a:t>sudo npm i -g node-gyp</a:t>
            </a:r>
            <a:endParaRPr lang="en-US" altLang="zh-CN" sz="2000"/>
          </a:p>
          <a:p>
            <a:pPr lvl="1"/>
            <a:r>
              <a:rPr lang="en-US" altLang="zh-CN" sz="2000"/>
              <a:t>sudo apt install -y libcups2-dev</a:t>
            </a:r>
            <a:endParaRPr lang="en-US" altLang="zh-CN" sz="2000"/>
          </a:p>
          <a:p>
            <a:pPr lvl="1"/>
            <a:r>
              <a:rPr lang="en-US" altLang="zh-CN" sz="2000"/>
              <a:t>npm i -D electron-rebuild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cd node_modules/printer &amp;&amp; </a:t>
            </a:r>
            <a:r>
              <a:rPr lang="en-US" altLang="zh-CN" sz="2000">
                <a:sym typeface="+mn-ea"/>
              </a:rPr>
              <a:t>node-gyp rebuild --arch=arm64 &amp;&amp; cd ../..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/>
              <a:t>node_modules/.bin/electron-rebuild</a:t>
            </a:r>
            <a:endParaRPr lang="en-US" altLang="zh-CN" sz="2000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const printer = require('printer')</a:t>
            </a:r>
            <a:endParaRPr lang="en-US" altLang="zh-CN"/>
          </a:p>
          <a:p>
            <a:pPr lvl="1"/>
            <a:r>
              <a:rPr lang="en-US" altLang="zh-CN"/>
              <a:t>printer.getPrinters()</a:t>
            </a:r>
            <a:endParaRPr lang="en-US" altLang="zh-CN"/>
          </a:p>
          <a:p>
            <a:pPr lvl="1"/>
            <a:r>
              <a:rPr lang="en-US" altLang="zh-CN"/>
              <a:t>printer.printDirect(options)</a:t>
            </a:r>
            <a:endParaRPr lang="en-US" altLang="zh-CN"/>
          </a:p>
          <a:p>
            <a:pPr lvl="1"/>
            <a:r>
              <a:rPr lang="en-US" altLang="zh-CN"/>
              <a:t>printer.printFile(options)</a:t>
            </a:r>
            <a:endParaRPr lang="en-US" altLang="zh-CN"/>
          </a:p>
          <a:p>
            <a:pPr lvl="1"/>
            <a:r>
              <a:rPr lang="en-US" altLang="zh-CN"/>
              <a:t>printer.getSupportedPrintFormats()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880225" y="1483995"/>
            <a:ext cx="4502150" cy="31381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printer.printFile({filename:filename,</a:t>
            </a:r>
            <a:endParaRPr lang="zh-CN" altLang="en-US"/>
          </a:p>
          <a:p>
            <a:r>
              <a:rPr lang="zh-CN" altLang="en-US"/>
              <a:t>    printer: process.env[3], // printer name, if missing then will print to default printer</a:t>
            </a:r>
            <a:endParaRPr lang="zh-CN" altLang="en-US"/>
          </a:p>
          <a:p>
            <a:r>
              <a:rPr lang="zh-CN" altLang="en-US"/>
              <a:t>    success:function(jobID){</a:t>
            </a:r>
            <a:endParaRPr lang="zh-CN" altLang="en-US"/>
          </a:p>
          <a:p>
            <a:r>
              <a:rPr lang="zh-CN" altLang="en-US"/>
              <a:t>      console.log("sent to printer with ID: "+jobID);</a:t>
            </a:r>
            <a:endParaRPr lang="zh-CN" altLang="en-US"/>
          </a:p>
          <a:p>
            <a:r>
              <a:rPr lang="zh-CN" altLang="en-US"/>
              <a:t>    },</a:t>
            </a:r>
            <a:endParaRPr lang="zh-CN" altLang="en-US"/>
          </a:p>
          <a:p>
            <a:r>
              <a:rPr lang="zh-CN" altLang="en-US"/>
              <a:t>    error:function(err){</a:t>
            </a:r>
            <a:endParaRPr lang="zh-CN" altLang="en-US"/>
          </a:p>
          <a:p>
            <a:r>
              <a:rPr lang="zh-CN" altLang="en-US"/>
              <a:t>      console.log(err);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});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808345" cy="5200015"/>
          </a:xfrm>
        </p:spPr>
        <p:txBody>
          <a:bodyPr>
            <a:normAutofit fontScale="8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https://github.com/tojocky/node-printer</a:t>
            </a:r>
            <a:endParaRPr lang="en-US" altLang="zh-CN"/>
          </a:p>
          <a:p>
            <a:pPr lvl="1"/>
            <a:r>
              <a:rPr lang="en-US" altLang="zh-CN"/>
              <a:t>https://marketsplash.com/tutorials/all/node-js-printing/</a:t>
            </a:r>
            <a:endParaRPr lang="en-US" altLang="zh-CN"/>
          </a:p>
          <a:p>
            <a:pPr lvl="1"/>
            <a:r>
              <a:rPr lang="en-US" altLang="zh-CN"/>
              <a:t>https://github.com/watson/ipp-printer</a:t>
            </a:r>
            <a:endParaRPr lang="en-US" altLang="zh-CN"/>
          </a:p>
          <a:p>
            <a:pPr lvl="1"/>
            <a:r>
              <a:rPr lang="en-US" altLang="zh-CN"/>
              <a:t>https://github.com/southlondonmakerspace/photo-printer</a:t>
            </a:r>
            <a:endParaRPr lang="en-US" altLang="zh-CN"/>
          </a:p>
          <a:p>
            <a:pPr lvl="0"/>
            <a:r>
              <a:rPr lang="en-US" altLang="zh-CN"/>
              <a:t>pdfkit</a:t>
            </a:r>
            <a:endParaRPr lang="en-US" altLang="zh-CN"/>
          </a:p>
          <a:p>
            <a:pPr lvl="1"/>
            <a:r>
              <a:rPr lang="en-US" altLang="zh-CN" sz="2000"/>
              <a:t>yarn add pdfkit</a:t>
            </a:r>
            <a:endParaRPr lang="en-US" altLang="zh-CN"/>
          </a:p>
          <a:p>
            <a:pPr lvl="0"/>
            <a:r>
              <a:rPr lang="en-US" altLang="zh-CN"/>
              <a:t>node-printer</a:t>
            </a:r>
            <a:endParaRPr lang="en-US" altLang="zh-CN"/>
          </a:p>
          <a:p>
            <a:pPr lvl="1"/>
            <a:r>
              <a:rPr lang="en-US" altLang="zh-CN"/>
              <a:t>yarn add node-printer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const printer = require('node-printer');</a:t>
            </a:r>
            <a:endParaRPr lang="zh-CN" altLang="en-US"/>
          </a:p>
          <a:p>
            <a:pPr lvl="1"/>
            <a:r>
              <a:rPr lang="en-US" altLang="zh-CN"/>
              <a:t>const printers = printer.list()</a:t>
            </a:r>
            <a:endParaRPr lang="en-US" altLang="zh-CN"/>
          </a:p>
          <a:p>
            <a:pPr lvl="1"/>
            <a:r>
              <a:rPr lang="en-US" altLang="zh-CN"/>
              <a:t>printer.setDefault(‘Printer_Name’)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const job=printer.print(‘filename’, options)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const jobInfo = printer.getJob('Printer_Name', job.id);</a:t>
            </a:r>
            <a:endParaRPr lang="en-US" altLang="zh-CN"/>
          </a:p>
          <a:p>
            <a:pPr lvl="0"/>
            <a:r>
              <a:rPr lang="en-US" altLang="zh-CN"/>
              <a:t>ipp-printer</a:t>
            </a:r>
            <a:endParaRPr lang="en-US" altLang="zh-CN"/>
          </a:p>
          <a:p>
            <a:pPr lvl="1"/>
            <a:r>
              <a:rPr lang="en-US" altLang="zh-CN"/>
              <a:t>yarn add ipp-printer</a:t>
            </a:r>
            <a:endParaRPr lang="en-US" altLang="zh-CN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904038" y="914717"/>
            <a:ext cx="2102485" cy="4792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9265285" y="1052830"/>
            <a:ext cx="2653030" cy="15995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const PDFDocument = require('pdfkit');</a:t>
            </a:r>
            <a:endParaRPr lang="zh-CN" altLang="en-US" sz="1400"/>
          </a:p>
          <a:p>
            <a:r>
              <a:rPr lang="zh-CN" altLang="en-US" sz="1400"/>
              <a:t>let doc = new PDFDocument();</a:t>
            </a:r>
            <a:endParaRPr lang="zh-CN" altLang="en-US" sz="1400"/>
          </a:p>
          <a:p>
            <a:r>
              <a:rPr lang="zh-CN" altLang="en-US" sz="1400"/>
              <a:t>doc.text('Hello from Node.js!');</a:t>
            </a:r>
            <a:endParaRPr lang="zh-CN" altLang="en-US" sz="1400"/>
          </a:p>
          <a:p>
            <a:r>
              <a:rPr lang="zh-CN" altLang="en-US" sz="1400"/>
              <a:t>doc.pipe(fs.createWriteStream('output.pdf'));</a:t>
            </a:r>
            <a:endParaRPr lang="zh-CN" altLang="en-US" sz="1400"/>
          </a:p>
          <a:p>
            <a:r>
              <a:rPr lang="zh-CN" altLang="en-US" sz="1400"/>
              <a:t>doc.end();</a:t>
            </a:r>
            <a:endParaRPr lang="zh-CN" altLang="en-US" sz="1400"/>
          </a:p>
        </p:txBody>
      </p:sp>
      <p:sp>
        <p:nvSpPr>
          <p:cNvPr id="8" name="文本框 7"/>
          <p:cNvSpPr txBox="1"/>
          <p:nvPr/>
        </p:nvSpPr>
        <p:spPr>
          <a:xfrm>
            <a:off x="9264650" y="2853055"/>
            <a:ext cx="2653030" cy="18148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const printer = require('node-printer');</a:t>
            </a:r>
            <a:endParaRPr lang="zh-CN" altLang="en-US" sz="1400"/>
          </a:p>
          <a:p>
            <a:r>
              <a:rPr lang="zh-CN" altLang="en-US" sz="1400"/>
              <a:t>const options = {</a:t>
            </a:r>
            <a:endParaRPr lang="zh-CN" altLang="en-US" sz="1400"/>
          </a:p>
          <a:p>
            <a:r>
              <a:rPr lang="zh-CN" altLang="en-US" sz="1400"/>
              <a:t>  media: 'A4',</a:t>
            </a:r>
            <a:endParaRPr lang="zh-CN" altLang="en-US" sz="1400"/>
          </a:p>
          <a:p>
            <a:r>
              <a:rPr lang="zh-CN" altLang="en-US" sz="1400"/>
              <a:t>  n: 1</a:t>
            </a:r>
            <a:endParaRPr lang="zh-CN" altLang="en-US" sz="1400"/>
          </a:p>
          <a:p>
            <a:r>
              <a:rPr lang="zh-CN" altLang="en-US" sz="1400"/>
              <a:t>};</a:t>
            </a:r>
            <a:endParaRPr lang="zh-CN" altLang="en-US" sz="1400"/>
          </a:p>
          <a:p>
            <a:r>
              <a:rPr lang="zh-CN" altLang="en-US" sz="1400"/>
              <a:t>printer.print('path-to-file.txt', options);</a:t>
            </a:r>
            <a:endParaRPr lang="zh-CN" altLang="en-US" sz="1400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37910" cy="4549140"/>
          </a:xfrm>
        </p:spPr>
        <p:txBody>
          <a:bodyPr>
            <a:normAutofit fontScale="90000" lnSpcReduction="20000"/>
          </a:bodyPr>
          <a:p>
            <a:r>
              <a:rPr lang="en-US" altLang="zh-CN"/>
              <a:t>Error</a:t>
            </a:r>
            <a:endParaRPr lang="en-US" altLang="zh-CN"/>
          </a:p>
          <a:p>
            <a:pPr lvl="1"/>
            <a:r>
              <a:rPr lang="en-US" altLang="zh-CN"/>
              <a:t>issue: node/v8-internal.h:492:38: error: ‘remove_cv_t’ is not a member of ‘std’</a:t>
            </a:r>
            <a:endParaRPr lang="en-US" altLang="zh-CN"/>
          </a:p>
          <a:p>
            <a:pPr lvl="2"/>
            <a:r>
              <a:rPr lang="en-US" altLang="zh-CN"/>
              <a:t>CXXFLAGS="-std=c++17" npm i</a:t>
            </a:r>
            <a:endParaRPr lang="en-US" altLang="zh-CN"/>
          </a:p>
          <a:p>
            <a:pPr lvl="1"/>
            <a:r>
              <a:rPr lang="en-US" altLang="zh-CN"/>
              <a:t>issue: unable to verify the first certificate</a:t>
            </a:r>
            <a:endParaRPr lang="en-US" altLang="zh-CN"/>
          </a:p>
          <a:p>
            <a:pPr lvl="2"/>
            <a:r>
              <a:rPr lang="en-US" altLang="zh-CN"/>
              <a:t>change registry = "https://registry.npm.taobao.org/" into “</a:t>
            </a:r>
            <a:r>
              <a:rPr lang="en-US" altLang="zh-CN">
                <a:sym typeface="+mn-ea"/>
              </a:rPr>
              <a:t>http://registry.npm.taobao.org/”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issue: After upgrade nodejs, npm run build may fail with message like “Node Sass does not yet support your current environment:”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run “npm rebuild node-sass”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/>
              <a:t>npm common errors</a:t>
            </a:r>
            <a:endParaRPr lang="en-US" altLang="zh-CN"/>
          </a:p>
          <a:p>
            <a:pPr lvl="1"/>
            <a:r>
              <a:rPr lang="en-US" altLang="zh-CN"/>
              <a:t>https://docs.npmjs.com/common-errors/</a:t>
            </a:r>
            <a:endParaRPr lang="en-US" altLang="zh-CN"/>
          </a:p>
          <a:p>
            <a:pPr lvl="0"/>
            <a:r>
              <a:rPr lang="en-US" altLang="zh-CN"/>
              <a:t>sharp</a:t>
            </a:r>
            <a:endParaRPr lang="en-US" altLang="zh-CN"/>
          </a:p>
          <a:p>
            <a:pPr lvl="1"/>
            <a:r>
              <a:rPr lang="en-US" altLang="zh-CN"/>
              <a:t>https://www.cnblogs.com/sugartang/p/17296559.html</a:t>
            </a:r>
            <a:endParaRPr lang="en-US" altLang="zh-CN"/>
          </a:p>
          <a:p>
            <a:pPr lvl="1"/>
            <a:r>
              <a:rPr lang="en-US" altLang="zh-CN"/>
              <a:t>create .yarnrc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934325" y="1320800"/>
            <a:ext cx="3199130" cy="39693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registry "https://registry.npm.taobao.org"</a:t>
            </a:r>
            <a:endParaRPr lang="zh-CN" altLang="en-US" sz="1200"/>
          </a:p>
          <a:p>
            <a:r>
              <a:rPr lang="zh-CN" altLang="en-US" sz="1200"/>
              <a:t>sass_binary_site "https://npm.taobao.org/mirrors/node-sass/"</a:t>
            </a:r>
            <a:endParaRPr lang="zh-CN" altLang="en-US" sz="1200"/>
          </a:p>
          <a:p>
            <a:r>
              <a:rPr lang="zh-CN" altLang="en-US" sz="1200"/>
              <a:t>phantomjs_cdnurl "http://cnpmjs.org/downloads"</a:t>
            </a:r>
            <a:endParaRPr lang="zh-CN" altLang="en-US" sz="1200"/>
          </a:p>
          <a:p>
            <a:r>
              <a:rPr lang="zh-CN" altLang="en-US" sz="1200"/>
              <a:t>electron_mirror "https://npm.taobao.org/mirrors/electron/"</a:t>
            </a:r>
            <a:endParaRPr lang="zh-CN" altLang="en-US" sz="1200"/>
          </a:p>
          <a:p>
            <a:r>
              <a:rPr lang="zh-CN" altLang="en-US" sz="1200"/>
              <a:t>sqlite3_binary_host_mirror "https://foxgis.oss-cn-shanghai.aliyuncs.com/"</a:t>
            </a:r>
            <a:endParaRPr lang="zh-CN" altLang="en-US" sz="1200"/>
          </a:p>
          <a:p>
            <a:r>
              <a:rPr lang="zh-CN" altLang="en-US" sz="1200"/>
              <a:t>profiler_binary_host_mirror "https://npm.taobao.org/mirrors/node-inspector/"</a:t>
            </a:r>
            <a:endParaRPr lang="zh-CN" altLang="en-US" sz="1200"/>
          </a:p>
          <a:p>
            <a:r>
              <a:rPr lang="zh-CN" altLang="en-US" sz="1200"/>
              <a:t>chromedriver_cdnurl "https://cdn.npm.taobao.org/dist/chromedriver"</a:t>
            </a:r>
            <a:endParaRPr lang="zh-CN" altLang="en-US" sz="1200"/>
          </a:p>
          <a:p>
            <a:r>
              <a:rPr lang="zh-CN" altLang="en-US" sz="1200"/>
              <a:t>sharp_binary_host "https://npm.taobao.org/mirrors/sharp"</a:t>
            </a:r>
            <a:endParaRPr lang="zh-CN" altLang="en-US" sz="1200"/>
          </a:p>
          <a:p>
            <a:r>
              <a:rPr lang="zh-CN" altLang="en-US" sz="1200"/>
              <a:t>sharp_libvips_binary_host "https://npm.taobao.org/mirrors/sharp-libvips"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mtClean="0"/>
              <a:t>THANKS</a:t>
            </a:r>
            <a:endParaRPr lang="en-US" altLang="zh-CN" smtClean="0"/>
          </a:p>
        </p:txBody>
      </p:sp>
      <p:sp>
        <p:nvSpPr>
          <p:cNvPr id="3" name="文本占位符 2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谢谢聆听</a:t>
            </a:r>
            <a:endParaRPr lang="zh-CN" altLang="en-US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TABLE_ENDDRAG_ORIGIN_RECT" val="466*309"/>
  <p:tag name="TABLE_ENDDRAG_RECT" val="465*86*466*309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28*a*1"/>
  <p:tag name="KSO_WM_UNIT_CLEAR" val="1"/>
  <p:tag name="KSO_WM_UNIT_LAYERLEVEL" val="1"/>
  <p:tag name="KSO_WM_UNIT_VALUE" val="6"/>
  <p:tag name="KSO_WM_UNIT_ISCONTENTSTITLE" val="0"/>
  <p:tag name="KSO_WM_UNIT_HIGHLIGHT" val="0"/>
  <p:tag name="KSO_WM_UNIT_COMPATIBLE" val="0"/>
  <p:tag name="KSO_WM_UNIT_PRESET_TEXT" val="THANKS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28*b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" val="谢谢聆听"/>
</p:tagLst>
</file>

<file path=ppt/tags/tag32.xml><?xml version="1.0" encoding="utf-8"?>
<p:tagLst xmlns:p="http://schemas.openxmlformats.org/presentationml/2006/main">
  <p:tag name="KSO_WM_TEMPLATE_CATEGORY" val="custom"/>
  <p:tag name="KSO_WM_TEMPLATE_INDEX" val="160402"/>
  <p:tag name="KSO_WM_TAG_VERSION" val="1.0"/>
  <p:tag name="KSO_WM_SLIDE_ID" val="custom160402_28"/>
  <p:tag name="KSO_WM_SLIDE_INDEX" val="28"/>
  <p:tag name="KSO_WM_SLIDE_ITEM_CNT" val="1"/>
  <p:tag name="KSO_WM_SLIDE_LAYOUT" val="b_a"/>
  <p:tag name="KSO_WM_SLIDE_LAYOUT_CNT" val="1_1"/>
  <p:tag name="KSO_WM_SLIDE_TYPE" val="endPage"/>
  <p:tag name="KSO_WM_BEAUTIFY_FLAG" val="#wm#"/>
</p:tagLst>
</file>

<file path=ppt/tags/tag33.xml><?xml version="1.0" encoding="utf-8"?>
<p:tagLst xmlns:p="http://schemas.openxmlformats.org/presentationml/2006/main">
  <p:tag name="COMMONDATA" val="eyJoZGlkIjoiYjRhZjQ5NWVmZmQxNmM3NmNkNDYxNWRmNzNmMjA1ZDAifQ=="/>
  <p:tag name="KSO_WPP_MARK_KEY" val="e2cf5ec0-0f92-446a-9169-3346f0c164cb"/>
  <p:tag name="commondata" val="eyJoZGlkIjoiYjk5ODM0YmMxOWJiYWQyNDU4MGIzYWRmYTA0ZmI5NDcifQ==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9206</Words>
  <Application>WPS 演示</Application>
  <PresentationFormat>宽屏</PresentationFormat>
  <Paragraphs>485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1_A000120140530A02PPBG</vt:lpstr>
      <vt:lpstr>Node.js Notes</vt:lpstr>
      <vt:lpstr>Overview</vt:lpstr>
      <vt:lpstr>Versions</vt:lpstr>
      <vt:lpstr>Install</vt:lpstr>
      <vt:lpstr>NVM (Node.js Version Manager)</vt:lpstr>
      <vt:lpstr>Full Stack Development</vt:lpstr>
      <vt:lpstr>Web</vt:lpstr>
      <vt:lpstr>Pros and Cons of Full-Stack JS Approach</vt:lpstr>
      <vt:lpstr>Package Management - npm</vt:lpstr>
      <vt:lpstr>Package Management - yarn</vt:lpstr>
      <vt:lpstr>Package Management - pnpm</vt:lpstr>
      <vt:lpstr>Node.js Project</vt:lpstr>
      <vt:lpstr>Interface with C++</vt:lpstr>
      <vt:lpstr>node-opencv</vt:lpstr>
      <vt:lpstr>Set Up Web Server</vt:lpstr>
      <vt:lpstr>Web Server using Docker</vt:lpstr>
      <vt:lpstr>Express</vt:lpstr>
      <vt:lpstr>Module Import and Export</vt:lpstr>
      <vt:lpstr>Node-sass</vt:lpstr>
      <vt:lpstr>Debug</vt:lpstr>
      <vt:lpstr>Printer - printer module</vt:lpstr>
      <vt:lpstr>Printing</vt:lpstr>
      <vt:lpstr>FAQ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339</cp:revision>
  <dcterms:created xsi:type="dcterms:W3CDTF">2018-09-25T02:24:00Z</dcterms:created>
  <dcterms:modified xsi:type="dcterms:W3CDTF">2026-06-14T05:14:48Z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2FE8C128EBA944DCA79F09816B226446</vt:lpwstr>
  </property>
</Properties>
</file>