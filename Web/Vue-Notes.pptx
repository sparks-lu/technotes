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70"/>
  </p:handoutMasterIdLst>
  <p:sldIdLst>
    <p:sldId id="256" r:id="rId3"/>
    <p:sldId id="393" r:id="rId4"/>
    <p:sldId id="467" r:id="rId5"/>
    <p:sldId id="266" r:id="rId6"/>
    <p:sldId id="264" r:id="rId7"/>
    <p:sldId id="281" r:id="rId8"/>
    <p:sldId id="330" r:id="rId9"/>
    <p:sldId id="632" r:id="rId10"/>
    <p:sldId id="273" r:id="rId11"/>
    <p:sldId id="260" r:id="rId12"/>
    <p:sldId id="274" r:id="rId14"/>
    <p:sldId id="349" r:id="rId15"/>
    <p:sldId id="316" r:id="rId16"/>
    <p:sldId id="270" r:id="rId17"/>
    <p:sldId id="278" r:id="rId18"/>
    <p:sldId id="290" r:id="rId19"/>
    <p:sldId id="296" r:id="rId20"/>
    <p:sldId id="294" r:id="rId21"/>
    <p:sldId id="366" r:id="rId22"/>
    <p:sldId id="302" r:id="rId23"/>
    <p:sldId id="367" r:id="rId24"/>
    <p:sldId id="378" r:id="rId25"/>
    <p:sldId id="280" r:id="rId26"/>
    <p:sldId id="282" r:id="rId27"/>
    <p:sldId id="631" r:id="rId28"/>
    <p:sldId id="307" r:id="rId29"/>
    <p:sldId id="314" r:id="rId30"/>
    <p:sldId id="575" r:id="rId31"/>
    <p:sldId id="576" r:id="rId32"/>
    <p:sldId id="577" r:id="rId33"/>
    <p:sldId id="578" r:id="rId34"/>
    <p:sldId id="579" r:id="rId35"/>
    <p:sldId id="574" r:id="rId36"/>
    <p:sldId id="461" r:id="rId37"/>
    <p:sldId id="459" r:id="rId38"/>
    <p:sldId id="432" r:id="rId39"/>
    <p:sldId id="460" r:id="rId40"/>
    <p:sldId id="347" r:id="rId41"/>
    <p:sldId id="445" r:id="rId42"/>
    <p:sldId id="431" r:id="rId43"/>
    <p:sldId id="446" r:id="rId44"/>
    <p:sldId id="513" r:id="rId45"/>
    <p:sldId id="458" r:id="rId46"/>
    <p:sldId id="394" r:id="rId47"/>
    <p:sldId id="398" r:id="rId48"/>
    <p:sldId id="395" r:id="rId49"/>
    <p:sldId id="396" r:id="rId50"/>
    <p:sldId id="397" r:id="rId51"/>
    <p:sldId id="425" r:id="rId52"/>
    <p:sldId id="465" r:id="rId53"/>
    <p:sldId id="423" r:id="rId54"/>
    <p:sldId id="606" r:id="rId55"/>
    <p:sldId id="607" r:id="rId56"/>
    <p:sldId id="618" r:id="rId57"/>
    <p:sldId id="608" r:id="rId58"/>
    <p:sldId id="610" r:id="rId59"/>
    <p:sldId id="628" r:id="rId60"/>
    <p:sldId id="428" r:id="rId61"/>
    <p:sldId id="429" r:id="rId62"/>
    <p:sldId id="462" r:id="rId63"/>
    <p:sldId id="514" r:id="rId64"/>
    <p:sldId id="604" r:id="rId65"/>
    <p:sldId id="609" r:id="rId66"/>
    <p:sldId id="629" r:id="rId67"/>
    <p:sldId id="630" r:id="rId68"/>
    <p:sldId id="263" r:id="rId69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4" Type="http://schemas.openxmlformats.org/officeDocument/2006/relationships/tags" Target="tags/tag68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EB29AC-4239-42C2-AF7F-021E0FF5BD0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smtClean="0"/>
              <a:t>Vue Notes</a:t>
            </a:r>
            <a:endParaRPr lang="en-US" altLang="zh-CN" smtClean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770255"/>
          </a:xfrm>
        </p:spPr>
        <p:txBody>
          <a:bodyPr>
            <a:normAutofit fontScale="85000" lnSpcReduction="10000"/>
          </a:bodyPr>
          <a:p>
            <a:pPr algn="ctr"/>
            <a:r>
              <a:rPr lang="en-US" altLang="zh-CN" smtClean="0"/>
              <a:t>Sparks Lu</a:t>
            </a:r>
            <a:endParaRPr lang="en-US" altLang="zh-CN" smtClean="0"/>
          </a:p>
          <a:p>
            <a:pPr algn="ctr"/>
            <a:r>
              <a:rPr lang="en-US" altLang="zh-CN" smtClean="0"/>
              <a:t>Last updated: 2/22/2022</a:t>
            </a:r>
            <a:endParaRPr lang="en-US" altLang="en-US" smtClean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https://juejin.cn/post/6901466994478940168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Progressive JS framework that focuses on building UI</a:t>
            </a:r>
            <a:endParaRPr lang="en-US" altLang="zh-CN"/>
          </a:p>
          <a:p>
            <a:pPr lvl="1"/>
            <a:r>
              <a:rPr lang="en-US" altLang="zh-CN"/>
              <a:t>React</a:t>
            </a:r>
            <a:endParaRPr lang="en-US" altLang="zh-CN"/>
          </a:p>
          <a:p>
            <a:pPr lvl="1"/>
            <a:r>
              <a:rPr lang="en-US" altLang="zh-CN"/>
              <a:t>AngularJS</a:t>
            </a:r>
            <a:endParaRPr lang="en-US" altLang="zh-CN"/>
          </a:p>
          <a:p>
            <a:pPr lvl="0"/>
            <a:r>
              <a:rPr lang="en-US" altLang="zh-CN"/>
              <a:t>Versions</a:t>
            </a:r>
            <a:endParaRPr lang="en-US" altLang="zh-CN"/>
          </a:p>
          <a:p>
            <a:pPr lvl="1"/>
            <a:r>
              <a:rPr lang="en-US" altLang="zh-CN"/>
              <a:t>Vue 3 vs. Vue 2</a:t>
            </a:r>
            <a:endParaRPr lang="en-US" altLang="zh-CN"/>
          </a:p>
          <a:p>
            <a:pPr lvl="2"/>
            <a:r>
              <a:rPr lang="en-US" altLang="zh-CN"/>
              <a:t>composition API</a:t>
            </a:r>
            <a:endParaRPr lang="en-US" altLang="zh-CN"/>
          </a:p>
          <a:p>
            <a:pPr lvl="2"/>
            <a:r>
              <a:rPr lang="en-US" altLang="zh-CN"/>
              <a:t>much better performance</a:t>
            </a:r>
            <a:endParaRPr lang="en-US" altLang="zh-CN"/>
          </a:p>
          <a:p>
            <a:pPr lvl="2"/>
            <a:r>
              <a:rPr lang="en-US" altLang="zh-CN"/>
              <a:t>better typescript support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445250" cy="5353685"/>
          </a:xfrm>
        </p:spPr>
        <p:txBody>
          <a:bodyPr>
            <a:normAutofit fontScale="90000" lnSpcReduction="10000"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665"/>
              <a:t>https://github.com/vuejs/create-vue</a:t>
            </a:r>
            <a:endParaRPr lang="en-US" altLang="zh-CN" sz="1665"/>
          </a:p>
          <a:p>
            <a:r>
              <a:rPr lang="en-US" altLang="zh-CN" sz="2000"/>
              <a:t>Methods</a:t>
            </a:r>
            <a:endParaRPr lang="en-US" altLang="zh-CN" sz="2000"/>
          </a:p>
          <a:p>
            <a:pPr lvl="1"/>
            <a:r>
              <a:rPr lang="en-US" altLang="zh-CN" sz="1800"/>
              <a:t>Include the &lt;script&gt; tag in the html file (cdnjs)</a:t>
            </a:r>
            <a:endParaRPr lang="en-US" altLang="zh-CN" sz="1800"/>
          </a:p>
          <a:p>
            <a:pPr lvl="1"/>
            <a:r>
              <a:rPr lang="en-US" altLang="zh-CN" sz="1800"/>
              <a:t>Install Node.js</a:t>
            </a:r>
            <a:endParaRPr lang="en-US" altLang="zh-CN" sz="1800"/>
          </a:p>
          <a:p>
            <a:pPr lvl="2"/>
            <a:r>
              <a:rPr lang="en-US" altLang="en-US" sz="1600"/>
              <a:t>sudo apt i</a:t>
            </a:r>
            <a:r>
              <a:rPr lang="en-US" altLang="zh-CN" sz="1600"/>
              <a:t>nstall </a:t>
            </a:r>
            <a:r>
              <a:rPr lang="en-US" altLang="en-US" sz="1600"/>
              <a:t>n</a:t>
            </a:r>
            <a:r>
              <a:rPr lang="en-US" altLang="zh-CN" sz="1600"/>
              <a:t>odejs </a:t>
            </a:r>
            <a:r>
              <a:rPr lang="en-US" altLang="en-US" sz="1600"/>
              <a:t>npm</a:t>
            </a:r>
            <a:endParaRPr lang="en-US" altLang="en-US" sz="1600"/>
          </a:p>
          <a:p>
            <a:pPr lvl="2"/>
            <a:r>
              <a:rPr lang="en-US" altLang="en-US" sz="1600"/>
              <a:t>nodejs -v</a:t>
            </a:r>
            <a:endParaRPr lang="en-US" altLang="en-US" sz="1600"/>
          </a:p>
          <a:p>
            <a:pPr lvl="1"/>
            <a:r>
              <a:rPr lang="en-US" altLang="en-US" sz="1775"/>
              <a:t>Use create-vue tool (based on Vite)</a:t>
            </a:r>
            <a:endParaRPr lang="en-US" altLang="en-US" sz="1775"/>
          </a:p>
          <a:p>
            <a:pPr lvl="2"/>
            <a:r>
              <a:rPr lang="en-US" altLang="en-US" sz="1595"/>
              <a:t>npm create vue@latest</a:t>
            </a:r>
            <a:endParaRPr lang="en-US" altLang="en-US" sz="1595"/>
          </a:p>
          <a:p>
            <a:pPr lvl="1"/>
            <a:r>
              <a:rPr lang="en-US" altLang="zh-CN" sz="1800">
                <a:solidFill>
                  <a:schemeClr val="bg1">
                    <a:lumMod val="65000"/>
                  </a:schemeClr>
                </a:solidFill>
              </a:rPr>
              <a:t>Use the vue-cli tool along with Webpack</a:t>
            </a:r>
            <a:endParaRPr lang="en-US" altLang="zh-CN" sz="18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https://cli.vuejs.org/</a:t>
            </a:r>
            <a:endParaRPr lang="en-US" altLang="en-US" sz="16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sudo c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npm install -g </a:t>
            </a:r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@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vue</a:t>
            </a:r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cli	// Install vue-cli globally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vue --version</a:t>
            </a:r>
            <a:endParaRPr lang="en-US" altLang="en-US" sz="16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vue init webpack myapp</a:t>
            </a:r>
            <a:endParaRPr lang="en-US" altLang="en-US" sz="16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en-US" sz="1600">
                <a:solidFill>
                  <a:schemeClr val="bg1">
                    <a:lumMod val="65000"/>
                  </a:schemeClr>
                </a:solidFill>
              </a:rPr>
              <a:t>npm run dev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  <a:p>
            <a:pPr lvl="2"/>
            <a:r>
              <a:rPr lang="en-US" altLang="zh-CN" sz="1600">
                <a:solidFill>
                  <a:schemeClr val="bg1">
                    <a:lumMod val="65000"/>
                  </a:schemeClr>
                </a:solidFill>
              </a:rPr>
              <a:t>npm run build // Build application to production</a:t>
            </a:r>
            <a:endParaRPr lang="en-US" altLang="zh-CN" sz="160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en-US" altLang="zh-CN" sz="1800">
                <a:solidFill>
                  <a:schemeClr val="bg1">
                    <a:lumMod val="65000"/>
                  </a:schemeClr>
                </a:solidFill>
              </a:rPr>
              <a:t>Install using the client-side package manager</a:t>
            </a:r>
            <a:endParaRPr lang="en-US" altLang="zh-CN" sz="1800">
              <a:solidFill>
                <a:schemeClr val="bg1">
                  <a:lumMod val="65000"/>
                </a:schemeClr>
              </a:solidFill>
            </a:endParaRPr>
          </a:p>
          <a:p>
            <a:pPr lvl="0"/>
            <a:r>
              <a:rPr lang="en-US" altLang="en-US" sz="2000"/>
              <a:t>Vim Support</a:t>
            </a:r>
            <a:endParaRPr lang="en-US" altLang="en-US" sz="2000"/>
          </a:p>
          <a:p>
            <a:pPr lvl="1"/>
            <a:r>
              <a:rPr lang="en-US" altLang="en-US" sz="1800"/>
              <a:t>https://github.com/posva/vim-vue</a:t>
            </a:r>
            <a:endParaRPr lang="en-US" altLang="en-US" sz="1800"/>
          </a:p>
          <a:p>
            <a:pPr lvl="1"/>
            <a:r>
              <a:rPr lang="en-US" altLang="en-US" sz="1800"/>
              <a:t>Vundle: Plugin 'posva/vim-vue'</a:t>
            </a:r>
            <a:endParaRPr lang="en-US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Config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940425" cy="4549140"/>
          </a:xfrm>
        </p:spPr>
        <p:txBody>
          <a:bodyPr/>
          <a:p>
            <a:r>
              <a:rPr lang="en-US" altLang="zh-CN"/>
              <a:t>vue ui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62140" y="1721485"/>
            <a:ext cx="4784725" cy="3415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Drop console when release:</a:t>
            </a:r>
            <a:endParaRPr lang="en-US" altLang="zh-CN"/>
          </a:p>
          <a:p>
            <a:r>
              <a:rPr lang="en-US" altLang="zh-CN"/>
              <a:t>build/webpack.prod.conf.js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	new UglifyJsPlugin({</a:t>
            </a:r>
            <a:endParaRPr lang="en-US" altLang="zh-CN"/>
          </a:p>
          <a:p>
            <a:r>
              <a:rPr lang="en-US" altLang="zh-CN"/>
              <a:t>  		uglifyOptions: {</a:t>
            </a:r>
            <a:endParaRPr lang="en-US" altLang="zh-CN"/>
          </a:p>
          <a:p>
            <a:r>
              <a:rPr lang="en-US" altLang="zh-CN"/>
              <a:t>    	compress: {</a:t>
            </a:r>
            <a:endParaRPr lang="en-US" altLang="zh-CN"/>
          </a:p>
          <a:p>
            <a:r>
              <a:rPr lang="en-US" altLang="zh-CN"/>
              <a:t>      	warnings: false,</a:t>
            </a:r>
            <a:endParaRPr lang="en-US" altLang="zh-CN"/>
          </a:p>
          <a:p>
            <a:r>
              <a:rPr lang="en-US" altLang="zh-CN"/>
              <a:t>      	drop_debugger: true, </a:t>
            </a:r>
            <a:endParaRPr lang="en-US" altLang="zh-CN"/>
          </a:p>
          <a:p>
            <a:r>
              <a:rPr lang="en-US" altLang="zh-CN"/>
              <a:t>      	drop_console: true // 打包之后关闭console.log</a:t>
            </a:r>
            <a:endParaRPr lang="en-US" altLang="zh-CN"/>
          </a:p>
          <a:p>
            <a:r>
              <a:rPr lang="en-US" altLang="zh-CN"/>
              <a:t>   	 }</a:t>
            </a:r>
            <a:endParaRPr lang="en-US" altLang="zh-CN"/>
          </a:p>
          <a:p>
            <a:r>
              <a:rPr lang="en-US" altLang="zh-CN"/>
              <a:t>  	},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zh-CN"/>
              <a:t>npm run dev</a:t>
            </a:r>
            <a:endParaRPr lang="en-US" altLang="zh-CN"/>
          </a:p>
          <a:p>
            <a:r>
              <a:rPr lang="en-US" altLang="zh-CN"/>
              <a:t>webpack.prod.conf.js</a:t>
            </a:r>
            <a:endParaRPr lang="en-US" altLang="zh-CN"/>
          </a:p>
          <a:p>
            <a:pPr lvl="1"/>
            <a:r>
              <a:rPr lang="en-US" altLang="zh-CN" sz="2000"/>
              <a:t>drop_debugger</a:t>
            </a:r>
            <a:endParaRPr lang="en-US" altLang="zh-CN" sz="2000"/>
          </a:p>
          <a:p>
            <a:pPr lvl="1"/>
            <a:r>
              <a:rPr lang="en-US" altLang="zh-CN" sz="2000"/>
              <a:t>drop_console</a:t>
            </a:r>
            <a:endParaRPr lang="en-US" altLang="zh-CN"/>
          </a:p>
          <a:p>
            <a:r>
              <a:rPr lang="en-US" altLang="zh-CN"/>
              <a:t>Vue-devtools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Install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git clone </a:t>
            </a:r>
            <a:r>
              <a:rPr lang="zh-CN" altLang="en-US">
                <a:sym typeface="+mn-ea"/>
              </a:rPr>
              <a:t>https://github.com/vuejs/vue-devtools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cd vue-devtools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cnpm install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npm run build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open chrome://extensions/ in Chrome</a:t>
            </a:r>
            <a:endParaRPr lang="en-US" altLang="zh-CN"/>
          </a:p>
          <a:p>
            <a:pPr lvl="2"/>
            <a:r>
              <a:rPr lang="zh-CN" altLang="en-US">
                <a:sym typeface="+mn-ea"/>
              </a:rPr>
              <a:t>打开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开发者模式</a:t>
            </a:r>
            <a:r>
              <a:rPr lang="en-US" altLang="zh-CN">
                <a:sym typeface="+mn-ea"/>
              </a:rPr>
              <a:t>”</a:t>
            </a:r>
            <a:endParaRPr lang="en-US" altLang="zh-CN"/>
          </a:p>
          <a:p>
            <a:pPr lvl="2"/>
            <a:r>
              <a:rPr lang="en-US" altLang="zh-CN">
                <a:sym typeface="+mn-ea"/>
              </a:rPr>
              <a:t>Select vue-devtools/shells/chrome folder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Use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Open vue debug page (localhost:8080)</a:t>
            </a:r>
            <a:endParaRPr lang="en-US" altLang="zh-CN" sz="1800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F12, Vue tab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1170" y="3914775"/>
            <a:ext cx="1704975" cy="390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Vue3 + Vite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23535" cy="5343525"/>
          </a:xfrm>
        </p:spPr>
        <p:txBody>
          <a:bodyPr>
            <a:normAutofit fontScale="80000"/>
          </a:bodyPr>
          <a:p>
            <a:r>
              <a:rPr lang="en-US" altLang="zh-CN"/>
              <a:t>drop console</a:t>
            </a:r>
            <a:endParaRPr lang="en-US" altLang="zh-CN"/>
          </a:p>
          <a:p>
            <a:pPr lvl="1"/>
            <a:r>
              <a:rPr lang="en-US" altLang="zh-CN"/>
              <a:t>terser</a:t>
            </a:r>
            <a:endParaRPr lang="en-US" altLang="zh-CN"/>
          </a:p>
          <a:p>
            <a:pPr lvl="2"/>
            <a:r>
              <a:rPr lang="en-US" altLang="zh-CN"/>
              <a:t>pnpm add terser -D</a:t>
            </a:r>
            <a:endParaRPr lang="en-US" altLang="zh-CN"/>
          </a:p>
          <a:p>
            <a:pPr lvl="0"/>
            <a:r>
              <a:rPr lang="en-US" altLang="zh-CN"/>
              <a:t>minifiers</a:t>
            </a:r>
            <a:endParaRPr lang="en-US" altLang="zh-CN"/>
          </a:p>
          <a:p>
            <a:pPr lvl="1"/>
            <a:r>
              <a:rPr lang="en-US" altLang="zh-CN"/>
              <a:t>esbuild</a:t>
            </a:r>
            <a:endParaRPr lang="en-US" altLang="zh-CN"/>
          </a:p>
          <a:p>
            <a:pPr lvl="2"/>
            <a:r>
              <a:rPr lang="en-US" altLang="zh-CN"/>
              <a:t>default, fast, but fewer options</a:t>
            </a:r>
            <a:endParaRPr lang="en-US" altLang="zh-CN"/>
          </a:p>
          <a:p>
            <a:pPr lvl="1"/>
            <a:r>
              <a:rPr lang="en-US" altLang="zh-CN"/>
              <a:t>terser</a:t>
            </a:r>
            <a:endParaRPr lang="en-US" altLang="zh-CN"/>
          </a:p>
          <a:p>
            <a:pPr lvl="2"/>
            <a:r>
              <a:rPr lang="en-US" altLang="zh-CN"/>
              <a:t>slower, but more configurable, and supports advanced options like drop_console</a:t>
            </a:r>
            <a:endParaRPr lang="en-US" altLang="zh-CN"/>
          </a:p>
          <a:p>
            <a:pPr lvl="0"/>
            <a:r>
              <a:rPr lang="en-US" altLang="zh-CN"/>
              <a:t>Dev mode</a:t>
            </a:r>
            <a:endParaRPr lang="en-US" altLang="zh-CN"/>
          </a:p>
          <a:p>
            <a:pPr lvl="1"/>
            <a:r>
              <a:rPr lang="en-US" altLang="zh-CN"/>
              <a:t>vite.config.js</a:t>
            </a:r>
            <a:endParaRPr lang="en-US" altLang="zh-CN"/>
          </a:p>
          <a:p>
            <a:pPr lvl="2"/>
            <a:r>
              <a:rPr lang="en-US" altLang="zh-CN"/>
              <a:t>server-&gt;proxy: changeOrigin: true, secure: false, cookieDomainRewrite: ‘’</a:t>
            </a:r>
            <a:endParaRPr lang="en-US" altLang="zh-CN"/>
          </a:p>
          <a:p>
            <a:pPr lvl="1"/>
            <a:r>
              <a:rPr lang="en-US" altLang="zh-CN"/>
              <a:t>api should starts with “http://localhost/” instead of remote server ip</a:t>
            </a:r>
            <a:endParaRPr lang="en-US" altLang="zh-CN"/>
          </a:p>
          <a:p>
            <a:pPr lvl="1"/>
            <a:r>
              <a:rPr lang="en-US" altLang="zh-CN"/>
              <a:t>axios.defaults.withCredentials = true</a:t>
            </a:r>
            <a:endParaRPr lang="en-US" altLang="zh-CN"/>
          </a:p>
          <a:p>
            <a:pPr lvl="1"/>
            <a:r>
              <a:rPr lang="en-US" altLang="zh-CN"/>
              <a:t>to make codes only run in dev mode</a:t>
            </a:r>
            <a:endParaRPr lang="en-US" altLang="zh-CN"/>
          </a:p>
          <a:p>
            <a:pPr lvl="2"/>
            <a:r>
              <a:rPr lang="en-US" altLang="zh-CN"/>
              <a:t>if (import.meta.env.DEV) {}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061835" y="1226185"/>
            <a:ext cx="4060190" cy="56311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en-US" altLang="zh-CN" sz="1200"/>
              <a:t>// vite.config.js</a:t>
            </a:r>
            <a:endParaRPr lang="en-US" altLang="zh-CN" sz="1200"/>
          </a:p>
          <a:p>
            <a:r>
              <a:rPr lang="en-US" altLang="zh-CN" sz="1200"/>
              <a:t>import { defineConfig } from 'vite'</a:t>
            </a:r>
            <a:endParaRPr lang="en-US" altLang="zh-CN" sz="1200"/>
          </a:p>
          <a:p>
            <a:r>
              <a:rPr lang="en-US" altLang="zh-CN" sz="1200"/>
              <a:t>import vue from '@vitejs/plugin-vue'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export default defineConfig({</a:t>
            </a:r>
            <a:endParaRPr lang="en-US" altLang="zh-CN" sz="1200"/>
          </a:p>
          <a:p>
            <a:r>
              <a:rPr lang="en-US" altLang="zh-CN" sz="1200"/>
              <a:t>  plugins: [vue()],</a:t>
            </a:r>
            <a:endParaRPr lang="en-US" altLang="zh-CN" sz="1200"/>
          </a:p>
          <a:p>
            <a:r>
              <a:rPr lang="en-US" altLang="zh-CN" sz="1200"/>
              <a:t>    server: {</a:t>
            </a:r>
            <a:endParaRPr lang="en-US" altLang="zh-CN" sz="1200"/>
          </a:p>
          <a:p>
            <a:r>
              <a:rPr lang="en-US" altLang="zh-CN" sz="1200"/>
              <a:t>      proxy: {</a:t>
            </a:r>
            <a:endParaRPr lang="en-US" altLang="zh-CN" sz="1200"/>
          </a:p>
          <a:p>
            <a:r>
              <a:rPr lang="en-US" altLang="zh-CN" sz="1200"/>
              <a:t>        '/api': {</a:t>
            </a:r>
            <a:endParaRPr lang="en-US" altLang="zh-CN" sz="1200"/>
          </a:p>
          <a:p>
            <a:r>
              <a:rPr lang="en-US" altLang="zh-CN" sz="1200"/>
              <a:t>          target: baseURL,</a:t>
            </a:r>
            <a:endParaRPr lang="en-US" altLang="zh-CN" sz="1200"/>
          </a:p>
          <a:p>
            <a:r>
              <a:rPr lang="en-US" altLang="zh-CN" sz="1200"/>
              <a:t>          changeOrigin: true,</a:t>
            </a:r>
            <a:endParaRPr lang="en-US" altLang="zh-CN" sz="1200"/>
          </a:p>
          <a:p>
            <a:r>
              <a:rPr lang="en-US" altLang="zh-CN" sz="1200"/>
              <a:t>          secure: false,</a:t>
            </a:r>
            <a:endParaRPr lang="en-US" altLang="zh-CN" sz="1200"/>
          </a:p>
          <a:p>
            <a:r>
              <a:rPr lang="en-US" altLang="zh-CN" sz="1200"/>
              <a:t>          // Important: enable cookie forwarding</a:t>
            </a:r>
            <a:endParaRPr lang="en-US" altLang="zh-CN" sz="1200"/>
          </a:p>
          <a:p>
            <a:r>
              <a:rPr lang="en-US" altLang="zh-CN" sz="1200"/>
              <a:t>          cookieDomainRewrite: '',</a:t>
            </a:r>
            <a:endParaRPr lang="en-US" altLang="zh-CN" sz="1200"/>
          </a:p>
          <a:p>
            <a:r>
              <a:rPr lang="en-US" altLang="zh-CN" sz="1200"/>
              <a:t>          rewrite: path =&gt; path.replace(/^\/api/, '/api')</a:t>
            </a:r>
            <a:endParaRPr lang="en-US" altLang="zh-CN" sz="1200"/>
          </a:p>
          <a:p>
            <a:r>
              <a:rPr lang="en-US" altLang="zh-CN" sz="1200"/>
              <a:t>        }</a:t>
            </a:r>
            <a:endParaRPr lang="en-US" altLang="zh-CN" sz="1200"/>
          </a:p>
          <a:p>
            <a:r>
              <a:rPr lang="en-US" altLang="zh-CN" sz="1200"/>
              <a:t>     }</a:t>
            </a:r>
            <a:endParaRPr lang="en-US" altLang="zh-CN" sz="1200"/>
          </a:p>
          <a:p>
            <a:r>
              <a:rPr lang="en-US" altLang="zh-CN" sz="1200"/>
              <a:t>  },</a:t>
            </a:r>
            <a:endParaRPr lang="en-US" altLang="zh-CN" sz="1200"/>
          </a:p>
          <a:p>
            <a:r>
              <a:rPr lang="en-US" altLang="zh-CN" sz="1200"/>
              <a:t>  build: {</a:t>
            </a:r>
            <a:endParaRPr lang="en-US" altLang="zh-CN" sz="1200"/>
          </a:p>
          <a:p>
            <a:r>
              <a:rPr lang="en-US" altLang="zh-CN" sz="1200"/>
              <a:t>    minify: 'terser',</a:t>
            </a:r>
            <a:endParaRPr lang="en-US" altLang="zh-CN" sz="1200"/>
          </a:p>
          <a:p>
            <a:r>
              <a:rPr lang="en-US" altLang="zh-CN" sz="1200"/>
              <a:t>    terserOptions: {</a:t>
            </a:r>
            <a:endParaRPr lang="en-US" altLang="zh-CN" sz="1200"/>
          </a:p>
          <a:p>
            <a:r>
              <a:rPr lang="en-US" altLang="zh-CN" sz="1200"/>
              <a:t>      compress: {</a:t>
            </a:r>
            <a:endParaRPr lang="en-US" altLang="zh-CN" sz="1200"/>
          </a:p>
          <a:p>
            <a:r>
              <a:rPr lang="en-US" altLang="zh-CN" sz="1200"/>
              <a:t>        drop_console: true,  // </a:t>
            </a:r>
            <a:r>
              <a:rPr lang="en-US" altLang="en-US" sz="1200"/>
              <a:t>←</a:t>
            </a:r>
            <a:r>
              <a:rPr lang="en-US" altLang="zh-CN" sz="1200"/>
              <a:t> This removes all console.* calls</a:t>
            </a:r>
            <a:endParaRPr lang="en-US" altLang="zh-CN" sz="1200"/>
          </a:p>
          <a:p>
            <a:r>
              <a:rPr lang="en-US" altLang="zh-CN" sz="1200"/>
              <a:t>        drop_debugger: true, // Optional: removes debugger statements</a:t>
            </a:r>
            <a:endParaRPr lang="en-US" altLang="zh-CN" sz="1200"/>
          </a:p>
          <a:p>
            <a:r>
              <a:rPr lang="en-US" altLang="zh-CN" sz="1200"/>
              <a:t>      },</a:t>
            </a:r>
            <a:endParaRPr lang="en-US" altLang="zh-CN" sz="1200"/>
          </a:p>
          <a:p>
            <a:r>
              <a:rPr lang="en-US" altLang="zh-CN" sz="1200"/>
              <a:t>    },</a:t>
            </a:r>
            <a:endParaRPr lang="en-US" altLang="zh-CN" sz="1200"/>
          </a:p>
          <a:p>
            <a:r>
              <a:rPr lang="en-US" altLang="zh-CN" sz="1200"/>
              <a:t>  },</a:t>
            </a:r>
            <a:endParaRPr lang="en-US" altLang="zh-CN" sz="1200"/>
          </a:p>
          <a:p>
            <a:r>
              <a:rPr lang="en-US" altLang="zh-CN" sz="1200"/>
              <a:t>})</a:t>
            </a:r>
            <a:endParaRPr lang="en-US" altLang="zh-CN" sz="120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Binding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1580"/>
            <a:ext cx="3564255" cy="4549140"/>
          </a:xfrm>
        </p:spPr>
        <p:txBody>
          <a:bodyPr/>
          <a:p>
            <a:r>
              <a:rPr lang="en-US" altLang="en-US"/>
              <a:t>Vue</a:t>
            </a:r>
            <a:endParaRPr lang="en-US" altLang="en-US"/>
          </a:p>
          <a:p>
            <a:pPr lvl="1"/>
            <a:r>
              <a:rPr lang="en-US" altLang="en-US"/>
              <a:t>el</a:t>
            </a:r>
            <a:endParaRPr lang="en-US" altLang="en-US"/>
          </a:p>
          <a:p>
            <a:pPr lvl="2"/>
            <a:r>
              <a:rPr lang="en-US" altLang="en-US" sz="1800"/>
              <a:t>Bind to HTML element</a:t>
            </a:r>
            <a:endParaRPr lang="en-US" altLang="en-US"/>
          </a:p>
          <a:p>
            <a:pPr lvl="1"/>
            <a:r>
              <a:rPr lang="en-US" altLang="en-US"/>
              <a:t>data</a:t>
            </a:r>
            <a:endParaRPr lang="en-US" altLang="en-US"/>
          </a:p>
          <a:p>
            <a:pPr lvl="2"/>
            <a:r>
              <a:rPr lang="en-US" altLang="en-US"/>
              <a:t>Bind data</a:t>
            </a:r>
            <a:endParaRPr lang="en-US" altLang="en-US"/>
          </a:p>
          <a:p>
            <a:pPr lvl="1"/>
            <a:r>
              <a:rPr lang="en-US" altLang="en-US" sz="2000"/>
              <a:t>computed</a:t>
            </a:r>
            <a:endParaRPr lang="en-US" altLang="en-US" sz="2000"/>
          </a:p>
          <a:p>
            <a:pPr lvl="2"/>
            <a:r>
              <a:rPr lang="en-US" altLang="en-US" sz="1800"/>
              <a:t>Bind computed data</a:t>
            </a:r>
            <a:endParaRPr lang="en-US" altLang="en-US" sz="1800"/>
          </a:p>
          <a:p>
            <a:pPr lvl="2"/>
            <a:r>
              <a:rPr lang="en-US" altLang="en-US" sz="1800"/>
              <a:t>cached</a:t>
            </a:r>
            <a:endParaRPr lang="en-US" altLang="en-US"/>
          </a:p>
          <a:p>
            <a:pPr lvl="1"/>
            <a:r>
              <a:rPr lang="en-US" altLang="en-US"/>
              <a:t>methods</a:t>
            </a:r>
            <a:endParaRPr lang="en-US" altLang="en-US"/>
          </a:p>
          <a:p>
            <a:pPr lvl="2"/>
            <a:r>
              <a:rPr lang="en-US" altLang="en-US"/>
              <a:t>Bind method</a:t>
            </a:r>
            <a:endParaRPr lang="en-US" altLang="en-US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4401820" y="874395"/>
          <a:ext cx="7654290" cy="5690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510"/>
                <a:gridCol w="1596390"/>
                <a:gridCol w="2350135"/>
                <a:gridCol w="1913255"/>
              </a:tblGrid>
              <a:tr h="322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Description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Data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Computed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Watcher</a:t>
                      </a:r>
                      <a:endParaRPr lang="zh-CN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Store variables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Store local variables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Can be static, derived from other variables, or can be static functions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Does not store variables - only watches them.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React to variable value changes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</a:t>
                      </a:r>
                      <a:endParaRPr lang="zh-CN" altLang="en-US" sz="1400"/>
                    </a:p>
                  </a:txBody>
                  <a:tcPr/>
                </a:tc>
              </a:tr>
              <a:tr h="3225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Cached?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N/A</a:t>
                      </a:r>
                      <a:endParaRPr lang="zh-CN" altLang="en-US" sz="1400"/>
                    </a:p>
                  </a:txBody>
                  <a:tcPr/>
                </a:tc>
              </a:tr>
              <a:tr h="9448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Scope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Local to component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Local to component, but can derive/make calculations with variables from props, store, etc.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Can watch local or store variables and react to changes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Can be referred by &lt;template&gt;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e.g. {{ myName }} 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Y</a:t>
                      </a:r>
                      <a:endParaRPr lang="zh-CN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{{ myCalcName }} 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N/A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Can be referred by &lt;script&gt; methods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</a:t>
                      </a:r>
                      <a:endParaRPr lang="zh-CN" altLang="en-US" sz="1400"/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this.myName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Y</a:t>
                      </a:r>
                      <a:endParaRPr lang="zh-CN" altLang="en-US" sz="14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this.myCalcName 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N/A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Perform action when value changes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N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N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</a:t>
                      </a: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Consequence of a value change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Change UI to react to change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Change UI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Perform action - local/vuex</a:t>
                      </a:r>
                      <a:endParaRPr lang="zh-CN" altLang="en-US" sz="1400"/>
                    </a:p>
                  </a:txBody>
                  <a:tcPr/>
                </a:tc>
              </a:tr>
              <a:tr h="5645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Can change other variable values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N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 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Y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dirty="0"/>
              <a:t>Directives</a:t>
            </a:r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1200" dirty="0"/>
              <a:t>Bind with HTML</a:t>
            </a:r>
            <a:endParaRPr lang="en-US" altLang="en-US" sz="1400" dirty="0"/>
          </a:p>
          <a:p>
            <a:pPr lvl="1" algn="l"/>
            <a:r>
              <a:rPr lang="en-US" altLang="zh-CN" sz="1200" dirty="0"/>
              <a:t>v-text</a:t>
            </a:r>
            <a:endParaRPr lang="en-US" altLang="zh-CN" sz="1200" dirty="0"/>
          </a:p>
          <a:p>
            <a:pPr lvl="1" algn="l"/>
            <a:r>
              <a:rPr lang="en-US" altLang="zh-CN" sz="1200" dirty="0"/>
              <a:t>v-html</a:t>
            </a:r>
            <a:endParaRPr lang="en-US" altLang="zh-CN" sz="1200" dirty="0"/>
          </a:p>
          <a:p>
            <a:pPr lvl="2" algn="l"/>
            <a:r>
              <a:rPr lang="en-US" altLang="en-US" sz="1000" dirty="0"/>
              <a:t>explain data as HTML</a:t>
            </a:r>
            <a:endParaRPr lang="en-US" altLang="en-US" sz="1000" dirty="0"/>
          </a:p>
          <a:p>
            <a:pPr lvl="1" algn="l">
              <a:buClrTx/>
              <a:buSzTx/>
            </a:pPr>
            <a:r>
              <a:rPr lang="en-US" altLang="en-US" sz="1200" dirty="0">
                <a:sym typeface="+mn-ea"/>
              </a:rPr>
              <a:t>v</a:t>
            </a:r>
            <a:r>
              <a:rPr lang="en-US" altLang="zh-CN" sz="1200" dirty="0">
                <a:sym typeface="+mn-ea"/>
              </a:rPr>
              <a:t>-model</a:t>
            </a:r>
            <a:endParaRPr lang="en-US" altLang="zh-CN" sz="1200" dirty="0"/>
          </a:p>
          <a:p>
            <a:pPr lvl="2" algn="l"/>
            <a:r>
              <a:rPr lang="en-US" altLang="en-US" sz="1000" dirty="0">
                <a:sym typeface="+mn-ea"/>
              </a:rPr>
              <a:t>HTMl element value &lt;-&gt; Vue model</a:t>
            </a:r>
            <a:endParaRPr lang="en-US" altLang="en-US" sz="1000" dirty="0">
              <a:sym typeface="+mn-ea"/>
            </a:endParaRPr>
          </a:p>
          <a:p>
            <a:pPr lvl="2" algn="l"/>
            <a:r>
              <a:rPr lang="en-US" altLang="en-US" sz="1000" dirty="0">
                <a:sym typeface="+mn-ea"/>
              </a:rPr>
              <a:t>&lt;input v-model=”message” placeholder=”edit me”&gt;</a:t>
            </a:r>
            <a:endParaRPr lang="en-US" altLang="zh-CN" sz="1000" dirty="0"/>
          </a:p>
          <a:p>
            <a:pPr algn="l"/>
            <a:r>
              <a:rPr lang="en-US" altLang="en-US" sz="1400" dirty="0"/>
              <a:t>Conditional or loop rendering</a:t>
            </a:r>
            <a:endParaRPr lang="en-US" altLang="en-US" sz="1400" dirty="0"/>
          </a:p>
          <a:p>
            <a:pPr lvl="1" algn="l"/>
            <a:r>
              <a:rPr lang="en-US" altLang="zh-CN" sz="1200" dirty="0"/>
              <a:t>v-show</a:t>
            </a:r>
            <a:endParaRPr lang="en-US" altLang="zh-CN" sz="1200" dirty="0"/>
          </a:p>
          <a:p>
            <a:pPr lvl="1" algn="l"/>
            <a:r>
              <a:rPr lang="en-US" altLang="zh-CN" sz="1200" dirty="0"/>
              <a:t>v-if/v-else/v-else-if</a:t>
            </a:r>
            <a:endParaRPr lang="en-US" altLang="zh-CN" sz="1200" dirty="0"/>
          </a:p>
          <a:p>
            <a:pPr lvl="1" algn="l"/>
            <a:r>
              <a:rPr lang="en-US" altLang="zh-CN" sz="1200" dirty="0"/>
              <a:t>v-for</a:t>
            </a:r>
            <a:endParaRPr lang="en-US" altLang="zh-CN" sz="1200" dirty="0"/>
          </a:p>
          <a:p>
            <a:pPr algn="l"/>
            <a:r>
              <a:rPr lang="en-US" altLang="en-US" sz="1400" dirty="0"/>
              <a:t>Event binding</a:t>
            </a:r>
            <a:endParaRPr lang="en-US" altLang="en-US" sz="1400" dirty="0"/>
          </a:p>
          <a:p>
            <a:pPr lvl="1" algn="l"/>
            <a:r>
              <a:rPr lang="en-US" altLang="zh-CN" sz="1200" dirty="0"/>
              <a:t>v-on</a:t>
            </a:r>
            <a:endParaRPr lang="en-US" altLang="zh-CN" sz="1200" dirty="0"/>
          </a:p>
          <a:p>
            <a:pPr lvl="2" algn="l"/>
            <a:r>
              <a:rPr lang="en-US" altLang="en-US" sz="1000" dirty="0"/>
              <a:t>&lt;button v-on:click=”...”&gt;&lt;/button&gt;, &lt;input v-on:keyup.enter=”...”&gt;&lt;/input&gt;</a:t>
            </a:r>
            <a:endParaRPr lang="en-US" altLang="en-US" sz="1000" dirty="0"/>
          </a:p>
          <a:p>
            <a:pPr lvl="1" algn="l"/>
            <a:r>
              <a:rPr lang="en-US" altLang="zh-CN" sz="1200" dirty="0"/>
              <a:t>v-resize</a:t>
            </a:r>
            <a:endParaRPr lang="en-US" altLang="zh-CN" sz="1200" dirty="0"/>
          </a:p>
          <a:p>
            <a:pPr lvl="2" algn="l"/>
            <a:r>
              <a:rPr lang="en-US" altLang="zh-CN" sz="1000" dirty="0"/>
              <a:t>v-resize:throttle, v-resize:debounce</a:t>
            </a:r>
            <a:endParaRPr lang="en-US" altLang="zh-CN" sz="1000" dirty="0"/>
          </a:p>
          <a:p>
            <a:pPr algn="l">
              <a:buClrTx/>
              <a:buSzTx/>
            </a:pPr>
            <a:r>
              <a:rPr lang="en-US" altLang="en-US" sz="1400" dirty="0"/>
              <a:t>class or style binding</a:t>
            </a:r>
            <a:endParaRPr lang="en-US" altLang="en-US" sz="1400" dirty="0"/>
          </a:p>
          <a:p>
            <a:pPr lvl="1" algn="l"/>
            <a:r>
              <a:rPr lang="en-US" altLang="en-US" sz="1200" dirty="0"/>
              <a:t>v-bind:class=”...”, v-bind:style=”...”, </a:t>
            </a:r>
            <a:r>
              <a:rPr lang="en-US" altLang="zh-CN" sz="1200" dirty="0"/>
              <a:t>v-bind:src=”...”,v-bind:href=”...”</a:t>
            </a:r>
            <a:endParaRPr lang="en-US" altLang="zh-CN" sz="1200" dirty="0"/>
          </a:p>
          <a:p>
            <a:pPr algn="l"/>
            <a:r>
              <a:rPr lang="en-US" altLang="zh-CN" sz="1400" dirty="0"/>
              <a:t>v-pre</a:t>
            </a:r>
            <a:endParaRPr lang="en-US" altLang="zh-CN" sz="1400" dirty="0"/>
          </a:p>
          <a:p>
            <a:pPr algn="l"/>
            <a:r>
              <a:rPr lang="en-US" altLang="zh-CN" sz="1400" dirty="0"/>
              <a:t>v-clock</a:t>
            </a:r>
            <a:endParaRPr lang="en-US" altLang="zh-CN" sz="1400" dirty="0"/>
          </a:p>
          <a:p>
            <a:pPr algn="l"/>
            <a:r>
              <a:rPr lang="en-US" altLang="zh-CN" sz="1400" dirty="0"/>
              <a:t>v-once</a:t>
            </a:r>
            <a:endParaRPr lang="en-US" altLang="zh-CN" sz="1400" dirty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Component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Global registration</a:t>
            </a:r>
            <a:endParaRPr lang="en-US" altLang="en-US"/>
          </a:p>
          <a:p>
            <a:pPr lvl="1"/>
            <a:r>
              <a:rPr lang="en-US" altLang="en-US"/>
              <a:t>Vue.component('component-name', {data: ..., props: ..., template: ...})</a:t>
            </a:r>
            <a:endParaRPr lang="en-US" altLang="en-US"/>
          </a:p>
          <a:p>
            <a:pPr lvl="2"/>
            <a:r>
              <a:rPr lang="en-US" altLang="en-US"/>
              <a:t>HTML component</a:t>
            </a:r>
            <a:endParaRPr lang="en-US" altLang="en-US"/>
          </a:p>
          <a:p>
            <a:pPr lvl="2"/>
            <a:r>
              <a:rPr lang="en-US" altLang="en-US"/>
              <a:t>Encapsulate and reuse</a:t>
            </a:r>
            <a:endParaRPr lang="en-US" altLang="en-US"/>
          </a:p>
          <a:p>
            <a:pPr lvl="2"/>
            <a:r>
              <a:rPr lang="en-US" altLang="en-US"/>
              <a:t>data: must be function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Lifecycle Hooks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89340" y="1262380"/>
            <a:ext cx="1949450" cy="454914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Hooks</a:t>
            </a:r>
            <a:endParaRPr lang="en-US" altLang="en-US"/>
          </a:p>
          <a:p>
            <a:pPr lvl="1"/>
            <a:r>
              <a:rPr lang="en-US" altLang="en-US"/>
              <a:t>created</a:t>
            </a:r>
            <a:endParaRPr lang="en-US" altLang="en-US"/>
          </a:p>
          <a:p>
            <a:pPr lvl="1"/>
            <a:r>
              <a:rPr lang="en-US" altLang="en-US"/>
              <a:t>mounted</a:t>
            </a:r>
            <a:endParaRPr lang="en-US" altLang="en-US"/>
          </a:p>
          <a:p>
            <a:pPr lvl="1"/>
            <a:r>
              <a:rPr lang="en-US" altLang="en-US"/>
              <a:t>destroyed</a:t>
            </a:r>
            <a:endParaRPr lang="en-US" altLang="en-US"/>
          </a:p>
          <a:p>
            <a:pPr lvl="1"/>
            <a:r>
              <a:rPr lang="en-US" altLang="en-US"/>
              <a:t>activated/deactivated</a:t>
            </a:r>
            <a:endParaRPr lang="en-US" altLang="en-US"/>
          </a:p>
          <a:p>
            <a:pPr lvl="2"/>
            <a:r>
              <a:rPr lang="en-US" altLang="en-US"/>
              <a:t>for keep-alive components</a:t>
            </a:r>
            <a:endParaRPr lang="en-US" alt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Concept</a:t>
            </a:r>
            <a:endParaRPr lang="en-US" altLang="zh-CN"/>
          </a:p>
          <a:p>
            <a:pPr lvl="1"/>
            <a:r>
              <a:rPr lang="en-US" altLang="zh-CN"/>
              <a:t>one-way-down binding</a:t>
            </a:r>
            <a:endParaRPr lang="en-US" altLang="zh-CN"/>
          </a:p>
          <a:p>
            <a:pPr lvl="2"/>
            <a:r>
              <a:rPr lang="en-US" altLang="zh-CN"/>
              <a:t>When the parent property update, it will flow down to the child.</a:t>
            </a:r>
            <a:endParaRPr lang="en-US" altLang="zh-CN"/>
          </a:p>
          <a:p>
            <a:pPr lvl="2"/>
            <a:r>
              <a:rPr lang="en-US" altLang="zh-CN"/>
              <a:t>But not the other way around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Additional Tools &amp; Plugins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vue-router</a:t>
            </a:r>
            <a:endParaRPr lang="en-US" altLang="zh-CN"/>
          </a:p>
          <a:p>
            <a:pPr lvl="1"/>
            <a:endParaRPr lang="en-US" altLang="zh-CN"/>
          </a:p>
          <a:p>
            <a:r>
              <a:rPr lang="en-US" altLang="zh-CN"/>
              <a:t>vue-resource</a:t>
            </a:r>
            <a:endParaRPr lang="en-US" altLang="zh-CN"/>
          </a:p>
          <a:p>
            <a:r>
              <a:rPr lang="en-US" altLang="en-US"/>
              <a:t>vuex</a:t>
            </a:r>
            <a:endParaRPr lang="en-US" altLang="en-US"/>
          </a:p>
          <a:p>
            <a:pPr lvl="1"/>
            <a:r>
              <a:rPr lang="en-US" altLang="en-US" sz="2000"/>
              <a:t>Store</a:t>
            </a:r>
            <a:endParaRPr lang="en-US" altLang="en-US"/>
          </a:p>
          <a:p>
            <a:r>
              <a:rPr lang="en-US" altLang="zh-CN"/>
              <a:t>vue-async-data</a:t>
            </a:r>
            <a:endParaRPr lang="en-US" altLang="zh-CN"/>
          </a:p>
          <a:p>
            <a:r>
              <a:rPr lang="en-US" altLang="zh-CN"/>
              <a:t>vue-validator</a:t>
            </a:r>
            <a:endParaRPr lang="en-US" altLang="zh-CN"/>
          </a:p>
          <a:p>
            <a:r>
              <a:rPr lang="en-US" altLang="zh-CN"/>
              <a:t>vue-devtools</a:t>
            </a:r>
            <a:endParaRPr lang="en-US" altLang="zh-CN"/>
          </a:p>
          <a:p>
            <a:pPr lvl="1"/>
            <a:r>
              <a:rPr lang="en-US" altLang="en-US"/>
              <a:t>Chrome extension, Firefox addon</a:t>
            </a:r>
            <a:endParaRPr lang="en-US" altLang="zh-CN"/>
          </a:p>
          <a:p>
            <a:r>
              <a:rPr lang="en-US" altLang="zh-CN"/>
              <a:t>vue-touch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Single Page Application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Command</a:t>
            </a:r>
            <a:endParaRPr lang="en-US" altLang="en-US"/>
          </a:p>
          <a:p>
            <a:pPr lvl="1"/>
            <a:r>
              <a:rPr lang="en-US" altLang="en-US"/>
              <a:t>vue init webpack {appname}</a:t>
            </a:r>
            <a:endParaRPr lang="en-US" altLang="en-US"/>
          </a:p>
          <a:p>
            <a:pPr lvl="0"/>
            <a:r>
              <a:rPr lang="en-US" altLang="en-US"/>
              <a:t>Structure</a:t>
            </a:r>
            <a:endParaRPr lang="en-US" altLang="en-US"/>
          </a:p>
          <a:p>
            <a:pPr lvl="1"/>
            <a:r>
              <a:rPr lang="en-US" altLang="en-US"/>
              <a:t>index.html</a:t>
            </a:r>
            <a:endParaRPr lang="en-US" altLang="en-US"/>
          </a:p>
          <a:p>
            <a:pPr lvl="1"/>
            <a:r>
              <a:rPr lang="en-US" altLang="en-US"/>
              <a:t>src</a:t>
            </a:r>
            <a:endParaRPr lang="en-US" altLang="en-US"/>
          </a:p>
          <a:p>
            <a:pPr lvl="2"/>
            <a:r>
              <a:rPr lang="en-US" altLang="en-US"/>
              <a:t>App.vue</a:t>
            </a:r>
            <a:endParaRPr lang="en-US" altLang="en-US"/>
          </a:p>
          <a:p>
            <a:pPr lvl="2"/>
            <a:r>
              <a:rPr lang="en-US" altLang="en-US"/>
              <a:t>main.js</a:t>
            </a:r>
            <a:endParaRPr lang="en-US" altLang="en-US"/>
          </a:p>
          <a:p>
            <a:pPr lvl="2"/>
            <a:r>
              <a:rPr lang="en-US" altLang="en-US"/>
              <a:t>components/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990" y="1550670"/>
            <a:ext cx="6019800" cy="4210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 Router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 sz="2000"/>
              <a:t>npm install vue-router --save</a:t>
            </a:r>
            <a:endParaRPr lang="en-US" altLang="zh-CN"/>
          </a:p>
          <a:p>
            <a:r>
              <a:rPr lang="en-US" altLang="zh-CN"/>
              <a:t>Vue.use(VueRouter)</a:t>
            </a:r>
            <a:endParaRPr lang="en-US" altLang="zh-CN"/>
          </a:p>
          <a:p>
            <a:pPr lvl="1"/>
            <a:r>
              <a:rPr lang="en-US" altLang="zh-CN" sz="2000"/>
              <a:t>this.$router</a:t>
            </a:r>
            <a:endParaRPr lang="en-US" altLang="zh-CN" sz="2000"/>
          </a:p>
          <a:p>
            <a:pPr lvl="2"/>
            <a:r>
              <a:rPr lang="en-US" altLang="zh-CN" sz="1800"/>
              <a:t>router object</a:t>
            </a:r>
            <a:endParaRPr lang="en-US" altLang="zh-CN" sz="1800"/>
          </a:p>
          <a:p>
            <a:pPr lvl="2"/>
            <a:r>
              <a:rPr lang="en-US" altLang="zh-CN" sz="1800"/>
              <a:t>navigate to a new route</a:t>
            </a:r>
            <a:endParaRPr lang="en-US" altLang="zh-CN" sz="1800"/>
          </a:p>
          <a:p>
            <a:pPr lvl="3"/>
            <a:r>
              <a:rPr lang="en-US" altLang="zh-CN" sz="1800"/>
              <a:t>this.$router.push('route-name')</a:t>
            </a:r>
            <a:endParaRPr lang="en-US" altLang="zh-CN" sz="1800"/>
          </a:p>
          <a:p>
            <a:pPr lvl="3"/>
            <a:r>
              <a:rPr lang="en-US" altLang="zh-CN" sz="1800"/>
              <a:t>this.$router.replace({ path: 'name'})</a:t>
            </a:r>
            <a:endParaRPr lang="en-US" altLang="zh-CN" sz="1800"/>
          </a:p>
          <a:p>
            <a:pPr lvl="3"/>
            <a:r>
              <a:rPr lang="en-US" altLang="zh-CN" sz="1800"/>
              <a:t>this.$router.go(-1/1)</a:t>
            </a:r>
            <a:endParaRPr lang="en-US" altLang="zh-CN" sz="1800"/>
          </a:p>
          <a:p>
            <a:pPr lvl="1"/>
            <a:r>
              <a:rPr lang="en-US" altLang="zh-CN" sz="2000"/>
              <a:t>this.$route</a:t>
            </a:r>
            <a:endParaRPr lang="en-US" altLang="zh-CN"/>
          </a:p>
          <a:p>
            <a:r>
              <a:rPr lang="en-US" altLang="zh-CN"/>
              <a:t>&lt;router-link&gt;</a:t>
            </a:r>
            <a:endParaRPr lang="en-US" altLang="zh-CN"/>
          </a:p>
          <a:p>
            <a:pPr lvl="1"/>
            <a:r>
              <a:rPr lang="en-US" altLang="zh-CN" sz="2000"/>
              <a:t>&lt;router-link to=”home”&gt;Home&lt;/router-link&gt;</a:t>
            </a:r>
            <a:endParaRPr lang="en-US" altLang="zh-CN"/>
          </a:p>
          <a:p>
            <a:r>
              <a:rPr lang="en-US" altLang="zh-CN"/>
              <a:t>&lt;router-view&gt;</a:t>
            </a:r>
            <a:endParaRPr lang="en-US" altLang="zh-CN"/>
          </a:p>
          <a:p>
            <a:pPr lvl="1"/>
            <a:r>
              <a:rPr lang="en-US" altLang="zh-CN"/>
              <a:t>Vue router puts the content which match current url</a:t>
            </a:r>
            <a:endParaRPr lang="en-US" altLang="zh-CN"/>
          </a:p>
          <a:p>
            <a:pPr lvl="0"/>
            <a:r>
              <a:rPr lang="en-US" altLang="zh-CN"/>
              <a:t>router.js</a:t>
            </a:r>
            <a:endParaRPr lang="en-US" altLang="zh-CN"/>
          </a:p>
          <a:p>
            <a:pPr lvl="1"/>
            <a:r>
              <a:rPr lang="en-US" altLang="zh-CN"/>
              <a:t>routes: [{path: 'url1', name: 'name1', component: 'component1'}]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695950" y="981075"/>
            <a:ext cx="3933825" cy="95313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p>
            <a:r>
              <a:rPr lang="zh-CN" altLang="en-US" sz="1400"/>
              <a:t>import Vue from 'vue'</a:t>
            </a:r>
            <a:endParaRPr lang="zh-CN" altLang="en-US" sz="1400"/>
          </a:p>
          <a:p>
            <a:r>
              <a:rPr lang="zh-CN" altLang="en-US" sz="1400"/>
              <a:t>import VueRouter from 'vue-router'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Vue.use(VueRouter)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Vue-i18n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17160"/>
          </a:xfrm>
        </p:spPr>
        <p:txBody>
          <a:bodyPr>
            <a:normAutofit fontScale="60000"/>
          </a:bodyPr>
          <a:p>
            <a:r>
              <a:rPr lang="zh-CN" altLang="en-US"/>
              <a:t>https://github.com/kazupon/vue-i18n</a:t>
            </a:r>
            <a:endParaRPr lang="zh-CN" altLang="en-US"/>
          </a:p>
          <a:p>
            <a:r>
              <a:rPr lang="en-US" altLang="zh-CN"/>
              <a:t>vue add i18n</a:t>
            </a:r>
            <a:endParaRPr lang="en-US" altLang="zh-CN"/>
          </a:p>
          <a:p>
            <a:r>
              <a:rPr lang="en-US" altLang="zh-CN"/>
              <a:t>Formatting</a:t>
            </a:r>
            <a:endParaRPr lang="en-US" altLang="zh-CN"/>
          </a:p>
          <a:p>
            <a:pPr lvl="1"/>
            <a:r>
              <a:rPr lang="en-US" altLang="zh-CN"/>
              <a:t>Named formatting</a:t>
            </a:r>
            <a:endParaRPr lang="en-US" altLang="zh-CN"/>
          </a:p>
          <a:p>
            <a:pPr lvl="1"/>
            <a:r>
              <a:rPr lang="en-US" altLang="zh-CN"/>
              <a:t>List formatting</a:t>
            </a:r>
            <a:endParaRPr lang="en-US" altLang="zh-CN"/>
          </a:p>
          <a:p>
            <a:pPr lvl="1"/>
            <a:r>
              <a:rPr lang="en-US" altLang="zh-CN"/>
              <a:t>HTML formatting</a:t>
            </a:r>
            <a:endParaRPr lang="en-US" altLang="zh-CN"/>
          </a:p>
          <a:p>
            <a:pPr lvl="1"/>
            <a:r>
              <a:rPr lang="en-US" altLang="zh-CN"/>
              <a:t>Custom formatting</a:t>
            </a:r>
            <a:endParaRPr lang="en-US" altLang="zh-CN"/>
          </a:p>
          <a:p>
            <a:pPr lvl="0"/>
            <a:r>
              <a:rPr lang="en-US" altLang="zh-CN" sz="2400"/>
              <a:t>Pluralization</a:t>
            </a:r>
            <a:endParaRPr lang="en-US" altLang="zh-CN" sz="2400"/>
          </a:p>
          <a:p>
            <a:pPr lvl="1"/>
            <a:r>
              <a:rPr lang="en-US" altLang="zh-CN" sz="2000"/>
              <a:t>$tc()</a:t>
            </a:r>
            <a:endParaRPr lang="en-US" altLang="zh-CN" sz="2000"/>
          </a:p>
          <a:p>
            <a:pPr lvl="0"/>
            <a:r>
              <a:rPr lang="en-US" altLang="zh-CN" sz="2400"/>
              <a:t>Datetime localization</a:t>
            </a:r>
            <a:endParaRPr lang="en-US" altLang="zh-CN" sz="2400"/>
          </a:p>
          <a:p>
            <a:pPr lvl="1"/>
            <a:r>
              <a:rPr lang="en-US" altLang="zh-CN" sz="2000"/>
              <a:t>$d()</a:t>
            </a:r>
            <a:endParaRPr lang="en-US" altLang="zh-CN" sz="2000"/>
          </a:p>
          <a:p>
            <a:pPr lvl="0"/>
            <a:r>
              <a:rPr lang="en-US" altLang="zh-CN" sz="2400"/>
              <a:t>Number formatting</a:t>
            </a:r>
            <a:endParaRPr lang="en-US" altLang="zh-CN" sz="2400"/>
          </a:p>
          <a:p>
            <a:pPr lvl="1"/>
            <a:r>
              <a:rPr lang="en-US" altLang="zh-CN" sz="2000"/>
              <a:t>&lt;i18n-n :value=”...”&gt;&lt;/i18n&gt;</a:t>
            </a:r>
            <a:endParaRPr lang="en-US" altLang="zh-CN" sz="2000"/>
          </a:p>
          <a:p>
            <a:pPr lvl="0"/>
            <a:r>
              <a:rPr lang="en-US" altLang="zh-CN" sz="2400"/>
              <a:t>v-t</a:t>
            </a:r>
            <a:endParaRPr lang="en-US" altLang="zh-CN" sz="2400"/>
          </a:p>
          <a:p>
            <a:pPr lvl="1"/>
            <a:r>
              <a:rPr lang="en-US" altLang="zh-CN" sz="2000"/>
              <a:t>better performance than $t</a:t>
            </a:r>
            <a:endParaRPr lang="en-US" altLang="zh-CN" sz="2000"/>
          </a:p>
          <a:p>
            <a:pPr lvl="0"/>
            <a:r>
              <a:rPr lang="en-US" altLang="zh-CN" sz="2400"/>
              <a:t>npm i --save-dev @kazupon/vue-i18n-loader</a:t>
            </a:r>
            <a:endParaRPr lang="en-US" altLang="zh-CN" sz="2400"/>
          </a:p>
          <a:p>
            <a:pPr lvl="0"/>
            <a:r>
              <a:rPr lang="en-US" altLang="zh-CN" sz="2400"/>
              <a:t>vue-cli-plugin-i18n</a:t>
            </a:r>
            <a:endParaRPr lang="en-US" altLang="zh-CN" sz="2400"/>
          </a:p>
          <a:p>
            <a:pPr lvl="0"/>
            <a:r>
              <a:rPr lang="en-US" altLang="zh-CN"/>
              <a:t>BabelEdit: translation editor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9415145" y="914400"/>
            <a:ext cx="2123440" cy="258445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const messages = {</a:t>
            </a:r>
            <a:endParaRPr lang="zh-CN" altLang="en-US"/>
          </a:p>
          <a:p>
            <a:r>
              <a:rPr lang="zh-CN" altLang="en-US"/>
              <a:t>  en: {</a:t>
            </a:r>
            <a:endParaRPr lang="zh-CN" altLang="en-US"/>
          </a:p>
          <a:p>
            <a:r>
              <a:rPr lang="zh-CN" altLang="en-US"/>
              <a:t>    message: {</a:t>
            </a:r>
            <a:endParaRPr lang="zh-CN" altLang="en-US"/>
          </a:p>
          <a:p>
            <a:r>
              <a:rPr lang="zh-CN" altLang="en-US"/>
              <a:t>      hello: '{msg} world'</a:t>
            </a:r>
            <a:endParaRPr lang="zh-CN" altLang="en-US"/>
          </a:p>
          <a:p>
            <a:r>
              <a:rPr lang="zh-CN" altLang="en-US"/>
              <a:t>    }</a:t>
            </a:r>
            <a:endParaRPr lang="zh-CN" altLang="en-US"/>
          </a:p>
          <a:p>
            <a:r>
              <a:rPr lang="zh-CN" altLang="en-US"/>
              <a:t>  }</a:t>
            </a:r>
            <a:endParaRPr lang="zh-CN" altLang="en-US"/>
          </a:p>
          <a:p>
            <a:r>
              <a:rPr lang="zh-CN" altLang="en-US"/>
              <a:t>}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856990" y="2405380"/>
            <a:ext cx="5184775" cy="3683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&lt;p&gt;{{ $t('message.hello', { msg: 'hello' }) }}&lt;/p&gt;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56990" y="2881630"/>
            <a:ext cx="5133975" cy="3683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&lt;p&gt;{{ $t('message.hello', ['hello']) }}&lt;/p&gt;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856990" y="3302000"/>
            <a:ext cx="5133975" cy="3683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&lt;p v-html="$t('message.hello')"&gt;&lt;/p&gt;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69655" y="4206240"/>
            <a:ext cx="2868930" cy="175323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const i18n = new VueI18n({</a:t>
            </a:r>
            <a:endParaRPr lang="zh-CN" altLang="en-US"/>
          </a:p>
          <a:p>
            <a:r>
              <a:rPr lang="zh-CN" altLang="en-US"/>
              <a:t>  locale: 'ja',</a:t>
            </a:r>
            <a:endParaRPr lang="zh-CN" altLang="en-US"/>
          </a:p>
          <a:p>
            <a:r>
              <a:rPr lang="zh-CN" altLang="en-US"/>
              <a:t>  fallbackLocale: 'en',</a:t>
            </a:r>
            <a:endParaRPr lang="zh-CN" altLang="en-US"/>
          </a:p>
          <a:p>
            <a:r>
              <a:rPr lang="zh-CN" altLang="en-US"/>
              <a:t>  messages</a:t>
            </a:r>
            <a:endParaRPr lang="zh-CN" altLang="en-US"/>
          </a:p>
          <a:p>
            <a:r>
              <a:rPr lang="zh-CN" altLang="en-US"/>
              <a:t>})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Axios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npm install axios vue-axios</a:t>
            </a:r>
            <a:endParaRPr lang="en-US" altLang="zh-CN"/>
          </a:p>
          <a:p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request</a:t>
            </a:r>
            <a:endParaRPr lang="en-US" altLang="zh-CN"/>
          </a:p>
          <a:p>
            <a:pPr lvl="2"/>
            <a:r>
              <a:rPr lang="en-US" altLang="zh-CN" sz="1800"/>
              <a:t>get, post</a:t>
            </a:r>
            <a:endParaRPr lang="en-US" altLang="zh-CN" sz="1800"/>
          </a:p>
          <a:p>
            <a:pPr lvl="1"/>
            <a:r>
              <a:rPr lang="en-US" altLang="zh-CN"/>
              <a:t>response</a:t>
            </a:r>
            <a:endParaRPr lang="en-US" altLang="zh-CN"/>
          </a:p>
          <a:p>
            <a:pPr lvl="1"/>
            <a:r>
              <a:rPr lang="en-US" altLang="zh-CN"/>
              <a:t>axios.interceptors.request.use(...)</a:t>
            </a:r>
            <a:endParaRPr lang="en-US" altLang="zh-CN"/>
          </a:p>
          <a:p>
            <a:pPr lvl="1"/>
            <a:r>
              <a:rPr lang="en-US" altLang="zh-CN"/>
              <a:t>axios.interceptors.response.use(...)</a:t>
            </a:r>
            <a:endParaRPr lang="en-US" altLang="zh-CN"/>
          </a:p>
          <a:p>
            <a:pPr lvl="1"/>
            <a:r>
              <a:rPr lang="en-US" altLang="zh-CN"/>
              <a:t>Serialize</a:t>
            </a:r>
            <a:endParaRPr lang="en-US" altLang="zh-CN"/>
          </a:p>
          <a:p>
            <a:pPr lvl="2"/>
            <a:r>
              <a:rPr lang="en-US" altLang="zh-CN" sz="1800"/>
              <a:t>default: json</a:t>
            </a:r>
            <a:endParaRPr lang="en-US" altLang="zh-CN" sz="1800"/>
          </a:p>
          <a:p>
            <a:pPr lvl="1"/>
            <a:r>
              <a:rPr lang="en-US" altLang="zh-CN" sz="2000"/>
              <a:t>axios.defaults.baseUrl</a:t>
            </a:r>
            <a:endParaRPr lang="en-US" altLang="zh-CN" sz="2000"/>
          </a:p>
          <a:p>
            <a:pPr lvl="1"/>
            <a:r>
              <a:rPr lang="en-US" altLang="zh-CN" sz="2000"/>
              <a:t>axios.defaults.timeout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494145" y="4746625"/>
            <a:ext cx="3139440" cy="18148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p>
            <a:r>
              <a:rPr lang="zh-CN" altLang="en-US" sz="1600"/>
              <a:t>axios.get('/user?ID=12345')</a:t>
            </a:r>
            <a:endParaRPr lang="zh-CN" altLang="en-US" sz="1600"/>
          </a:p>
          <a:p>
            <a:r>
              <a:rPr lang="zh-CN" altLang="en-US" sz="1600"/>
              <a:t>  .then(function (response) {</a:t>
            </a:r>
            <a:endParaRPr lang="zh-CN" altLang="en-US" sz="1600"/>
          </a:p>
          <a:p>
            <a:r>
              <a:rPr lang="zh-CN" altLang="en-US" sz="1600"/>
              <a:t>    console.log(response);</a:t>
            </a:r>
            <a:endParaRPr lang="zh-CN" altLang="en-US" sz="1600"/>
          </a:p>
          <a:p>
            <a:r>
              <a:rPr lang="zh-CN" altLang="en-US" sz="1600"/>
              <a:t>  })</a:t>
            </a:r>
            <a:endParaRPr lang="zh-CN" altLang="en-US" sz="1600"/>
          </a:p>
          <a:p>
            <a:r>
              <a:rPr lang="zh-CN" altLang="en-US" sz="1600"/>
              <a:t>  .catch(function (error) {</a:t>
            </a:r>
            <a:endParaRPr lang="zh-CN" altLang="en-US" sz="1600"/>
          </a:p>
          <a:p>
            <a:r>
              <a:rPr lang="zh-CN" altLang="en-US" sz="1600"/>
              <a:t>    console.log(error);</a:t>
            </a:r>
            <a:endParaRPr lang="zh-CN" altLang="en-US" sz="1600"/>
          </a:p>
          <a:p>
            <a:r>
              <a:rPr lang="zh-CN" altLang="en-US" sz="1600"/>
              <a:t>  });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6494145" y="1096645"/>
            <a:ext cx="3846830" cy="34150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p>
            <a:r>
              <a:rPr lang="zh-CN" altLang="en-US"/>
              <a:t>axios.post('/user', {</a:t>
            </a:r>
            <a:endParaRPr lang="zh-CN" altLang="en-US"/>
          </a:p>
          <a:p>
            <a:r>
              <a:rPr lang="zh-CN" altLang="en-US"/>
              <a:t>    firstName: 'Fred',        // 参数 firstName</a:t>
            </a:r>
            <a:endParaRPr lang="zh-CN" altLang="en-US"/>
          </a:p>
          <a:p>
            <a:r>
              <a:rPr lang="zh-CN" altLang="en-US"/>
              <a:t>    lastName: 'Flintstone'    // 参数 lastName</a:t>
            </a:r>
            <a:endParaRPr lang="zh-CN" altLang="en-US"/>
          </a:p>
          <a:p>
            <a:r>
              <a:rPr lang="zh-CN" altLang="en-US"/>
              <a:t>  })</a:t>
            </a:r>
            <a:endParaRPr lang="zh-CN" altLang="en-US"/>
          </a:p>
          <a:p>
            <a:r>
              <a:rPr lang="zh-CN" altLang="en-US"/>
              <a:t>  .then(function (response) {</a:t>
            </a:r>
            <a:endParaRPr lang="zh-CN" altLang="en-US"/>
          </a:p>
          <a:p>
            <a:r>
              <a:rPr lang="zh-CN" altLang="en-US"/>
              <a:t>    console.log(response);</a:t>
            </a:r>
            <a:endParaRPr lang="zh-CN" altLang="en-US"/>
          </a:p>
          <a:p>
            <a:r>
              <a:rPr lang="zh-CN" altLang="en-US"/>
              <a:t>  })</a:t>
            </a:r>
            <a:endParaRPr lang="zh-CN" altLang="en-US"/>
          </a:p>
          <a:p>
            <a:r>
              <a:rPr lang="zh-CN" altLang="en-US"/>
              <a:t>  .catch(function (error) {</a:t>
            </a:r>
            <a:endParaRPr lang="zh-CN" altLang="en-US"/>
          </a:p>
          <a:p>
            <a:r>
              <a:rPr lang="zh-CN" altLang="en-US"/>
              <a:t>    console.log(error);</a:t>
            </a:r>
            <a:endParaRPr lang="zh-CN" altLang="en-US"/>
          </a:p>
          <a:p>
            <a:r>
              <a:rPr lang="zh-CN" altLang="en-US"/>
              <a:t>  });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942195" y="4746625"/>
            <a:ext cx="1685925" cy="175323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p>
            <a:r>
              <a:rPr lang="en-US" altLang="zh-CN"/>
              <a:t>response:</a:t>
            </a:r>
            <a:endParaRPr lang="en-US" altLang="zh-CN"/>
          </a:p>
          <a:p>
            <a:r>
              <a:rPr lang="en-US" altLang="zh-CN"/>
              <a:t>- data: {}</a:t>
            </a:r>
            <a:endParaRPr lang="en-US" altLang="zh-CN"/>
          </a:p>
          <a:p>
            <a:r>
              <a:rPr lang="en-US" altLang="zh-CN"/>
              <a:t>- status</a:t>
            </a:r>
            <a:endParaRPr lang="en-US" altLang="zh-CN"/>
          </a:p>
          <a:p>
            <a:r>
              <a:rPr lang="en-US" altLang="zh-CN"/>
              <a:t>- statusText</a:t>
            </a:r>
            <a:endParaRPr lang="en-US" altLang="zh-CN"/>
          </a:p>
          <a:p>
            <a:r>
              <a:rPr lang="en-US" altLang="zh-CN"/>
              <a:t>- headers: {}</a:t>
            </a:r>
            <a:endParaRPr lang="en-US" altLang="zh-CN"/>
          </a:p>
          <a:p>
            <a:r>
              <a:rPr lang="en-US" altLang="zh-CN"/>
              <a:t>- config: {}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Share Data Between Components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154930" cy="4549140"/>
          </a:xfrm>
        </p:spPr>
        <p:txBody>
          <a:bodyPr/>
          <a:p>
            <a:r>
              <a:rPr lang="en-US" altLang="zh-CN"/>
              <a:t>Parent -&gt; child</a:t>
            </a:r>
            <a:endParaRPr lang="en-US" altLang="zh-CN"/>
          </a:p>
          <a:p>
            <a:pPr lvl="1"/>
            <a:r>
              <a:rPr lang="en-US" altLang="zh-CN"/>
              <a:t>props</a:t>
            </a:r>
            <a:endParaRPr lang="en-US" altLang="zh-CN"/>
          </a:p>
          <a:p>
            <a:pPr lvl="1"/>
            <a:r>
              <a:rPr lang="en-US" altLang="zh-CN"/>
              <a:t>refs</a:t>
            </a:r>
            <a:endParaRPr lang="en-US" altLang="zh-CN"/>
          </a:p>
          <a:p>
            <a:pPr lvl="0"/>
            <a:r>
              <a:rPr lang="en-US" altLang="zh-CN"/>
              <a:t>Events</a:t>
            </a:r>
            <a:endParaRPr lang="en-US" altLang="zh-CN"/>
          </a:p>
          <a:p>
            <a:pPr lvl="1"/>
            <a:r>
              <a:rPr lang="en-US" altLang="zh-CN"/>
              <a:t>父组件监听子组件触发的事件，需要在子组件用使用 $emit 触发，在父组件中使用 v-on: / @ 自定义事件监听</a:t>
            </a:r>
            <a:endParaRPr lang="en-US" altLang="zh-CN"/>
          </a:p>
          <a:p>
            <a:pPr lvl="1"/>
            <a:r>
              <a:rPr lang="en-US" altLang="zh-CN"/>
              <a:t>this.$emit(“msg”)</a:t>
            </a:r>
            <a:endParaRPr lang="en-US" altLang="zh-CN"/>
          </a:p>
          <a:p>
            <a:pPr lvl="1"/>
            <a:r>
              <a:rPr lang="en-US" altLang="zh-CN"/>
              <a:t>@msg='method'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188710" y="1076325"/>
            <a:ext cx="2908300" cy="51695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000"/>
              <a:t>// 父组件</a:t>
            </a:r>
            <a:endParaRPr lang="zh-CN" altLang="en-US" sz="1000"/>
          </a:p>
          <a:p>
            <a:r>
              <a:rPr lang="zh-CN" altLang="en-US" sz="1000"/>
              <a:t>&lt;template&gt;</a:t>
            </a:r>
            <a:endParaRPr lang="zh-CN" altLang="en-US" sz="1000"/>
          </a:p>
          <a:p>
            <a:r>
              <a:rPr lang="zh-CN" altLang="en-US" sz="1000"/>
              <a:t>  &lt;div&gt;</a:t>
            </a:r>
            <a:endParaRPr lang="zh-CN" altLang="en-US" sz="1000"/>
          </a:p>
          <a:p>
            <a:r>
              <a:rPr lang="zh-CN" altLang="en-US" sz="1000"/>
              <a:t>    &lt;button @click="handleClick"&gt;按钮&lt;/button&gt;</a:t>
            </a:r>
            <a:endParaRPr lang="zh-CN" altLang="en-US" sz="1000"/>
          </a:p>
          <a:p>
            <a:r>
              <a:rPr lang="zh-CN" altLang="en-US" sz="1000"/>
              <a:t>    &lt;Child </a:t>
            </a:r>
            <a:r>
              <a:rPr lang="zh-CN" altLang="en-US" sz="1000">
                <a:solidFill>
                  <a:srgbClr val="FF0000"/>
                </a:solidFill>
              </a:rPr>
              <a:t>ref="child"</a:t>
            </a:r>
            <a:r>
              <a:rPr lang="zh-CN" altLang="en-US" sz="1000"/>
              <a:t>&gt;&lt;/Child&gt;</a:t>
            </a:r>
            <a:endParaRPr lang="zh-CN" altLang="en-US" sz="1000"/>
          </a:p>
          <a:p>
            <a:r>
              <a:rPr lang="zh-CN" altLang="en-US" sz="1000"/>
              <a:t>  &lt;/div&gt;</a:t>
            </a:r>
            <a:endParaRPr lang="zh-CN" altLang="en-US" sz="1000"/>
          </a:p>
          <a:p>
            <a:r>
              <a:rPr lang="zh-CN" altLang="en-US" sz="1000"/>
              <a:t>&lt;/template&gt;</a:t>
            </a:r>
            <a:endParaRPr lang="zh-CN" altLang="en-US" sz="1000"/>
          </a:p>
          <a:p>
            <a:r>
              <a:rPr lang="zh-CN" altLang="en-US" sz="1000"/>
              <a:t>​</a:t>
            </a:r>
            <a:endParaRPr lang="zh-CN" altLang="en-US" sz="1000"/>
          </a:p>
          <a:p>
            <a:r>
              <a:rPr lang="zh-CN" altLang="en-US" sz="1000"/>
              <a:t>​</a:t>
            </a:r>
            <a:endParaRPr lang="zh-CN" altLang="en-US" sz="1000"/>
          </a:p>
          <a:p>
            <a:r>
              <a:rPr lang="zh-CN" altLang="en-US" sz="1000"/>
              <a:t>&lt;script&gt;</a:t>
            </a:r>
            <a:endParaRPr lang="zh-CN" altLang="en-US" sz="1000"/>
          </a:p>
          <a:p>
            <a:r>
              <a:rPr lang="zh-CN" altLang="en-US" sz="1000"/>
              <a:t>import Child from './components/child.vue'</a:t>
            </a:r>
            <a:endParaRPr lang="zh-CN" altLang="en-US" sz="1000"/>
          </a:p>
          <a:p>
            <a:r>
              <a:rPr lang="zh-CN" altLang="en-US" sz="1000"/>
              <a:t>export default {</a:t>
            </a:r>
            <a:endParaRPr lang="zh-CN" altLang="en-US" sz="1000"/>
          </a:p>
          <a:p>
            <a:r>
              <a:rPr lang="zh-CN" altLang="en-US" sz="1000"/>
              <a:t>  components: {</a:t>
            </a:r>
            <a:endParaRPr lang="zh-CN" altLang="en-US" sz="1000"/>
          </a:p>
          <a:p>
            <a:r>
              <a:rPr lang="zh-CN" altLang="en-US" sz="1000"/>
              <a:t>    Child,</a:t>
            </a:r>
            <a:endParaRPr lang="zh-CN" altLang="en-US" sz="1000"/>
          </a:p>
          <a:p>
            <a:r>
              <a:rPr lang="zh-CN" altLang="en-US" sz="1000"/>
              <a:t>  },</a:t>
            </a:r>
            <a:endParaRPr lang="zh-CN" altLang="en-US" sz="1000"/>
          </a:p>
          <a:p>
            <a:r>
              <a:rPr lang="zh-CN" altLang="en-US" sz="1000"/>
              <a:t>  methods: {</a:t>
            </a:r>
            <a:endParaRPr lang="zh-CN" altLang="en-US" sz="1000"/>
          </a:p>
          <a:p>
            <a:r>
              <a:rPr lang="zh-CN" altLang="en-US" sz="1000"/>
              <a:t>    handleClick() {</a:t>
            </a:r>
            <a:endParaRPr lang="zh-CN" altLang="en-US" sz="1000"/>
          </a:p>
          <a:p>
            <a:r>
              <a:rPr lang="zh-CN" altLang="en-US" sz="1000"/>
              <a:t>      </a:t>
            </a:r>
            <a:r>
              <a:rPr lang="zh-CN" altLang="en-US" sz="1000">
                <a:solidFill>
                  <a:srgbClr val="FF0000"/>
                </a:solidFill>
              </a:rPr>
              <a:t>this.$refs.child.sing()</a:t>
            </a:r>
            <a:endParaRPr lang="zh-CN" altLang="en-US" sz="1000"/>
          </a:p>
          <a:p>
            <a:r>
              <a:rPr lang="zh-CN" altLang="en-US" sz="1000"/>
              <a:t>    },</a:t>
            </a:r>
            <a:endParaRPr lang="zh-CN" altLang="en-US" sz="1000"/>
          </a:p>
          <a:p>
            <a:r>
              <a:rPr lang="zh-CN" altLang="en-US" sz="1000"/>
              <a:t>  },</a:t>
            </a:r>
            <a:endParaRPr lang="zh-CN" altLang="en-US" sz="1000"/>
          </a:p>
          <a:p>
            <a:r>
              <a:rPr lang="zh-CN" altLang="en-US" sz="1000"/>
              <a:t>}</a:t>
            </a:r>
            <a:endParaRPr lang="zh-CN" altLang="en-US" sz="1000"/>
          </a:p>
          <a:p>
            <a:r>
              <a:rPr lang="zh-CN" altLang="en-US" sz="1000"/>
              <a:t>&lt;/script&gt;</a:t>
            </a:r>
            <a:endParaRPr lang="zh-CN" altLang="en-US" sz="1000"/>
          </a:p>
          <a:p>
            <a:r>
              <a:rPr lang="zh-CN" altLang="en-US" sz="1000"/>
              <a:t>​</a:t>
            </a:r>
            <a:endParaRPr lang="zh-CN" altLang="en-US" sz="1000"/>
          </a:p>
          <a:p>
            <a:r>
              <a:rPr lang="zh-CN" altLang="en-US" sz="1000"/>
              <a:t>// 子组件</a:t>
            </a:r>
            <a:endParaRPr lang="zh-CN" altLang="en-US" sz="1000"/>
          </a:p>
          <a:p>
            <a:r>
              <a:rPr lang="zh-CN" altLang="en-US" sz="1000"/>
              <a:t>&lt;script&gt;</a:t>
            </a:r>
            <a:endParaRPr lang="zh-CN" altLang="en-US" sz="1000"/>
          </a:p>
          <a:p>
            <a:r>
              <a:rPr lang="zh-CN" altLang="en-US" sz="1000"/>
              <a:t>export default {</a:t>
            </a:r>
            <a:endParaRPr lang="zh-CN" altLang="en-US" sz="1000"/>
          </a:p>
          <a:p>
            <a:r>
              <a:rPr lang="zh-CN" altLang="en-US" sz="1000"/>
              <a:t>  methods: {</a:t>
            </a:r>
            <a:endParaRPr lang="zh-CN" altLang="en-US" sz="1000"/>
          </a:p>
          <a:p>
            <a:r>
              <a:rPr lang="zh-CN" altLang="en-US" sz="1000"/>
              <a:t>    sing() {</a:t>
            </a:r>
            <a:endParaRPr lang="zh-CN" altLang="en-US" sz="1000"/>
          </a:p>
          <a:p>
            <a:r>
              <a:rPr lang="zh-CN" altLang="en-US" sz="1000"/>
              <a:t>      console.log('使用refs直接调用函数方法')</a:t>
            </a:r>
            <a:endParaRPr lang="zh-CN" altLang="en-US" sz="1000"/>
          </a:p>
          <a:p>
            <a:r>
              <a:rPr lang="zh-CN" altLang="en-US" sz="1000"/>
              <a:t>    },</a:t>
            </a:r>
            <a:endParaRPr lang="zh-CN" altLang="en-US" sz="1000"/>
          </a:p>
          <a:p>
            <a:r>
              <a:rPr lang="zh-CN" altLang="en-US" sz="1000"/>
              <a:t>  },</a:t>
            </a:r>
            <a:endParaRPr lang="zh-CN" altLang="en-US" sz="1000"/>
          </a:p>
          <a:p>
            <a:r>
              <a:rPr lang="zh-CN" altLang="en-US" sz="1000"/>
              <a:t>}</a:t>
            </a:r>
            <a:endParaRPr lang="zh-CN" altLang="en-US" sz="1000"/>
          </a:p>
          <a:p>
            <a:r>
              <a:rPr lang="zh-CN" altLang="en-US" sz="1000"/>
              <a:t>&lt;/script&gt;</a:t>
            </a:r>
            <a:endParaRPr lang="zh-CN" altLang="en-US" sz="1000"/>
          </a:p>
        </p:txBody>
      </p:sp>
      <p:sp>
        <p:nvSpPr>
          <p:cNvPr id="5" name="文本框 4"/>
          <p:cNvSpPr txBox="1"/>
          <p:nvPr/>
        </p:nvSpPr>
        <p:spPr>
          <a:xfrm>
            <a:off x="9215755" y="1042035"/>
            <a:ext cx="2908300" cy="36309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p>
            <a:r>
              <a:rPr lang="zh-CN" altLang="en-US" sz="1000"/>
              <a:t>// 父组件</a:t>
            </a:r>
            <a:endParaRPr lang="zh-CN" altLang="en-US" sz="1000"/>
          </a:p>
          <a:p>
            <a:r>
              <a:rPr lang="zh-CN" altLang="en-US" sz="1000"/>
              <a:t>&lt;template&gt;</a:t>
            </a:r>
            <a:endParaRPr lang="zh-CN" altLang="en-US" sz="1000"/>
          </a:p>
          <a:p>
            <a:r>
              <a:rPr lang="zh-CN" altLang="en-US" sz="1000"/>
              <a:t>  &lt;div&gt;</a:t>
            </a:r>
            <a:endParaRPr lang="zh-CN" altLang="en-US" sz="1000"/>
          </a:p>
          <a:p>
            <a:r>
              <a:rPr lang="zh-CN" altLang="en-US" sz="1000"/>
              <a:t>    &lt;magic-eight-ball </a:t>
            </a:r>
            <a:r>
              <a:rPr lang="zh-CN" altLang="en-US" sz="1000">
                <a:solidFill>
                  <a:srgbClr val="FF0000"/>
                </a:solidFill>
              </a:rPr>
              <a:t> @give-advice="showAdvice"</a:t>
            </a:r>
            <a:r>
              <a:rPr lang="zh-CN" altLang="en-US" sz="1000"/>
              <a:t>&gt;</a:t>
            </a:r>
            <a:endParaRPr lang="zh-CN" altLang="en-US" sz="1000"/>
          </a:p>
          <a:p>
            <a:r>
              <a:rPr lang="zh-CN" altLang="en-US" sz="1000"/>
              <a:t>    &lt;/magic-eight-ball&gt;</a:t>
            </a:r>
            <a:endParaRPr lang="zh-CN" altLang="en-US" sz="1000"/>
          </a:p>
          <a:p>
            <a:r>
              <a:rPr lang="zh-CN" altLang="en-US" sz="1000"/>
              <a:t>  &lt;/div&gt;</a:t>
            </a:r>
            <a:endParaRPr lang="zh-CN" altLang="en-US" sz="1000"/>
          </a:p>
          <a:p>
            <a:r>
              <a:rPr lang="zh-CN" altLang="en-US" sz="1000"/>
              <a:t>&lt;/template&gt;</a:t>
            </a:r>
            <a:endParaRPr lang="zh-CN" altLang="en-US" sz="1000"/>
          </a:p>
          <a:p>
            <a:endParaRPr lang="zh-CN" altLang="en-US" sz="1000"/>
          </a:p>
          <a:p>
            <a:r>
              <a:rPr lang="zh-CN" altLang="en-US" sz="1000">
                <a:sym typeface="+mn-ea"/>
              </a:rPr>
              <a:t>// 子组件</a:t>
            </a:r>
            <a:endParaRPr lang="zh-CN" altLang="en-US" sz="1000"/>
          </a:p>
          <a:p>
            <a:r>
              <a:rPr lang="zh-CN" altLang="en-US" sz="1000"/>
              <a:t>&lt;script&gt;</a:t>
            </a:r>
            <a:endParaRPr lang="zh-CN" altLang="en-US" sz="1000"/>
          </a:p>
          <a:p>
            <a:r>
              <a:rPr lang="zh-CN" altLang="en-US" sz="1000"/>
              <a:t>  export default {</a:t>
            </a:r>
            <a:endParaRPr lang="zh-CN" altLang="en-US" sz="1000"/>
          </a:p>
          <a:p>
            <a:r>
              <a:rPr lang="zh-CN" altLang="en-US" sz="1000"/>
              <a:t>    methods:{</a:t>
            </a:r>
            <a:endParaRPr lang="zh-CN" altLang="en-US" sz="1000"/>
          </a:p>
          <a:p>
            <a:r>
              <a:rPr lang="zh-CN" altLang="en-US" sz="1000"/>
              <a:t>      giveAdvice(){</a:t>
            </a:r>
            <a:endParaRPr lang="zh-CN" altLang="en-US" sz="1000"/>
          </a:p>
          <a:p>
            <a:r>
              <a:rPr lang="zh-CN" altLang="en-US" sz="1000"/>
              <a:t>        let randomAdviceIndex = Math.floor(Math.random()</a:t>
            </a:r>
            <a:endParaRPr lang="zh-CN" altLang="en-US" sz="1000"/>
          </a:p>
          <a:p>
            <a:r>
              <a:rPr lang="zh-CN" altLang="en-US" sz="1000"/>
              <a:t>          *this.possibleAdvice.length);</a:t>
            </a:r>
            <a:endParaRPr lang="zh-CN" altLang="en-US" sz="1000"/>
          </a:p>
          <a:p>
            <a:r>
              <a:rPr lang="zh-CN" altLang="en-US" sz="1000"/>
              <a:t>       </a:t>
            </a:r>
            <a:r>
              <a:rPr lang="zh-CN" altLang="en-US" sz="1000">
                <a:solidFill>
                  <a:srgbClr val="FF0000"/>
                </a:solidFill>
              </a:rPr>
              <a:t> this.$emit('give-advice',</a:t>
            </a:r>
            <a:endParaRPr lang="zh-CN" altLang="en-US" sz="1000">
              <a:solidFill>
                <a:srgbClr val="FF0000"/>
              </a:solidFill>
            </a:endParaRPr>
          </a:p>
          <a:p>
            <a:r>
              <a:rPr lang="zh-CN" altLang="en-US" sz="1000">
                <a:solidFill>
                  <a:srgbClr val="FF0000"/>
                </a:solidFill>
              </a:rPr>
              <a:t>           this.possibleAdvice[randomAdviceIndex])</a:t>
            </a:r>
            <a:endParaRPr lang="zh-CN" altLang="en-US" sz="1000"/>
          </a:p>
          <a:p>
            <a:r>
              <a:rPr lang="zh-CN" altLang="en-US" sz="1000"/>
              <a:t>      }</a:t>
            </a:r>
            <a:endParaRPr lang="zh-CN" altLang="en-US" sz="1000"/>
          </a:p>
          <a:p>
            <a:r>
              <a:rPr lang="zh-CN" altLang="en-US" sz="1000"/>
              <a:t>    }</a:t>
            </a:r>
            <a:endParaRPr lang="zh-CN" altLang="en-US" sz="1000"/>
          </a:p>
          <a:p>
            <a:r>
              <a:rPr lang="zh-CN" altLang="en-US" sz="1000"/>
              <a:t>  }</a:t>
            </a:r>
            <a:endParaRPr lang="zh-CN" altLang="en-US" sz="1000"/>
          </a:p>
          <a:p>
            <a:r>
              <a:rPr lang="zh-CN" altLang="en-US" sz="1000"/>
              <a:t>&lt;/script&gt;</a:t>
            </a:r>
            <a:endParaRPr lang="zh-CN" altLang="en-US" sz="10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Window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window.addEventListener('resize', funcName)</a:t>
            </a:r>
            <a:endParaRPr lang="en-US" altLang="zh-CN"/>
          </a:p>
          <a:p>
            <a:r>
              <a:rPr lang="en-US" altLang="zh-CN"/>
              <a:t>window.removeEventListener('resize', funcName)</a:t>
            </a:r>
            <a:endParaRPr lang="en-US" altLang="zh-CN"/>
          </a:p>
          <a:p>
            <a:r>
              <a:rPr lang="en-US" altLang="zh-CN"/>
              <a:t>window.innerWidth, window.innerHeight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Storage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Session storage</a:t>
            </a:r>
            <a:endParaRPr lang="en-US" altLang="zh-CN"/>
          </a:p>
          <a:p>
            <a:pPr lvl="1"/>
            <a:r>
              <a:rPr lang="en-US" altLang="zh-CN" sz="2000"/>
              <a:t>sessionStorage.setItem(key, value)</a:t>
            </a:r>
            <a:endParaRPr lang="en-US" altLang="zh-CN" sz="2000"/>
          </a:p>
          <a:p>
            <a:pPr lvl="1"/>
            <a:r>
              <a:rPr lang="en-US" altLang="zh-CN" sz="2000"/>
              <a:t>sessionStorage.getItem(key)</a:t>
            </a:r>
            <a:endParaRPr lang="en-US" altLang="zh-CN"/>
          </a:p>
          <a:p>
            <a:r>
              <a:rPr lang="en-US" altLang="zh-CN"/>
              <a:t>Local storage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localStorage.setItem(key, value)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localStorage</a:t>
            </a:r>
            <a:r>
              <a:rPr lang="en-US" altLang="zh-CN">
                <a:sym typeface="+mn-ea"/>
              </a:rPr>
              <a:t>.getItem(key)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Load External JS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https://www.npmjs.com/package/vue-plugin-load-script</a:t>
            </a:r>
            <a:endParaRPr lang="zh-CN" altLang="en-US"/>
          </a:p>
          <a:p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In main.js</a:t>
            </a:r>
            <a:endParaRPr lang="en-US" altLang="zh-CN"/>
          </a:p>
          <a:p>
            <a:pPr lvl="2"/>
            <a:r>
              <a:rPr lang="en-US" altLang="zh-CN"/>
              <a:t>import LoadScript from 'vue-plugin-load-script'</a:t>
            </a:r>
            <a:endParaRPr lang="en-US" altLang="zh-CN" sz="1800"/>
          </a:p>
          <a:p>
            <a:pPr lvl="2"/>
            <a:r>
              <a:rPr lang="en-US" altLang="zh-CN"/>
              <a:t>Vue.use(LoadScript);</a:t>
            </a:r>
            <a:endParaRPr lang="en-US" altLang="zh-CN"/>
          </a:p>
          <a:p>
            <a:pPr lvl="2"/>
            <a:r>
              <a:rPr lang="en-US" altLang="zh-CN"/>
              <a:t>this.$loadScript("/js/jquery-2.2.4.min.js").then( () =&gt; {</a:t>
            </a:r>
            <a:endParaRPr lang="en-US" altLang="zh-CN"/>
          </a:p>
          <a:p>
            <a:pPr lvl="2"/>
            <a:r>
              <a:rPr lang="en-US" altLang="zh-CN"/>
              <a:t>})</a:t>
            </a:r>
            <a:endParaRPr lang="en-US" altLang="zh-CN"/>
          </a:p>
          <a:p>
            <a:pPr lvl="2"/>
            <a:r>
              <a:rPr lang="en-US" altLang="zh-CN"/>
              <a:t>.catch( () =&gt; {</a:t>
            </a:r>
            <a:endParaRPr lang="en-US" altLang="zh-CN"/>
          </a:p>
          <a:p>
            <a:pPr lvl="2"/>
            <a:r>
              <a:rPr lang="en-US" altLang="zh-CN"/>
              <a:t>})</a:t>
            </a:r>
            <a:endParaRPr lang="en-US" altLang="zh-CN"/>
          </a:p>
          <a:p>
            <a:pPr lvl="2"/>
            <a:r>
              <a:rPr lang="en-US" altLang="zh-CN"/>
              <a:t>this.$loadScript("https://maps.googleapis.com/maps/api/js")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Plugin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Vuetify</a:t>
            </a:r>
            <a:endParaRPr lang="en-US" altLang="zh-CN"/>
          </a:p>
          <a:p>
            <a:pPr lvl="1"/>
            <a:r>
              <a:rPr lang="en-US" altLang="zh-CN"/>
              <a:t>Install</a:t>
            </a:r>
            <a:endParaRPr lang="en-US" altLang="zh-CN"/>
          </a:p>
          <a:p>
            <a:pPr lvl="2"/>
            <a:r>
              <a:rPr lang="en-US" altLang="zh-CN" sz="1800"/>
              <a:t>vue add vuetify</a:t>
            </a:r>
            <a:endParaRPr lang="en-US" altLang="zh-CN" sz="1800"/>
          </a:p>
          <a:p>
            <a:pPr lvl="2"/>
            <a:r>
              <a:rPr lang="en-US" altLang="zh-CN" sz="1800"/>
              <a:t>npm install vuetify --save</a:t>
            </a:r>
            <a:endParaRPr lang="en-US" altLang="zh-CN"/>
          </a:p>
          <a:p>
            <a:pPr lvl="1"/>
            <a:r>
              <a:rPr lang="en-US" altLang="zh-CN"/>
              <a:t>Ref</a:t>
            </a:r>
            <a:endParaRPr lang="en-US" altLang="zh-CN"/>
          </a:p>
          <a:p>
            <a:pPr lvl="2"/>
            <a:r>
              <a:rPr lang="en-US" altLang="zh-CN"/>
              <a:t>https://vuetifyjs.com</a:t>
            </a:r>
            <a:endParaRPr lang="en-US" altLang="zh-CN"/>
          </a:p>
          <a:p>
            <a:pPr lvl="0"/>
            <a:r>
              <a:rPr lang="en-US" altLang="zh-CN"/>
              <a:t>Vue-element-admin</a:t>
            </a:r>
            <a:endParaRPr lang="en-US" altLang="zh-CN"/>
          </a:p>
          <a:p>
            <a:pPr lvl="0"/>
            <a:r>
              <a:rPr lang="en-US" altLang="zh-CN"/>
              <a:t>vue-resize-directive</a:t>
            </a:r>
            <a:endParaRPr lang="en-US" altLang="zh-CN"/>
          </a:p>
          <a:p>
            <a:pPr lvl="1"/>
            <a:r>
              <a:rPr lang="en-US" altLang="zh-CN"/>
              <a:t>npm install vue-resize-directive --save</a:t>
            </a:r>
            <a:endParaRPr lang="en-US" altLang="zh-CN"/>
          </a:p>
          <a:p>
            <a:pPr lvl="1"/>
            <a:r>
              <a:rPr lang="en-US" altLang="zh-CN"/>
              <a:t>import resize from 'vue-resize-directive'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Module System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Speed up npm run build</a:t>
            </a:r>
            <a:endParaRPr lang="en-US" altLang="zh-CN"/>
          </a:p>
          <a:p>
            <a:pPr lvl="1"/>
            <a:r>
              <a:rPr lang="en-US" altLang="zh-CN"/>
              <a:t>https://www.hangge.com/blog/cache/detail_2105.html</a:t>
            </a:r>
            <a:endParaRPr lang="en-US" altLang="zh-CN"/>
          </a:p>
          <a:p>
            <a:pPr lvl="1"/>
            <a:r>
              <a:rPr lang="en-US" altLang="zh-CN"/>
              <a:t>266041ms</a:t>
            </a:r>
            <a:endParaRPr lang="en-US" altLang="zh-CN"/>
          </a:p>
          <a:p>
            <a:pPr lvl="1"/>
            <a:r>
              <a:rPr lang="en-US" altLang="zh-CN"/>
              <a:t>Install node latest version</a:t>
            </a:r>
            <a:endParaRPr lang="en-US" altLang="zh-CN"/>
          </a:p>
          <a:p>
            <a:pPr lvl="2"/>
            <a:r>
              <a:rPr lang="en-US" altLang="zh-CN"/>
              <a:t>from 8.x to 14.x: 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From Vue 2 to Vue 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940300" cy="4549140"/>
          </a:xfrm>
        </p:spPr>
        <p:txBody>
          <a:bodyPr>
            <a:normAutofit fontScale="90000" lnSpcReduction="20000"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https://developer.aliyun.com/article/1580912</a:t>
            </a:r>
            <a:endParaRPr lang="en-US" altLang="zh-CN" sz="1600"/>
          </a:p>
          <a:p>
            <a:pPr lvl="1"/>
            <a:r>
              <a:rPr lang="en-US" altLang="zh-CN" sz="1600"/>
              <a:t>https://v3-migration.vuejs.org/zh/breaking-changes/</a:t>
            </a:r>
            <a:endParaRPr lang="en-US" altLang="zh-CN" sz="1600"/>
          </a:p>
          <a:p>
            <a:pPr lvl="2"/>
            <a:r>
              <a:rPr lang="zh-CN" altLang="en-US" sz="1440"/>
              <a:t>非兼容性变化</a:t>
            </a:r>
            <a:endParaRPr lang="en-US" altLang="zh-CN" sz="1440"/>
          </a:p>
          <a:p>
            <a:pPr lvl="0"/>
            <a:r>
              <a:rPr lang="en-US" altLang="zh-CN" sz="1800"/>
              <a:t>Changes</a:t>
            </a:r>
            <a:endParaRPr lang="en-US" altLang="zh-CN" sz="1800"/>
          </a:p>
          <a:p>
            <a:pPr lvl="1"/>
            <a:r>
              <a:rPr lang="en-US" altLang="zh-CN" sz="1600"/>
              <a:t>Init</a:t>
            </a:r>
            <a:endParaRPr lang="en-US" altLang="zh-CN" sz="1600"/>
          </a:p>
          <a:p>
            <a:pPr lvl="2"/>
            <a:r>
              <a:rPr lang="en-US" altLang="zh-CN" sz="1400"/>
              <a:t>createApp({ // options });</a:t>
            </a:r>
            <a:endParaRPr lang="en-US" altLang="zh-CN" sz="1400"/>
          </a:p>
          <a:p>
            <a:pPr lvl="2"/>
            <a:r>
              <a:rPr lang="en-US" altLang="zh-CN" sz="1400"/>
              <a:t>app.mount('#app')</a:t>
            </a:r>
            <a:endParaRPr lang="en-US" altLang="zh-CN" sz="1400"/>
          </a:p>
          <a:p>
            <a:pPr lvl="1"/>
            <a:r>
              <a:rPr lang="en-US" altLang="zh-CN" sz="1600"/>
              <a:t>Templates</a:t>
            </a:r>
            <a:endParaRPr lang="en-US" altLang="zh-CN" sz="1600"/>
          </a:p>
          <a:p>
            <a:pPr lvl="1"/>
            <a:r>
              <a:rPr lang="en-US" altLang="zh-CN" sz="1600"/>
              <a:t>Hooks</a:t>
            </a:r>
            <a:endParaRPr lang="en-US" altLang="zh-CN" sz="1600"/>
          </a:p>
          <a:p>
            <a:pPr lvl="2"/>
            <a:r>
              <a:rPr lang="en-US" altLang="zh-CN" sz="1400"/>
              <a:t>beforeDestroy -&gt; beforeUnmount</a:t>
            </a:r>
            <a:endParaRPr lang="en-US" altLang="zh-CN" sz="1400"/>
          </a:p>
          <a:p>
            <a:pPr lvl="2"/>
            <a:r>
              <a:rPr lang="en-US" altLang="zh-CN" sz="1400"/>
              <a:t>destroyed -&gt; umounted</a:t>
            </a:r>
            <a:endParaRPr lang="en-US" altLang="zh-CN" sz="1400"/>
          </a:p>
          <a:p>
            <a:pPr lvl="1"/>
            <a:r>
              <a:rPr lang="en-US" altLang="zh-CN" sz="1600"/>
              <a:t>Composition API</a:t>
            </a:r>
            <a:endParaRPr lang="en-US" altLang="zh-CN" sz="1600"/>
          </a:p>
          <a:p>
            <a:pPr lvl="2"/>
            <a:r>
              <a:rPr lang="zh-CN" altLang="en-US" sz="1440"/>
              <a:t>组件修改</a:t>
            </a:r>
            <a:endParaRPr lang="en-US" altLang="zh-CN" sz="1440"/>
          </a:p>
          <a:p>
            <a:pPr lvl="1"/>
            <a:r>
              <a:rPr lang="en-US" altLang="zh-CN" sz="1600"/>
              <a:t>Teleport</a:t>
            </a:r>
            <a:endParaRPr lang="en-US" altLang="zh-CN" sz="1600"/>
          </a:p>
          <a:p>
            <a:pPr lvl="1"/>
            <a:r>
              <a:rPr lang="en-US" altLang="zh-CN" sz="1600"/>
              <a:t>Fragments</a:t>
            </a:r>
            <a:endParaRPr lang="en-US" altLang="zh-CN" sz="1600"/>
          </a:p>
          <a:p>
            <a:pPr lvl="0"/>
            <a:r>
              <a:rPr lang="en-US" altLang="zh-CN" sz="1920"/>
              <a:t>Tool</a:t>
            </a:r>
            <a:endParaRPr lang="en-US" altLang="zh-CN" sz="1920"/>
          </a:p>
          <a:p>
            <a:pPr lvl="1"/>
            <a:r>
              <a:rPr lang="en-US" altLang="zh-CN" sz="1600"/>
              <a:t>gogocode-cli</a:t>
            </a:r>
            <a:endParaRPr lang="en-US" altLang="zh-CN" sz="1600"/>
          </a:p>
          <a:p>
            <a:pPr lvl="2"/>
            <a:r>
              <a:rPr lang="en-US" altLang="zh-CN" sz="1440"/>
              <a:t>npm install gogocode-cli -g</a:t>
            </a:r>
            <a:endParaRPr lang="en-US" altLang="zh-CN" sz="1440"/>
          </a:p>
          <a:p>
            <a:pPr lvl="1"/>
            <a:endParaRPr lang="en-US" altLang="zh-CN" sz="1600"/>
          </a:p>
          <a:p>
            <a:pPr lvl="1"/>
            <a:endParaRPr lang="en-US" altLang="zh-CN" sz="1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6623050" y="4690745"/>
            <a:ext cx="5262880" cy="178371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842125" y="721360"/>
            <a:ext cx="1547495" cy="375729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497570" y="1001395"/>
            <a:ext cx="2178685" cy="31978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and Solutions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Array value change</a:t>
            </a:r>
            <a:endParaRPr lang="en-US" altLang="zh-CN"/>
          </a:p>
          <a:p>
            <a:pPr lvl="1"/>
            <a:r>
              <a:rPr lang="en-US" altLang="zh-CN"/>
              <a:t>this.$set(array, index, newValue)</a:t>
            </a:r>
            <a:endParaRPr lang="en-US" altLang="zh-CN"/>
          </a:p>
          <a:p>
            <a:pPr lvl="1"/>
            <a:r>
              <a:rPr lang="en-US" altLang="zh-CN"/>
              <a:t>array[index] = newValue, change will not be detected</a:t>
            </a:r>
            <a:endParaRPr lang="en-US" altLang="zh-CN"/>
          </a:p>
          <a:p>
            <a:pPr lvl="0"/>
            <a:r>
              <a:rPr lang="en-US" altLang="zh-CN"/>
              <a:t>&lt;select&gt; in IE</a:t>
            </a:r>
            <a:endParaRPr lang="en-US" altLang="zh-CN"/>
          </a:p>
          <a:p>
            <a:pPr lvl="1"/>
            <a:r>
              <a:rPr lang="en-US" altLang="zh-CN"/>
              <a:t>If use customized bg image, default image is also shown</a:t>
            </a:r>
            <a:endParaRPr lang="en-US" altLang="zh-CN"/>
          </a:p>
          <a:p>
            <a:pPr lvl="1"/>
            <a:r>
              <a:rPr lang="en-US" altLang="zh-CN"/>
              <a:t>.select::-ms-expand {</a:t>
            </a:r>
            <a:endParaRPr lang="en-US" altLang="zh-CN"/>
          </a:p>
          <a:p>
            <a:pPr lvl="1"/>
            <a:r>
              <a:rPr lang="en-US" altLang="zh-CN"/>
              <a:t>  display: none;</a:t>
            </a:r>
            <a:endParaRPr lang="en-US" altLang="zh-CN"/>
          </a:p>
          <a:p>
            <a:pPr lvl="1"/>
            <a:r>
              <a:rPr lang="en-US" altLang="zh-CN"/>
              <a:t>}</a:t>
            </a:r>
            <a:endParaRPr lang="en-US" altLang="zh-CN"/>
          </a:p>
          <a:p>
            <a:pPr lvl="0"/>
            <a:r>
              <a:rPr lang="en-US" altLang="zh-CN"/>
              <a:t>History mode</a:t>
            </a:r>
            <a:endParaRPr lang="en-US" altLang="zh-CN"/>
          </a:p>
          <a:p>
            <a:pPr lvl="1"/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7460" y="4674235"/>
            <a:ext cx="3759835" cy="1352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295" y="4370705"/>
            <a:ext cx="3824605" cy="1475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900" y="3965575"/>
            <a:ext cx="3181350" cy="2286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Add Baidu Tongji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3532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https://blog.csdn.net/u012888052/article/details/93195909</a:t>
            </a:r>
            <a:endParaRPr lang="en-US" altLang="zh-CN"/>
          </a:p>
          <a:p>
            <a:pPr lvl="0"/>
            <a:r>
              <a:rPr lang="en-US" altLang="zh-CN"/>
              <a:t>Steps:</a:t>
            </a:r>
            <a:endParaRPr lang="en-US" altLang="zh-CN"/>
          </a:p>
          <a:p>
            <a:pPr lvl="1"/>
            <a:r>
              <a:rPr lang="en-US" altLang="zh-CN"/>
              <a:t>modify index.html</a:t>
            </a:r>
            <a:endParaRPr lang="en-US" altLang="zh-CN"/>
          </a:p>
          <a:p>
            <a:pPr lvl="1"/>
            <a:r>
              <a:rPr lang="en-US" altLang="zh-CN"/>
              <a:t>modify src/main.js</a:t>
            </a:r>
            <a:endParaRPr lang="en-US" altLang="zh-CN"/>
          </a:p>
        </p:txBody>
      </p:sp>
      <p:pic>
        <p:nvPicPr>
          <p:cNvPr id="4" name="图片 3" descr="201906211515152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05" y="3415665"/>
            <a:ext cx="5309870" cy="3234690"/>
          </a:xfrm>
          <a:prstGeom prst="rect">
            <a:avLst/>
          </a:prstGeom>
        </p:spPr>
      </p:pic>
      <p:pic>
        <p:nvPicPr>
          <p:cNvPr id="5" name="图片 4" descr="201906211519169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530" y="1358265"/>
            <a:ext cx="5022215" cy="46551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Webpack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909820"/>
          </a:xfrm>
        </p:spPr>
        <p:txBody>
          <a:bodyPr>
            <a:normAutofit fontScale="70000"/>
          </a:bodyPr>
          <a:p>
            <a:r>
              <a:rPr lang="en-US" altLang="zh-CN" sz="2400">
                <a:sym typeface="+mn-ea"/>
              </a:rPr>
              <a:t>References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https://webpack.js.org/</a:t>
            </a:r>
            <a:endParaRPr lang="en-US" altLang="zh-CN"/>
          </a:p>
          <a:p>
            <a:pPr lvl="1"/>
            <a:r>
              <a:rPr lang="en-US" altLang="zh-CN" sz="2000">
                <a:sym typeface="+mn-ea"/>
              </a:rPr>
              <a:t>https://www.valentinog.com/blog/webpack/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https://webpack.js.org/migrate/5/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https://www.cnblogs.com/webhmy/p/14791194.html</a:t>
            </a:r>
            <a:endParaRPr lang="en-US" altLang="zh-CN" sz="2000">
              <a:sym typeface="+mn-ea"/>
            </a:endParaRPr>
          </a:p>
          <a:p>
            <a:r>
              <a:rPr lang="en-US" altLang="zh-CN" sz="2400">
                <a:sym typeface="+mn-ea"/>
              </a:rPr>
              <a:t>Intro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module bundler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webpack --version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node --trace-deprecation node_modules/webpack/bin/webpack.js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npm run build --report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 sz="2400">
                <a:sym typeface="+mn-ea"/>
              </a:rPr>
              <a:t>Webpack 5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/>
              <a:t>Improve build performance with Persistent Caching.</a:t>
            </a:r>
            <a:endParaRPr lang="en-US" altLang="zh-CN"/>
          </a:p>
          <a:p>
            <a:pPr lvl="1"/>
            <a:r>
              <a:rPr lang="en-US" altLang="zh-CN"/>
              <a:t>Improve Long Term Caching with better algorithms and defaults.</a:t>
            </a:r>
            <a:endParaRPr lang="en-US" altLang="zh-CN"/>
          </a:p>
          <a:p>
            <a:pPr lvl="1"/>
            <a:r>
              <a:rPr lang="en-US" altLang="zh-CN"/>
              <a:t>Improve bundle size with better Tree Shaking and Code Generation.</a:t>
            </a:r>
            <a:endParaRPr lang="en-US" altLang="zh-CN"/>
          </a:p>
          <a:p>
            <a:pPr lvl="1"/>
            <a:r>
              <a:rPr lang="en-US" altLang="zh-CN"/>
              <a:t>Improve compatibility with the web platform.</a:t>
            </a:r>
            <a:endParaRPr lang="en-US" altLang="zh-CN"/>
          </a:p>
          <a:p>
            <a:pPr lvl="1"/>
            <a:r>
              <a:rPr lang="en-US" altLang="zh-CN"/>
              <a:t>Clean up internal structures that were left in a weird state while implementing features in v4 without introducing any breaking changes.</a:t>
            </a:r>
            <a:endParaRPr lang="en-US" altLang="zh-CN"/>
          </a:p>
          <a:p>
            <a:pPr lvl="1"/>
            <a:r>
              <a:rPr lang="en-US" altLang="zh-CN"/>
              <a:t>Prepare for future features by introducing breaking changes now, allowing us to stay on v5 for as long as possible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Upgrade from 3 to 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67670" cy="5117465"/>
          </a:xfrm>
        </p:spPr>
        <p:txBody>
          <a:bodyPr>
            <a:normAutofit lnSpcReduction="10000"/>
          </a:bodyPr>
          <a:p>
            <a:r>
              <a:rPr lang="en-US" altLang="zh-CN" sz="1600"/>
              <a:t>Migrate 3 to 4</a:t>
            </a:r>
            <a:endParaRPr lang="en-US" altLang="zh-CN" sz="1600"/>
          </a:p>
          <a:p>
            <a:pPr lvl="1"/>
            <a:r>
              <a:rPr lang="en-US" altLang="zh-CN" sz="1400"/>
              <a:t>references</a:t>
            </a:r>
            <a:endParaRPr lang="en-US" altLang="zh-CN" sz="1400"/>
          </a:p>
          <a:p>
            <a:pPr lvl="2"/>
            <a:r>
              <a:rPr lang="en-US" altLang="zh-CN" sz="1200">
                <a:sym typeface="+mn-ea"/>
              </a:rPr>
              <a:t>https://webpack.js.org/migrate/4/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https://wxsm.space/2020/upgrade-webpack-of-vue-cli-projects-from-3-to-4/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https://blog.csdn.net/harsima/article/details/80819747</a:t>
            </a:r>
            <a:endParaRPr lang="en-US" altLang="zh-CN" sz="1200">
              <a:sym typeface="+mn-ea"/>
            </a:endParaRPr>
          </a:p>
          <a:p>
            <a:pPr lvl="2"/>
            <a:r>
              <a:rPr lang="en-US" altLang="zh-CN" sz="1200">
                <a:sym typeface="+mn-ea"/>
              </a:rPr>
              <a:t>https://dev.to/flexdinesh/upgrade-to-webpack-4---5bc5</a:t>
            </a:r>
            <a:endParaRPr lang="en-US" altLang="zh-CN" sz="1200">
              <a:sym typeface="+mn-ea"/>
            </a:endParaRPr>
          </a:p>
          <a:p>
            <a:pPr lvl="1"/>
            <a:r>
              <a:rPr lang="en-US" altLang="zh-CN" sz="1400"/>
              <a:t>improvements</a:t>
            </a:r>
            <a:endParaRPr lang="en-US" altLang="zh-CN" sz="1400"/>
          </a:p>
          <a:p>
            <a:pPr lvl="2"/>
            <a:r>
              <a:rPr lang="en-US" altLang="zh-CN" sz="1200"/>
              <a:t>Performance improvements and faster build times (up to 98% faster)</a:t>
            </a:r>
            <a:endParaRPr lang="en-US" altLang="zh-CN" sz="1200"/>
          </a:p>
          <a:p>
            <a:pPr lvl="1"/>
            <a:r>
              <a:rPr lang="en-US" altLang="zh-CN" sz="1400"/>
              <a:t>Steps</a:t>
            </a:r>
            <a:endParaRPr lang="en-US" altLang="zh-CN" sz="1400"/>
          </a:p>
          <a:p>
            <a:pPr lvl="2"/>
            <a:r>
              <a:rPr lang="en-US" altLang="zh-CN" sz="1200"/>
              <a:t>cnpm i -D webpack@4</a:t>
            </a:r>
            <a:endParaRPr lang="en-US" altLang="zh-CN" sz="1200"/>
          </a:p>
          <a:p>
            <a:pPr lvl="2"/>
            <a:r>
              <a:rPr lang="en-US" altLang="zh-CN" sz="1200"/>
              <a:t>add VueLoaderPlugin to webpack.base.conf.js</a:t>
            </a:r>
            <a:endParaRPr lang="en-US" altLang="zh-CN" sz="1200"/>
          </a:p>
          <a:p>
            <a:pPr lvl="2"/>
            <a:r>
              <a:rPr lang="en-US" altLang="zh-CN" sz="1200"/>
              <a:t>upgrade packages</a:t>
            </a:r>
            <a:endParaRPr lang="en-US" altLang="zh-CN" sz="1200"/>
          </a:p>
          <a:p>
            <a:pPr lvl="3"/>
            <a:r>
              <a:rPr lang="en-US" altLang="zh-CN" sz="1060"/>
              <a:t>upgrade html-webpack-plugin to 4, upgrade eslint-loader to 2, upgrade vue-loader to 15</a:t>
            </a:r>
            <a:endParaRPr lang="en-US" altLang="zh-CN" sz="1060"/>
          </a:p>
          <a:p>
            <a:pPr lvl="2"/>
            <a:r>
              <a:rPr lang="en-US" altLang="zh-CN" sz="1200"/>
              <a:t>modify build/webpack.base.conf.js, add below line to module.exports</a:t>
            </a:r>
            <a:endParaRPr lang="en-US" altLang="zh-CN" sz="1200"/>
          </a:p>
          <a:p>
            <a:pPr lvl="3"/>
            <a:r>
              <a:rPr lang="en-US" altLang="zh-CN" sz="1060"/>
              <a:t>const devMode = process.env.NODE_ENV !== "production";</a:t>
            </a:r>
            <a:endParaRPr lang="en-US" altLang="zh-CN" sz="1060"/>
          </a:p>
          <a:p>
            <a:pPr lvl="3"/>
            <a:r>
              <a:rPr lang="en-US" altLang="zh-CN" sz="1060"/>
              <a:t>mode: process.env.NODE_ENV === 'production' ? 'production' : 'development',</a:t>
            </a:r>
            <a:endParaRPr lang="en-US" altLang="zh-CN" sz="1060"/>
          </a:p>
          <a:p>
            <a:pPr lvl="2"/>
            <a:r>
              <a:rPr lang="en-US" altLang="zh-CN" sz="1200"/>
              <a:t>modify from build/webpack.prod.conf.js</a:t>
            </a:r>
            <a:endParaRPr lang="en-US" altLang="zh-CN" sz="1200"/>
          </a:p>
          <a:p>
            <a:pPr lvl="3"/>
            <a:r>
              <a:rPr lang="en-US" altLang="zh-CN" sz="1060">
                <a:sym typeface="+mn-ea"/>
              </a:rPr>
              <a:t>remove modules: </a:t>
            </a:r>
            <a:r>
              <a:rPr lang="en-US" altLang="zh-CN" sz="1060"/>
              <a:t>NoEmitOnErrorsPlugin</a:t>
            </a:r>
            <a:r>
              <a:rPr lang="zh-CN" altLang="en-US" sz="1060"/>
              <a:t>、ModuleConcatenationPlugin、NamedModulesPlugin、CommonsChunkPlugin、</a:t>
            </a:r>
            <a:r>
              <a:rPr lang="en-US" altLang="zh-CN" sz="1060"/>
              <a:t>HashedModuleIdsPlugin</a:t>
            </a:r>
            <a:r>
              <a:rPr lang="zh-CN" altLang="en-US" sz="1060"/>
              <a:t>、</a:t>
            </a:r>
            <a:r>
              <a:rPr lang="en-US" altLang="zh-CN" sz="1060"/>
              <a:t>UglifyJsPlugin</a:t>
            </a:r>
            <a:endParaRPr lang="en-US" altLang="zh-CN" sz="1060"/>
          </a:p>
          <a:p>
            <a:pPr lvl="3"/>
            <a:r>
              <a:rPr lang="en-US" altLang="zh-CN" sz="1060"/>
              <a:t>replace extract-text-webpack-plugin with mini-css-extract-plugin@1</a:t>
            </a:r>
            <a:endParaRPr lang="en-US" altLang="zh-CN" sz="1060"/>
          </a:p>
          <a:p>
            <a:pPr lvl="2"/>
            <a:r>
              <a:rPr lang="en-US" altLang="zh-CN" sz="1060"/>
              <a:t>support npm run dev</a:t>
            </a:r>
            <a:endParaRPr lang="en-US" altLang="zh-CN" sz="1060"/>
          </a:p>
          <a:p>
            <a:pPr lvl="3"/>
            <a:r>
              <a:rPr lang="en-US" altLang="zh-CN" sz="1060"/>
              <a:t>cnpm i -D webpack-cli webpack-dev-server@3</a:t>
            </a:r>
            <a:endParaRPr lang="en-US" altLang="zh-CN" sz="1060"/>
          </a:p>
          <a:p>
            <a:pPr lvl="3"/>
            <a:r>
              <a:rPr lang="en-US" altLang="zh-CN" sz="1060"/>
              <a:t>in package.json, change webpack-dev-server to webpack serve</a:t>
            </a:r>
            <a:endParaRPr lang="en-US" altLang="zh-CN" sz="1060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Modules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Code Splitting</a:t>
            </a:r>
            <a:endParaRPr lang="zh-CN" altLang="en-US"/>
          </a:p>
          <a:p>
            <a:pPr lvl="1"/>
            <a:r>
              <a:rPr lang="zh-CN" altLang="en-US"/>
              <a:t>Entry Points: Manually split code using entry configuration.</a:t>
            </a:r>
            <a:endParaRPr lang="zh-CN" altLang="en-US"/>
          </a:p>
          <a:p>
            <a:pPr lvl="1"/>
            <a:r>
              <a:rPr lang="zh-CN" altLang="en-US"/>
              <a:t>Prevent Duplication: Use the SplitChunksPlugin to dedupe and split chunks.</a:t>
            </a:r>
            <a:endParaRPr lang="zh-CN" altLang="en-US"/>
          </a:p>
          <a:p>
            <a:pPr lvl="1"/>
            <a:r>
              <a:rPr lang="zh-CN" altLang="en-US"/>
              <a:t>Dynamic Imports: Split code via inline function calls within modules.</a:t>
            </a:r>
            <a:endParaRPr lang="zh-CN" altLang="en-US"/>
          </a:p>
          <a:p>
            <a:pPr lvl="0"/>
            <a:r>
              <a:rPr lang="en-US" altLang="zh-CN"/>
              <a:t>Optimization</a:t>
            </a:r>
            <a:endParaRPr lang="en-US" altLang="zh-CN"/>
          </a:p>
          <a:p>
            <a:pPr lvl="1"/>
            <a:r>
              <a:rPr lang="en-US" altLang="zh-CN"/>
              <a:t>https://v4.webpack.js.org/configuration/optimization/</a:t>
            </a:r>
            <a:endParaRPr lang="en-US" altLang="zh-CN"/>
          </a:p>
          <a:p>
            <a:pPr lvl="1"/>
            <a:r>
              <a:rPr lang="en-US" altLang="zh-CN"/>
              <a:t>moduleIds: natural (numeric), named, hashed (better long-term caching), size, total-size</a:t>
            </a:r>
            <a:endParaRPr lang="en-US" altLang="zh-CN"/>
          </a:p>
          <a:p>
            <a:pPr lvl="1"/>
            <a:r>
              <a:rPr lang="en-US" altLang="zh-CN"/>
              <a:t>chunkIds: natural (numeric), named, size, total-size</a:t>
            </a:r>
            <a:endParaRPr lang="en-US" altLang="zh-CN"/>
          </a:p>
          <a:p>
            <a:pPr lvl="0"/>
            <a:r>
              <a:rPr lang="en-US" altLang="zh-CN" sz="2400"/>
              <a:t>Bundle Analysis</a:t>
            </a:r>
            <a:endParaRPr lang="en-US" altLang="zh-CN" sz="2400"/>
          </a:p>
          <a:p>
            <a:pPr lvl="1"/>
            <a:r>
              <a:rPr lang="en-US" altLang="zh-CN" sz="2000"/>
              <a:t>analyse</a:t>
            </a:r>
            <a:endParaRPr lang="en-US" altLang="zh-CN" sz="2000"/>
          </a:p>
          <a:p>
            <a:pPr lvl="2"/>
            <a:r>
              <a:rPr lang="en-US" altLang="zh-CN"/>
              <a:t>https://github.com/webpack/analyse</a:t>
            </a:r>
            <a:endParaRPr lang="en-US" altLang="zh-CN" sz="1800"/>
          </a:p>
          <a:p>
            <a:pPr lvl="2"/>
            <a:r>
              <a:rPr lang="en-US" altLang="zh-CN"/>
              <a:t>webpack --json &gt; stats.json</a:t>
            </a:r>
            <a:endParaRPr lang="en-US" altLang="zh-CN"/>
          </a:p>
          <a:p>
            <a:pPr lvl="1"/>
            <a:r>
              <a:rPr lang="en-US" altLang="zh-CN"/>
              <a:t>webpack-chart</a:t>
            </a:r>
            <a:endParaRPr lang="en-US" altLang="zh-CN"/>
          </a:p>
          <a:p>
            <a:pPr lvl="2"/>
            <a:r>
              <a:rPr lang="en-US" altLang="zh-CN"/>
              <a:t>https://alexkuz.github.io/webpack-chart/	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Modules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html-webkit-plugin</a:t>
            </a:r>
            <a:endParaRPr lang="en-US" altLang="zh-CN"/>
          </a:p>
          <a:p>
            <a:pPr lvl="1"/>
            <a:r>
              <a:rPr lang="en-US" altLang="zh-CN"/>
              <a:t>https://github.com/jantimon/html-webpack-plugin#writing-your-own-templates</a:t>
            </a:r>
            <a:endParaRPr lang="en-US" altLang="zh-CN"/>
          </a:p>
          <a:p>
            <a:pPr lvl="1"/>
            <a:r>
              <a:rPr lang="en-US" altLang="zh-CN"/>
              <a:t>simplifies creation of HTML files to serve your webpack bundles</a:t>
            </a:r>
            <a:endParaRPr lang="en-US" altLang="zh-CN"/>
          </a:p>
          <a:p>
            <a:pPr lvl="0"/>
            <a:r>
              <a:rPr lang="en-US" altLang="zh-CN"/>
              <a:t>mini-css-extract-plugin</a:t>
            </a:r>
            <a:endParaRPr lang="en-US" altLang="zh-CN"/>
          </a:p>
          <a:p>
            <a:pPr lvl="1"/>
            <a:r>
              <a:rPr lang="en-US" altLang="zh-CN"/>
              <a:t>https://github.com/webpack-contrib/mini-css-extract-plugin</a:t>
            </a:r>
            <a:endParaRPr lang="en-US" altLang="zh-CN"/>
          </a:p>
          <a:p>
            <a:pPr lvl="1"/>
            <a:r>
              <a:rPr lang="en-US" altLang="zh-CN"/>
              <a:t>This plugin extracts CSS into separate files. It creates a CSS file per JS file which contains CSS. It supports On-Demand-Loading of CSS and SourceMaps.</a:t>
            </a:r>
            <a:endParaRPr lang="en-US" altLang="zh-CN"/>
          </a:p>
          <a:p>
            <a:pPr lvl="0"/>
            <a:r>
              <a:rPr lang="en-US" altLang="zh-CN"/>
              <a:t>clean-webpack-plugin</a:t>
            </a:r>
            <a:endParaRPr lang="en-US" altLang="zh-CN"/>
          </a:p>
          <a:p>
            <a:pPr lvl="1"/>
            <a:r>
              <a:rPr lang="en-US" altLang="zh-CN"/>
              <a:t>clean webpack output</a:t>
            </a:r>
            <a:endParaRPr lang="en-US" altLang="zh-CN"/>
          </a:p>
          <a:p>
            <a:pPr lvl="0"/>
            <a:r>
              <a:rPr lang="en-US" altLang="zh-CN"/>
              <a:t>SplitChunksPlugin</a:t>
            </a:r>
            <a:endParaRPr lang="en-US" altLang="zh-CN"/>
          </a:p>
          <a:p>
            <a:pPr lvl="1"/>
            <a:r>
              <a:rPr lang="en-US" altLang="zh-CN"/>
              <a:t>https://v4.webpack.js.org/plugins/split-chunks-plugin/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SEO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General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20155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https://www.digitalocean.com/community/tutorials/vuejs-vue-seo-tips</a:t>
            </a:r>
            <a:endParaRPr lang="en-US" altLang="zh-CN"/>
          </a:p>
          <a:p>
            <a:pPr lvl="0"/>
            <a:r>
              <a:rPr lang="en-US" altLang="zh-CN"/>
              <a:t>Tools</a:t>
            </a:r>
            <a:endParaRPr lang="en-US" altLang="zh-CN"/>
          </a:p>
          <a:p>
            <a:pPr lvl="1"/>
            <a:r>
              <a:rPr lang="en-US" altLang="zh-CN" sz="2000"/>
              <a:t>Lighthouse Chrome extension</a:t>
            </a:r>
            <a:endParaRPr lang="en-US" altLang="zh-CN"/>
          </a:p>
          <a:p>
            <a:r>
              <a:rPr lang="en-US" altLang="zh-CN"/>
              <a:t>TKD</a:t>
            </a:r>
            <a:endParaRPr lang="en-US" altLang="zh-CN"/>
          </a:p>
          <a:p>
            <a:pPr lvl="1"/>
            <a:r>
              <a:rPr lang="en-US" altLang="zh-CN"/>
              <a:t>title</a:t>
            </a:r>
            <a:endParaRPr lang="en-US" altLang="zh-CN"/>
          </a:p>
          <a:p>
            <a:pPr lvl="2"/>
            <a:r>
              <a:rPr lang="en-US" altLang="zh-CN"/>
              <a:t>document.title = ‘title’</a:t>
            </a:r>
            <a:endParaRPr lang="en-US" altLang="zh-CN"/>
          </a:p>
          <a:p>
            <a:pPr lvl="1"/>
            <a:r>
              <a:rPr lang="en-US" altLang="zh-CN"/>
              <a:t>description</a:t>
            </a:r>
            <a:endParaRPr lang="en-US" altLang="zh-CN"/>
          </a:p>
          <a:p>
            <a:pPr lvl="2"/>
            <a:r>
              <a:rPr lang="en-US" altLang="zh-CN"/>
              <a:t>vue-meta (https://vue-meta.nuxtjs.org/)</a:t>
            </a:r>
            <a:endParaRPr lang="en-US" altLang="zh-CN"/>
          </a:p>
          <a:p>
            <a:pPr lvl="1"/>
            <a:r>
              <a:rPr lang="en-US" altLang="zh-CN" sz="2000"/>
              <a:t>keyword</a:t>
            </a:r>
            <a:endParaRPr lang="en-US" altLang="zh-CN"/>
          </a:p>
          <a:p>
            <a:pPr lvl="2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545830" y="1466850"/>
            <a:ext cx="2981325" cy="19380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// Component.vue</a:t>
            </a:r>
            <a:endParaRPr lang="zh-CN" altLang="en-US" sz="1200"/>
          </a:p>
          <a:p>
            <a:r>
              <a:rPr lang="zh-CN" altLang="en-US" sz="1200"/>
              <a:t>{</a:t>
            </a:r>
            <a:endParaRPr lang="zh-CN" altLang="en-US" sz="1200"/>
          </a:p>
          <a:p>
            <a:r>
              <a:rPr lang="zh-CN" altLang="en-US" sz="1200"/>
              <a:t>  metaInfo: {</a:t>
            </a:r>
            <a:endParaRPr lang="zh-CN" altLang="en-US" sz="1200"/>
          </a:p>
          <a:p>
            <a:r>
              <a:rPr lang="zh-CN" altLang="en-US" sz="1200"/>
              <a:t>    meta: [</a:t>
            </a:r>
            <a:endParaRPr lang="zh-CN" altLang="en-US" sz="1200"/>
          </a:p>
          <a:p>
            <a:r>
              <a:rPr lang="zh-CN" altLang="en-US" sz="1200"/>
              <a:t>      { charset: 'utf-8' },</a:t>
            </a:r>
            <a:endParaRPr lang="zh-CN" altLang="en-US" sz="1200"/>
          </a:p>
          <a:p>
            <a:r>
              <a:rPr lang="zh-CN" altLang="en-US" sz="1200"/>
              <a:t>      { name: 'viewport', content: 'width=device-width, initial-scale=1' }</a:t>
            </a:r>
            <a:endParaRPr lang="zh-CN" altLang="en-US" sz="1200"/>
          </a:p>
          <a:p>
            <a:r>
              <a:rPr lang="zh-CN" altLang="en-US" sz="1200"/>
              <a:t>    ]</a:t>
            </a:r>
            <a:endParaRPr lang="zh-CN" altLang="en-US" sz="1200"/>
          </a:p>
          <a:p>
            <a:r>
              <a:rPr lang="zh-CN" altLang="en-US" sz="1200"/>
              <a:t>  }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8545830" y="3543935"/>
            <a:ext cx="2980690" cy="24917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var meta=document.getElementsByTagName("meta");</a:t>
            </a:r>
            <a:endParaRPr lang="zh-CN" altLang="en-US" sz="1200"/>
          </a:p>
          <a:p>
            <a:r>
              <a:rPr lang="zh-CN" altLang="en-US" sz="1200"/>
              <a:t>for (var i=0; i&lt;meta.length; i++) {</a:t>
            </a:r>
            <a:endParaRPr lang="zh-CN" altLang="en-US" sz="1200"/>
          </a:p>
          <a:p>
            <a:r>
              <a:rPr lang="zh-CN" altLang="en-US" sz="1200"/>
              <a:t>    if (meta[i].name.toLowerCase()=="description") {</a:t>
            </a:r>
            <a:endParaRPr lang="zh-CN" altLang="en-US" sz="1200"/>
          </a:p>
          <a:p>
            <a:r>
              <a:rPr lang="zh-CN" altLang="en-US" sz="1200"/>
              <a:t>        meta[i].content=document.getElementsByClassName("Category-H1")[0].innerHTML;</a:t>
            </a:r>
            <a:endParaRPr lang="zh-CN" altLang="en-US" sz="1200"/>
          </a:p>
          <a:p>
            <a:r>
              <a:rPr lang="zh-CN" altLang="en-US" sz="1200"/>
              <a:t>    }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Sitemap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171440"/>
          </a:xfrm>
        </p:spPr>
        <p:txBody>
          <a:bodyPr>
            <a:normAutofit fontScale="70000"/>
          </a:bodyPr>
          <a:p>
            <a:pPr lvl="0"/>
            <a:r>
              <a:rPr lang="en-US" altLang="zh-CN">
                <a:sym typeface="+mn-ea"/>
              </a:rPr>
              <a:t>vue-cli-plugin-sitemap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https://github.com/cheap-glitch/vue-cli-plugin-sitemap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vue add sitemap</a:t>
            </a:r>
            <a:endParaRPr lang="en-US" altLang="zh-CN"/>
          </a:p>
          <a:p>
            <a:pPr lvl="1"/>
            <a:r>
              <a:rPr lang="en-US" altLang="zh-CN"/>
              <a:t>cnpm i</a:t>
            </a:r>
            <a:endParaRPr lang="en-US" altLang="zh-CN"/>
          </a:p>
          <a:p>
            <a:pPr lvl="1"/>
            <a:r>
              <a:rPr lang="en-US" altLang="zh-CN"/>
              <a:t>cnpm i -S @vue/cli-service</a:t>
            </a:r>
            <a:endParaRPr lang="en-US" altLang="zh-CN"/>
          </a:p>
          <a:p>
            <a:pPr lvl="1"/>
            <a:r>
              <a:rPr lang="en-US" altLang="zh-CN"/>
              <a:t>cnpm i -S esm</a:t>
            </a:r>
            <a:endParaRPr lang="en-US" altLang="zh-CN"/>
          </a:p>
          <a:p>
            <a:pPr lvl="1"/>
            <a:r>
              <a:rPr lang="en-US" altLang="zh-CN"/>
              <a:t>create vue.config.js</a:t>
            </a:r>
            <a:endParaRPr lang="en-US" altLang="zh-CN"/>
          </a:p>
          <a:p>
            <a:pPr lvl="1"/>
            <a:r>
              <a:rPr lang="en-US" altLang="zh-CN"/>
              <a:t>rm -f ./sitemap.xml</a:t>
            </a:r>
            <a:endParaRPr lang="en-US" altLang="zh-CN"/>
          </a:p>
          <a:p>
            <a:pPr lvl="1"/>
            <a:r>
              <a:rPr lang="en-US" altLang="zh-CN"/>
              <a:t>npm run sitemap -- --pretty</a:t>
            </a:r>
            <a:endParaRPr lang="en-US" altLang="zh-CN"/>
          </a:p>
          <a:p>
            <a:pPr lvl="0"/>
            <a:r>
              <a:rPr lang="en-US" altLang="zh-CN"/>
              <a:t>sitemap-webpack-plugin</a:t>
            </a:r>
            <a:endParaRPr lang="en-US" altLang="zh-CN"/>
          </a:p>
          <a:p>
            <a:pPr lvl="1"/>
            <a:r>
              <a:rPr lang="en-US" altLang="zh-CN"/>
              <a:t>https://github.com/schneidmaster/sitemap-webpack-plugin</a:t>
            </a:r>
            <a:endParaRPr lang="en-US" altLang="zh-CN"/>
          </a:p>
          <a:p>
            <a:pPr lvl="1"/>
            <a:r>
              <a:rPr lang="en-US" altLang="zh-CN"/>
              <a:t>https://www.suprithreddy.com/sitemap-generation-for-vue-spas-using-webpack/</a:t>
            </a:r>
            <a:endParaRPr lang="en-US" altLang="zh-CN"/>
          </a:p>
          <a:p>
            <a:pPr lvl="1"/>
            <a:r>
              <a:rPr lang="en-US" altLang="zh-CN"/>
              <a:t>npm install sitemap-webpack-plugin --save-dev</a:t>
            </a:r>
            <a:endParaRPr lang="en-US" altLang="zh-CN"/>
          </a:p>
          <a:p>
            <a:pPr lvl="0"/>
            <a:r>
              <a:rPr lang="en-US" altLang="zh-CN"/>
              <a:t>vue-router-sitemap</a:t>
            </a:r>
            <a:endParaRPr lang="en-US" altLang="zh-CN"/>
          </a:p>
          <a:p>
            <a:pPr lvl="1"/>
            <a:r>
              <a:rPr lang="en-US" altLang="zh-CN"/>
              <a:t>https://github.com/40818419/vue-router-sitemap</a:t>
            </a:r>
            <a:endParaRPr lang="en-US" altLang="zh-CN"/>
          </a:p>
          <a:p>
            <a:pPr lvl="1"/>
            <a:r>
              <a:rPr lang="en-US" altLang="zh-CN"/>
              <a:t>cnpm i --save-dev vue-router-sitemap</a:t>
            </a:r>
            <a:endParaRPr lang="en-US" altLang="zh-CN"/>
          </a:p>
          <a:p>
            <a:pPr lvl="0"/>
            <a:r>
              <a:rPr lang="en-US" altLang="zh-CN" sz="2400"/>
              <a:t>Validate</a:t>
            </a:r>
            <a:endParaRPr lang="en-US" altLang="zh-CN" sz="2400"/>
          </a:p>
          <a:p>
            <a:pPr lvl="1"/>
            <a:r>
              <a:rPr lang="en-US" altLang="zh-CN"/>
              <a:t>https://www.xml-sitemaps.com/validate-xml-sitemap.html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173470" cy="5022850"/>
          </a:xfrm>
        </p:spPr>
        <p:txBody>
          <a:bodyPr>
            <a:noAutofit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https://segmentfault.com/a/1190000023481810?utm_source=sf-similar-article</a:t>
            </a:r>
            <a:endParaRPr lang="en-US" altLang="zh-CN" sz="1600"/>
          </a:p>
          <a:p>
            <a:r>
              <a:rPr lang="en-US" altLang="zh-CN" sz="1800"/>
              <a:t>CSR (Client-Side Rendering)</a:t>
            </a:r>
            <a:endParaRPr lang="en-US" altLang="zh-CN" sz="1800"/>
          </a:p>
          <a:p>
            <a:pPr lvl="1"/>
            <a:r>
              <a:rPr lang="zh-CN" altLang="en-US" sz="1600"/>
              <a:t>缺点</a:t>
            </a:r>
            <a:r>
              <a:rPr lang="en-US" altLang="zh-CN" sz="1600"/>
              <a:t>: SEO不友好（爬虫如果没有执行js的能力，如百度，获取到的页面是空的，不利于网站推广）, 首屏加载慢（到达浏览器端后再加载数据，增加用户等待时间）</a:t>
            </a:r>
            <a:endParaRPr lang="en-US" altLang="zh-CN" sz="1600"/>
          </a:p>
          <a:p>
            <a:r>
              <a:rPr lang="en-US" altLang="zh-CN" sz="1800"/>
              <a:t>SSR (Server-Side Rendering)</a:t>
            </a:r>
            <a:endParaRPr lang="en-US" altLang="zh-CN" sz="1800"/>
          </a:p>
          <a:p>
            <a:pPr lvl="1"/>
            <a:r>
              <a:rPr lang="en-US" altLang="zh-CN" sz="1600"/>
              <a:t>Vue: Nuxt.js</a:t>
            </a:r>
            <a:endParaRPr lang="en-US" altLang="zh-CN" sz="1600"/>
          </a:p>
          <a:p>
            <a:pPr lvl="1"/>
            <a:r>
              <a:rPr lang="en-US" altLang="zh-CN" sz="1600"/>
              <a:t>React: Nextjs</a:t>
            </a:r>
            <a:endParaRPr lang="en-US" altLang="zh-CN" sz="1600"/>
          </a:p>
          <a:p>
            <a:pPr lvl="1"/>
            <a:r>
              <a:rPr lang="zh-CN" altLang="en-US" sz="1600"/>
              <a:t>缺点</a:t>
            </a:r>
            <a:r>
              <a:rPr lang="en-US" altLang="zh-CN" sz="1600"/>
              <a:t>: </a:t>
            </a:r>
            <a:r>
              <a:rPr lang="zh-CN" altLang="en-US" sz="1600"/>
              <a:t>代码改动大</a:t>
            </a:r>
            <a:r>
              <a:rPr lang="en-US" altLang="zh-CN" sz="1600"/>
              <a:t>,Node</a:t>
            </a:r>
            <a:r>
              <a:rPr lang="zh-CN" altLang="en-US" sz="1600"/>
              <a:t>容易成为性能瓶颈</a:t>
            </a:r>
            <a:endParaRPr lang="zh-CN" altLang="en-US" sz="1400"/>
          </a:p>
          <a:p>
            <a:pPr lvl="0"/>
            <a:r>
              <a:rPr lang="en-US" altLang="zh-CN" sz="1800"/>
              <a:t>Prerender</a:t>
            </a:r>
            <a:endParaRPr lang="en-US" altLang="zh-CN" sz="1800"/>
          </a:p>
          <a:p>
            <a:pPr lvl="1"/>
            <a:r>
              <a:rPr lang="zh-CN" altLang="en-US" sz="1500"/>
              <a:t>prerender-spa-plugin</a:t>
            </a:r>
            <a:endParaRPr lang="zh-CN" altLang="en-US" sz="1500"/>
          </a:p>
          <a:p>
            <a:pPr lvl="0"/>
            <a:r>
              <a:rPr lang="zh-CN" altLang="en-US" sz="1800"/>
              <a:t>服务端动态渲染（利用user-agent）</a:t>
            </a:r>
            <a:endParaRPr lang="zh-CN" altLang="en-US" sz="1800"/>
          </a:p>
          <a:p>
            <a:pPr lvl="1"/>
            <a:r>
              <a:rPr lang="en-US" altLang="zh-CN" sz="1600"/>
              <a:t>puppeteer, rendertron, prerender.io (https://prerender.io/)</a:t>
            </a:r>
            <a:endParaRPr lang="en-US" altLang="zh-CN" sz="1600"/>
          </a:p>
          <a:p>
            <a:pPr lvl="1"/>
            <a:endParaRPr lang="en-US" altLang="zh-CN" sz="1600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7011670" y="5120640"/>
            <a:ext cx="4876165" cy="12522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Prerender.io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https://prerender.io/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https://docs.prerender.io/article/15-getting-started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000">
                <a:sym typeface="+mn-ea"/>
              </a:rPr>
              <a:t>https://dashboard.prerender.io/</a:t>
            </a:r>
            <a:endParaRPr lang="en-US" altLang="zh-CN" sz="2000">
              <a:sym typeface="+mn-ea"/>
            </a:endParaRPr>
          </a:p>
          <a:p>
            <a:pPr lvl="0"/>
            <a:r>
              <a:rPr lang="en-US" altLang="zh-CN" sz="2400"/>
              <a:t>Steps</a:t>
            </a:r>
            <a:endParaRPr lang="en-US" altLang="zh-CN" sz="2400"/>
          </a:p>
          <a:p>
            <a:pPr lvl="1"/>
            <a:r>
              <a:rPr lang="en-US" altLang="zh-CN" sz="2000"/>
              <a:t>Nginx config</a:t>
            </a:r>
            <a:endParaRPr lang="en-US" altLang="zh-CN" sz="2000"/>
          </a:p>
          <a:p>
            <a:pPr lvl="2"/>
            <a:r>
              <a:rPr lang="en-US" altLang="zh-CN"/>
              <a:t>proxy_set_header X-Prerender-Token cv7MlHMCkxu392Ftd1Iq;</a:t>
            </a:r>
            <a:endParaRPr lang="en-US" altLang="zh-CN"/>
          </a:p>
          <a:p>
            <a:pPr lvl="1"/>
            <a:r>
              <a:rPr lang="en-US" altLang="zh-CN"/>
              <a:t>curl -H "X-Prerender-Token: </a:t>
            </a:r>
            <a:r>
              <a:rPr lang="en-US" altLang="zh-CN">
                <a:sym typeface="+mn-ea"/>
              </a:rPr>
              <a:t>cv7MlHMCkxu392Ftd1Iq</a:t>
            </a:r>
            <a:r>
              <a:rPr lang="en-US" altLang="zh-CN"/>
              <a:t>" https://service.prerender.io/https://fishpano.com/</a:t>
            </a:r>
            <a:endParaRPr lang="en-US" altLang="zh-CN"/>
          </a:p>
          <a:p>
            <a:pPr lvl="1"/>
            <a:r>
              <a:rPr lang="en-US" altLang="zh-CN"/>
              <a:t>install middleware</a:t>
            </a:r>
            <a:endParaRPr lang="en-US" altLang="zh-CN"/>
          </a:p>
          <a:p>
            <a:pPr lvl="2"/>
            <a:r>
              <a:rPr lang="en-US" altLang="zh-CN"/>
              <a:t>nginx reverse proxy</a:t>
            </a:r>
            <a:endParaRPr lang="en-US" altLang="zh-CN"/>
          </a:p>
          <a:p>
            <a:pPr lvl="3"/>
            <a:r>
              <a:rPr lang="en-US" altLang="zh-CN"/>
              <a:t>https://github.com/prerender/prerender-nginx/blob/master/nginx-reverse-proxy/nginx.conf</a:t>
            </a:r>
            <a:endParaRPr lang="en-US" altLang="zh-CN"/>
          </a:p>
          <a:p>
            <a:pPr lvl="1"/>
            <a:r>
              <a:rPr lang="en-US" altLang="zh-CN"/>
              <a:t>test middleware</a:t>
            </a:r>
            <a:endParaRPr lang="en-US" altLang="zh-CN"/>
          </a:p>
          <a:p>
            <a:pPr lvl="2"/>
            <a:r>
              <a:rPr lang="en-US" altLang="zh-CN"/>
              <a:t>curl -A Googlebot https://fishpano.com/</a:t>
            </a:r>
            <a:endParaRPr lang="en-US" altLang="zh-CN"/>
          </a:p>
          <a:p>
            <a:pPr lvl="2"/>
            <a:r>
              <a:rPr lang="en-US" altLang="zh-CN"/>
              <a:t>curl -A Baiduspider https://fishpano.com/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Phantomjs 1/2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86195" cy="5227320"/>
          </a:xfrm>
        </p:spPr>
        <p:txBody>
          <a:bodyPr>
            <a:normAutofit fontScale="6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zh-CN" altLang="en-US"/>
              <a:t>https://blog.csdn.net/dengzy926/article/details/105397730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https://www.jianshu.com/p/3b72c08cafb2</a:t>
            </a:r>
            <a:endParaRPr lang="zh-CN" altLang="en-US"/>
          </a:p>
          <a:p>
            <a:pPr lvl="0"/>
            <a:r>
              <a:rPr lang="en-US" altLang="zh-CN"/>
              <a:t>使用Phantomjs针对爬虫做处理</a:t>
            </a:r>
            <a:endParaRPr lang="en-US" altLang="zh-CN"/>
          </a:p>
          <a:p>
            <a:pPr lvl="1"/>
            <a:r>
              <a:rPr lang="en-US" altLang="zh-CN"/>
              <a:t>对已用SPA开发完成的项目，这是不二之选</a:t>
            </a:r>
            <a:endParaRPr lang="en-US" altLang="zh-CN"/>
          </a:p>
          <a:p>
            <a:pPr lvl="1"/>
            <a:r>
              <a:rPr lang="en-US" altLang="zh-CN"/>
              <a:t>无界面的webkit内核浏览器</a:t>
            </a:r>
            <a:endParaRPr lang="en-US" altLang="zh-CN"/>
          </a:p>
          <a:p>
            <a:pPr lvl="1"/>
            <a:r>
              <a:rPr lang="en-US" altLang="zh-CN"/>
              <a:t>通过Nginx配置，判断访问的来源UA是否是爬虫访问，如果是则将搜索引擎的爬虫请求转发到一个node server，再通过PhantomJS来解析完整的HTML，返回给爬虫。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Steps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install method 1</a:t>
            </a:r>
            <a:endParaRPr lang="en-US" altLang="zh-CN" sz="2400">
              <a:sym typeface="+mn-ea"/>
            </a:endParaRPr>
          </a:p>
          <a:p>
            <a:pPr lvl="2"/>
            <a:r>
              <a:rPr lang="en-US" altLang="zh-CN" sz="2400">
                <a:sym typeface="+mn-ea"/>
              </a:rPr>
              <a:t>npm i phantomjs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install method 2</a:t>
            </a:r>
            <a:endParaRPr lang="en-US" altLang="zh-CN" sz="2400">
              <a:sym typeface="+mn-ea"/>
            </a:endParaRPr>
          </a:p>
          <a:p>
            <a:pPr lvl="2"/>
            <a:r>
              <a:rPr lang="en-US" altLang="zh-CN" sz="2400">
                <a:sym typeface="+mn-ea"/>
              </a:rPr>
              <a:t>wget https://bitbucket.org/ariya/phantomjs/downloads/phantomjs-2.1.1-linux-x86_64.tar.bz2 </a:t>
            </a:r>
            <a:endParaRPr lang="en-US" altLang="zh-CN" sz="2400"/>
          </a:p>
          <a:p>
            <a:pPr lvl="2"/>
            <a:r>
              <a:rPr lang="en-US" altLang="zh-CN" sz="2400">
                <a:sym typeface="+mn-ea"/>
              </a:rPr>
              <a:t>tar xvjf phantomjs-2.1.1-linux-x86_64.tar.bz2 -C /usr/local/share/ 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git clone https://github.com/lengziyu/vue-seo-phantomjs.git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cd vue-seo-phantomjs &amp;&amp; phantomjs --debug=true spider.js 'https://www.baidu.com'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164830" y="1211580"/>
            <a:ext cx="3506470" cy="489267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p>
            <a:r>
              <a:rPr lang="zh-CN" altLang="en-US" sz="1200"/>
              <a:t>upstream spider_server {</a:t>
            </a:r>
            <a:endParaRPr lang="zh-CN" altLang="en-US" sz="1200"/>
          </a:p>
          <a:p>
            <a:r>
              <a:rPr lang="zh-CN" altLang="en-US" sz="1200"/>
              <a:t>  server localhost:3000;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server {</a:t>
            </a:r>
            <a:endParaRPr lang="zh-CN" altLang="en-US" sz="1200"/>
          </a:p>
          <a:p>
            <a:r>
              <a:rPr lang="zh-CN" altLang="en-US" sz="1200"/>
              <a:t>    listen       80;</a:t>
            </a:r>
            <a:endParaRPr lang="zh-CN" altLang="en-US" sz="1200"/>
          </a:p>
          <a:p>
            <a:r>
              <a:rPr lang="zh-CN" altLang="en-US" sz="1200"/>
              <a:t>    server_name  example.com;</a:t>
            </a:r>
            <a:endParaRPr lang="zh-CN" altLang="en-US" sz="1200"/>
          </a:p>
          <a:p>
            <a:r>
              <a:rPr lang="zh-CN" altLang="en-US" sz="1200"/>
              <a:t>    </a:t>
            </a:r>
            <a:endParaRPr lang="zh-CN" altLang="en-US" sz="1200"/>
          </a:p>
          <a:p>
            <a:r>
              <a:rPr lang="zh-CN" altLang="en-US" sz="1200"/>
              <a:t>    location / {</a:t>
            </a:r>
            <a:endParaRPr lang="zh-CN" altLang="en-US" sz="1200"/>
          </a:p>
          <a:p>
            <a:r>
              <a:rPr lang="zh-CN" altLang="en-US" sz="1200"/>
              <a:t>      proxy_set_header  Host            $host:$proxy_port;</a:t>
            </a:r>
            <a:endParaRPr lang="zh-CN" altLang="en-US" sz="1200"/>
          </a:p>
          <a:p>
            <a:r>
              <a:rPr lang="zh-CN" altLang="en-US" sz="1200"/>
              <a:t>      proxy_set_header  X-Real-IP       $remote_addr;</a:t>
            </a:r>
            <a:endParaRPr lang="zh-CN" altLang="en-US" sz="1200"/>
          </a:p>
          <a:p>
            <a:r>
              <a:rPr lang="zh-CN" altLang="en-US" sz="1200"/>
              <a:t>      proxy_set_header  X-Forwarded-For $proxy_add_x_forwarded_for;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      if ($http_user_agent ~* "Baiduspider|twitterbot|facebookexternalhit|rogerbot|linkedinbot|embedly|quora link preview|showyoubot|outbrain|pinterest|slackbot|vkShare|W3C_Validator|bingbot|Sosospider|Sogou Pic Spider|Googlebot|360Spider") {</a:t>
            </a:r>
            <a:endParaRPr lang="zh-CN" altLang="en-US" sz="1200"/>
          </a:p>
          <a:p>
            <a:r>
              <a:rPr lang="zh-CN" altLang="en-US" sz="1200"/>
              <a:t>        proxy_pass  http://spider_server;</a:t>
            </a:r>
            <a:endParaRPr lang="zh-CN" altLang="en-US" sz="1200"/>
          </a:p>
          <a:p>
            <a:r>
              <a:rPr lang="zh-CN" altLang="en-US" sz="1200"/>
              <a:t>      }</a:t>
            </a:r>
            <a:endParaRPr lang="zh-CN" altLang="en-US" sz="1200"/>
          </a:p>
          <a:p>
            <a:r>
              <a:rPr lang="zh-CN" altLang="en-US" sz="1200"/>
              <a:t>    }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Phantomjs 2/2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 sz="2000">
                <a:sym typeface="+mn-ea"/>
              </a:rPr>
              <a:t>Issues &amp; Solutions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phantonjs ReferenceError: Can't find variable: Promise</a:t>
            </a:r>
            <a:endParaRPr lang="en-US" altLang="zh-CN"/>
          </a:p>
          <a:p>
            <a:pPr lvl="2"/>
            <a:r>
              <a:rPr lang="en-US" altLang="zh-CN" sz="2000">
                <a:sym typeface="+mn-ea"/>
              </a:rPr>
              <a:t>cnpm i -S es6-promise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main.js:</a:t>
            </a:r>
            <a:endParaRPr lang="en-US" altLang="zh-CN" sz="2000"/>
          </a:p>
          <a:p>
            <a:pPr lvl="3"/>
            <a:r>
              <a:rPr lang="en-US" altLang="zh-CN" sz="2000">
                <a:sym typeface="+mn-ea"/>
              </a:rPr>
              <a:t>import Promise from ‘es6-promise’</a:t>
            </a:r>
            <a:endParaRPr lang="en-US" altLang="zh-CN" sz="2000"/>
          </a:p>
          <a:p>
            <a:pPr lvl="3"/>
            <a:r>
              <a:rPr lang="en-US" altLang="zh-CN" sz="2000">
                <a:sym typeface="+mn-ea"/>
              </a:rPr>
              <a:t>Promise.polyfill()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/>
              <a:t>Resource error code= 6 , string= SSL handshake failed</a:t>
            </a:r>
            <a:endParaRPr lang="en-US" altLang="zh-CN"/>
          </a:p>
          <a:p>
            <a:pPr lvl="2"/>
            <a:r>
              <a:rPr lang="en-US" altLang="zh-CN"/>
              <a:t>phantomjs --ssl-protocol=any --ignore-ssl-errors=yes spider.js 'https://fishpano.com'</a:t>
            </a:r>
            <a:endParaRPr lang="en-US" altLang="zh-CN"/>
          </a:p>
          <a:p>
            <a:pPr lvl="1"/>
            <a:r>
              <a:rPr lang="en-US" altLang="zh-CN"/>
              <a:t>Error code: 5, Description: Operation canceled</a:t>
            </a:r>
            <a:endParaRPr lang="en-US" altLang="zh-CN" sz="2000"/>
          </a:p>
          <a:p>
            <a:pPr lvl="2"/>
            <a:r>
              <a:rPr lang="en-US" altLang="zh-CN"/>
              <a:t>page.settings.resourceTimeout = 10000;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Puppeteer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665"/>
              <a:t>https://developers.google.com/web/tools/puppeteer/articles/ssr</a:t>
            </a:r>
            <a:endParaRPr lang="en-US" altLang="zh-CN" sz="1665"/>
          </a:p>
          <a:p>
            <a:pPr lvl="1"/>
            <a:r>
              <a:rPr lang="en-US" altLang="zh-CN" sz="1665"/>
              <a:t>https://zhuanlan.zhihu.com/p/70006823</a:t>
            </a:r>
            <a:endParaRPr lang="en-US" altLang="zh-CN" sz="1665"/>
          </a:p>
          <a:p>
            <a:pPr lvl="1"/>
            <a:r>
              <a:rPr lang="en-US" altLang="zh-CN" sz="1665"/>
              <a:t>http://thetiso.github.io/2021/05/06/vue-seo/#more</a:t>
            </a:r>
            <a:endParaRPr lang="en-US" altLang="zh-CN" sz="1665"/>
          </a:p>
          <a:p>
            <a:pPr lvl="1"/>
            <a:r>
              <a:rPr lang="en-US" altLang="zh-CN" sz="1665"/>
              <a:t>https://github.com/skalfyfan/dockerized-puppeteer</a:t>
            </a:r>
            <a:endParaRPr lang="en-US" altLang="zh-CN" sz="1665"/>
          </a:p>
          <a:p>
            <a:pPr lvl="0"/>
            <a:r>
              <a:rPr lang="en-US" altLang="zh-CN" sz="1995"/>
              <a:t>Intro</a:t>
            </a:r>
            <a:endParaRPr lang="en-US" altLang="zh-CN" sz="1995"/>
          </a:p>
          <a:p>
            <a:pPr lvl="1"/>
            <a:r>
              <a:rPr lang="en-US" altLang="zh-CN" sz="1660"/>
              <a:t>headless browser to generate screenshots of web pages</a:t>
            </a:r>
            <a:endParaRPr lang="en-US" altLang="zh-CN" sz="1660"/>
          </a:p>
          <a:p>
            <a:pPr lvl="1"/>
            <a:r>
              <a:rPr lang="en-US" altLang="zh-CN" sz="1660"/>
              <a:t>test</a:t>
            </a:r>
            <a:endParaRPr lang="en-US" altLang="zh-CN" sz="1660"/>
          </a:p>
          <a:p>
            <a:pPr lvl="2"/>
            <a:r>
              <a:rPr lang="en-US" altLang="zh-CN" sz="1490"/>
              <a:t>curl -H 'User-agent:Baiduspider' https://fishpano.com</a:t>
            </a:r>
            <a:endParaRPr lang="en-US" altLang="zh-CN" sz="1490"/>
          </a:p>
          <a:p>
            <a:pPr lvl="2"/>
            <a:r>
              <a:rPr lang="en-US" altLang="zh-CN" sz="1490"/>
              <a:t>curl -A “Baiduspider” https://fishpano.com</a:t>
            </a:r>
            <a:endParaRPr lang="en-US" altLang="zh-CN" sz="1490"/>
          </a:p>
          <a:p>
            <a:pPr lvl="1"/>
            <a:r>
              <a:rPr lang="en-US" altLang="zh-CN" sz="1655"/>
              <a:t>No available complete solution including docker image</a:t>
            </a:r>
            <a:endParaRPr lang="en-US" altLang="zh-CN" sz="1655"/>
          </a:p>
          <a:p>
            <a:pPr lvl="1"/>
            <a:endParaRPr lang="en-US" altLang="zh-CN" sz="1800"/>
          </a:p>
        </p:txBody>
      </p:sp>
      <p:sp>
        <p:nvSpPr>
          <p:cNvPr id="4" name="文本框 3"/>
          <p:cNvSpPr txBox="1"/>
          <p:nvPr/>
        </p:nvSpPr>
        <p:spPr>
          <a:xfrm>
            <a:off x="8668385" y="1387475"/>
            <a:ext cx="2933065" cy="35998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主体	user-agent	用途</a:t>
            </a:r>
            <a:endParaRPr lang="zh-CN" altLang="en-US" sz="1200"/>
          </a:p>
          <a:p>
            <a:r>
              <a:rPr lang="zh-CN" altLang="en-US" sz="1200"/>
              <a:t>Google	googlebot	搜索引擎</a:t>
            </a:r>
            <a:endParaRPr lang="zh-CN" altLang="en-US" sz="1200"/>
          </a:p>
          <a:p>
            <a:r>
              <a:rPr lang="zh-CN" altLang="en-US" sz="1200"/>
              <a:t>Google	google-structured-data-testing-tool	测试工具</a:t>
            </a:r>
            <a:endParaRPr lang="zh-CN" altLang="en-US" sz="1200"/>
          </a:p>
          <a:p>
            <a:r>
              <a:rPr lang="zh-CN" altLang="en-US" sz="1200"/>
              <a:t>Google	Mediapartners-Google	Adsense广告网页被访问后，爬虫就来访</a:t>
            </a:r>
            <a:endParaRPr lang="zh-CN" altLang="en-US" sz="1200"/>
          </a:p>
          <a:p>
            <a:r>
              <a:rPr lang="zh-CN" altLang="en-US" sz="1200"/>
              <a:t>Microsoft	bingbot	搜索引擎</a:t>
            </a:r>
            <a:endParaRPr lang="zh-CN" altLang="en-US" sz="1200"/>
          </a:p>
          <a:p>
            <a:r>
              <a:rPr lang="zh-CN" altLang="en-US" sz="1200"/>
              <a:t>Linked	linkedinbot	应用内搜索</a:t>
            </a:r>
            <a:endParaRPr lang="zh-CN" altLang="en-US" sz="1200"/>
          </a:p>
          <a:p>
            <a:r>
              <a:rPr lang="zh-CN" altLang="en-US" sz="1200"/>
              <a:t>百度	baiduspider	搜索引擎</a:t>
            </a:r>
            <a:endParaRPr lang="zh-CN" altLang="en-US" sz="1200"/>
          </a:p>
          <a:p>
            <a:r>
              <a:rPr lang="zh-CN" altLang="en-US" sz="1200"/>
              <a:t>奇虎 360	360Spider	搜索引擎</a:t>
            </a:r>
            <a:endParaRPr lang="zh-CN" altLang="en-US" sz="1200"/>
          </a:p>
          <a:p>
            <a:r>
              <a:rPr lang="zh-CN" altLang="en-US" sz="1200"/>
              <a:t>搜狗	Sogou Spider	搜索引擎</a:t>
            </a:r>
            <a:endParaRPr lang="zh-CN" altLang="en-US" sz="1200"/>
          </a:p>
          <a:p>
            <a:r>
              <a:rPr lang="zh-CN" altLang="en-US" sz="1200"/>
              <a:t>Yahoo	Yahoo! Slurp China	搜索引擎</a:t>
            </a:r>
            <a:endParaRPr lang="zh-CN" altLang="en-US" sz="1200"/>
          </a:p>
          <a:p>
            <a:r>
              <a:rPr lang="zh-CN" altLang="en-US" sz="1200"/>
              <a:t>Yahoo	Yahoo! Slurp	搜索引擎</a:t>
            </a:r>
            <a:endParaRPr lang="zh-CN" altLang="en-US" sz="1200"/>
          </a:p>
          <a:p>
            <a:r>
              <a:rPr lang="zh-CN" altLang="en-US" sz="1200"/>
              <a:t>Twitter	twitterbot	应用内搜索</a:t>
            </a:r>
            <a:endParaRPr lang="zh-CN" altLang="en-US" sz="1200"/>
          </a:p>
          <a:p>
            <a:r>
              <a:rPr lang="zh-CN" altLang="en-US" sz="1200"/>
              <a:t>Facebook	facebookexternalhit	应用内搜索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Rendora 1/2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78245" cy="5260975"/>
          </a:xfrm>
        </p:spPr>
        <p:txBody>
          <a:bodyPr>
            <a:noAutofit/>
          </a:bodyPr>
          <a:p>
            <a:r>
              <a:rPr lang="en-US" altLang="zh-CN" sz="1600"/>
              <a:t>References</a:t>
            </a:r>
            <a:endParaRPr lang="en-US" altLang="zh-CN" sz="1600"/>
          </a:p>
          <a:p>
            <a:pPr lvl="1"/>
            <a:r>
              <a:rPr lang="en-US" altLang="zh-CN" sz="1400"/>
              <a:t>https://github.com/rendora/rendora</a:t>
            </a:r>
            <a:endParaRPr lang="en-US" altLang="zh-CN" sz="1400"/>
          </a:p>
          <a:p>
            <a:pPr lvl="1"/>
            <a:r>
              <a:rPr lang="en-US" altLang="zh-CN" sz="1400"/>
              <a:t>https://segmentfault.com/a/1190000019704882</a:t>
            </a:r>
            <a:endParaRPr lang="en-US" altLang="zh-CN" sz="1400"/>
          </a:p>
          <a:p>
            <a:pPr lvl="1"/>
            <a:r>
              <a:rPr lang="en-US" altLang="zh-CN" sz="1400"/>
              <a:t>https://github.com/rendora/dockerfiles</a:t>
            </a:r>
            <a:endParaRPr lang="en-US" altLang="zh-CN" sz="1400"/>
          </a:p>
          <a:p>
            <a:pPr lvl="1"/>
            <a:r>
              <a:rPr lang="en-US" altLang="zh-CN" sz="1400"/>
              <a:t>https://github.com/rendora/rendora/tree/master/docs/configuration</a:t>
            </a:r>
            <a:endParaRPr lang="en-US" altLang="zh-CN" sz="1400"/>
          </a:p>
          <a:p>
            <a:pPr lvl="0"/>
            <a:r>
              <a:rPr lang="en-US" altLang="zh-CN" sz="1600"/>
              <a:t>Intro</a:t>
            </a:r>
            <a:endParaRPr lang="en-US" altLang="zh-CN" sz="1600"/>
          </a:p>
          <a:p>
            <a:pPr lvl="1"/>
            <a:r>
              <a:rPr lang="en-US" altLang="zh-CN" sz="1400"/>
              <a:t>by default, listen on 3001 port</a:t>
            </a:r>
            <a:endParaRPr lang="en-US" altLang="zh-CN" sz="1400"/>
          </a:p>
          <a:p>
            <a:pPr lvl="1"/>
            <a:r>
              <a:rPr lang="en-US" altLang="zh-CN" sz="1400"/>
              <a:t>by default, headless chrome service listen on 9222 port</a:t>
            </a:r>
            <a:endParaRPr lang="en-US" altLang="zh-CN" sz="1400"/>
          </a:p>
          <a:p>
            <a:pPr lvl="1"/>
            <a:r>
              <a:rPr lang="en-US" altLang="zh-CN" sz="1400"/>
              <a:t>run on host network</a:t>
            </a:r>
            <a:endParaRPr lang="en-US" altLang="zh-CN" sz="1400"/>
          </a:p>
          <a:p>
            <a:pPr lvl="0"/>
            <a:r>
              <a:rPr lang="en-US" altLang="zh-CN" sz="1600"/>
              <a:t>Steps</a:t>
            </a:r>
            <a:endParaRPr lang="en-US" altLang="zh-CN" sz="1600"/>
          </a:p>
          <a:p>
            <a:pPr lvl="1"/>
            <a:r>
              <a:rPr lang="en-US" altLang="zh-CN" sz="1400"/>
              <a:t>git clone https://github.com/rendora/rendora</a:t>
            </a:r>
            <a:endParaRPr lang="en-US" altLang="zh-CN" sz="1400"/>
          </a:p>
          <a:p>
            <a:pPr lvl="1"/>
            <a:r>
              <a:rPr lang="en-US" altLang="zh-CN" sz="1400"/>
              <a:t>install go v1.17+</a:t>
            </a:r>
            <a:endParaRPr lang="en-US" altLang="zh-CN" sz="1400"/>
          </a:p>
          <a:p>
            <a:pPr lvl="1"/>
            <a:r>
              <a:rPr lang="en-US" altLang="zh-CN" sz="1400"/>
              <a:t>configure go</a:t>
            </a:r>
            <a:endParaRPr lang="en-US" altLang="zh-CN" sz="1400"/>
          </a:p>
          <a:p>
            <a:pPr lvl="2"/>
            <a:r>
              <a:rPr lang="en-US" altLang="zh-CN" sz="1200"/>
              <a:t>go env -w GO111MODULE=on</a:t>
            </a:r>
            <a:endParaRPr lang="en-US" altLang="zh-CN" sz="1200"/>
          </a:p>
          <a:p>
            <a:pPr lvl="2"/>
            <a:r>
              <a:rPr lang="en-US" altLang="zh-CN" sz="1200"/>
              <a:t>go env -w  GOPROXY=https://goproxy.io,direct</a:t>
            </a:r>
            <a:endParaRPr lang="en-US" altLang="zh-CN" sz="1200"/>
          </a:p>
          <a:p>
            <a:pPr lvl="1"/>
            <a:r>
              <a:rPr lang="en-US" altLang="zh-CN" sz="1400"/>
              <a:t>make build</a:t>
            </a:r>
            <a:endParaRPr lang="en-US" altLang="zh-CN" sz="1400"/>
          </a:p>
          <a:p>
            <a:pPr lvl="1"/>
            <a:r>
              <a:rPr lang="en-US" altLang="zh-CN" sz="1400"/>
              <a:t>sudo make install</a:t>
            </a:r>
            <a:endParaRPr lang="en-US" altLang="zh-CN" sz="1400"/>
          </a:p>
          <a:p>
            <a:pPr lvl="0"/>
            <a:r>
              <a:rPr lang="en-US" altLang="zh-CN" sz="1600"/>
              <a:t>Usage</a:t>
            </a:r>
            <a:endParaRPr lang="en-US" altLang="zh-CN" sz="1600"/>
          </a:p>
          <a:p>
            <a:pPr lvl="1"/>
            <a:r>
              <a:rPr lang="en-US" altLang="zh-CN" sz="1400"/>
              <a:t>need to start chrome-headless separately as a dependency</a:t>
            </a:r>
            <a:endParaRPr lang="en-US" altLang="zh-CN" sz="1400"/>
          </a:p>
          <a:p>
            <a:pPr lvl="1"/>
            <a:r>
              <a:rPr lang="en-US" altLang="zh-CN" sz="1400"/>
              <a:t>check whether or not rendora service work correctly</a:t>
            </a:r>
            <a:endParaRPr lang="en-US" altLang="zh-CN" sz="1400"/>
          </a:p>
          <a:p>
            <a:pPr lvl="2"/>
            <a:r>
              <a:rPr lang="en-US" altLang="zh-CN" sz="1200"/>
              <a:t>curl -A “Baiduspider” http://localhost:3001</a:t>
            </a:r>
            <a:endParaRPr lang="en-US" altLang="zh-CN" sz="12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227570" y="1473200"/>
            <a:ext cx="4460875" cy="240220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" name="组合 14"/>
          <p:cNvGrpSpPr/>
          <p:nvPr/>
        </p:nvGrpSpPr>
        <p:grpSpPr>
          <a:xfrm>
            <a:off x="7225665" y="4333240"/>
            <a:ext cx="4158615" cy="1868170"/>
            <a:chOff x="11379" y="6824"/>
            <a:chExt cx="6549" cy="2942"/>
          </a:xfrm>
        </p:grpSpPr>
        <p:sp>
          <p:nvSpPr>
            <p:cNvPr id="4" name="椭圆 3"/>
            <p:cNvSpPr/>
            <p:nvPr/>
          </p:nvSpPr>
          <p:spPr>
            <a:xfrm>
              <a:off x="16817" y="6824"/>
              <a:ext cx="1111" cy="111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/>
                <a:t>User</a:t>
              </a:r>
              <a:endParaRPr lang="en-US" altLang="zh-CN" sz="1000"/>
            </a:p>
          </p:txBody>
        </p:sp>
        <p:sp>
          <p:nvSpPr>
            <p:cNvPr id="5" name="椭圆 4"/>
            <p:cNvSpPr/>
            <p:nvPr/>
          </p:nvSpPr>
          <p:spPr>
            <a:xfrm>
              <a:off x="16818" y="8656"/>
              <a:ext cx="1110" cy="11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p>
              <a:pPr algn="ctr"/>
              <a:r>
                <a:rPr lang="en-US" altLang="zh-CN" sz="1000"/>
                <a:t>Crawler</a:t>
              </a:r>
              <a:endParaRPr lang="en-US" altLang="zh-CN" sz="1000"/>
            </a:p>
          </p:txBody>
        </p:sp>
        <p:sp>
          <p:nvSpPr>
            <p:cNvPr id="6" name="矩形 5"/>
            <p:cNvSpPr/>
            <p:nvPr/>
          </p:nvSpPr>
          <p:spPr>
            <a:xfrm>
              <a:off x="14971" y="7935"/>
              <a:ext cx="1283" cy="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Nginx</a:t>
              </a:r>
              <a:endParaRPr lang="en-US" altLang="zh-CN" sz="1200"/>
            </a:p>
          </p:txBody>
        </p:sp>
        <p:sp>
          <p:nvSpPr>
            <p:cNvPr id="7" name="矩形 6"/>
            <p:cNvSpPr/>
            <p:nvPr/>
          </p:nvSpPr>
          <p:spPr>
            <a:xfrm>
              <a:off x="13281" y="7935"/>
              <a:ext cx="1283" cy="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Rendora</a:t>
              </a:r>
              <a:endParaRPr lang="en-US" altLang="zh-CN" sz="1200"/>
            </a:p>
          </p:txBody>
        </p:sp>
        <p:sp>
          <p:nvSpPr>
            <p:cNvPr id="8" name="矩形 7"/>
            <p:cNvSpPr/>
            <p:nvPr/>
          </p:nvSpPr>
          <p:spPr>
            <a:xfrm>
              <a:off x="11379" y="8979"/>
              <a:ext cx="1403" cy="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Headless</a:t>
              </a:r>
              <a:endParaRPr lang="en-US" altLang="zh-CN" sz="1200"/>
            </a:p>
            <a:p>
              <a:pPr algn="ctr"/>
              <a:r>
                <a:rPr lang="en-US" altLang="zh-CN" sz="1200"/>
                <a:t>Chrome</a:t>
              </a:r>
              <a:endParaRPr lang="en-US" altLang="zh-CN" sz="1200"/>
            </a:p>
          </p:txBody>
        </p:sp>
        <p:sp>
          <p:nvSpPr>
            <p:cNvPr id="9" name="矩形 8"/>
            <p:cNvSpPr/>
            <p:nvPr/>
          </p:nvSpPr>
          <p:spPr>
            <a:xfrm>
              <a:off x="11382" y="6824"/>
              <a:ext cx="1403" cy="7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Flask</a:t>
              </a:r>
              <a:endParaRPr lang="en-US" altLang="zh-CN" sz="1200"/>
            </a:p>
          </p:txBody>
        </p:sp>
        <p:cxnSp>
          <p:nvCxnSpPr>
            <p:cNvPr id="10" name="肘形连接符 9"/>
            <p:cNvCxnSpPr>
              <a:stCxn id="4" idx="2"/>
              <a:endCxn id="6" idx="0"/>
            </p:cNvCxnSpPr>
            <p:nvPr/>
          </p:nvCxnSpPr>
          <p:spPr>
            <a:xfrm rot="10800000" flipV="1">
              <a:off x="15613" y="7379"/>
              <a:ext cx="1204" cy="555"/>
            </a:xfrm>
            <a:prstGeom prst="bentConnector2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肘形连接符 10"/>
            <p:cNvCxnSpPr>
              <a:stCxn id="5" idx="2"/>
              <a:endCxn id="6" idx="2"/>
            </p:cNvCxnSpPr>
            <p:nvPr/>
          </p:nvCxnSpPr>
          <p:spPr>
            <a:xfrm rot="10800000">
              <a:off x="15613" y="8722"/>
              <a:ext cx="1205" cy="489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6" idx="1"/>
              <a:endCxn id="7" idx="3"/>
            </p:cNvCxnSpPr>
            <p:nvPr/>
          </p:nvCxnSpPr>
          <p:spPr>
            <a:xfrm flipH="1">
              <a:off x="14564" y="8329"/>
              <a:ext cx="40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stCxn id="7" idx="0"/>
              <a:endCxn id="9" idx="3"/>
            </p:cNvCxnSpPr>
            <p:nvPr/>
          </p:nvCxnSpPr>
          <p:spPr>
            <a:xfrm rot="16200000" flipV="1">
              <a:off x="12996" y="7008"/>
              <a:ext cx="717" cy="1138"/>
            </a:xfrm>
            <a:prstGeom prst="bentConnector2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13"/>
            <p:cNvCxnSpPr>
              <a:stCxn id="7" idx="2"/>
              <a:endCxn id="8" idx="3"/>
            </p:cNvCxnSpPr>
            <p:nvPr/>
          </p:nvCxnSpPr>
          <p:spPr>
            <a:xfrm rot="5400000">
              <a:off x="13027" y="8477"/>
              <a:ext cx="651" cy="114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Rendora 2/2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  <a:p>
            <a:pPr lvl="1"/>
            <a:r>
              <a:rPr lang="en-US" altLang="zh-CN"/>
              <a:t>In rendora-config.yaml, add “server: enabled”</a:t>
            </a:r>
            <a:endParaRPr lang="en-US" altLang="zh-CN"/>
          </a:p>
          <a:p>
            <a:pPr lvl="1"/>
            <a:r>
              <a:rPr lang="en-US" altLang="zh-CN"/>
              <a:t>curl --header "Content-Type: application/json" -X GET 127.0.0.1:9242/metrics</a:t>
            </a:r>
            <a:endParaRPr lang="en-US" altLang="zh-CN"/>
          </a:p>
          <a:p>
            <a:pPr lvl="1"/>
            <a:r>
              <a:rPr lang="en-US" altLang="zh-CN"/>
              <a:t>curl --header "Content-Type: application/json" --data '{"uri": "/"}' -X POST 127.0.0.1:9242/render</a:t>
            </a:r>
            <a:endParaRPr lang="en-US" altLang="zh-CN"/>
          </a:p>
          <a:p>
            <a:pPr lvl="2"/>
            <a:r>
              <a:rPr lang="en-US" altLang="zh-CN"/>
              <a:t>returns status, content, headers, latency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SpaRender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https://github.com/zuoyanart/sparender</a:t>
            </a:r>
            <a:endParaRPr lang="en-US" altLang="zh-CN"/>
          </a:p>
          <a:p>
            <a:pPr lvl="0"/>
            <a:r>
              <a:rPr lang="en-US" altLang="zh-CN"/>
              <a:t>Info</a:t>
            </a:r>
            <a:endParaRPr lang="en-US" altLang="zh-CN"/>
          </a:p>
          <a:p>
            <a:pPr lvl="1"/>
            <a:r>
              <a:rPr lang="en-US" altLang="zh-CN"/>
              <a:t>based on puppeteer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Components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 UI Framework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Element UI</a:t>
            </a:r>
            <a:endParaRPr lang="en-US" altLang="zh-CN"/>
          </a:p>
          <a:p>
            <a:r>
              <a:rPr lang="en-US" altLang="zh-CN"/>
              <a:t>Vuetify</a:t>
            </a:r>
            <a:endParaRPr lang="en-US" altLang="zh-CN"/>
          </a:p>
          <a:p>
            <a:pPr lvl="1"/>
            <a:r>
              <a:rPr lang="en-US" altLang="zh-CN"/>
              <a:t>https://vuetifyjs.com/en/</a:t>
            </a:r>
            <a:endParaRPr lang="en-US" altLang="zh-CN"/>
          </a:p>
          <a:p>
            <a:pPr lvl="0"/>
            <a:r>
              <a:rPr lang="en-US" altLang="zh-CN"/>
              <a:t>BootstrapVue</a:t>
            </a:r>
            <a:endParaRPr lang="en-US" altLang="zh-CN"/>
          </a:p>
          <a:p>
            <a:pPr lvl="1"/>
            <a:r>
              <a:rPr lang="en-US" altLang="zh-CN"/>
              <a:t>https://bootstrap-vue.org/</a:t>
            </a:r>
            <a:endParaRPr lang="en-US" altLang="zh-CN"/>
          </a:p>
          <a:p>
            <a:pPr lvl="1"/>
            <a:r>
              <a:rPr lang="en-US" altLang="zh-CN"/>
              <a:t>https://github.com/bootstrap-vue/bootstrap-vue</a:t>
            </a:r>
            <a:endParaRPr lang="en-US" altLang="zh-CN"/>
          </a:p>
          <a:p>
            <a:pPr lvl="0"/>
            <a:r>
              <a:rPr lang="en-US" altLang="zh-CN"/>
              <a:t>Buefy</a:t>
            </a:r>
            <a:endParaRPr lang="en-US" altLang="zh-CN"/>
          </a:p>
          <a:p>
            <a:pPr lvl="0"/>
            <a:r>
              <a:rPr lang="en-US" altLang="zh-CN"/>
              <a:t>Quasar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Element UI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https://element.eleme.cn/#/zh-CN</a:t>
            </a:r>
            <a:endParaRPr lang="zh-CN" altLang="en-US"/>
          </a:p>
          <a:p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npm i element-ui -S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Import all</a:t>
            </a:r>
            <a:endParaRPr lang="en-US" altLang="zh-CN"/>
          </a:p>
          <a:p>
            <a:pPr lvl="1"/>
            <a:r>
              <a:rPr lang="en-US" altLang="zh-CN"/>
              <a:t>Import on demand</a:t>
            </a:r>
            <a:endParaRPr lang="en-US" altLang="zh-CN"/>
          </a:p>
          <a:p>
            <a:pPr lvl="2"/>
            <a:r>
              <a:rPr lang="en-US" altLang="zh-CN"/>
              <a:t>npm i babel-plugin-component -D</a:t>
            </a:r>
            <a:endParaRPr lang="en-US" altLang="zh-CN"/>
          </a:p>
          <a:p>
            <a:pPr lvl="2"/>
            <a:r>
              <a:rPr lang="en-US" altLang="zh-CN"/>
              <a:t>npm install babel-cli babel-preset-es2015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$msgbox(options)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$alert(message, title, options)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$confirm(message, title, options)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$prompt(message, title, options)	// prompt input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Font Awesome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239385"/>
          </a:xfrm>
        </p:spPr>
        <p:txBody>
          <a:bodyPr>
            <a:normAutofit fontScale="8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https://fontawesome.com/icons?d=gallery&amp;m=free</a:t>
            </a:r>
            <a:endParaRPr lang="en-US" altLang="zh-CN"/>
          </a:p>
          <a:p>
            <a:pPr lvl="1"/>
            <a:r>
              <a:rPr lang="en-US" altLang="zh-CN"/>
              <a:t>https://github.com/FortAwesome/vue-fontawesome</a:t>
            </a:r>
            <a:endParaRPr lang="en-US" altLang="zh-CN"/>
          </a:p>
          <a:p>
            <a:pPr lvl="1"/>
            <a:r>
              <a:rPr lang="en-US" altLang="zh-CN"/>
              <a:t>https://blog.logrocket.com/full-guide-to-using-font-awesome-icons-in-vue-js-apps-5574c74d9b2d/</a:t>
            </a:r>
            <a:endParaRPr lang="en-US" altLang="zh-CN"/>
          </a:p>
          <a:p>
            <a:pPr lvl="0"/>
            <a:r>
              <a:rPr lang="en-US" altLang="zh-CN"/>
              <a:t>Icon library</a:t>
            </a:r>
            <a:endParaRPr lang="en-US" altLang="zh-CN"/>
          </a:p>
          <a:p>
            <a:pPr lvl="1"/>
            <a:r>
              <a:rPr lang="en-US" altLang="zh-CN"/>
              <a:t>solid (fas), regular (far), light (fal), brands (fab)</a:t>
            </a:r>
            <a:endParaRPr lang="en-US" altLang="zh-CN"/>
          </a:p>
          <a:p>
            <a:pPr lvl="0"/>
            <a:r>
              <a:rPr lang="en-US" altLang="zh-CN" sz="2400"/>
              <a:t>Usage</a:t>
            </a:r>
            <a:endParaRPr lang="en-US" altLang="zh-CN" sz="2400"/>
          </a:p>
          <a:p>
            <a:pPr lvl="1"/>
            <a:r>
              <a:rPr lang="en-US" altLang="zh-CN"/>
              <a:t>&lt;link href="https://cdnjs.cloudflare.com/ajax/libs/font-awesome/5.11.2/css/all.min.css" rel="stylesheet" type="text/css"&gt;</a:t>
            </a:r>
            <a:endParaRPr lang="en-US" altLang="zh-CN"/>
          </a:p>
          <a:p>
            <a:pPr lvl="0"/>
            <a:r>
              <a:rPr lang="en-US" altLang="zh-CN"/>
              <a:t>Vue-fontawesome</a:t>
            </a:r>
            <a:endParaRPr lang="en-US" altLang="zh-CN"/>
          </a:p>
          <a:p>
            <a:pPr lvl="1"/>
            <a:r>
              <a:rPr lang="en-US" altLang="zh-CN"/>
              <a:t>npm install --save @fortawesome/fontawesome-svg-core  @fortawesome/free-solid-svg-icons</a:t>
            </a:r>
            <a:r>
              <a:rPr lang="en-US" altLang="zh-CN">
                <a:sym typeface="+mn-ea"/>
              </a:rPr>
              <a:t> @fortawesome/free-regular-svg-icons </a:t>
            </a:r>
            <a:r>
              <a:rPr lang="en-US" altLang="zh-CN"/>
              <a:t>@fortawesome/vue-fontawesome</a:t>
            </a:r>
            <a:endParaRPr lang="en-US" altLang="zh-CN"/>
          </a:p>
          <a:p>
            <a:pPr lvl="1"/>
            <a:r>
              <a:rPr lang="en-US" altLang="zh-CN"/>
              <a:t>In main.js</a:t>
            </a:r>
            <a:endParaRPr lang="en-US" altLang="zh-CN"/>
          </a:p>
          <a:p>
            <a:pPr lvl="2"/>
            <a:r>
              <a:rPr lang="en-US" altLang="zh-CN"/>
              <a:t>import { library } from '@fortawesome/fontawesome-svg-core'</a:t>
            </a:r>
            <a:endParaRPr lang="en-US" altLang="zh-CN"/>
          </a:p>
          <a:p>
            <a:pPr lvl="2"/>
            <a:r>
              <a:rPr lang="en-US" altLang="zh-CN"/>
              <a:t>import { faCoffee } from '@fortawesome/free-solid-svg-icons'</a:t>
            </a:r>
            <a:endParaRPr lang="en-US" altLang="zh-CN"/>
          </a:p>
          <a:p>
            <a:pPr lvl="2"/>
            <a:r>
              <a:rPr lang="en-US" altLang="zh-CN"/>
              <a:t>import { FontAwesomeIcon } from '@fortawesome/vue-fontawesome'</a:t>
            </a:r>
            <a:endParaRPr lang="en-US" altLang="zh-CN"/>
          </a:p>
          <a:p>
            <a:pPr lvl="2"/>
            <a:r>
              <a:rPr lang="en-US" altLang="zh-CN"/>
              <a:t>library.add(faCoffee)</a:t>
            </a:r>
            <a:endParaRPr lang="en-US" altLang="zh-CN"/>
          </a:p>
          <a:p>
            <a:pPr lvl="2"/>
            <a:r>
              <a:rPr lang="en-US" altLang="zh-CN"/>
              <a:t>Vue.component('font-awesome-icon', FontAwesomeIcon)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Progress UI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vue-ellipse-progress</a:t>
            </a:r>
            <a:endParaRPr lang="zh-CN" altLang="en-US"/>
          </a:p>
          <a:p>
            <a:pPr lvl="1"/>
            <a:r>
              <a:rPr lang="zh-CN" altLang="en-US"/>
              <a:t>https://github.com/setaman/vue-ellipse-progress</a:t>
            </a:r>
            <a:endParaRPr lang="zh-CN" altLang="en-US"/>
          </a:p>
          <a:p>
            <a:pPr lvl="1"/>
            <a:r>
              <a:rPr lang="zh-CN" altLang="en-US"/>
              <a:t>npm i </a:t>
            </a:r>
            <a:r>
              <a:rPr lang="en-US" altLang="zh-CN"/>
              <a:t>-S </a:t>
            </a:r>
            <a:r>
              <a:rPr lang="zh-CN" altLang="en-US"/>
              <a:t>vue-ellipse-progress</a:t>
            </a:r>
            <a:endParaRPr lang="zh-CN" altLang="en-US"/>
          </a:p>
          <a:p>
            <a:pPr lvl="0"/>
            <a:r>
              <a:rPr lang="en-US" altLang="zh-CN"/>
              <a:t>vue-progressbar</a:t>
            </a:r>
            <a:endParaRPr lang="en-US" altLang="zh-CN"/>
          </a:p>
          <a:p>
            <a:pPr lvl="1"/>
            <a:r>
              <a:rPr lang="en-US" altLang="zh-CN"/>
              <a:t>https://github.com/hilongjw/vue-progressbar</a:t>
            </a:r>
            <a:endParaRPr lang="en-US" altLang="zh-CN"/>
          </a:p>
          <a:p>
            <a:pPr lvl="1"/>
            <a:r>
              <a:rPr lang="en-US" altLang="zh-CN"/>
              <a:t>npm i vue-progressbar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Vue-Konva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https://github.com/konvajs/vue-konva</a:t>
            </a:r>
            <a:endParaRPr lang="en-US" altLang="zh-CN"/>
          </a:p>
          <a:p>
            <a:pPr lvl="0"/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 sz="2000"/>
              <a:t>npm i -S konva vue-konva</a:t>
            </a:r>
            <a:endParaRPr lang="en-US" altLang="zh-CN" sz="2000"/>
          </a:p>
          <a:p>
            <a:pPr lvl="1"/>
            <a:r>
              <a:rPr lang="en-US" altLang="zh-CN" sz="2000"/>
              <a:t>vue.js v2.4+</a:t>
            </a:r>
            <a:endParaRPr lang="en-US" altLang="zh-CN"/>
          </a:p>
          <a:p>
            <a:pPr lvl="0"/>
            <a:r>
              <a:rPr lang="en-US" altLang="zh-CN"/>
              <a:t>Shapes</a:t>
            </a:r>
            <a:endParaRPr lang="en-US" altLang="zh-CN"/>
          </a:p>
          <a:p>
            <a:pPr lvl="1"/>
            <a:r>
              <a:rPr lang="en-US" altLang="zh-CN"/>
              <a:t>v-rect, v-circle, v-ellipse, v-line, v-image, v-svg, v-text, v-text-path, v-star, v-label, v-path, v-regular-polygon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Webp Image Format Support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imagemin-webp-webpack-plugin</a:t>
            </a:r>
            <a:endParaRPr lang="zh-CN" altLang="en-US"/>
          </a:p>
          <a:p>
            <a:pPr lvl="1"/>
            <a:r>
              <a:rPr lang="zh-CN" altLang="en-US"/>
              <a:t>https://github.com/iampava/imagemin-webp-webpack-plugin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744720"/>
          </a:xfrm>
        </p:spPr>
        <p:txBody>
          <a:bodyPr>
            <a:normAutofit/>
          </a:bodyPr>
          <a:p>
            <a:r>
              <a:rPr lang="en-US" altLang="zh-CN"/>
              <a:t>Fixed CORS issue during debug</a:t>
            </a:r>
            <a:endParaRPr lang="en-US" altLang="zh-CN"/>
          </a:p>
          <a:p>
            <a:pPr lvl="1"/>
            <a:r>
              <a:rPr lang="en-US" altLang="zh-CN"/>
              <a:t>Modify config/index.js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24040" y="1211580"/>
            <a:ext cx="4429760" cy="2861310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txBody>
          <a:bodyPr wrap="square" rtlCol="0">
            <a:spAutoFit/>
          </a:bodyPr>
          <a:p>
            <a:r>
              <a:rPr lang="zh-CN" altLang="en-US"/>
              <a:t>        proxyTable: {</a:t>
            </a:r>
            <a:endParaRPr lang="zh-CN" altLang="en-US"/>
          </a:p>
          <a:p>
            <a:r>
              <a:rPr lang="zh-CN" altLang="en-US"/>
              <a:t>            '/': {</a:t>
            </a:r>
            <a:endParaRPr lang="zh-CN" altLang="en-US"/>
          </a:p>
          <a:p>
            <a:r>
              <a:rPr lang="zh-CN" altLang="en-US"/>
              <a:t>                target: 'http://47.105.68.219:8090/',</a:t>
            </a:r>
            <a:endParaRPr lang="zh-CN" altLang="en-US"/>
          </a:p>
          <a:p>
            <a:r>
              <a:rPr lang="zh-CN" altLang="en-US"/>
              <a:t>                changeOrigin: true, </a:t>
            </a:r>
            <a:endParaRPr lang="zh-CN" altLang="en-US"/>
          </a:p>
          <a:p>
            <a:r>
              <a:rPr lang="zh-CN" altLang="en-US"/>
              <a:t>                pathRewrite: {</a:t>
            </a:r>
            <a:endParaRPr lang="zh-CN" altLang="en-US"/>
          </a:p>
          <a:p>
            <a:r>
              <a:rPr lang="zh-CN" altLang="en-US"/>
              <a:t>                    '^/': '/'</a:t>
            </a:r>
            <a:endParaRPr lang="zh-CN" altLang="en-US"/>
          </a:p>
          <a:p>
            <a:r>
              <a:rPr lang="zh-CN" altLang="en-US"/>
              <a:t>                }</a:t>
            </a:r>
            <a:endParaRPr lang="zh-CN" altLang="en-US"/>
          </a:p>
          <a:p>
            <a:r>
              <a:rPr lang="zh-CN" altLang="en-US"/>
              <a:t>            }</a:t>
            </a:r>
            <a:endParaRPr lang="zh-CN" altLang="en-US"/>
          </a:p>
          <a:p>
            <a:r>
              <a:rPr lang="zh-CN" altLang="en-US"/>
              <a:t>        },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Nuxt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22900" cy="4962525"/>
          </a:xfrm>
        </p:spPr>
        <p:txBody>
          <a:bodyPr>
            <a:noAutofit/>
          </a:bodyPr>
          <a:p>
            <a:pPr lvl="0"/>
            <a:r>
              <a:rPr lang="en-US" altLang="zh-CN" sz="1600">
                <a:sym typeface="+mn-ea"/>
              </a:rPr>
              <a:t>References</a:t>
            </a:r>
            <a:endParaRPr lang="en-US" altLang="zh-CN" sz="1600"/>
          </a:p>
          <a:p>
            <a:pPr lvl="1"/>
            <a:r>
              <a:rPr lang="en-US" altLang="zh-CN" sz="1600"/>
              <a:t>https://github.com/nuxt/nuxt</a:t>
            </a:r>
            <a:endParaRPr lang="en-US" altLang="zh-CN" sz="1600"/>
          </a:p>
          <a:p>
            <a:pPr lvl="1" algn="l">
              <a:buClrTx/>
              <a:buSzTx/>
            </a:pPr>
            <a:r>
              <a:rPr lang="en-US" altLang="zh-CN" sz="1600"/>
              <a:t>https://github.com/nuxt/awesome</a:t>
            </a:r>
            <a:endParaRPr lang="en-US" altLang="zh-CN" sz="1600"/>
          </a:p>
          <a:p>
            <a:pPr lvl="1" algn="l">
              <a:buClrTx/>
              <a:buSzTx/>
            </a:pPr>
            <a:r>
              <a:rPr lang="en-US" altLang="zh-CN" sz="1600">
                <a:sym typeface="+mn-ea"/>
              </a:rPr>
              <a:t>https://github.com/harblaith7/Nuxt-Crash-Course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https://www.oryoy.com/news/vue-kai-fa-zhe-bi-kan-cong-vue-qian-yi-dao-nuxt-js-de-tiao-zhan-yu-ji-qiao-jie-xi.html</a:t>
            </a:r>
            <a:endParaRPr lang="en-US" altLang="zh-CN" sz="1600"/>
          </a:p>
          <a:p>
            <a:r>
              <a:rPr lang="en-US" altLang="zh-CN" sz="1600"/>
              <a:t>Intro</a:t>
            </a:r>
            <a:endParaRPr lang="en-US" altLang="zh-CN" sz="1600"/>
          </a:p>
          <a:p>
            <a:pPr lvl="1"/>
            <a:r>
              <a:rPr lang="en-US" altLang="zh-CN" sz="1400"/>
              <a:t>Nuxt.js</a:t>
            </a:r>
            <a:r>
              <a:rPr lang="zh-CN" altLang="en-US" sz="1400"/>
              <a:t>是一个基于</a:t>
            </a:r>
            <a:r>
              <a:rPr lang="en-US" altLang="zh-CN" sz="1400"/>
              <a:t>Vue.js</a:t>
            </a:r>
            <a:r>
              <a:rPr lang="zh-CN" altLang="en-US" sz="1400"/>
              <a:t>的通用应用框架，可以帮助开发者快速搭建服务端渲染的</a:t>
            </a:r>
            <a:r>
              <a:rPr lang="en-US" altLang="zh-CN" sz="1400"/>
              <a:t>Vue.js</a:t>
            </a:r>
            <a:r>
              <a:rPr lang="zh-CN" altLang="en-US" sz="1400"/>
              <a:t>应用。它提供了一些默认配置和约定，使得我们能够更轻松地开发和部署</a:t>
            </a:r>
            <a:r>
              <a:rPr lang="en-US" altLang="zh-CN" sz="1400"/>
              <a:t>Vue.js</a:t>
            </a:r>
            <a:r>
              <a:rPr lang="zh-CN" altLang="en-US" sz="1400"/>
              <a:t>应用。</a:t>
            </a:r>
            <a:endParaRPr lang="zh-CN" altLang="en-US" sz="1400"/>
          </a:p>
          <a:p>
            <a:pPr lvl="1"/>
            <a:r>
              <a:rPr lang="en-US" altLang="zh-CN" sz="1400"/>
              <a:t>support SPA(Single Page Application) or SSR(Serve Side Rendering)/SSG (Static Site Generation)</a:t>
            </a:r>
            <a:endParaRPr lang="en-US" altLang="zh-CN" sz="1400"/>
          </a:p>
          <a:p>
            <a:pPr lvl="1"/>
            <a:r>
              <a:rPr lang="en-US" altLang="zh-CN" sz="1400"/>
              <a:t>support javascript or typescript</a:t>
            </a:r>
            <a:endParaRPr lang="en-US" altLang="zh-CN" sz="1400"/>
          </a:p>
          <a:p>
            <a:pPr lvl="1"/>
            <a:r>
              <a:rPr lang="en-US" altLang="zh-CN" sz="1400"/>
              <a:t>support yarn or npm</a:t>
            </a:r>
            <a:endParaRPr lang="en-US" altLang="zh-CN" sz="1400"/>
          </a:p>
          <a:p>
            <a:pPr lvl="1"/>
            <a:r>
              <a:rPr lang="en-US" altLang="zh-CN" sz="1400"/>
              <a:t>support various UI framework, like Element UI, Vuetify, etc.</a:t>
            </a:r>
            <a:endParaRPr lang="en-US" altLang="zh-CN" sz="1400"/>
          </a:p>
          <a:p>
            <a:pPr lvl="1"/>
            <a:r>
              <a:rPr lang="en-US" altLang="zh-CN" sz="1400"/>
              <a:t>support various deployment target, Node.js hosting or static/Jamstack hosting</a:t>
            </a:r>
            <a:endParaRPr lang="en-US" altLang="zh-CN" sz="1400"/>
          </a:p>
          <a:p>
            <a:pPr lvl="1"/>
            <a:r>
              <a:rPr lang="en-US" altLang="zh-CN" sz="1400"/>
              <a:t>node.js &gt;= v18.12.0</a:t>
            </a:r>
            <a:endParaRPr lang="en-US" altLang="zh-CN" sz="1400"/>
          </a:p>
          <a:p>
            <a:pPr lvl="1"/>
            <a:r>
              <a:rPr lang="en-US" altLang="zh-CN" sz="1400"/>
              <a:t>no router</a:t>
            </a:r>
            <a:endParaRPr lang="en-US" altLang="zh-CN" sz="12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460490" y="1211580"/>
            <a:ext cx="5422900" cy="49047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>
                <a:sym typeface="+mn-ea"/>
              </a:rPr>
              <a:t>Features</a:t>
            </a:r>
            <a:endParaRPr lang="en-US" altLang="zh-CN" sz="1600"/>
          </a:p>
          <a:p>
            <a:pPr lvl="1"/>
            <a:r>
              <a:rPr lang="en-US" altLang="zh-CN" sz="1400">
                <a:sym typeface="+mn-ea"/>
              </a:rPr>
              <a:t>auto import, no need to import manually</a:t>
            </a:r>
            <a:endParaRPr lang="en-US" altLang="zh-CN" sz="1400"/>
          </a:p>
          <a:p>
            <a:pPr lvl="2"/>
            <a:r>
              <a:rPr lang="en-US" altLang="zh-CN" sz="1400">
                <a:sym typeface="+mn-ea"/>
              </a:rPr>
              <a:t>components/, composables, utils</a:t>
            </a:r>
            <a:endParaRPr lang="en-US" altLang="zh-CN" sz="1400"/>
          </a:p>
          <a:p>
            <a:pPr lvl="0"/>
            <a:r>
              <a:rPr lang="en-US" altLang="zh-CN" sz="1600"/>
              <a:t>Versions</a:t>
            </a:r>
            <a:endParaRPr lang="en-US" altLang="zh-CN" sz="1600"/>
          </a:p>
          <a:p>
            <a:pPr lvl="1"/>
            <a:r>
              <a:rPr lang="en-US" altLang="zh-CN" sz="1200"/>
              <a:t>Nuxt2</a:t>
            </a:r>
            <a:endParaRPr lang="en-US" altLang="zh-CN" sz="1200"/>
          </a:p>
          <a:p>
            <a:pPr lvl="2"/>
            <a:r>
              <a:rPr lang="en-US" altLang="zh-CN" sz="1070"/>
              <a:t>based on Vue2</a:t>
            </a:r>
            <a:endParaRPr lang="en-US" altLang="zh-CN" sz="1070"/>
          </a:p>
          <a:p>
            <a:pPr lvl="2"/>
            <a:r>
              <a:rPr lang="en-US" altLang="zh-CN" sz="1070"/>
              <a:t>use Webpack as build tool</a:t>
            </a:r>
            <a:endParaRPr lang="en-US" altLang="zh-CN" sz="1070"/>
          </a:p>
          <a:p>
            <a:pPr lvl="1"/>
            <a:r>
              <a:rPr lang="en-US" altLang="zh-CN" sz="1200"/>
              <a:t>Nuxt3</a:t>
            </a:r>
            <a:endParaRPr lang="en-US" altLang="zh-CN" sz="1200"/>
          </a:p>
          <a:p>
            <a:pPr lvl="2"/>
            <a:r>
              <a:rPr lang="en-US" altLang="zh-CN" sz="1070"/>
              <a:t>based on Vue3</a:t>
            </a:r>
            <a:endParaRPr lang="en-US" altLang="zh-CN" sz="1070"/>
          </a:p>
          <a:p>
            <a:pPr lvl="2"/>
            <a:r>
              <a:rPr lang="en-US" altLang="zh-CN" sz="1070"/>
              <a:t>use Vite as build tool</a:t>
            </a:r>
            <a:endParaRPr lang="en-US" altLang="zh-CN" sz="1070"/>
          </a:p>
          <a:p>
            <a:pPr lvl="0"/>
            <a:r>
              <a:rPr lang="en-US" altLang="zh-CN" sz="1400"/>
              <a:t>OSS Projects</a:t>
            </a:r>
            <a:endParaRPr lang="en-US" altLang="zh-CN" sz="1400"/>
          </a:p>
          <a:p>
            <a:pPr lvl="1"/>
            <a:r>
              <a:rPr lang="en-US" altLang="zh-CN" sz="1200"/>
              <a:t>Nuxt 2</a:t>
            </a:r>
            <a:endParaRPr lang="en-US" altLang="zh-CN" sz="1200"/>
          </a:p>
          <a:p>
            <a:pPr lvl="2"/>
            <a:r>
              <a:rPr lang="en-US" altLang="zh-CN" sz="1070"/>
              <a:t>https://github.com/xuqiang521/nuxt-ssr-demo</a:t>
            </a:r>
            <a:endParaRPr lang="en-US" altLang="zh-CN" sz="1070"/>
          </a:p>
          <a:p>
            <a:pPr lvl="2"/>
            <a:r>
              <a:rPr lang="en-US" altLang="zh-CN" sz="1070"/>
              <a:t>https://github.com/productdevbook/oku-nuxt3-template</a:t>
            </a:r>
            <a:endParaRPr lang="en-US" altLang="zh-CN" sz="1070"/>
          </a:p>
          <a:p>
            <a:pPr lvl="2"/>
            <a:r>
              <a:rPr lang="en-US" altLang="zh-CN" sz="1070"/>
              <a:t>https://github.com/webyang-male/nuxt3-edu</a:t>
            </a:r>
            <a:endParaRPr lang="en-US" altLang="zh-CN" sz="107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20155" cy="4549140"/>
          </a:xfrm>
        </p:spPr>
        <p:txBody>
          <a:bodyPr/>
          <a:p>
            <a:r>
              <a:rPr lang="en-US" altLang="zh-CN" sz="2400">
                <a:sym typeface="+mn-ea"/>
              </a:rPr>
              <a:t>Set up project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npx create-nuxt-app FishPano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npx nuxi@latest init &lt;my-project&gt;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Folder structure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package.json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nuxt.config.js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pages, components, layouts, plugins, static, store (VueX)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>
                <a:sym typeface="+mn-ea"/>
              </a:rPr>
              <a:t>Build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yarn, yarn dev, yarn build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yarn generate // generate dist folder</a:t>
            </a:r>
            <a:endParaRPr lang="en-US" altLang="zh-CN">
              <a:sym typeface="+mn-ea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056755" y="1211580"/>
            <a:ext cx="4836795" cy="48761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nuxt.config.js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buildModules</a:t>
            </a:r>
            <a:endParaRPr lang="en-US" altLang="zh-CN"/>
          </a:p>
          <a:p>
            <a:r>
              <a:rPr lang="en-US" altLang="zh-CN"/>
              <a:t>modules</a:t>
            </a:r>
            <a:endParaRPr lang="en-US" altLang="zh-CN"/>
          </a:p>
          <a:p>
            <a:r>
              <a:rPr lang="en-US" altLang="zh-CN"/>
              <a:t>css</a:t>
            </a:r>
            <a:endParaRPr lang="en-US" altLang="zh-CN"/>
          </a:p>
          <a:p>
            <a:pPr lvl="1"/>
            <a:r>
              <a:rPr lang="en-US" altLang="zh-CN"/>
              <a:t>global css file</a:t>
            </a:r>
            <a:endParaRPr lang="en-US" altLang="zh-CN"/>
          </a:p>
          <a:p>
            <a:pPr lvl="0"/>
            <a:r>
              <a:rPr lang="en-US" altLang="zh-CN"/>
              <a:t>alias</a:t>
            </a:r>
            <a:endParaRPr lang="en-US" altLang="zh-CN"/>
          </a:p>
          <a:p>
            <a:pPr lvl="1"/>
            <a:r>
              <a:rPr lang="en-US" altLang="zh-CN"/>
              <a:t>alias for paths</a:t>
            </a:r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Porting from Vue2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86985" cy="5027930"/>
          </a:xfrm>
        </p:spPr>
        <p:txBody>
          <a:bodyPr>
            <a:normAutofit fontScale="60000"/>
          </a:bodyPr>
          <a:p>
            <a:pPr lvl="0"/>
            <a:r>
              <a:rPr lang="en-US" altLang="zh-CN" sz="2400"/>
              <a:t>References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https://segmentfault.com/a/1190000019909396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/>
              <a:t>https://www.cnblogs.com/lpyhutu/p/14561183.html</a:t>
            </a:r>
            <a:endParaRPr lang="en-US" altLang="zh-CN"/>
          </a:p>
          <a:p>
            <a:pPr lvl="0"/>
            <a:r>
              <a:rPr lang="en-US" altLang="zh-CN" sz="2400">
                <a:sym typeface="+mn-ea"/>
              </a:rPr>
              <a:t>Steps</a:t>
            </a:r>
            <a:endParaRPr lang="en-US" altLang="zh-CN" sz="2400">
              <a:sym typeface="+mn-ea"/>
            </a:endParaRPr>
          </a:p>
          <a:p>
            <a:pPr lvl="1"/>
            <a:r>
              <a:rPr lang="en-US" altLang="zh-CN"/>
              <a:t>Do not support browser-specific object, like window</a:t>
            </a:r>
            <a:endParaRPr lang="en-US" altLang="zh-CN"/>
          </a:p>
          <a:p>
            <a:pPr lvl="2"/>
            <a:r>
              <a:rPr lang="en-US" altLang="zh-CN" sz="1800"/>
              <a:t>exclude in config file</a:t>
            </a:r>
            <a:endParaRPr lang="en-US" altLang="zh-CN" sz="1800"/>
          </a:p>
          <a:p>
            <a:pPr lvl="1"/>
            <a:r>
              <a:rPr lang="en-US" altLang="zh-CN" sz="2000"/>
              <a:t>main.js</a:t>
            </a:r>
            <a:endParaRPr lang="en-US" altLang="zh-CN" sz="2000"/>
          </a:p>
          <a:p>
            <a:pPr lvl="2"/>
            <a:r>
              <a:rPr lang="en-US" altLang="zh-CN" sz="1800"/>
              <a:t>move to project root folder</a:t>
            </a:r>
            <a:endParaRPr lang="en-US" altLang="zh-CN" sz="1800"/>
          </a:p>
          <a:p>
            <a:pPr lvl="2"/>
            <a:r>
              <a:rPr lang="en-US" altLang="zh-CN" sz="1800"/>
              <a:t>remove “new Vue({...})”</a:t>
            </a:r>
            <a:endParaRPr lang="en-US" altLang="zh-CN" sz="1800"/>
          </a:p>
          <a:p>
            <a:pPr lvl="2"/>
            <a:r>
              <a:rPr lang="en-US" altLang="zh-CN" sz="1800"/>
              <a:t>add “’</a:t>
            </a:r>
            <a:r>
              <a:rPr lang="en-US" altLang="zh-CN"/>
              <a:t>@/main‘,” to “plugins” in nuxt.config.js</a:t>
            </a:r>
            <a:endParaRPr lang="en-US" altLang="zh-CN"/>
          </a:p>
          <a:p>
            <a:pPr lvl="1"/>
            <a:r>
              <a:rPr lang="en-US" altLang="zh-CN" sz="2000"/>
              <a:t>routes</a:t>
            </a:r>
            <a:endParaRPr lang="en-US" altLang="zh-CN" sz="2000"/>
          </a:p>
          <a:p>
            <a:pPr lvl="2"/>
            <a:r>
              <a:rPr lang="en-US" altLang="zh-CN" sz="1800"/>
              <a:t>use “</a:t>
            </a:r>
            <a:r>
              <a:rPr lang="en-US" altLang="zh-CN"/>
              <a:t>extendRoutes” to keep vue routes</a:t>
            </a:r>
            <a:endParaRPr lang="en-US" altLang="zh-CN"/>
          </a:p>
          <a:p>
            <a:pPr lvl="2"/>
            <a:r>
              <a:rPr lang="en-US" altLang="zh-CN"/>
              <a:t>vue.$router.push("/admin");</a:t>
            </a:r>
            <a:endParaRPr lang="en-US" altLang="zh-CN"/>
          </a:p>
          <a:p>
            <a:pPr lvl="1"/>
            <a:r>
              <a:rPr lang="en-US" altLang="zh-CN" sz="2000"/>
              <a:t>element-ui</a:t>
            </a:r>
            <a:endParaRPr lang="en-US" altLang="zh-CN" sz="2000"/>
          </a:p>
          <a:p>
            <a:pPr lvl="2"/>
            <a:r>
              <a:rPr lang="en-US" altLang="zh-CN" sz="1800"/>
              <a:t>in plugins folder, create “element-ui.js”</a:t>
            </a:r>
            <a:endParaRPr lang="en-US" altLang="zh-CN" sz="1800"/>
          </a:p>
          <a:p>
            <a:pPr lvl="2"/>
            <a:r>
              <a:rPr lang="en-US" altLang="zh-CN" sz="1800"/>
              <a:t>modify nuxt.config.js</a:t>
            </a:r>
            <a:endParaRPr lang="en-US" altLang="zh-CN" sz="1800"/>
          </a:p>
          <a:p>
            <a:pPr lvl="1"/>
            <a:r>
              <a:rPr lang="en-US" altLang="zh-CN" sz="2000"/>
              <a:t>axios</a:t>
            </a:r>
            <a:endParaRPr lang="en-US" altLang="zh-CN" sz="2000"/>
          </a:p>
          <a:p>
            <a:pPr lvl="1"/>
            <a:r>
              <a:rPr lang="en-US" altLang="zh-CN" sz="2000"/>
              <a:t>store</a:t>
            </a:r>
            <a:endParaRPr lang="en-US" altLang="zh-CN" sz="2000"/>
          </a:p>
          <a:p>
            <a:pPr lvl="2"/>
            <a:r>
              <a:rPr lang="en-US" altLang="zh-CN" sz="1800"/>
              <a:t>this.$store()</a:t>
            </a:r>
            <a:endParaRPr lang="en-US" altLang="zh-CN" sz="1800"/>
          </a:p>
          <a:p>
            <a:pPr lvl="1"/>
            <a:r>
              <a:rPr lang="en-US" altLang="zh-CN" sz="2000"/>
              <a:t>title, description</a:t>
            </a:r>
            <a:endParaRPr lang="en-US" altLang="zh-CN" sz="2000"/>
          </a:p>
          <a:p>
            <a:pPr lvl="2"/>
            <a:r>
              <a:rPr lang="zh-CN" altLang="en-US"/>
              <a:t>使用</a:t>
            </a:r>
            <a:r>
              <a:rPr lang="en-US" altLang="zh-CN"/>
              <a:t>head()</a:t>
            </a:r>
            <a:r>
              <a:rPr lang="zh-CN" altLang="en-US"/>
              <a:t>给每个页面设置</a:t>
            </a:r>
            <a:r>
              <a:rPr lang="en-US" altLang="zh-CN"/>
              <a:t>title</a:t>
            </a:r>
            <a:r>
              <a:rPr lang="zh-CN" altLang="en-US"/>
              <a:t>和</a:t>
            </a:r>
            <a:r>
              <a:rPr lang="en-US" altLang="zh-CN"/>
              <a:t>description</a:t>
            </a:r>
            <a:endParaRPr lang="en-US" altLang="zh-CN"/>
          </a:p>
          <a:p>
            <a:pPr lvl="2"/>
            <a:endParaRPr lang="en-US" altLang="zh-CN"/>
          </a:p>
          <a:p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54445" y="1211580"/>
            <a:ext cx="5479415" cy="45491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495"/>
              <a:t>import</a:t>
            </a:r>
            <a:endParaRPr lang="en-US" altLang="zh-CN" sz="1495"/>
          </a:p>
          <a:p>
            <a:pPr lvl="2"/>
            <a:r>
              <a:rPr lang="en-US" altLang="zh-CN" sz="1345"/>
              <a:t>await import()</a:t>
            </a:r>
            <a:endParaRPr lang="en-US" altLang="zh-CN" sz="1345"/>
          </a:p>
          <a:p>
            <a:pPr lvl="3"/>
            <a:r>
              <a:rPr lang="en-US" altLang="zh-CN" sz="1345"/>
              <a:t>const { ColladaLoader } = await import('three/examples/jsm/loaders/ColladaLoader');</a:t>
            </a:r>
            <a:endParaRPr lang="en-US" altLang="zh-CN" sz="1345"/>
          </a:p>
          <a:p>
            <a:pPr lvl="1"/>
            <a:r>
              <a:rPr lang="en-US" altLang="zh-CN" sz="1490"/>
              <a:t>i18n</a:t>
            </a:r>
            <a:endParaRPr lang="en-US" altLang="zh-CN" sz="1490"/>
          </a:p>
          <a:p>
            <a:pPr lvl="2"/>
            <a:r>
              <a:rPr lang="en-US" altLang="zh-CN" sz="1340"/>
              <a:t>yarn add @nuxtjs/i18n</a:t>
            </a:r>
            <a:endParaRPr lang="en-US" altLang="zh-CN" sz="1340"/>
          </a:p>
          <a:p>
            <a:pPr lvl="2"/>
            <a:r>
              <a:rPr lang="en-US" altLang="zh-CN" sz="1340"/>
              <a:t>in nuxt.config.js</a:t>
            </a:r>
            <a:endParaRPr lang="en-US" altLang="zh-CN" sz="1340"/>
          </a:p>
          <a:p>
            <a:pPr lvl="3"/>
            <a:r>
              <a:rPr lang="en-US" altLang="zh-CN" sz="1340"/>
              <a:t>add module “'@nuxtjs/i18n'”</a:t>
            </a:r>
            <a:endParaRPr lang="en-US" altLang="zh-CN" sz="1340"/>
          </a:p>
          <a:p>
            <a:pPr lvl="3"/>
            <a:r>
              <a:rPr lang="en-US" altLang="zh-CN" sz="1340"/>
              <a:t>add config for i18n module</a:t>
            </a:r>
            <a:endParaRPr lang="en-US" altLang="zh-CN" sz="1340"/>
          </a:p>
          <a:p>
            <a:pPr lvl="1"/>
            <a:r>
              <a:rPr lang="en-US" altLang="zh-CN" sz="1485"/>
              <a:t>window, browser</a:t>
            </a:r>
            <a:endParaRPr lang="en-US" altLang="zh-CN" sz="1485"/>
          </a:p>
          <a:p>
            <a:pPr lvl="2"/>
            <a:r>
              <a:rPr lang="en-US" altLang="zh-CN" sz="1335"/>
              <a:t>if (process.client) { ... }</a:t>
            </a:r>
            <a:endParaRPr lang="en-US" altLang="zh-CN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Issues &amp; Solutions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208260" cy="4549140"/>
          </a:xfrm>
        </p:spPr>
        <p:txBody>
          <a:bodyPr>
            <a:normAutofit/>
          </a:bodyPr>
          <a:p>
            <a:pPr lvl="0"/>
            <a:r>
              <a:rPr lang="en-US" altLang="zh-CN">
                <a:sym typeface="+mn-ea"/>
              </a:rPr>
              <a:t>Unknown option: base.configFile. Check out http://babeljs.io/docs/usage/options/ for more information about options.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yarn add babel-core babel-loader --save-dev</a:t>
            </a:r>
            <a:endParaRPr lang="en-US" altLang="zh-CN"/>
          </a:p>
          <a:p>
            <a:pPr lvl="0"/>
            <a:r>
              <a:rPr lang="en-US" altLang="zh-CN">
                <a:sym typeface="+mn-ea"/>
              </a:rPr>
              <a:t>TypeError: this.async is not a function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yarn add --save-dev @babel/core @babel/preset-env babel-loader</a:t>
            </a:r>
            <a:endParaRPr lang="en-US" altLang="zh-CN">
              <a:sym typeface="+mn-ea"/>
            </a:endParaRPr>
          </a:p>
          <a:p>
            <a:pPr lvl="0"/>
            <a:r>
              <a:rPr lang="en-US" altLang="zh-CN"/>
              <a:t>TypeError: this.getOptions is not a function</a:t>
            </a:r>
            <a:endParaRPr lang="en-US" altLang="zh-CN"/>
          </a:p>
          <a:p>
            <a:pPr lvl="1"/>
            <a:r>
              <a:rPr lang="en-US" altLang="zh-CN" sz="2000"/>
              <a:t>install sass-loader </a:t>
            </a:r>
            <a:r>
              <a:rPr lang="en-US" altLang="zh-CN"/>
              <a:t>v10.1.1, which can work with webpack v4</a:t>
            </a:r>
            <a:endParaRPr lang="en-US" altLang="zh-CN"/>
          </a:p>
          <a:p>
            <a:pPr lvl="0"/>
            <a:r>
              <a:rPr lang="en-US" altLang="zh-CN"/>
              <a:t>Module build failed (from ./node_modules/sass-loader/dist/cjs.js):</a:t>
            </a:r>
            <a:endParaRPr lang="en-US" altLang="zh-CN" sz="2400"/>
          </a:p>
          <a:p>
            <a:pPr lvl="1"/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Advanced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Handle Large JS Files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211580"/>
            <a:ext cx="7535545" cy="4549140"/>
          </a:xfrm>
        </p:spPr>
        <p:txBody>
          <a:bodyPr/>
          <a:p>
            <a:r>
              <a:rPr lang="en-US" altLang="zh-CN"/>
              <a:t>Reference</a:t>
            </a:r>
            <a:endParaRPr lang="en-US" altLang="zh-CN"/>
          </a:p>
          <a:p>
            <a:pPr lvl="1"/>
            <a:r>
              <a:rPr lang="en-US" altLang="zh-CN"/>
              <a:t>https://github.com/vuejs-templates/webpack/issues/1297</a:t>
            </a:r>
            <a:endParaRPr lang="en-US" altLang="zh-CN"/>
          </a:p>
          <a:p>
            <a:pPr lvl="1"/>
            <a:r>
              <a:rPr lang="en-US" altLang="zh-CN"/>
              <a:t>https://www.jianshu.com/p/1c60ed2064b5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https://blog.csdn.net/qq_19694913/article/details/82628637</a:t>
            </a:r>
            <a:endParaRPr lang="en-US" altLang="zh-CN"/>
          </a:p>
          <a:p>
            <a:pPr lvl="0"/>
            <a:r>
              <a:rPr lang="en-US" altLang="zh-CN"/>
              <a:t>npm run build --report</a:t>
            </a:r>
            <a:endParaRPr lang="en-US" altLang="zh-CN"/>
          </a:p>
          <a:p>
            <a:pPr lvl="0"/>
            <a:r>
              <a:rPr lang="en-US" altLang="zh-CN"/>
              <a:t>Reduce size</a:t>
            </a:r>
            <a:endParaRPr lang="en-US" altLang="zh-CN"/>
          </a:p>
          <a:p>
            <a:pPr lvl="1"/>
            <a:r>
              <a:rPr lang="en-US" altLang="zh-CN"/>
              <a:t>element ui</a:t>
            </a:r>
            <a:endParaRPr lang="en-US" altLang="zh-CN"/>
          </a:p>
          <a:p>
            <a:pPr lvl="2"/>
            <a:r>
              <a:rPr lang="en-US" altLang="zh-CN"/>
              <a:t>remove whole library import</a:t>
            </a:r>
            <a:endParaRPr lang="en-US" altLang="zh-CN"/>
          </a:p>
          <a:p>
            <a:pPr lvl="2"/>
            <a:r>
              <a:rPr lang="en-US" altLang="zh-CN"/>
              <a:t>import only used component</a:t>
            </a:r>
            <a:endParaRPr lang="en-US" altLang="zh-CN"/>
          </a:p>
          <a:p>
            <a:pPr lvl="1"/>
            <a:r>
              <a:rPr lang="en-US" altLang="zh-CN"/>
              <a:t>remove language pack in moment.js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8669655" y="1211580"/>
            <a:ext cx="2923540" cy="2461260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txBody>
          <a:bodyPr wrap="square" rtlCol="0">
            <a:spAutoFit/>
          </a:bodyPr>
          <a:p>
            <a:r>
              <a:rPr lang="zh-CN" altLang="en-US" sz="1400"/>
              <a:t>const webpack = require('webpack')</a:t>
            </a:r>
            <a:endParaRPr lang="zh-CN" altLang="en-US" sz="1400"/>
          </a:p>
          <a:p>
            <a:r>
              <a:rPr lang="zh-CN" altLang="en-US" sz="1400"/>
              <a:t>module.exports = {</a:t>
            </a:r>
            <a:endParaRPr lang="zh-CN" altLang="en-US" sz="1400"/>
          </a:p>
          <a:p>
            <a:r>
              <a:rPr lang="zh-CN" altLang="en-US" sz="1400"/>
              <a:t>    plugins: [</a:t>
            </a:r>
            <a:endParaRPr lang="zh-CN" altLang="en-US" sz="1400"/>
          </a:p>
          <a:p>
            <a:r>
              <a:rPr lang="zh-CN" altLang="en-US" sz="1400"/>
              <a:t>    new webpack.IgnorePlugin(/^\.\/locale$/, /moment$/)</a:t>
            </a:r>
            <a:endParaRPr lang="zh-CN" altLang="en-US" sz="1400"/>
          </a:p>
          <a:p>
            <a:r>
              <a:rPr lang="zh-CN" altLang="en-US" sz="1400"/>
              <a:t>  ]</a:t>
            </a:r>
            <a:endParaRPr lang="zh-CN" altLang="en-US" sz="1400"/>
          </a:p>
          <a:p>
            <a:r>
              <a:rPr lang="zh-CN" altLang="en-US" sz="1400"/>
              <a:t>}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import 'moment/locale/zh-cn';</a:t>
            </a:r>
            <a:endParaRPr lang="zh-CN" altLang="en-US" sz="1400"/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Speed Up Loading 1/2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7680960" cy="5032375"/>
          </a:xfrm>
        </p:spPr>
        <p:txBody>
          <a:bodyPr>
            <a:normAutofit fontScale="80000"/>
          </a:bodyPr>
          <a:p>
            <a:r>
              <a:rPr lang="en-US" altLang="zh-CN"/>
              <a:t>Code Splitting</a:t>
            </a:r>
            <a:endParaRPr lang="en-US" altLang="zh-CN"/>
          </a:p>
          <a:p>
            <a:pPr lvl="1"/>
            <a:r>
              <a:rPr lang="en-US" altLang="zh-CN"/>
              <a:t>References</a:t>
            </a:r>
            <a:endParaRPr lang="en-US" altLang="zh-CN"/>
          </a:p>
          <a:p>
            <a:pPr lvl="2"/>
            <a:r>
              <a:rPr lang="en-US" altLang="zh-CN"/>
              <a:t>https://webpack.js.org/guides/code-splitting/</a:t>
            </a:r>
            <a:endParaRPr lang="en-US" altLang="zh-CN"/>
          </a:p>
          <a:p>
            <a:pPr lvl="1"/>
            <a:r>
              <a:rPr lang="en-US" altLang="zh-CN"/>
              <a:t>Methods</a:t>
            </a:r>
            <a:endParaRPr lang="en-US" altLang="zh-CN"/>
          </a:p>
          <a:p>
            <a:pPr lvl="2"/>
            <a:r>
              <a:rPr lang="en-US" altLang="zh-CN" sz="1800"/>
              <a:t>entry points</a:t>
            </a:r>
            <a:endParaRPr lang="en-US" altLang="zh-CN" sz="1800"/>
          </a:p>
          <a:p>
            <a:pPr lvl="2"/>
            <a:r>
              <a:rPr lang="en-US" altLang="zh-CN" sz="1800"/>
              <a:t>prevent duplication</a:t>
            </a:r>
            <a:endParaRPr lang="en-US" altLang="zh-CN" sz="1800"/>
          </a:p>
          <a:p>
            <a:pPr lvl="2"/>
            <a:r>
              <a:rPr lang="en-US" altLang="zh-CN">
                <a:sym typeface="+mn-ea"/>
              </a:rPr>
              <a:t>import immediately before usage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/>
              <a:t>prefetch, preload hints</a:t>
            </a:r>
            <a:endParaRPr lang="en-US" altLang="zh-CN"/>
          </a:p>
          <a:p>
            <a:pPr lvl="1"/>
            <a:r>
              <a:rPr lang="en-US" altLang="zh-CN"/>
              <a:t>Loadable component</a:t>
            </a:r>
            <a:endParaRPr lang="en-US" altLang="zh-CN"/>
          </a:p>
          <a:p>
            <a:pPr lvl="2"/>
            <a:r>
              <a:rPr lang="en-US" altLang="zh-CN"/>
              <a:t>https://loadable-components.com/docs/getting-started/</a:t>
            </a:r>
            <a:endParaRPr lang="en-US" altLang="zh-CN"/>
          </a:p>
          <a:p>
            <a:pPr lvl="2"/>
            <a:r>
              <a:rPr lang="en-US" altLang="zh-CN"/>
              <a:t>npm install @loadable/component</a:t>
            </a:r>
            <a:endParaRPr lang="en-US" altLang="zh-CN"/>
          </a:p>
          <a:p>
            <a:pPr lvl="0"/>
            <a:r>
              <a:rPr lang="en-US" altLang="zh-CN"/>
              <a:t>Bundle analysis</a:t>
            </a:r>
            <a:endParaRPr lang="en-US" altLang="zh-CN"/>
          </a:p>
          <a:p>
            <a:pPr lvl="1"/>
            <a:r>
              <a:rPr lang="en-US" altLang="zh-CN"/>
              <a:t>webpack  --config ./build/webpack.prod.conf.js --profile --json &gt; stats.json</a:t>
            </a:r>
            <a:endParaRPr lang="en-US" altLang="zh-CN"/>
          </a:p>
          <a:p>
            <a:pPr lvl="1"/>
            <a:r>
              <a:rPr lang="en-US" altLang="zh-CN"/>
              <a:t>webpack-visualizer-plugin</a:t>
            </a:r>
            <a:endParaRPr lang="en-US" altLang="zh-CN"/>
          </a:p>
          <a:p>
            <a:pPr lvl="1"/>
            <a:r>
              <a:rPr lang="en-US" altLang="zh-CN"/>
              <a:t>webpack-bundle-analyzer</a:t>
            </a:r>
            <a:endParaRPr lang="en-US" altLang="zh-CN"/>
          </a:p>
          <a:p>
            <a:pPr lvl="2"/>
            <a:r>
              <a:rPr lang="en-US" altLang="zh-CN"/>
              <a:t>https://github.com/webpack-contrib/webpack-bundle-analyzer</a:t>
            </a:r>
            <a:endParaRPr lang="en-US" altLang="zh-CN"/>
          </a:p>
          <a:p>
            <a:pPr lvl="2"/>
            <a:r>
              <a:rPr lang="en-US" altLang="zh-CN"/>
              <a:t>sudo npm i -g webpack-bundle-analyzer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832850" y="1088390"/>
            <a:ext cx="2857500" cy="21228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import loadable from '@loadable/component'</a:t>
            </a:r>
            <a:endParaRPr lang="zh-CN" altLang="en-US" sz="1200"/>
          </a:p>
          <a:p>
            <a:r>
              <a:rPr lang="zh-CN" altLang="en-US" sz="1200"/>
              <a:t>const OtherComponent = loadable(() =&gt; import('./OtherComponent'))</a:t>
            </a:r>
            <a:endParaRPr lang="zh-CN" altLang="en-US" sz="1200"/>
          </a:p>
          <a:p>
            <a:r>
              <a:rPr lang="zh-CN" altLang="en-US" sz="1200"/>
              <a:t>function MyComponent() {</a:t>
            </a:r>
            <a:endParaRPr lang="zh-CN" altLang="en-US" sz="1200"/>
          </a:p>
          <a:p>
            <a:r>
              <a:rPr lang="zh-CN" altLang="en-US" sz="1200"/>
              <a:t>  return (</a:t>
            </a:r>
            <a:endParaRPr lang="zh-CN" altLang="en-US" sz="1200"/>
          </a:p>
          <a:p>
            <a:r>
              <a:rPr lang="zh-CN" altLang="en-US" sz="1200"/>
              <a:t>    &lt;div&gt;</a:t>
            </a:r>
            <a:endParaRPr lang="zh-CN" altLang="en-US" sz="1200"/>
          </a:p>
          <a:p>
            <a:r>
              <a:rPr lang="zh-CN" altLang="en-US" sz="1200"/>
              <a:t>      &lt;OtherComponent /&gt;</a:t>
            </a:r>
            <a:endParaRPr lang="zh-CN" altLang="en-US" sz="1200"/>
          </a:p>
          <a:p>
            <a:r>
              <a:rPr lang="zh-CN" altLang="en-US" sz="1200"/>
              <a:t>    &lt;/div&gt;</a:t>
            </a:r>
            <a:endParaRPr lang="zh-CN" altLang="en-US" sz="1200"/>
          </a:p>
          <a:p>
            <a:r>
              <a:rPr lang="zh-CN" altLang="en-US" sz="1200"/>
              <a:t>  )</a:t>
            </a:r>
            <a:endParaRPr lang="zh-CN" altLang="en-US" sz="1200"/>
          </a:p>
          <a:p>
            <a:r>
              <a:rPr lang="zh-CN" altLang="en-US" sz="1200"/>
              <a:t>}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8832850" y="3211195"/>
            <a:ext cx="2857500" cy="6451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import('./math').then(math =&gt; {</a:t>
            </a:r>
            <a:endParaRPr lang="zh-CN" altLang="en-US" sz="1200"/>
          </a:p>
          <a:p>
            <a:r>
              <a:rPr lang="zh-CN" altLang="en-US" sz="1200"/>
              <a:t>  console.log(math.add(16, 26))</a:t>
            </a:r>
            <a:endParaRPr lang="zh-CN" altLang="en-US" sz="1200"/>
          </a:p>
          <a:p>
            <a:r>
              <a:rPr lang="zh-CN" altLang="en-US" sz="1200"/>
              <a:t>})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8832850" y="3856355"/>
            <a:ext cx="2857500" cy="10147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   optimization: {</a:t>
            </a:r>
            <a:endParaRPr lang="zh-CN" altLang="en-US" sz="1200"/>
          </a:p>
          <a:p>
            <a:r>
              <a:rPr lang="zh-CN" altLang="en-US" sz="1200"/>
              <a:t>     splitChunks: {</a:t>
            </a:r>
            <a:endParaRPr lang="zh-CN" altLang="en-US" sz="1200"/>
          </a:p>
          <a:p>
            <a:r>
              <a:rPr lang="zh-CN" altLang="en-US" sz="1200"/>
              <a:t>       chunks: 'all',</a:t>
            </a:r>
            <a:endParaRPr lang="zh-CN" altLang="en-US" sz="1200"/>
          </a:p>
          <a:p>
            <a:r>
              <a:rPr lang="zh-CN" altLang="en-US" sz="1200"/>
              <a:t>     },</a:t>
            </a:r>
            <a:endParaRPr lang="zh-CN" altLang="en-US" sz="1200"/>
          </a:p>
          <a:p>
            <a:r>
              <a:rPr lang="zh-CN" altLang="en-US" sz="1200"/>
              <a:t>   },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8832850" y="4871085"/>
            <a:ext cx="2857500" cy="156845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r>
              <a:rPr lang="zh-CN" altLang="en-US" sz="1200"/>
              <a:t>var Visualizer = require('webpack-visualizer-plugin');</a:t>
            </a:r>
            <a:endParaRPr lang="zh-CN" altLang="en-US" sz="1200"/>
          </a:p>
          <a:p>
            <a:endParaRPr lang="zh-CN" altLang="en-US" sz="1200"/>
          </a:p>
          <a:p>
            <a:r>
              <a:rPr lang="zh-CN" altLang="en-US" sz="1200"/>
              <a:t>//...</a:t>
            </a:r>
            <a:endParaRPr lang="zh-CN" altLang="en-US" sz="1200"/>
          </a:p>
          <a:p>
            <a:r>
              <a:rPr lang="zh-CN" altLang="en-US" sz="1200"/>
              <a:t>plugins: [new Visualizer({</a:t>
            </a:r>
            <a:endParaRPr lang="zh-CN" altLang="en-US" sz="1200"/>
          </a:p>
          <a:p>
            <a:r>
              <a:rPr lang="zh-CN" altLang="en-US" sz="1200"/>
              <a:t>  filename: './statistics.html'</a:t>
            </a:r>
            <a:endParaRPr lang="zh-CN" altLang="en-US" sz="1200"/>
          </a:p>
          <a:p>
            <a:r>
              <a:rPr lang="zh-CN" altLang="en-US" sz="1200"/>
              <a:t>})],</a:t>
            </a:r>
            <a:endParaRPr lang="zh-CN" altLang="en-US" sz="1200"/>
          </a:p>
          <a:p>
            <a:r>
              <a:rPr lang="zh-CN" altLang="en-US" sz="1200"/>
              <a:t>//...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Speed Up Loading 2/2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https://dzone.com/articles/speed-up-your-vuejs-single-page-app</a:t>
            </a:r>
            <a:endParaRPr lang="en-US" altLang="zh-CN"/>
          </a:p>
          <a:p>
            <a:pPr lvl="0"/>
            <a:r>
              <a:rPr lang="en-US" altLang="zh-CN"/>
              <a:t>Lazy-load routes</a:t>
            </a:r>
            <a:endParaRPr lang="en-US" altLang="zh-CN"/>
          </a:p>
          <a:p>
            <a:pPr lvl="1"/>
            <a:r>
              <a:rPr lang="en-US" altLang="zh-CN"/>
              <a:t>split each route’s components into a separate chunk and only load them when the route is visited.</a:t>
            </a:r>
            <a:endParaRPr lang="en-US" altLang="zh-CN"/>
          </a:p>
          <a:p>
            <a:pPr lvl="1"/>
            <a:r>
              <a:rPr lang="en-US" altLang="zh-CN"/>
              <a:t>in routes file</a:t>
            </a:r>
            <a:endParaRPr lang="en-US" altLang="zh-CN"/>
          </a:p>
          <a:p>
            <a:pPr lvl="2"/>
            <a:r>
              <a:rPr lang="en-US" altLang="zh-CN"/>
              <a:t>change “import ProjectList from '@/components/ProjectList.vue'; “ into “const ProjectList = () =&gt; import('@/components/ProjectList.vue');”</a:t>
            </a:r>
            <a:endParaRPr lang="en-US" altLang="zh-CN"/>
          </a:p>
          <a:p>
            <a:pPr lvl="0"/>
            <a:r>
              <a:rPr lang="en-US" altLang="zh-CN"/>
              <a:t>Laz-load components</a:t>
            </a:r>
            <a:endParaRPr lang="en-US" altLang="zh-CN"/>
          </a:p>
          <a:p>
            <a:pPr lvl="1"/>
            <a:r>
              <a:rPr lang="en-US" altLang="zh-CN"/>
              <a:t>Any lazily loaded resource is downloaded when it’s import() function is invoked.</a:t>
            </a:r>
            <a:endParaRPr lang="en-US" altLang="zh-CN"/>
          </a:p>
          <a:p>
            <a:pPr lvl="0"/>
            <a:r>
              <a:rPr lang="en-US" altLang="zh-CN"/>
              <a:t>Metrics</a:t>
            </a:r>
            <a:endParaRPr lang="en-US" altLang="zh-CN"/>
          </a:p>
          <a:p>
            <a:pPr lvl="1"/>
            <a:r>
              <a:rPr lang="en-US" altLang="zh-CN"/>
              <a:t>TTFB: time to first byte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Patch Package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https://github.com/ds300/patch-package</a:t>
            </a:r>
            <a:endParaRPr lang="en-US" altLang="zh-CN"/>
          </a:p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In package.json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 "scripts": {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+  "postinstall": "patch-package"</a:t>
            </a:r>
            <a:endParaRPr lang="en-US" altLang="zh-CN"/>
          </a:p>
          <a:p>
            <a:pPr marL="914400" lvl="2" indent="0">
              <a:buNone/>
            </a:pPr>
            <a:r>
              <a:rPr lang="en-US" altLang="zh-CN"/>
              <a:t> }</a:t>
            </a:r>
            <a:endParaRPr lang="en-US" altLang="zh-CN"/>
          </a:p>
          <a:p>
            <a:pPr lvl="1"/>
            <a:r>
              <a:rPr lang="en-US" altLang="zh-CN"/>
              <a:t>npm i patch-package</a:t>
            </a:r>
            <a:endParaRPr lang="en-US" altLang="zh-CN"/>
          </a:p>
          <a:p>
            <a:pPr lvl="1"/>
            <a:r>
              <a:rPr lang="en-US" altLang="zh-CN"/>
              <a:t>modify source in node_modules/</a:t>
            </a:r>
            <a:endParaRPr lang="en-US" altLang="zh-CN"/>
          </a:p>
          <a:p>
            <a:pPr lvl="1"/>
            <a:r>
              <a:rPr lang="en-US" altLang="zh-CN"/>
              <a:t>npx patch-package some-package</a:t>
            </a:r>
            <a:endParaRPr lang="en-US" altLang="zh-CN"/>
          </a:p>
          <a:p>
            <a:pPr lvl="1"/>
            <a:r>
              <a:rPr lang="en-US" altLang="zh-CN"/>
              <a:t>npm i</a:t>
            </a:r>
            <a:endParaRPr lang="en-US" altLang="zh-CN"/>
          </a:p>
          <a:p>
            <a:pPr lvl="1"/>
            <a:r>
              <a:rPr lang="en-US" altLang="zh-CN"/>
              <a:t>npm run build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67350" cy="5257800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https://www.cnblogs.com/chenzxl/p/12787089.html</a:t>
            </a:r>
            <a:endParaRPr lang="en-US" altLang="zh-CN"/>
          </a:p>
          <a:p>
            <a:pPr lvl="0"/>
            <a:r>
              <a:rPr lang="en-US" altLang="zh-CN"/>
              <a:t>prerender-spa-plugin</a:t>
            </a:r>
            <a:endParaRPr lang="en-US" altLang="zh-CN"/>
          </a:p>
          <a:p>
            <a:pPr lvl="1"/>
            <a:r>
              <a:rPr lang="en-US" altLang="zh-CN" sz="2000"/>
              <a:t>generate static htmls for specified routes</a:t>
            </a:r>
            <a:endParaRPr lang="en-US" altLang="zh-CN"/>
          </a:p>
          <a:p>
            <a:pPr lvl="1"/>
            <a:r>
              <a:rPr lang="en-US" altLang="zh-CN" sz="2000"/>
              <a:t>steps</a:t>
            </a:r>
            <a:endParaRPr lang="en-US" altLang="zh-CN"/>
          </a:p>
          <a:p>
            <a:pPr lvl="2"/>
            <a:r>
              <a:rPr lang="en-US" altLang="zh-CN"/>
              <a:t>yarn add prerender-spa-plugin --dev</a:t>
            </a:r>
            <a:endParaRPr lang="en-US" altLang="zh-CN"/>
          </a:p>
          <a:p>
            <a:pPr lvl="2"/>
            <a:r>
              <a:rPr lang="en-US" altLang="zh-CN"/>
              <a:t>yarn add puppeteer --dev</a:t>
            </a:r>
            <a:endParaRPr lang="en-US" altLang="zh-CN"/>
          </a:p>
          <a:p>
            <a:pPr lvl="2"/>
            <a:r>
              <a:rPr lang="en-US" altLang="zh-CN"/>
              <a:t>modify build/webpack.prod.js</a:t>
            </a:r>
            <a:endParaRPr lang="en-US" altLang="zh-CN"/>
          </a:p>
          <a:p>
            <a:pPr lvl="3"/>
            <a:r>
              <a:rPr lang="en-US" altLang="zh-CN"/>
              <a:t>const PrerenderSPAPlugin = require('prerender-spa-plugin')</a:t>
            </a:r>
            <a:endParaRPr lang="en-US" altLang="zh-CN"/>
          </a:p>
          <a:p>
            <a:pPr lvl="3"/>
            <a:r>
              <a:rPr lang="en-US" altLang="zh-CN"/>
              <a:t>const Renderer = PrerenderSPAPlugin.PuppeteerRenderer</a:t>
            </a:r>
            <a:endParaRPr lang="en-US" altLang="zh-CN"/>
          </a:p>
          <a:p>
            <a:pPr lvl="3"/>
            <a:r>
              <a:rPr lang="en-US" altLang="zh-CN"/>
              <a:t>in “plugins”, add “new PrerenderSPAPlugin({...}) to include prerender routes</a:t>
            </a:r>
            <a:endParaRPr lang="en-US" altLang="zh-CN"/>
          </a:p>
          <a:p>
            <a:pPr lvl="2"/>
            <a:r>
              <a:rPr lang="en-US" altLang="zh-CN"/>
              <a:t>modify src/main.js</a:t>
            </a:r>
            <a:endParaRPr lang="en-US" altLang="zh-CN"/>
          </a:p>
          <a:p>
            <a:pPr lvl="3"/>
            <a:r>
              <a:rPr lang="en-US" altLang="zh-CN"/>
              <a:t>in new Vue() {}, add “mounted() { document.dispatchEvent(new Event('render-event')) }”</a:t>
            </a:r>
            <a:endParaRPr lang="en-US" altLang="zh-CN"/>
          </a:p>
          <a:p>
            <a:pPr lvl="2"/>
            <a:r>
              <a:rPr lang="en-US" altLang="zh-CN"/>
              <a:t>modify router.js</a:t>
            </a:r>
            <a:endParaRPr lang="en-US" altLang="zh-CN"/>
          </a:p>
          <a:p>
            <a:pPr lvl="3"/>
            <a:r>
              <a:rPr lang="en-US" altLang="zh-CN"/>
              <a:t>mode: ‘history’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537325" y="1211580"/>
            <a:ext cx="546735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2000">
                <a:sym typeface="+mn-ea"/>
              </a:rPr>
              <a:t>vue-meta-info</a:t>
            </a:r>
            <a:endParaRPr lang="en-US" altLang="zh-CN" sz="2000"/>
          </a:p>
          <a:p>
            <a:pPr lvl="1"/>
            <a:r>
              <a:rPr lang="en-US" altLang="zh-CN" sz="1800">
                <a:sym typeface="+mn-ea"/>
              </a:rPr>
              <a:t>yarn add vue-meta-info --dev</a:t>
            </a:r>
            <a:endParaRPr lang="en-US" altLang="zh-CN" sz="1800"/>
          </a:p>
          <a:p>
            <a:pPr lvl="1"/>
            <a:r>
              <a:rPr lang="en-US" altLang="zh-CN" sz="1800">
                <a:sym typeface="+mn-ea"/>
              </a:rPr>
              <a:t>modify main.js</a:t>
            </a:r>
            <a:endParaRPr lang="en-US" altLang="zh-CN" sz="1800"/>
          </a:p>
          <a:p>
            <a:pPr lvl="2"/>
            <a:r>
              <a:rPr lang="en-US" altLang="zh-CN" sz="1600">
                <a:sym typeface="+mn-ea"/>
              </a:rPr>
              <a:t>import MetaInfo from 'vue-meta-info'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775">
                <a:sym typeface="+mn-ea"/>
              </a:rPr>
              <a:t>create assets/vue-meta-info.js</a:t>
            </a:r>
            <a:endParaRPr lang="en-US" altLang="zh-CN" sz="1775"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Use Vite in Vue 2.x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391275" cy="4549140"/>
          </a:xfrm>
        </p:spPr>
        <p:txBody>
          <a:bodyPr/>
          <a:p>
            <a:r>
              <a:rPr lang="en-US" altLang="zh-CN" sz="2000"/>
              <a:t>References</a:t>
            </a:r>
            <a:endParaRPr lang="en-US" altLang="zh-CN" sz="2000"/>
          </a:p>
          <a:p>
            <a:pPr lvl="1"/>
            <a:r>
              <a:rPr lang="en-US" altLang="zh-CN" sz="1800"/>
              <a:t>https://juejin.cn/post/7237776430784430138</a:t>
            </a:r>
            <a:endParaRPr lang="en-US" altLang="zh-CN" sz="1800"/>
          </a:p>
          <a:p>
            <a:pPr lvl="1"/>
            <a:r>
              <a:rPr lang="en-US" altLang="zh-CN" sz="1800"/>
              <a:t>https://juejin.cn/post/7177611096486838331</a:t>
            </a:r>
            <a:endParaRPr lang="en-US" altLang="zh-CN" sz="1800"/>
          </a:p>
          <a:p>
            <a:pPr lvl="2"/>
            <a:r>
              <a:rPr lang="en-US" altLang="zh-CN" sz="1600"/>
              <a:t>vue2.x</a:t>
            </a:r>
            <a:r>
              <a:rPr lang="zh-CN" altLang="en-US" sz="1600"/>
              <a:t>项目适配</a:t>
            </a:r>
            <a:r>
              <a:rPr lang="en-US" altLang="zh-CN" sz="1600"/>
              <a:t>vite</a:t>
            </a:r>
            <a:r>
              <a:rPr lang="zh-CN" altLang="en-US" sz="1600"/>
              <a:t>踩坑指南</a:t>
            </a:r>
            <a:endParaRPr lang="zh-CN" altLang="en-US" sz="1600"/>
          </a:p>
          <a:p>
            <a:pPr lvl="0"/>
            <a:r>
              <a:rPr lang="en-US" altLang="zh-CN" sz="2000"/>
              <a:t>Porting from webpack to vite</a:t>
            </a:r>
            <a:endParaRPr lang="en-US" altLang="zh-CN" sz="2000"/>
          </a:p>
          <a:p>
            <a:pPr lvl="1"/>
            <a:r>
              <a:rPr lang="en-US" altLang="zh-CN" sz="1800"/>
              <a:t>require.context()</a:t>
            </a:r>
            <a:endParaRPr lang="en-US" altLang="zh-CN" sz="1800"/>
          </a:p>
          <a:p>
            <a:pPr lvl="2"/>
            <a:r>
              <a:rPr lang="en-US" altLang="zh-CN" sz="1600"/>
              <a:t>var images = require.context('../../assets/image/', true, /\.png$/)</a:t>
            </a:r>
            <a:endParaRPr lang="en-US" altLang="zh-CN" sz="1600"/>
          </a:p>
          <a:p>
            <a:pPr lvl="2"/>
            <a:r>
              <a:rPr lang="en-US" altLang="zh-CN" sz="1600"/>
              <a:t>change into: var images = import.meta.glob('../assets/image/*.png')</a:t>
            </a:r>
            <a:endParaRPr lang="en-US" altLang="zh-CN" sz="1600"/>
          </a:p>
          <a:p>
            <a:pPr lvl="1"/>
            <a:r>
              <a:rPr lang="en-US" altLang="zh-CN" sz="1800"/>
              <a:t>In Vite, any static asset placed inside the public directory at the root of your project will be served at the root URL</a:t>
            </a:r>
            <a:endParaRPr lang="en-US" altLang="zh-CN" sz="1800"/>
          </a:p>
          <a:p>
            <a:pPr lvl="1"/>
            <a:r>
              <a:rPr lang="en-US" altLang="zh-CN" sz="1800"/>
              <a:t>el-table build</a:t>
            </a:r>
            <a:r>
              <a:rPr lang="zh-CN" altLang="en-US" sz="1800"/>
              <a:t>后无法显示</a:t>
            </a:r>
            <a:endParaRPr lang="zh-CN" altLang="en-US" sz="1800"/>
          </a:p>
          <a:p>
            <a:pPr lvl="2"/>
            <a:r>
              <a:rPr lang="en-US" altLang="zh-CN" sz="1620"/>
              <a:t>https://juejin.cn/post/7462268428897222668</a:t>
            </a:r>
            <a:endParaRPr lang="en-US" altLang="zh-CN" sz="162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Web Worker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59400" cy="4926965"/>
          </a:xfrm>
        </p:spPr>
        <p:txBody>
          <a:bodyPr>
            <a:normAutofit fontScale="70000"/>
          </a:bodyPr>
          <a:p>
            <a:r>
              <a:rPr lang="en-US" altLang="zh-CN" sz="1800"/>
              <a:t>References</a:t>
            </a:r>
            <a:endParaRPr lang="en-US" altLang="zh-CN" sz="1800"/>
          </a:p>
          <a:p>
            <a:pPr lvl="1"/>
            <a:r>
              <a:rPr lang="en-US" altLang="zh-CN" sz="1600"/>
              <a:t>https://zhuanlan.zhihu.com/p/444773216</a:t>
            </a:r>
            <a:endParaRPr lang="en-US" altLang="zh-CN" sz="1600"/>
          </a:p>
          <a:p>
            <a:pPr lvl="1"/>
            <a:r>
              <a:rPr lang="en-US" altLang="zh-CN" sz="1600"/>
              <a:t>https://segmentfault.com/a/1190000043411552</a:t>
            </a:r>
            <a:endParaRPr lang="en-US" altLang="zh-CN" sz="1600"/>
          </a:p>
          <a:p>
            <a:pPr lvl="1"/>
            <a:r>
              <a:rPr lang="en-US" altLang="zh-CN" sz="1600"/>
              <a:t>https://www.cnblogs.com/axl234/p/9254755.html</a:t>
            </a:r>
            <a:endParaRPr lang="en-US" altLang="zh-CN" sz="1600"/>
          </a:p>
          <a:p>
            <a:pPr lvl="2"/>
            <a:r>
              <a:rPr lang="en-US" altLang="zh-CN" sz="1440"/>
              <a:t>vue worker</a:t>
            </a:r>
            <a:endParaRPr lang="en-US" altLang="zh-CN" sz="1440"/>
          </a:p>
          <a:p>
            <a:pPr lvl="0"/>
            <a:r>
              <a:rPr lang="en-US" altLang="zh-CN" sz="1800"/>
              <a:t>Intro</a:t>
            </a:r>
            <a:endParaRPr lang="en-US" altLang="zh-CN" sz="1800"/>
          </a:p>
          <a:p>
            <a:pPr lvl="1"/>
            <a:r>
              <a:rPr lang="en-US" altLang="zh-CN" sz="1600"/>
              <a:t>Use postMessage() to send messages between the main thread and the worker.</a:t>
            </a:r>
            <a:endParaRPr lang="en-US" altLang="zh-CN" sz="1600"/>
          </a:p>
          <a:p>
            <a:pPr lvl="1"/>
            <a:r>
              <a:rPr lang="zh-CN" altLang="en-US" sz="1600"/>
              <a:t>不能操作</a:t>
            </a:r>
            <a:r>
              <a:rPr lang="en-US" altLang="zh-CN" sz="1600"/>
              <a:t> DOM</a:t>
            </a:r>
            <a:endParaRPr lang="en-US" altLang="zh-CN" sz="1600"/>
          </a:p>
          <a:p>
            <a:pPr lvl="1"/>
            <a:r>
              <a:rPr lang="zh-CN" altLang="en-US" sz="1600"/>
              <a:t>不能使用</a:t>
            </a:r>
            <a:r>
              <a:rPr lang="en-US" altLang="zh-CN" sz="1600"/>
              <a:t> window </a:t>
            </a:r>
            <a:r>
              <a:rPr lang="zh-CN" altLang="en-US" sz="1600"/>
              <a:t>的全局变量，但可以使用</a:t>
            </a:r>
            <a:r>
              <a:rPr lang="en-US" altLang="zh-CN" sz="1600"/>
              <a:t> navigator </a:t>
            </a:r>
            <a:r>
              <a:rPr lang="zh-CN" altLang="en-US" sz="1600"/>
              <a:t>和</a:t>
            </a:r>
            <a:r>
              <a:rPr lang="en-US" altLang="zh-CN" sz="1600"/>
              <a:t> location </a:t>
            </a:r>
            <a:r>
              <a:rPr lang="zh-CN" altLang="en-US" sz="1600"/>
              <a:t>对象</a:t>
            </a:r>
            <a:endParaRPr lang="zh-CN" altLang="en-US" sz="1600"/>
          </a:p>
          <a:p>
            <a:pPr lvl="1"/>
            <a:r>
              <a:rPr lang="zh-CN" altLang="en-US" sz="1600"/>
              <a:t>不能使用</a:t>
            </a:r>
            <a:r>
              <a:rPr lang="en-US" altLang="zh-CN" sz="1600"/>
              <a:t> alert</a:t>
            </a:r>
            <a:r>
              <a:rPr lang="zh-CN" altLang="en-US" sz="1600"/>
              <a:t>、</a:t>
            </a:r>
            <a:r>
              <a:rPr lang="en-US" altLang="zh-CN" sz="1600"/>
              <a:t>confirm </a:t>
            </a:r>
            <a:r>
              <a:rPr lang="zh-CN" altLang="en-US" sz="1600"/>
              <a:t>方法</a:t>
            </a:r>
            <a:endParaRPr lang="zh-CN" altLang="en-US" sz="1600"/>
          </a:p>
          <a:p>
            <a:pPr lvl="1"/>
            <a:r>
              <a:rPr lang="zh-CN" altLang="en-US" sz="1600"/>
              <a:t>无法读取本地文件</a:t>
            </a:r>
            <a:endParaRPr lang="zh-CN" altLang="en-US" sz="1600"/>
          </a:p>
          <a:p>
            <a:pPr lvl="0"/>
            <a:r>
              <a:rPr lang="en-US" altLang="zh-CN" sz="1800"/>
              <a:t>Usage</a:t>
            </a:r>
            <a:endParaRPr lang="en-US" altLang="zh-CN" sz="1800"/>
          </a:p>
          <a:p>
            <a:pPr lvl="1"/>
            <a:r>
              <a:rPr lang="en-US" altLang="zh-CN" sz="1600"/>
              <a:t>create worker.js</a:t>
            </a:r>
            <a:endParaRPr lang="en-US" altLang="zh-CN" sz="1600"/>
          </a:p>
          <a:p>
            <a:pPr lvl="0"/>
            <a:r>
              <a:rPr lang="en-US" altLang="zh-CN" sz="1800"/>
              <a:t>worker-loader</a:t>
            </a:r>
            <a:endParaRPr lang="en-US" altLang="zh-CN" sz="1800"/>
          </a:p>
          <a:p>
            <a:pPr lvl="1"/>
            <a:endParaRPr lang="en-US" altLang="zh-CN" sz="1500"/>
          </a:p>
          <a:p>
            <a:pPr lvl="0"/>
            <a:r>
              <a:rPr lang="en-US" altLang="zh-CN" sz="1800"/>
              <a:t>Vue-worker</a:t>
            </a:r>
            <a:endParaRPr lang="en-US" altLang="zh-CN" sz="1800"/>
          </a:p>
          <a:p>
            <a:pPr lvl="1"/>
            <a:r>
              <a:rPr lang="en-US" altLang="zh-CN" sz="1600"/>
              <a:t>It serializes the function.</a:t>
            </a:r>
            <a:endParaRPr lang="en-US" altLang="zh-CN" sz="1600"/>
          </a:p>
          <a:p>
            <a:pPr lvl="1"/>
            <a:r>
              <a:rPr lang="en-US" altLang="zh-CN" sz="1600"/>
              <a:t>Creates a Blob URL or injects code into a Worker.</a:t>
            </a:r>
            <a:endParaRPr lang="en-US" altLang="zh-CN" sz="1600"/>
          </a:p>
          <a:p>
            <a:pPr lvl="1"/>
            <a:r>
              <a:rPr lang="en-US" altLang="zh-CN" sz="1600"/>
              <a:t>That code may use async, await, Promise, etc.</a:t>
            </a:r>
            <a:endParaRPr lang="en-US" altLang="zh-CN" sz="1600"/>
          </a:p>
          <a:p>
            <a:pPr lvl="1"/>
            <a:endParaRPr lang="en-US" altLang="zh-CN" sz="16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smtClean="0"/>
              <a:t>THANKS</a:t>
            </a:r>
            <a:endParaRPr lang="en-US" altLang="zh-CN" smtClean="0"/>
          </a:p>
        </p:txBody>
      </p:sp>
      <p:sp>
        <p:nvSpPr>
          <p:cNvPr id="3" name="文本占位符 2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谢谢聆听</a:t>
            </a:r>
            <a:endParaRPr lang="zh-CN" altLang="en-US" smtClean="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SPECIAL_SOURCE" val="bdnull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UNIT_TABLE_BEAUTIFY" val="smartTable{4d037d77-00c1-412e-a2bd-1ef68d8f08b5}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18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SLIDE_ID" val="custom160402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SPECIAL_SOURCE" val="bdnull"/>
</p:tagLst>
</file>

<file path=ppt/tags/tag19.xml><?xml version="1.0" encoding="utf-8"?>
<p:tagLst xmlns:p="http://schemas.openxmlformats.org/presentationml/2006/main">
  <p:tag name="KSO_WM_SPECIAL_SOURCE" val="bdnull"/>
</p:tagLst>
</file>

<file path=ppt/tags/tag20.xml><?xml version="1.0" encoding="utf-8"?>
<p:tagLst xmlns:p="http://schemas.openxmlformats.org/presentationml/2006/main">
  <p:tag name="KSO_WM_SPECIAL_SOURCE" val="bdnull"/>
</p:tagLst>
</file>

<file path=ppt/tags/tag21.xml><?xml version="1.0" encoding="utf-8"?>
<p:tagLst xmlns:p="http://schemas.openxmlformats.org/presentationml/2006/main">
  <p:tag name="KSO_WM_SPECIAL_SOURCE" val="bdnull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23.xml><?xml version="1.0" encoding="utf-8"?>
<p:tagLst xmlns:p="http://schemas.openxmlformats.org/presentationml/2006/main">
  <p:tag name="KSO_WM_SPECIAL_SOURCE" val="bdnull"/>
</p:tagLst>
</file>

<file path=ppt/tags/tag24.xml><?xml version="1.0" encoding="utf-8"?>
<p:tagLst xmlns:p="http://schemas.openxmlformats.org/presentationml/2006/main">
  <p:tag name="KSO_WM_SPECIAL_SOURCE" val="bdnull"/>
</p:tagLst>
</file>

<file path=ppt/tags/tag25.xml><?xml version="1.0" encoding="utf-8"?>
<p:tagLst xmlns:p="http://schemas.openxmlformats.org/presentationml/2006/main">
  <p:tag name="KSO_WM_SPECIAL_SOURCE" val="bdnull"/>
</p:tagLst>
</file>

<file path=ppt/tags/tag26.xml><?xml version="1.0" encoding="utf-8"?>
<p:tagLst xmlns:p="http://schemas.openxmlformats.org/presentationml/2006/main">
  <p:tag name="KSO_WM_SPECIAL_SOURCE" val="bdnull"/>
</p:tagLst>
</file>

<file path=ppt/tags/tag27.xml><?xml version="1.0" encoding="utf-8"?>
<p:tagLst xmlns:p="http://schemas.openxmlformats.org/presentationml/2006/main">
  <p:tag name="KSO_WM_SPECIAL_SOURCE" val="bdnull"/>
</p:tagLst>
</file>

<file path=ppt/tags/tag28.xml><?xml version="1.0" encoding="utf-8"?>
<p:tagLst xmlns:p="http://schemas.openxmlformats.org/presentationml/2006/main">
  <p:tag name="KSO_WM_SPECIAL_SOURCE" val="bdnull"/>
</p:tagLst>
</file>

<file path=ppt/tags/tag29.xml><?xml version="1.0" encoding="utf-8"?>
<p:tagLst xmlns:p="http://schemas.openxmlformats.org/presentationml/2006/main">
  <p:tag name="KSO_WM_SPECIAL_SOURCE" val="bdnull"/>
</p:tagLst>
</file>

<file path=ppt/tags/tag30.xml><?xml version="1.0" encoding="utf-8"?>
<p:tagLst xmlns:p="http://schemas.openxmlformats.org/presentationml/2006/main">
  <p:tag name="KSO_WM_SPECIAL_SOURCE" val="bdnull"/>
</p:tagLst>
</file>

<file path=ppt/tags/tag31.xml><?xml version="1.0" encoding="utf-8"?>
<p:tagLst xmlns:p="http://schemas.openxmlformats.org/presentationml/2006/main">
  <p:tag name="KSO_WM_SPECIAL_SOURCE" val="bdnull"/>
</p:tagLst>
</file>

<file path=ppt/tags/tag32.xml><?xml version="1.0" encoding="utf-8"?>
<p:tagLst xmlns:p="http://schemas.openxmlformats.org/presentationml/2006/main">
  <p:tag name="KSO_WM_SPECIAL_SOURCE" val="bdnull"/>
</p:tagLst>
</file>

<file path=ppt/tags/tag33.xml><?xml version="1.0" encoding="utf-8"?>
<p:tagLst xmlns:p="http://schemas.openxmlformats.org/presentationml/2006/main">
  <p:tag name="KSO_WM_SPECIAL_SOURCE" val="bdnull"/>
</p:tagLst>
</file>

<file path=ppt/tags/tag34.xml><?xml version="1.0" encoding="utf-8"?>
<p:tagLst xmlns:p="http://schemas.openxmlformats.org/presentationml/2006/main">
  <p:tag name="KSO_WM_SPECIAL_SOURCE" val="bdnull"/>
</p:tagLst>
</file>

<file path=ppt/tags/tag35.xml><?xml version="1.0" encoding="utf-8"?>
<p:tagLst xmlns:p="http://schemas.openxmlformats.org/presentationml/2006/main">
  <p:tag name="KSO_WM_SPECIAL_SOURCE" val="bdnull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  <p:tag name="KSO_WM_SPECIAL_SOURCE" val="bdnull"/>
</p:tagLst>
</file>

<file path=ppt/tags/tag40.xml><?xml version="1.0" encoding="utf-8"?>
<p:tagLst xmlns:p="http://schemas.openxmlformats.org/presentationml/2006/main">
  <p:tag name="KSO_WM_SPECIAL_SOURCE" val="bdnull"/>
</p:tagLst>
</file>

<file path=ppt/tags/tag41.xml><?xml version="1.0" encoding="utf-8"?>
<p:tagLst xmlns:p="http://schemas.openxmlformats.org/presentationml/2006/main">
  <p:tag name="KSO_WM_SPECIAL_SOURCE" val="bdnull"/>
</p:tagLst>
</file>

<file path=ppt/tags/tag42.xml><?xml version="1.0" encoding="utf-8"?>
<p:tagLst xmlns:p="http://schemas.openxmlformats.org/presentationml/2006/main">
  <p:tag name="KSO_WM_SPECIAL_SOURCE" val="bdnull"/>
</p:tagLst>
</file>

<file path=ppt/tags/tag43.xml><?xml version="1.0" encoding="utf-8"?>
<p:tagLst xmlns:p="http://schemas.openxmlformats.org/presentationml/2006/main">
  <p:tag name="KSO_WM_SPECIAL_SOURCE" val="bdnull"/>
</p:tagLst>
</file>

<file path=ppt/tags/tag44.xml><?xml version="1.0" encoding="utf-8"?>
<p:tagLst xmlns:p="http://schemas.openxmlformats.org/presentationml/2006/main">
  <p:tag name="KSO_WM_SPECIAL_SOURCE" val="bdnull"/>
</p:tagLst>
</file>

<file path=ppt/tags/tag45.xml><?xml version="1.0" encoding="utf-8"?>
<p:tagLst xmlns:p="http://schemas.openxmlformats.org/presentationml/2006/main">
  <p:tag name="KSO_WM_SPECIAL_SOURCE" val="bdnull"/>
</p:tagLst>
</file>

<file path=ppt/tags/tag46.xml><?xml version="1.0" encoding="utf-8"?>
<p:tagLst xmlns:p="http://schemas.openxmlformats.org/presentationml/2006/main">
  <p:tag name="KSO_WM_SPECIAL_SOURCE" val="bdnull"/>
</p:tagLst>
</file>

<file path=ppt/tags/tag47.xml><?xml version="1.0" encoding="utf-8"?>
<p:tagLst xmlns:p="http://schemas.openxmlformats.org/presentationml/2006/main">
  <p:tag name="KSO_WM_SPECIAL_SOURCE" val="bdnull"/>
</p:tagLst>
</file>

<file path=ppt/tags/tag48.xml><?xml version="1.0" encoding="utf-8"?>
<p:tagLst xmlns:p="http://schemas.openxmlformats.org/presentationml/2006/main">
  <p:tag name="KSO_WM_SPECIAL_SOURCE" val="bdnull"/>
</p:tagLst>
</file>

<file path=ppt/tags/tag49.xml><?xml version="1.0" encoding="utf-8"?>
<p:tagLst xmlns:p="http://schemas.openxmlformats.org/presentationml/2006/main">
  <p:tag name="KSO_WM_SPECIAL_SOURCE" val="bdnull"/>
</p:tagLst>
</file>

<file path=ppt/tags/tag50.xml><?xml version="1.0" encoding="utf-8"?>
<p:tagLst xmlns:p="http://schemas.openxmlformats.org/presentationml/2006/main">
  <p:tag name="KSO_WM_SPECIAL_SOURCE" val="bdnull"/>
</p:tagLst>
</file>

<file path=ppt/tags/tag51.xml><?xml version="1.0" encoding="utf-8"?>
<p:tagLst xmlns:p="http://schemas.openxmlformats.org/presentationml/2006/main">
  <p:tag name="KSO_WM_SPECIAL_SOURCE" val="bdnull"/>
</p:tagLst>
</file>

<file path=ppt/tags/tag52.xml><?xml version="1.0" encoding="utf-8"?>
<p:tagLst xmlns:p="http://schemas.openxmlformats.org/presentationml/2006/main">
  <p:tag name="KSO_WM_SPECIAL_SOURCE" val="bdnull"/>
</p:tagLst>
</file>

<file path=ppt/tags/tag53.xml><?xml version="1.0" encoding="utf-8"?>
<p:tagLst xmlns:p="http://schemas.openxmlformats.org/presentationml/2006/main">
  <p:tag name="KSO_WM_SPECIAL_SOURCE" val="bdnull"/>
</p:tagLst>
</file>

<file path=ppt/tags/tag54.xml><?xml version="1.0" encoding="utf-8"?>
<p:tagLst xmlns:p="http://schemas.openxmlformats.org/presentationml/2006/main">
  <p:tag name="KSO_WM_SPECIAL_SOURCE" val="bdnull"/>
</p:tagLst>
</file>

<file path=ppt/tags/tag55.xml><?xml version="1.0" encoding="utf-8"?>
<p:tagLst xmlns:p="http://schemas.openxmlformats.org/presentationml/2006/main">
  <p:tag name="KSO_WM_SPECIAL_SOURCE" val="bdnull"/>
</p:tagLst>
</file>

<file path=ppt/tags/tag56.xml><?xml version="1.0" encoding="utf-8"?>
<p:tagLst xmlns:p="http://schemas.openxmlformats.org/presentationml/2006/main">
  <p:tag name="KSO_WM_SPECIAL_SOURCE" val="bdnull"/>
</p:tagLst>
</file>

<file path=ppt/tags/tag57.xml><?xml version="1.0" encoding="utf-8"?>
<p:tagLst xmlns:p="http://schemas.openxmlformats.org/presentationml/2006/main">
  <p:tag name="KSO_WM_SPECIAL_SOURCE" val="bdnull"/>
</p:tagLst>
</file>

<file path=ppt/tags/tag58.xml><?xml version="1.0" encoding="utf-8"?>
<p:tagLst xmlns:p="http://schemas.openxmlformats.org/presentationml/2006/main">
  <p:tag name="KSO_WM_SPECIAL_SOURCE" val="bdnull"/>
</p:tagLst>
</file>

<file path=ppt/tags/tag59.xml><?xml version="1.0" encoding="utf-8"?>
<p:tagLst xmlns:p="http://schemas.openxmlformats.org/presentationml/2006/main">
  <p:tag name="KSO_WM_SPECIAL_SOURCE" val="bdnull"/>
</p:tagLst>
</file>

<file path=ppt/tags/tag60.xml><?xml version="1.0" encoding="utf-8"?>
<p:tagLst xmlns:p="http://schemas.openxmlformats.org/presentationml/2006/main">
  <p:tag name="KSO_WM_SPECIAL_SOURCE" val="bdnull"/>
</p:tagLst>
</file>

<file path=ppt/tags/tag61.xml><?xml version="1.0" encoding="utf-8"?>
<p:tagLst xmlns:p="http://schemas.openxmlformats.org/presentationml/2006/main">
  <p:tag name="KSO_WM_SPECIAL_SOURCE" val="bdnull"/>
</p:tagLst>
</file>

<file path=ppt/tags/tag62.xml><?xml version="1.0" encoding="utf-8"?>
<p:tagLst xmlns:p="http://schemas.openxmlformats.org/presentationml/2006/main">
  <p:tag name="KSO_WM_SPECIAL_SOURCE" val="bdnull"/>
</p:tagLst>
</file>

<file path=ppt/tags/tag63.xml><?xml version="1.0" encoding="utf-8"?>
<p:tagLst xmlns:p="http://schemas.openxmlformats.org/presentationml/2006/main">
  <p:tag name="KSO_WM_SPECIAL_SOURCE" val="bdnull"/>
</p:tagLst>
</file>

<file path=ppt/tags/tag64.xml><?xml version="1.0" encoding="utf-8"?>
<p:tagLst xmlns:p="http://schemas.openxmlformats.org/presentationml/2006/main">
  <p:tag name="KSO_WM_SPECIAL_SOURCE" val="bdnull"/>
</p:tagLst>
</file>

<file path=ppt/tags/tag6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28*a*1"/>
  <p:tag name="KSO_WM_UNIT_CLEAR" val="1"/>
  <p:tag name="KSO_WM_UNIT_LAYERLEVEL" val="1"/>
  <p:tag name="KSO_WM_UNIT_VALUE" val="6"/>
  <p:tag name="KSO_WM_UNIT_ISCONTENTSTITLE" val="0"/>
  <p:tag name="KSO_WM_UNIT_HIGHLIGHT" val="0"/>
  <p:tag name="KSO_WM_UNIT_COMPATIBLE" val="0"/>
  <p:tag name="KSO_WM_UNIT_PRESET_TEXT" val="THANKS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28*b*1"/>
  <p:tag name="KSO_WM_UNIT_CLEAR" val="1"/>
  <p:tag name="KSO_WM_UNIT_LAYERLEVEL" val="1"/>
  <p:tag name="KSO_WM_UNIT_VALUE" val="28"/>
  <p:tag name="KSO_WM_UNIT_ISCONTENTSTITLE" val="0"/>
  <p:tag name="KSO_WM_UNIT_HIGHLIGHT" val="0"/>
  <p:tag name="KSO_WM_UNIT_COMPATIBLE" val="0"/>
  <p:tag name="KSO_WM_UNIT_PRESET_TEXT" val="谢谢聆听"/>
</p:tagLst>
</file>

<file path=ppt/tags/tag67.xml><?xml version="1.0" encoding="utf-8"?>
<p:tagLst xmlns:p="http://schemas.openxmlformats.org/presentationml/2006/main">
  <p:tag name="KSO_WM_TEMPLATE_CATEGORY" val="custom"/>
  <p:tag name="KSO_WM_TEMPLATE_INDEX" val="160402"/>
  <p:tag name="KSO_WM_TAG_VERSION" val="1.0"/>
  <p:tag name="KSO_WM_SLIDE_ID" val="custom160402_28"/>
  <p:tag name="KSO_WM_SLIDE_INDEX" val="28"/>
  <p:tag name="KSO_WM_SLIDE_ITEM_CNT" val="1"/>
  <p:tag name="KSO_WM_SLIDE_LAYOUT" val="b_a"/>
  <p:tag name="KSO_WM_SLIDE_LAYOUT_CNT" val="1_1"/>
  <p:tag name="KSO_WM_SLIDE_TYPE" val="endPage"/>
  <p:tag name="KSO_WM_BEAUTIFY_FLAG" val="#wm#"/>
  <p:tag name="KSO_WM_SPECIAL_SOURCE" val="bdnull"/>
</p:tagLst>
</file>

<file path=ppt/tags/tag68.xml><?xml version="1.0" encoding="utf-8"?>
<p:tagLst xmlns:p="http://schemas.openxmlformats.org/presentationml/2006/main">
  <p:tag name="KSO_DOCER_TEMPLATE_OPEN_ONCE_MARK" val="1"/>
  <p:tag name="COMMONDATA" val="eyJoZGlkIjoiODcwZjc5M2RmYzUwOWE5MjVkODVjZGMyZDUwOTRjYmEifQ=="/>
  <p:tag name="commondata" val="eyJoZGlkIjoiYjRhZjQ5NWVmZmQxNmM3NmNkNDYxNWRmNzNmMjA1ZDAifQ==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25262</Words>
  <Application>WPS 演示</Application>
  <PresentationFormat>宽屏</PresentationFormat>
  <Paragraphs>1226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4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1_A000120140530A02PPBG</vt:lpstr>
      <vt:lpstr>Vue Notes</vt:lpstr>
      <vt:lpstr>General</vt:lpstr>
      <vt:lpstr>References</vt:lpstr>
      <vt:lpstr>Introdution</vt:lpstr>
      <vt:lpstr>Install</vt:lpstr>
      <vt:lpstr>Config</vt:lpstr>
      <vt:lpstr>Debug</vt:lpstr>
      <vt:lpstr>Vue3 + Vite</vt:lpstr>
      <vt:lpstr>Binding</vt:lpstr>
      <vt:lpstr>Directives</vt:lpstr>
      <vt:lpstr>Component</vt:lpstr>
      <vt:lpstr>Lifecycle Hooks</vt:lpstr>
      <vt:lpstr>Props</vt:lpstr>
      <vt:lpstr>Additional Tools &amp; Plugins</vt:lpstr>
      <vt:lpstr>Single Page Application</vt:lpstr>
      <vt:lpstr>Vue Router</vt:lpstr>
      <vt:lpstr>Vue-i18n</vt:lpstr>
      <vt:lpstr>Axios</vt:lpstr>
      <vt:lpstr>Share Data Between Components</vt:lpstr>
      <vt:lpstr>Window</vt:lpstr>
      <vt:lpstr>Storage</vt:lpstr>
      <vt:lpstr>Load External JS</vt:lpstr>
      <vt:lpstr>Plugin</vt:lpstr>
      <vt:lpstr>Module System</vt:lpstr>
      <vt:lpstr>From Vue 2 to Vue 3</vt:lpstr>
      <vt:lpstr>Issues and Solutions</vt:lpstr>
      <vt:lpstr>Add Baidu Tongji</vt:lpstr>
      <vt:lpstr>Webpack</vt:lpstr>
      <vt:lpstr>Intro</vt:lpstr>
      <vt:lpstr>Upgrade from 3 to 4</vt:lpstr>
      <vt:lpstr>Modules</vt:lpstr>
      <vt:lpstr>Modules 2</vt:lpstr>
      <vt:lpstr>SEO</vt:lpstr>
      <vt:lpstr>General</vt:lpstr>
      <vt:lpstr>Sitemap</vt:lpstr>
      <vt:lpstr>SPA</vt:lpstr>
      <vt:lpstr>Prerender.io</vt:lpstr>
      <vt:lpstr>Phantomjs 1/2</vt:lpstr>
      <vt:lpstr>Phantomjs 2/2</vt:lpstr>
      <vt:lpstr>Puppeteer</vt:lpstr>
      <vt:lpstr>Rendora 1/2</vt:lpstr>
      <vt:lpstr>Rendora 2/2</vt:lpstr>
      <vt:lpstr>SpaRender</vt:lpstr>
      <vt:lpstr>Components</vt:lpstr>
      <vt:lpstr>Vue UI Framework</vt:lpstr>
      <vt:lpstr>Element UI</vt:lpstr>
      <vt:lpstr>Font Awesome</vt:lpstr>
      <vt:lpstr>Progress UI</vt:lpstr>
      <vt:lpstr>Vue-Konva</vt:lpstr>
      <vt:lpstr>Webp Image Format Support</vt:lpstr>
      <vt:lpstr>FAQ</vt:lpstr>
      <vt:lpstr>Nuxt</vt:lpstr>
      <vt:lpstr>Intro</vt:lpstr>
      <vt:lpstr>Set up</vt:lpstr>
      <vt:lpstr>nuxt.config.js</vt:lpstr>
      <vt:lpstr>Porting from Vue2</vt:lpstr>
      <vt:lpstr>Issues &amp; Solutions</vt:lpstr>
      <vt:lpstr>Advanced</vt:lpstr>
      <vt:lpstr>Handle Large JS Files</vt:lpstr>
      <vt:lpstr>Speed Up Loading 1/2</vt:lpstr>
      <vt:lpstr>Speed Up Loading 2/2</vt:lpstr>
      <vt:lpstr>Patch Package</vt:lpstr>
      <vt:lpstr>SEO</vt:lpstr>
      <vt:lpstr>Use Vite in Vue 2.x</vt:lpstr>
      <vt:lpstr>Web Worker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774</cp:revision>
  <dcterms:created xsi:type="dcterms:W3CDTF">2019-08-16T01:48:00Z</dcterms:created>
  <dcterms:modified xsi:type="dcterms:W3CDTF">2025-10-13T11:06:11Z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BFFCCE997AD7471D923C8600470D9D7B</vt:lpwstr>
  </property>
</Properties>
</file>