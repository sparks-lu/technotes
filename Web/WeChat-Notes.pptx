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5.webp" ContentType="image/webp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handoutMasterIdLst>
    <p:handoutMasterId r:id="rId61"/>
  </p:handoutMasterIdLst>
  <p:sldIdLst>
    <p:sldId id="256" r:id="rId3"/>
    <p:sldId id="583" r:id="rId4"/>
    <p:sldId id="365" r:id="rId5"/>
    <p:sldId id="366" r:id="rId6"/>
    <p:sldId id="264" r:id="rId7"/>
    <p:sldId id="266" r:id="rId8"/>
    <p:sldId id="295" r:id="rId9"/>
    <p:sldId id="265" r:id="rId10"/>
    <p:sldId id="296" r:id="rId11"/>
    <p:sldId id="297" r:id="rId12"/>
    <p:sldId id="400" r:id="rId13"/>
    <p:sldId id="280" r:id="rId14"/>
    <p:sldId id="281" r:id="rId15"/>
    <p:sldId id="282" r:id="rId16"/>
    <p:sldId id="298" r:id="rId17"/>
    <p:sldId id="299" r:id="rId18"/>
    <p:sldId id="543" r:id="rId19"/>
    <p:sldId id="263" r:id="rId20"/>
    <p:sldId id="582" r:id="rId21"/>
    <p:sldId id="330" r:id="rId22"/>
    <p:sldId id="511" r:id="rId23"/>
    <p:sldId id="257" r:id="rId24"/>
    <p:sldId id="258" r:id="rId25"/>
    <p:sldId id="259" r:id="rId26"/>
    <p:sldId id="261" r:id="rId27"/>
    <p:sldId id="262" r:id="rId28"/>
    <p:sldId id="440" r:id="rId29"/>
    <p:sldId id="441" r:id="rId30"/>
    <p:sldId id="458" r:id="rId31"/>
    <p:sldId id="584" r:id="rId32"/>
    <p:sldId id="581" r:id="rId33"/>
    <p:sldId id="350" r:id="rId34"/>
    <p:sldId id="475" r:id="rId35"/>
    <p:sldId id="491" r:id="rId36"/>
    <p:sldId id="577" r:id="rId37"/>
    <p:sldId id="578" r:id="rId38"/>
    <p:sldId id="580" r:id="rId39"/>
    <p:sldId id="275" r:id="rId40"/>
    <p:sldId id="276" r:id="rId41"/>
    <p:sldId id="316" r:id="rId42"/>
    <p:sldId id="428" r:id="rId43"/>
    <p:sldId id="277" r:id="rId44"/>
    <p:sldId id="278" r:id="rId45"/>
    <p:sldId id="279" r:id="rId46"/>
    <p:sldId id="274" r:id="rId47"/>
    <p:sldId id="317" r:id="rId48"/>
    <p:sldId id="318" r:id="rId49"/>
    <p:sldId id="325" r:id="rId50"/>
    <p:sldId id="326" r:id="rId51"/>
    <p:sldId id="327" r:id="rId52"/>
    <p:sldId id="323" r:id="rId53"/>
    <p:sldId id="324" r:id="rId54"/>
    <p:sldId id="507" r:id="rId55"/>
    <p:sldId id="508" r:id="rId56"/>
    <p:sldId id="509" r:id="rId57"/>
    <p:sldId id="510" r:id="rId58"/>
    <p:sldId id="579" r:id="rId59"/>
  </p:sldIdLst>
  <p:sldSz cx="12192000" cy="6858000"/>
  <p:notesSz cx="6858000" cy="9144000"/>
  <p:custDataLst>
    <p:tags r:id="rId6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5" Type="http://schemas.openxmlformats.org/officeDocument/2006/relationships/tags" Target="tags/tag73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handoutMaster" Target="handoutMasters/handoutMaster1.xml"/><Relationship Id="rId60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99881"/>
            <a:ext cx="9144000" cy="682643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99335"/>
            <a:ext cx="9144000" cy="376237"/>
          </a:xfrm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1219"/>
            <a:ext cx="10515600" cy="1551646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5320" y="3697371"/>
            <a:ext cx="8401360" cy="89693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625237" y="3582865"/>
            <a:ext cx="8941526" cy="102651"/>
            <a:chOff x="3914775" y="2524125"/>
            <a:chExt cx="2428875" cy="57150"/>
          </a:xfrm>
        </p:grpSpPr>
        <p:sp>
          <p:nvSpPr>
            <p:cNvPr id="8" name="矩形 7"/>
            <p:cNvSpPr/>
            <p:nvPr/>
          </p:nvSpPr>
          <p:spPr>
            <a:xfrm>
              <a:off x="3914775" y="2524125"/>
              <a:ext cx="809625" cy="57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24400" y="2524125"/>
              <a:ext cx="80962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534025" y="2524125"/>
              <a:ext cx="809625" cy="5715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7498"/>
            <a:ext cx="10515600" cy="7722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459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69819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459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69819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33134" y="2522178"/>
            <a:ext cx="5309839" cy="1226171"/>
          </a:xfrm>
        </p:spPr>
        <p:txBody>
          <a:bodyPr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空心弧 5"/>
          <p:cNvSpPr/>
          <p:nvPr/>
        </p:nvSpPr>
        <p:spPr bwMode="auto">
          <a:xfrm rot="7086271">
            <a:off x="7390896" y="2034751"/>
            <a:ext cx="2201026" cy="2201026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3748670" y="3778700"/>
            <a:ext cx="3878765" cy="845746"/>
          </a:xfrm>
        </p:spPr>
        <p:txBody>
          <a:bodyPr anchor="ctr" anchorCtr="0">
            <a:normAutofit/>
          </a:bodyPr>
          <a:lstStyle>
            <a:lvl1pPr marL="0" indent="0" algn="dist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 smtClean="0"/>
              <a:t>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94" y="245327"/>
            <a:ext cx="10514012" cy="719795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01020" y="1257090"/>
            <a:ext cx="3878116" cy="44523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122" y="1257090"/>
            <a:ext cx="5597912" cy="4452336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182881"/>
            <a:ext cx="10515600" cy="731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211581"/>
            <a:ext cx="1051560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黑体" panose="02010609060101010101" pitchFamily="49" charset="-122"/>
        <a:buChar char="〉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55.xml"/><Relationship Id="rId8" Type="http://schemas.openxmlformats.org/officeDocument/2006/relationships/slide" Target="slide53.xml"/><Relationship Id="rId7" Type="http://schemas.openxmlformats.org/officeDocument/2006/relationships/slide" Target="slide51.xml"/><Relationship Id="rId6" Type="http://schemas.openxmlformats.org/officeDocument/2006/relationships/slide" Target="slide48.xml"/><Relationship Id="rId5" Type="http://schemas.openxmlformats.org/officeDocument/2006/relationships/slide" Target="slide38.xml"/><Relationship Id="rId4" Type="http://schemas.openxmlformats.org/officeDocument/2006/relationships/slide" Target="slide18.xml"/><Relationship Id="rId3" Type="http://schemas.openxmlformats.org/officeDocument/2006/relationships/slide" Target="slide12.xml"/><Relationship Id="rId2" Type="http://schemas.openxmlformats.org/officeDocument/2006/relationships/slide" Target="slide5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6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image" Target="../media/image5.web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5.xml"/><Relationship Id="rId2" Type="http://schemas.openxmlformats.org/officeDocument/2006/relationships/image" Target="../media/image9.png"/><Relationship Id="rId1" Type="http://schemas.openxmlformats.org/officeDocument/2006/relationships/tags" Target="../tags/tag24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6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image" Target="../media/image12.jpe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41.xml"/><Relationship Id="rId1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4.xml"/><Relationship Id="rId1" Type="http://schemas.openxmlformats.org/officeDocument/2006/relationships/image" Target="../media/image14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6.xml"/><Relationship Id="rId1" Type="http://schemas.openxmlformats.org/officeDocument/2006/relationships/image" Target="../media/image15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8.xml"/><Relationship Id="rId1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5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tags" Target="../tags/tag55.xml"/><Relationship Id="rId2" Type="http://schemas.openxmlformats.org/officeDocument/2006/relationships/image" Target="../media/image17.png"/><Relationship Id="rId1" Type="http://schemas.openxmlformats.org/officeDocument/2006/relationships/tags" Target="../tags/tag5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8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9.xml"/><Relationship Id="rId1" Type="http://schemas.openxmlformats.org/officeDocument/2006/relationships/image" Target="../media/image2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2.xml"/><Relationship Id="rId1" Type="http://schemas.openxmlformats.org/officeDocument/2006/relationships/image" Target="../media/image2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2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2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ctr"/>
            <a:r>
              <a:rPr lang="en-US" altLang="zh-CN" smtClean="0"/>
              <a:t>WeChat Notes</a:t>
            </a:r>
            <a:endParaRPr lang="en-US" altLang="zh-CN" smtClean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524000" y="5299075"/>
            <a:ext cx="9144000" cy="688975"/>
          </a:xfrm>
        </p:spPr>
        <p:txBody>
          <a:bodyPr>
            <a:normAutofit fontScale="65000"/>
          </a:bodyPr>
          <a:p>
            <a:pPr algn="ctr"/>
            <a:r>
              <a:rPr lang="en-US" altLang="zh-CN" smtClean="0"/>
              <a:t>Sparks Lu</a:t>
            </a:r>
            <a:endParaRPr lang="en-US" altLang="zh-CN" smtClean="0"/>
          </a:p>
          <a:p>
            <a:pPr algn="ctr"/>
            <a:r>
              <a:rPr lang="en-US" altLang="zh-CN" smtClean="0"/>
              <a:t>Last updated: 2021-8-4</a:t>
            </a:r>
            <a:endParaRPr lang="en-US" altLang="zh-CN" smtClean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Topics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>
                <a:hlinkClick r:id="rId1" tooltip="" action="ppaction://hlinksldjump"/>
              </a:rPr>
              <a:t>Overview</a:t>
            </a:r>
            <a:endParaRPr lang="en-US" altLang="zh-CN"/>
          </a:p>
          <a:p>
            <a:r>
              <a:rPr lang="en-US" altLang="zh-CN">
                <a:hlinkClick r:id="rId2" tooltip="" action="ppaction://hlinksldjump"/>
              </a:rPr>
              <a:t>Login by Scan QR Code</a:t>
            </a:r>
            <a:endParaRPr lang="en-US" altLang="zh-CN"/>
          </a:p>
          <a:p>
            <a:r>
              <a:rPr lang="en-US" altLang="zh-CN">
                <a:hlinkClick r:id="rId3" tooltip="" action="ppaction://hlinksldjump"/>
              </a:rPr>
              <a:t>Wechat Pay</a:t>
            </a:r>
            <a:endParaRPr lang="en-US" altLang="zh-CN"/>
          </a:p>
          <a:p>
            <a:r>
              <a:rPr lang="en-US" altLang="zh-CN">
                <a:hlinkClick r:id="rId4" tooltip="" action="ppaction://hlinksldjump"/>
              </a:rPr>
              <a:t>Wechat Mini Program</a:t>
            </a:r>
            <a:endParaRPr lang="en-US" altLang="zh-CN"/>
          </a:p>
          <a:p>
            <a:r>
              <a:rPr lang="en-US" altLang="zh-CN">
                <a:hlinkClick r:id="rId5" tooltip="" action="ppaction://hlinksldjump"/>
              </a:rPr>
              <a:t>JSSDK</a:t>
            </a:r>
            <a:endParaRPr lang="en-US" altLang="zh-CN"/>
          </a:p>
          <a:p>
            <a:r>
              <a:rPr lang="zh-CN" altLang="en-US">
                <a:hlinkClick r:id="rId6" tooltip="" action="ppaction://hlinksldjump"/>
              </a:rPr>
              <a:t>公众号开发</a:t>
            </a:r>
            <a:endParaRPr lang="zh-CN" altLang="en-US"/>
          </a:p>
          <a:p>
            <a:r>
              <a:rPr lang="zh-CN" altLang="en-US">
                <a:hlinkClick r:id="rId7" tooltip="" action="ppaction://hlinksldjump"/>
              </a:rPr>
              <a:t>第三方平台接入</a:t>
            </a:r>
            <a:endParaRPr lang="zh-CN" altLang="en-US"/>
          </a:p>
          <a:p>
            <a:r>
              <a:rPr lang="zh-CN" altLang="en-US">
                <a:hlinkClick r:id="rId8" tooltip="" action="ppaction://hlinksldjump"/>
              </a:rPr>
              <a:t>局域网通信</a:t>
            </a:r>
            <a:endParaRPr lang="zh-CN" altLang="en-US"/>
          </a:p>
          <a:p>
            <a:r>
              <a:rPr lang="en-US" altLang="zh-CN">
                <a:hlinkClick r:id="rId9" tooltip="" action="ppaction://hlinksldjump"/>
              </a:rPr>
              <a:t>XR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Overview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Overview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211580"/>
            <a:ext cx="3404235" cy="4549140"/>
          </a:xfrm>
        </p:spPr>
        <p:txBody>
          <a:bodyPr/>
          <a:p>
            <a:r>
              <a:rPr lang="zh-CN" altLang="en-US"/>
              <a:t>微信登录、微信支付</a:t>
            </a:r>
            <a:endParaRPr lang="zh-CN" altLang="en-US"/>
          </a:p>
          <a:p>
            <a:pPr lvl="1"/>
            <a:r>
              <a:rPr lang="zh-CN" altLang="en-US"/>
              <a:t>微信开放平台支持</a:t>
            </a:r>
            <a:endParaRPr lang="zh-CN" altLang="en-US"/>
          </a:p>
          <a:p>
            <a:pPr lvl="1"/>
            <a:r>
              <a:rPr lang="en-US" altLang="zh-CN"/>
              <a:t>open.weixin.qq.com</a:t>
            </a:r>
            <a:endParaRPr lang="en-US" altLang="zh-CN"/>
          </a:p>
          <a:p>
            <a:pPr lvl="1"/>
            <a:r>
              <a:rPr lang="zh-CN" altLang="en-US"/>
              <a:t>仅支持一个授权回调域</a:t>
            </a:r>
            <a:endParaRPr lang="en-US" altLang="zh-CN"/>
          </a:p>
          <a:p>
            <a:pPr lvl="0"/>
            <a:r>
              <a:rPr lang="zh-CN" altLang="en-US"/>
              <a:t>微信分享</a:t>
            </a:r>
            <a:endParaRPr lang="zh-CN" altLang="en-US"/>
          </a:p>
          <a:p>
            <a:pPr lvl="1"/>
            <a:r>
              <a:rPr lang="zh-CN" altLang="en-US"/>
              <a:t>微信公众号支持</a:t>
            </a:r>
            <a:endParaRPr lang="zh-CN" altLang="en-US"/>
          </a:p>
          <a:p>
            <a:pPr lvl="1"/>
            <a:r>
              <a:rPr lang="en-US" altLang="zh-CN"/>
              <a:t>mp.weixin.qq.com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2450" y="1106805"/>
            <a:ext cx="7499985" cy="39966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Login by Scan QR Code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https://developers.weixin.qq.com/doc/oplatform/Website_App/WeChat_Login/Wechat_Login.html</a:t>
            </a:r>
            <a:endParaRPr lang="zh-CN" altLang="en-US"/>
          </a:p>
          <a:p>
            <a:r>
              <a:rPr lang="zh-CN" altLang="en-US"/>
              <a:t>https://developers.weixin.qq.com/doc/offiaccount/OA_Web_Apps/JS-SDK.html</a:t>
            </a:r>
            <a:endParaRPr lang="zh-CN" altLang="en-US"/>
          </a:p>
          <a:p>
            <a:r>
              <a:rPr lang="zh-CN" altLang="en-US"/>
              <a:t>https://blog.csdn.net/zl1zl2zl3/article/details/84261398</a:t>
            </a:r>
            <a:endParaRPr lang="zh-CN" altLang="en-US"/>
          </a:p>
          <a:p>
            <a:r>
              <a:rPr lang="zh-CN" altLang="en-US"/>
              <a:t>https://blog.csdn.net/qq_22034353/article/details/90480732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Prepare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Register website on Wechat open platform</a:t>
            </a:r>
            <a:endParaRPr lang="en-US" altLang="zh-CN"/>
          </a:p>
          <a:p>
            <a:pPr lvl="1"/>
            <a:r>
              <a:rPr lang="en-US" altLang="zh-CN"/>
              <a:t>open.weixin.qq.com</a:t>
            </a:r>
            <a:endParaRPr lang="en-US" altLang="zh-CN"/>
          </a:p>
          <a:p>
            <a:pPr lvl="2"/>
            <a:r>
              <a:rPr lang="zh-CN" altLang="en-US" sz="1800"/>
              <a:t>网站应用</a:t>
            </a:r>
            <a:endParaRPr lang="en-US" altLang="zh-CN"/>
          </a:p>
          <a:p>
            <a:pPr lvl="0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Process</a:t>
            </a:r>
            <a:endParaRPr lang="en-US" altLang="zh-CN"/>
          </a:p>
        </p:txBody>
      </p:sp>
      <p:pic>
        <p:nvPicPr>
          <p:cNvPr id="2" name="图片 1" descr="D0wkkHSbtC6VUSHX4WsjP5ssg5mdnEmXO8NGVGF34dxS9N1WCcq6wvquR4K_Hcu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383030"/>
            <a:ext cx="10058400" cy="44164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Step 1: Get Code Method 1</a:t>
            </a:r>
            <a:endParaRPr lang="en-US" altLang="zh-CN"/>
          </a:p>
        </p:txBody>
      </p:sp>
      <p:sp>
        <p:nvSpPr>
          <p:cNvPr id="6" name="流程图: 过程 5"/>
          <p:cNvSpPr/>
          <p:nvPr/>
        </p:nvSpPr>
        <p:spPr>
          <a:xfrm>
            <a:off x="1121410" y="1590040"/>
            <a:ext cx="5215255" cy="135572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前端</a:t>
            </a:r>
            <a:r>
              <a:rPr lang="zh-CN" altLang="en-US">
                <a:sym typeface="+mn-ea"/>
              </a:rPr>
              <a:t>拉取微信认证授权二维码</a:t>
            </a:r>
            <a:r>
              <a:rPr lang="zh-CN" altLang="en-US">
                <a:sym typeface="+mn-ea"/>
              </a:rPr>
              <a:t>https://open.weixin.qq.com/connect/qrconnect?appid=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APPID</a:t>
            </a:r>
            <a:r>
              <a:rPr lang="zh-CN" altLang="en-US">
                <a:sym typeface="+mn-ea"/>
              </a:rPr>
              <a:t>&amp;redirect_uri=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REDIRECT_URI</a:t>
            </a:r>
            <a:r>
              <a:rPr lang="zh-CN" altLang="en-US">
                <a:sym typeface="+mn-ea"/>
              </a:rPr>
              <a:t>&amp;response_type=code&amp;scope=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SCOPE</a:t>
            </a:r>
            <a:r>
              <a:rPr lang="zh-CN" altLang="en-US">
                <a:sym typeface="+mn-ea"/>
              </a:rPr>
              <a:t>&amp;state=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STATE</a:t>
            </a:r>
            <a:r>
              <a:rPr lang="zh-CN" altLang="en-US">
                <a:sym typeface="+mn-ea"/>
              </a:rPr>
              <a:t>#wechat_redirect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301865" y="1707515"/>
            <a:ext cx="3794125" cy="92202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scope</a:t>
            </a:r>
            <a:r>
              <a:rPr lang="zh-CN" altLang="en-US"/>
              <a:t>：snsapi_login </a:t>
            </a:r>
            <a:r>
              <a:rPr lang="en-US" altLang="zh-CN"/>
              <a:t>for web pages</a:t>
            </a:r>
            <a:endParaRPr lang="en-US" altLang="zh-CN"/>
          </a:p>
          <a:p>
            <a:r>
              <a:rPr lang="en-US" altLang="zh-CN"/>
              <a:t>state: 用于防止csrf攻击,可设置为简单的随机数加session进行校验</a:t>
            </a:r>
            <a:endParaRPr lang="en-US" altLang="zh-CN"/>
          </a:p>
        </p:txBody>
      </p:sp>
      <p:sp>
        <p:nvSpPr>
          <p:cNvPr id="8" name="流程图: 过程 7"/>
          <p:cNvSpPr/>
          <p:nvPr/>
        </p:nvSpPr>
        <p:spPr>
          <a:xfrm>
            <a:off x="1121410" y="3284855"/>
            <a:ext cx="5215255" cy="69088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用户扫码并授权</a:t>
            </a:r>
            <a:endParaRPr lang="zh-CN" altLang="en-US"/>
          </a:p>
        </p:txBody>
      </p:sp>
      <p:sp>
        <p:nvSpPr>
          <p:cNvPr id="9" name="流程图: 过程 8"/>
          <p:cNvSpPr/>
          <p:nvPr/>
        </p:nvSpPr>
        <p:spPr>
          <a:xfrm>
            <a:off x="1121410" y="4354195"/>
            <a:ext cx="5215255" cy="69088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跳转</a:t>
            </a:r>
            <a:r>
              <a:rPr lang="en-US" altLang="zh-CN"/>
              <a:t>REDIRECT_URI</a:t>
            </a:r>
            <a:r>
              <a:rPr lang="zh-CN" altLang="en-US"/>
              <a:t>，并带上</a:t>
            </a:r>
            <a:r>
              <a:rPr lang="en-US" altLang="zh-CN"/>
              <a:t>code</a:t>
            </a:r>
            <a:r>
              <a:rPr lang="zh-CN" altLang="en-US"/>
              <a:t>和</a:t>
            </a:r>
            <a:r>
              <a:rPr lang="en-US" altLang="zh-CN"/>
              <a:t>state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Step 1: Get Code Method 2</a:t>
            </a:r>
            <a:endParaRPr lang="en-US" altLang="zh-CN"/>
          </a:p>
        </p:txBody>
      </p:sp>
      <p:sp>
        <p:nvSpPr>
          <p:cNvPr id="8" name="流程图: 过程 7"/>
          <p:cNvSpPr/>
          <p:nvPr/>
        </p:nvSpPr>
        <p:spPr>
          <a:xfrm>
            <a:off x="938530" y="1173480"/>
            <a:ext cx="6399530" cy="67818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前端页面</a:t>
            </a:r>
            <a:r>
              <a:rPr lang="zh-CN" altLang="en-US"/>
              <a:t>引入http://res.wx.qq.com/connect/zh_CN/htmledition/js/wxLogin.js</a:t>
            </a:r>
            <a:endParaRPr lang="zh-CN" altLang="en-US"/>
          </a:p>
        </p:txBody>
      </p:sp>
      <p:sp>
        <p:nvSpPr>
          <p:cNvPr id="5" name="流程图: 过程 4"/>
          <p:cNvSpPr/>
          <p:nvPr/>
        </p:nvSpPr>
        <p:spPr>
          <a:xfrm>
            <a:off x="938530" y="2124710"/>
            <a:ext cx="6399530" cy="55054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前端实例化</a:t>
            </a:r>
            <a:r>
              <a:rPr lang="en-US" altLang="zh-CN"/>
              <a:t>JS</a:t>
            </a:r>
            <a:r>
              <a:rPr lang="zh-CN" altLang="en-US"/>
              <a:t>对象</a:t>
            </a:r>
            <a:r>
              <a:rPr lang="en-US" altLang="zh-CN"/>
              <a:t>WxLogin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7706360" y="1523365"/>
            <a:ext cx="4368165" cy="175323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id: </a:t>
            </a:r>
            <a:r>
              <a:rPr lang="zh-CN" altLang="en-US"/>
              <a:t>显示二维码的容器</a:t>
            </a:r>
            <a:r>
              <a:rPr lang="en-US" altLang="zh-CN"/>
              <a:t>id</a:t>
            </a:r>
            <a:endParaRPr lang="en-US" altLang="zh-CN"/>
          </a:p>
          <a:p>
            <a:r>
              <a:rPr lang="en-US" altLang="zh-CN"/>
              <a:t>appid:</a:t>
            </a:r>
            <a:endParaRPr lang="en-US" altLang="zh-CN"/>
          </a:p>
          <a:p>
            <a:r>
              <a:rPr lang="en-US" altLang="zh-CN"/>
              <a:t>scope: snsapi_login</a:t>
            </a:r>
            <a:r>
              <a:rPr lang="zh-CN" altLang="en-US"/>
              <a:t>网页应用</a:t>
            </a:r>
            <a:endParaRPr lang="zh-CN" altLang="en-US"/>
          </a:p>
          <a:p>
            <a:r>
              <a:rPr lang="en-US" altLang="zh-CN"/>
              <a:t>redirect_uri: </a:t>
            </a:r>
            <a:r>
              <a:rPr lang="zh-CN" altLang="en-US"/>
              <a:t>用</a:t>
            </a:r>
            <a:r>
              <a:rPr lang="en-US" altLang="zh-CN"/>
              <a:t>UrlEncode</a:t>
            </a:r>
            <a:r>
              <a:rPr lang="zh-CN" altLang="en-US"/>
              <a:t>的重定向地址</a:t>
            </a:r>
            <a:endParaRPr lang="zh-CN" altLang="en-US"/>
          </a:p>
          <a:p>
            <a:r>
              <a:rPr lang="en-US" altLang="zh-CN">
                <a:sym typeface="+mn-ea"/>
              </a:rPr>
              <a:t>state: 用于防止csrf攻击,可设置为简单的随机数加session进行校验</a:t>
            </a:r>
            <a:endParaRPr lang="en-US" altLang="zh-CN"/>
          </a:p>
        </p:txBody>
      </p:sp>
      <p:sp>
        <p:nvSpPr>
          <p:cNvPr id="6" name="流程图: 过程 5"/>
          <p:cNvSpPr/>
          <p:nvPr/>
        </p:nvSpPr>
        <p:spPr>
          <a:xfrm>
            <a:off x="938530" y="3755390"/>
            <a:ext cx="6399530" cy="639445"/>
          </a:xfrm>
          <a:prstGeom prst="flowChartProcess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微信触发</a:t>
            </a:r>
            <a:r>
              <a:rPr lang="zh-CN" altLang="en-US"/>
              <a:t>重定向到</a:t>
            </a:r>
            <a:r>
              <a:rPr lang="en-US" altLang="zh-CN"/>
              <a:t>redirect_uri</a:t>
            </a:r>
            <a:r>
              <a:rPr lang="zh-CN" altLang="en-US"/>
              <a:t>并带上</a:t>
            </a:r>
            <a:r>
              <a:rPr lang="en-US" altLang="zh-CN"/>
              <a:t>code</a:t>
            </a:r>
            <a:r>
              <a:rPr lang="zh-CN" altLang="en-US"/>
              <a:t>参数</a:t>
            </a:r>
            <a:endParaRPr lang="zh-CN" altLang="en-US"/>
          </a:p>
        </p:txBody>
      </p:sp>
      <p:sp>
        <p:nvSpPr>
          <p:cNvPr id="9" name="流程图: 过程 8"/>
          <p:cNvSpPr/>
          <p:nvPr/>
        </p:nvSpPr>
        <p:spPr>
          <a:xfrm>
            <a:off x="938530" y="2939415"/>
            <a:ext cx="6399530" cy="534670"/>
          </a:xfrm>
          <a:prstGeom prst="flowChartProcess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用户扫码并授权</a:t>
            </a:r>
            <a:endParaRPr lang="zh-CN" altLang="en-US"/>
          </a:p>
        </p:txBody>
      </p:sp>
      <p:sp>
        <p:nvSpPr>
          <p:cNvPr id="10" name="流程图: 过程 9"/>
          <p:cNvSpPr/>
          <p:nvPr/>
        </p:nvSpPr>
        <p:spPr>
          <a:xfrm>
            <a:off x="938530" y="4605655"/>
            <a:ext cx="6399530" cy="106807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根据</a:t>
            </a:r>
            <a:r>
              <a:rPr lang="en-US" altLang="zh-CN"/>
              <a:t>code</a:t>
            </a:r>
            <a:r>
              <a:rPr lang="zh-CN" altLang="en-US"/>
              <a:t>获取</a:t>
            </a:r>
            <a:r>
              <a:rPr lang="en-US" altLang="zh-CN"/>
              <a:t>access token</a:t>
            </a:r>
            <a:endParaRPr lang="en-US" altLang="zh-CN"/>
          </a:p>
          <a:p>
            <a:pPr algn="ctr"/>
            <a:r>
              <a:rPr lang="en-US" altLang="zh-CN"/>
              <a:t>https://api.weixin.qq.com/sns/oauth2/access_token?appid=</a:t>
            </a:r>
            <a:r>
              <a:rPr lang="en-US" altLang="zh-CN">
                <a:solidFill>
                  <a:srgbClr val="FF0000"/>
                </a:solidFill>
              </a:rPr>
              <a:t>APPID</a:t>
            </a:r>
            <a:r>
              <a:rPr lang="en-US" altLang="zh-CN"/>
              <a:t>&amp;secret=</a:t>
            </a:r>
            <a:r>
              <a:rPr lang="en-US" altLang="zh-CN">
                <a:solidFill>
                  <a:srgbClr val="FF0000"/>
                </a:solidFill>
              </a:rPr>
              <a:t>SECRET</a:t>
            </a:r>
            <a:r>
              <a:rPr lang="en-US" altLang="zh-CN"/>
              <a:t>&amp;code=</a:t>
            </a:r>
            <a:r>
              <a:rPr lang="en-US" altLang="zh-CN">
                <a:solidFill>
                  <a:srgbClr val="FF0000"/>
                </a:solidFill>
              </a:rPr>
              <a:t>CODE</a:t>
            </a:r>
            <a:r>
              <a:rPr lang="en-US" altLang="zh-CN"/>
              <a:t>&amp;grant_type=authorization_code</a:t>
            </a:r>
            <a:endParaRPr lang="en-US" altLang="zh-CN"/>
          </a:p>
        </p:txBody>
      </p:sp>
      <p:sp>
        <p:nvSpPr>
          <p:cNvPr id="11" name="流程图: 过程 10"/>
          <p:cNvSpPr/>
          <p:nvPr/>
        </p:nvSpPr>
        <p:spPr>
          <a:xfrm>
            <a:off x="938530" y="5906135"/>
            <a:ext cx="6399530" cy="63944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t>https://api.weixin.qq.com/sns/userinfo?</a:t>
            </a:r>
            <a:r>
              <a:rPr lang="en-US"/>
              <a:t>access_token=</a:t>
            </a:r>
            <a:r>
              <a:rPr lang="en-US">
                <a:solidFill>
                  <a:srgbClr val="FF0000"/>
                </a:solidFill>
              </a:rPr>
              <a:t>AT</a:t>
            </a:r>
            <a:r>
              <a:rPr lang="en-US">
                <a:solidFill>
                  <a:schemeClr val="bg1"/>
                </a:solidFill>
              </a:rPr>
              <a:t>&amp;openid=</a:t>
            </a:r>
            <a:r>
              <a:rPr lang="en-US">
                <a:solidFill>
                  <a:srgbClr val="FF0000"/>
                </a:solidFill>
              </a:rPr>
              <a:t>OpenID</a:t>
            </a:r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2" name="直接箭头连接符 11"/>
          <p:cNvCxnSpPr>
            <a:stCxn id="8" idx="2"/>
            <a:endCxn id="5" idx="0"/>
          </p:cNvCxnSpPr>
          <p:nvPr/>
        </p:nvCxnSpPr>
        <p:spPr>
          <a:xfrm>
            <a:off x="4138295" y="1851660"/>
            <a:ext cx="0" cy="2730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5" idx="2"/>
            <a:endCxn id="9" idx="0"/>
          </p:cNvCxnSpPr>
          <p:nvPr/>
        </p:nvCxnSpPr>
        <p:spPr>
          <a:xfrm>
            <a:off x="4138295" y="2675255"/>
            <a:ext cx="0" cy="264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9" idx="2"/>
            <a:endCxn id="6" idx="0"/>
          </p:cNvCxnSpPr>
          <p:nvPr/>
        </p:nvCxnSpPr>
        <p:spPr>
          <a:xfrm>
            <a:off x="4138295" y="3474085"/>
            <a:ext cx="0" cy="2813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6" idx="2"/>
            <a:endCxn id="10" idx="0"/>
          </p:cNvCxnSpPr>
          <p:nvPr/>
        </p:nvCxnSpPr>
        <p:spPr>
          <a:xfrm>
            <a:off x="4138295" y="4394835"/>
            <a:ext cx="0" cy="2108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0" idx="2"/>
            <a:endCxn id="11" idx="0"/>
          </p:cNvCxnSpPr>
          <p:nvPr/>
        </p:nvCxnSpPr>
        <p:spPr>
          <a:xfrm>
            <a:off x="4138295" y="5673725"/>
            <a:ext cx="0" cy="2324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5" idx="3"/>
            <a:endCxn id="7" idx="1"/>
          </p:cNvCxnSpPr>
          <p:nvPr/>
        </p:nvCxnSpPr>
        <p:spPr>
          <a:xfrm>
            <a:off x="7338060" y="2400300"/>
            <a:ext cx="368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706360" y="4955540"/>
            <a:ext cx="4368165" cy="3683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返回</a:t>
            </a:r>
            <a:r>
              <a:rPr lang="en-US" altLang="zh-CN"/>
              <a:t>access_token</a:t>
            </a:r>
            <a:r>
              <a:rPr lang="zh-CN" altLang="en-US"/>
              <a:t>和</a:t>
            </a:r>
            <a:r>
              <a:rPr lang="en-US" altLang="zh-CN"/>
              <a:t>openID</a:t>
            </a:r>
            <a:endParaRPr lang="en-US" altLang="zh-CN"/>
          </a:p>
        </p:txBody>
      </p:sp>
      <p:cxnSp>
        <p:nvCxnSpPr>
          <p:cNvPr id="19" name="直接连接符 18"/>
          <p:cNvCxnSpPr>
            <a:stCxn id="10" idx="3"/>
            <a:endCxn id="18" idx="1"/>
          </p:cNvCxnSpPr>
          <p:nvPr/>
        </p:nvCxnSpPr>
        <p:spPr>
          <a:xfrm>
            <a:off x="7338060" y="5139690"/>
            <a:ext cx="368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7706360" y="6041390"/>
            <a:ext cx="4368165" cy="3683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返回</a:t>
            </a:r>
            <a:r>
              <a:rPr lang="en-US"/>
              <a:t>union_id</a:t>
            </a:r>
            <a:r>
              <a:rPr lang="zh-CN" altLang="en-US"/>
              <a:t>，</a:t>
            </a:r>
            <a:r>
              <a:rPr lang="en-US" altLang="zh-CN"/>
              <a:t>nickname</a:t>
            </a:r>
            <a:r>
              <a:rPr lang="zh-CN" altLang="en-US"/>
              <a:t>等</a:t>
            </a:r>
            <a:endParaRPr lang="zh-CN" altLang="en-US"/>
          </a:p>
        </p:txBody>
      </p:sp>
      <p:cxnSp>
        <p:nvCxnSpPr>
          <p:cNvPr id="21" name="直接连接符 20"/>
          <p:cNvCxnSpPr>
            <a:stCxn id="11" idx="3"/>
            <a:endCxn id="20" idx="1"/>
          </p:cNvCxnSpPr>
          <p:nvPr/>
        </p:nvCxnSpPr>
        <p:spPr>
          <a:xfrm flipV="1">
            <a:off x="7338060" y="6225540"/>
            <a:ext cx="368300" cy="6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扫码关注并登陆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914900" cy="4549140"/>
          </a:xfrm>
        </p:spPr>
        <p:txBody>
          <a:bodyPr>
            <a:normAutofit lnSpcReduction="1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https://developers.weixin.qq.com/doc/offiaccount/Message_Management/Receiving_event_pushes.html</a:t>
            </a:r>
            <a:endParaRPr lang="en-US" altLang="zh-CN"/>
          </a:p>
          <a:p>
            <a:pPr lvl="1"/>
            <a:r>
              <a:rPr lang="en-US" altLang="zh-CN"/>
              <a:t>https://developers.weixin.qq.com/doc/offiaccount/Account_Management/Generating_a_Parametric_QR_Code.html</a:t>
            </a:r>
            <a:endParaRPr lang="en-US" altLang="zh-CN"/>
          </a:p>
          <a:p>
            <a:pPr lvl="1"/>
            <a:r>
              <a:rPr lang="en-US" altLang="zh-CN"/>
              <a:t>https://juejin.cn/post/7031846857567371271</a:t>
            </a:r>
            <a:endParaRPr lang="en-US" altLang="zh-CN"/>
          </a:p>
          <a:p>
            <a:r>
              <a:rPr lang="en-US" altLang="zh-CN"/>
              <a:t>Logic</a:t>
            </a:r>
            <a:endParaRPr lang="en-US" altLang="zh-CN"/>
          </a:p>
          <a:p>
            <a:pPr lvl="1"/>
            <a:r>
              <a:rPr lang="en-US" altLang="zh-CN"/>
              <a:t>使用公众号接口生成</a:t>
            </a:r>
            <a:r>
              <a:rPr lang="zh-CN" altLang="en-US"/>
              <a:t>带参数的</a:t>
            </a:r>
            <a:r>
              <a:rPr lang="en-US" altLang="zh-CN"/>
              <a:t>二维码</a:t>
            </a:r>
            <a:endParaRPr lang="en-US" altLang="zh-CN"/>
          </a:p>
          <a:p>
            <a:pPr lvl="1"/>
            <a:r>
              <a:rPr lang="en-US" altLang="zh-CN"/>
              <a:t>系统接收微信推送过来的事件(关注/扫码)</a:t>
            </a:r>
            <a:endParaRPr lang="en-US" altLang="zh-CN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6436360" y="1035050"/>
            <a:ext cx="5339080" cy="540385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Wechat Pay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Overview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211580"/>
            <a:ext cx="6383020" cy="5252720"/>
          </a:xfrm>
        </p:spPr>
        <p:txBody>
          <a:bodyPr>
            <a:normAutofit fontScale="7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https://pay.weixin.qq.com/wiki/doc/api/native.php?chapter=1_1</a:t>
            </a:r>
            <a:endParaRPr lang="en-US" altLang="zh-CN"/>
          </a:p>
          <a:p>
            <a:pPr lvl="1"/>
            <a:r>
              <a:rPr lang="en-US" altLang="zh-CN"/>
              <a:t>https://www.jb51.net/article/159656.htm</a:t>
            </a:r>
            <a:endParaRPr lang="en-US" altLang="zh-CN"/>
          </a:p>
          <a:p>
            <a:pPr lvl="0"/>
            <a:r>
              <a:rPr lang="zh-CN" altLang="en-US"/>
              <a:t>准备</a:t>
            </a:r>
            <a:endParaRPr lang="zh-CN" altLang="en-US"/>
          </a:p>
          <a:p>
            <a:pPr lvl="1"/>
            <a:r>
              <a:rPr lang="zh-CN" altLang="en-US" sz="2000"/>
              <a:t>微信公众号</a:t>
            </a:r>
            <a:endParaRPr lang="zh-CN" altLang="en-US" sz="2000"/>
          </a:p>
          <a:p>
            <a:pPr lvl="1"/>
            <a:r>
              <a:rPr lang="zh-CN" altLang="en-US" sz="2000"/>
              <a:t>商户平台账号</a:t>
            </a:r>
            <a:endParaRPr lang="en-US" altLang="zh-CN"/>
          </a:p>
          <a:p>
            <a:pPr lvl="0"/>
            <a:r>
              <a:rPr lang="en-US" altLang="zh-CN"/>
              <a:t>Types</a:t>
            </a:r>
            <a:endParaRPr lang="en-US" altLang="zh-CN"/>
          </a:p>
          <a:p>
            <a:pPr lvl="1"/>
            <a:r>
              <a:rPr lang="zh-CN" altLang="en-US"/>
              <a:t>付款码支付</a:t>
            </a:r>
            <a:endParaRPr lang="zh-CN" altLang="en-US"/>
          </a:p>
          <a:p>
            <a:pPr lvl="1"/>
            <a:r>
              <a:rPr lang="en-US" altLang="zh-CN"/>
              <a:t>Native</a:t>
            </a:r>
            <a:r>
              <a:rPr lang="zh-CN" altLang="en-US"/>
              <a:t>支付 （用户</a:t>
            </a:r>
            <a:r>
              <a:rPr lang="zh-CN" altLang="en-US"/>
              <a:t>扫码支付）</a:t>
            </a:r>
            <a:endParaRPr lang="zh-CN" altLang="en-US"/>
          </a:p>
          <a:p>
            <a:pPr lvl="1"/>
            <a:r>
              <a:rPr lang="en-US" altLang="zh-CN"/>
              <a:t>JSAPI</a:t>
            </a:r>
            <a:r>
              <a:rPr lang="zh-CN" altLang="en-US"/>
              <a:t>支付</a:t>
            </a:r>
            <a:endParaRPr lang="zh-CN" altLang="en-US"/>
          </a:p>
          <a:p>
            <a:pPr lvl="2"/>
            <a:r>
              <a:rPr lang="zh-CN" altLang="en-US"/>
              <a:t>微信中打开的</a:t>
            </a:r>
            <a:r>
              <a:rPr lang="en-US" altLang="zh-CN"/>
              <a:t>H5</a:t>
            </a:r>
            <a:r>
              <a:rPr lang="zh-CN" altLang="en-US"/>
              <a:t>页面中使用</a:t>
            </a:r>
            <a:endParaRPr lang="zh-CN" altLang="en-US"/>
          </a:p>
          <a:p>
            <a:pPr lvl="1"/>
            <a:r>
              <a:rPr lang="en-US" altLang="zh-CN"/>
              <a:t>APP</a:t>
            </a:r>
            <a:r>
              <a:rPr lang="zh-CN" altLang="en-US"/>
              <a:t>支付</a:t>
            </a:r>
            <a:endParaRPr lang="zh-CN" altLang="en-US"/>
          </a:p>
          <a:p>
            <a:pPr lvl="1"/>
            <a:r>
              <a:rPr lang="en-US" altLang="zh-CN"/>
              <a:t>H5</a:t>
            </a:r>
            <a:r>
              <a:rPr lang="zh-CN" altLang="en-US"/>
              <a:t>支付</a:t>
            </a:r>
            <a:endParaRPr lang="zh-CN" altLang="en-US"/>
          </a:p>
          <a:p>
            <a:pPr lvl="1"/>
            <a:r>
              <a:rPr lang="zh-CN" altLang="en-US"/>
              <a:t>小程序支付</a:t>
            </a:r>
            <a:endParaRPr lang="zh-CN" altLang="en-US"/>
          </a:p>
          <a:p>
            <a:pPr lvl="0"/>
            <a:r>
              <a:rPr lang="zh-CN" altLang="en-US"/>
              <a:t>账户</a:t>
            </a:r>
            <a:r>
              <a:rPr lang="zh-CN" altLang="en-US"/>
              <a:t>信息</a:t>
            </a:r>
            <a:endParaRPr lang="zh-CN" altLang="en-US"/>
          </a:p>
          <a:p>
            <a:pPr lvl="1"/>
            <a:r>
              <a:rPr lang="en-US" altLang="zh-CN"/>
              <a:t>APPID</a:t>
            </a:r>
            <a:endParaRPr lang="en-US" altLang="zh-CN"/>
          </a:p>
          <a:p>
            <a:pPr lvl="1"/>
            <a:r>
              <a:rPr lang="zh-CN" altLang="en-US"/>
              <a:t>商户号</a:t>
            </a:r>
            <a:endParaRPr lang="zh-CN" altLang="en-US"/>
          </a:p>
          <a:p>
            <a:pPr lvl="1"/>
            <a:r>
              <a:rPr lang="en-US" altLang="zh-CN"/>
              <a:t>API</a:t>
            </a:r>
            <a:r>
              <a:rPr lang="zh-CN" altLang="en-US"/>
              <a:t>密钥</a:t>
            </a:r>
            <a:endParaRPr lang="zh-CN" altLang="en-US"/>
          </a:p>
          <a:p>
            <a:pPr lvl="1"/>
            <a:r>
              <a:rPr lang="en-US" altLang="zh-CN"/>
              <a:t>AppSecret</a:t>
            </a:r>
            <a:endParaRPr lang="en-US" altLang="zh-CN"/>
          </a:p>
        </p:txBody>
      </p:sp>
      <p:pic>
        <p:nvPicPr>
          <p:cNvPr id="2" name="图片 1" descr="chapter9_1_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1220" y="914400"/>
            <a:ext cx="4711700" cy="5207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扫码支付</a:t>
            </a:r>
            <a:endParaRPr lang="zh-CN" altLang="en-US"/>
          </a:p>
        </p:txBody>
      </p:sp>
      <p:pic>
        <p:nvPicPr>
          <p:cNvPr id="4" name="图片 3" descr="chapter6_5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245" y="1164590"/>
            <a:ext cx="5327650" cy="52527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Step1</a:t>
            </a:r>
            <a:r>
              <a:rPr lang="zh-CN" altLang="en-US"/>
              <a:t>：统一下单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908550" cy="538289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zh-CN" altLang="en-US" sz="1800"/>
              <a:t>https://api.mch.weixin.qq.com/pay/unifiedorder</a:t>
            </a:r>
            <a:endParaRPr lang="zh-CN" altLang="en-US" sz="18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800"/>
              <a:t>appid</a:t>
            </a:r>
            <a:endParaRPr lang="en-US" altLang="zh-CN" sz="18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800"/>
              <a:t>mchid </a:t>
            </a:r>
            <a:r>
              <a:rPr lang="zh-CN" altLang="en-US" sz="1800"/>
              <a:t>商户号</a:t>
            </a:r>
            <a:endParaRPr lang="zh-CN" altLang="en-US" sz="18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800"/>
              <a:t>device_info 设备号 ‘web'</a:t>
            </a:r>
            <a:endParaRPr lang="en-US" altLang="zh-CN" sz="18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800"/>
              <a:t>nonce_str 随机字符串</a:t>
            </a:r>
            <a:endParaRPr lang="en-US" altLang="zh-CN" sz="18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800"/>
              <a:t>sign 签名 通过签名算法计算得出的签名值</a:t>
            </a:r>
            <a:endParaRPr lang="en-US" altLang="zh-CN" sz="18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800"/>
              <a:t>sign_type 默认为MD5，支持HMAC-SHA256和MD5</a:t>
            </a:r>
            <a:endParaRPr lang="en-US" altLang="zh-CN" sz="18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800"/>
              <a:t>body 商品描述 </a:t>
            </a:r>
            <a:endParaRPr lang="en-US" altLang="zh-CN" sz="18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800"/>
              <a:t>detail 商品详情</a:t>
            </a:r>
            <a:endParaRPr lang="en-US" altLang="zh-CN" sz="18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800"/>
              <a:t>attach 附加数据</a:t>
            </a:r>
            <a:endParaRPr lang="en-US" altLang="zh-CN" sz="18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800"/>
              <a:t>out_trade_no 商户订单号 要求32个字符内，只能是数字、大小写字母_-|* 且在同一个商户号下唯一</a:t>
            </a:r>
            <a:endParaRPr lang="en-US" altLang="zh-CN" sz="18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800"/>
              <a:t>fee_type</a:t>
            </a:r>
            <a:r>
              <a:rPr lang="zh-CN" altLang="en-US" sz="1800"/>
              <a:t>： 标价币种，默认</a:t>
            </a:r>
            <a:r>
              <a:rPr lang="en-US" altLang="zh-CN" sz="1800"/>
              <a:t>CNY</a:t>
            </a:r>
            <a:endParaRPr lang="en-US" altLang="zh-CN" sz="18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800"/>
              <a:t>total_fee</a:t>
            </a:r>
            <a:r>
              <a:rPr lang="zh-CN" altLang="en-US" sz="1800"/>
              <a:t>： 标价金额，订单总金额，单位为分</a:t>
            </a:r>
            <a:endParaRPr lang="zh-CN" altLang="en-US" sz="180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5949315" y="1120775"/>
            <a:ext cx="4908550" cy="5382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zh-CN" altLang="en-US" sz="1800">
                <a:sym typeface="+mn-ea"/>
              </a:rPr>
              <a:t>spbill_create_ip：终端IP</a:t>
            </a:r>
            <a:endParaRPr lang="zh-CN" altLang="en-US" sz="1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800">
                <a:sym typeface="+mn-ea"/>
              </a:rPr>
              <a:t>time_start：交易起始时间</a:t>
            </a:r>
            <a:endParaRPr lang="zh-CN" altLang="en-US" sz="1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800">
                <a:sym typeface="+mn-ea"/>
              </a:rPr>
              <a:t>time_expire： 交易结束时间</a:t>
            </a:r>
            <a:endParaRPr lang="zh-CN" altLang="en-US" sz="1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800">
                <a:sym typeface="+mn-ea"/>
              </a:rPr>
              <a:t>goods_tag： 订单优惠标记</a:t>
            </a:r>
            <a:endParaRPr lang="zh-CN" altLang="en-US" sz="1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rgbClr val="FF0000"/>
                </a:solidFill>
                <a:sym typeface="+mn-ea"/>
              </a:rPr>
              <a:t>notify_url： 通知支付结果</a:t>
            </a:r>
            <a:r>
              <a:rPr lang="zh-CN" altLang="en-US" sz="1800">
                <a:solidFill>
                  <a:srgbClr val="FF0000"/>
                </a:solidFill>
                <a:sym typeface="+mn-ea"/>
              </a:rPr>
              <a:t>地址</a:t>
            </a:r>
            <a:endParaRPr lang="zh-CN" altLang="en-US" sz="180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800"/>
              <a:t>trade_type： 交易类型</a:t>
            </a:r>
            <a:endParaRPr lang="zh-CN" altLang="en-US" sz="1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800"/>
              <a:t>product_id： 商品ID</a:t>
            </a:r>
            <a:endParaRPr lang="zh-CN" altLang="en-US" sz="1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800"/>
              <a:t>limit_pay： 指定支付方式</a:t>
            </a:r>
            <a:endParaRPr lang="zh-CN" altLang="en-US" sz="1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800"/>
              <a:t>openid： 用户标识</a:t>
            </a:r>
            <a:endParaRPr lang="zh-CN" altLang="en-US" sz="1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800"/>
              <a:t>receipt</a:t>
            </a:r>
            <a:r>
              <a:rPr lang="en-US" altLang="zh-CN" sz="1800"/>
              <a:t>: 电子发票入口开放标识</a:t>
            </a:r>
            <a:endParaRPr lang="en-US" altLang="zh-CN" sz="18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800"/>
              <a:t>scene_info: 场景信息</a:t>
            </a:r>
            <a:endParaRPr lang="en-US" altLang="zh-CN" sz="1800"/>
          </a:p>
          <a:p>
            <a:pPr>
              <a:buFont typeface="Arial" panose="020B0604020202020204" pitchFamily="34" charset="0"/>
              <a:buChar char="•"/>
            </a:pPr>
            <a:endParaRPr lang="en-US" altLang="zh-CN" sz="1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800"/>
              <a:t>返回二维码链接</a:t>
            </a:r>
            <a:endParaRPr lang="zh-CN" altLang="en-US" sz="1800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Step 2</a:t>
            </a:r>
            <a:r>
              <a:rPr lang="zh-CN" altLang="en-US"/>
              <a:t>：接收支付结果通知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3657600" cy="4913630"/>
          </a:xfrm>
        </p:spPr>
        <p:txBody>
          <a:bodyPr>
            <a:normAutofit fontScale="90000" lnSpcReduction="10000"/>
          </a:bodyPr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/>
              <a:t>return_code: SUCCESS/FAIL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/>
              <a:t>return_msg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/>
              <a:t>appid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/>
              <a:t>mch_id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/>
              <a:t>device_info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/>
              <a:t>nonce_str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/>
              <a:t>sign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/>
              <a:t>sign_type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FF0000"/>
                </a:solidFill>
              </a:rPr>
              <a:t>result_code</a:t>
            </a:r>
            <a:endParaRPr lang="en-US" altLang="zh-CN" sz="1600">
              <a:solidFill>
                <a:srgbClr val="FF0000"/>
              </a:solidFill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/>
              <a:t>err_code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/>
              <a:t>err_code_des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/>
              <a:t>openid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>
                <a:sym typeface="+mn-ea"/>
              </a:rPr>
              <a:t>is_subscribe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>
                <a:sym typeface="+mn-ea"/>
              </a:rPr>
              <a:t>trade_type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>
                <a:sym typeface="+mn-ea"/>
              </a:rPr>
              <a:t>bank_type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>
                <a:sym typeface="+mn-ea"/>
              </a:rPr>
              <a:t>total_fee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endParaRPr lang="en-US" altLang="zh-CN" sz="1600"/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5127625" y="1154430"/>
            <a:ext cx="365760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/>
              <a:t>settlement_total_fee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/>
              <a:t>fee_type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/>
              <a:t>cash_fee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/>
              <a:t>cash_fee_type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/>
              <a:t>coupon_fee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/>
              <a:t>coupon_type_$n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/>
              <a:t>coupon_id_$n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/>
              <a:t>coupon_fee_$n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/>
              <a:t>transaction_id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FF0000"/>
                </a:solidFill>
              </a:rPr>
              <a:t>out_trade_no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/>
              <a:t>attach</a:t>
            </a:r>
            <a:endParaRPr lang="en-US" altLang="zh-CN" sz="16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1600"/>
              <a:t>time_end</a:t>
            </a:r>
            <a:endParaRPr lang="en-US" altLang="zh-CN" sz="160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转账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388100" cy="4549140"/>
          </a:xfrm>
        </p:spPr>
        <p:txBody>
          <a:bodyPr>
            <a:normAutofit lnSpcReduction="20000"/>
          </a:bodyPr>
          <a:p>
            <a:r>
              <a:rPr lang="en-US" altLang="zh-CN" sz="2000"/>
              <a:t>References</a:t>
            </a:r>
            <a:endParaRPr lang="en-US" altLang="zh-CN" sz="2000"/>
          </a:p>
          <a:p>
            <a:pPr lvl="1"/>
            <a:r>
              <a:rPr lang="en-US" altLang="zh-CN" sz="1800"/>
              <a:t>https://cloud.tencent.com/developer/article/2291797</a:t>
            </a:r>
            <a:endParaRPr lang="en-US" altLang="zh-CN" sz="1800"/>
          </a:p>
          <a:p>
            <a:pPr lvl="1"/>
            <a:r>
              <a:rPr lang="en-US" altLang="zh-CN"/>
              <a:t>https://pay.weixin.qq.com/wiki/doc/apiv3/apis/chapter4_3_1.shtml</a:t>
            </a:r>
            <a:r>
              <a:rPr lang="zh-CN" altLang="en-US"/>
              <a:t>（转账到零钱）</a:t>
            </a:r>
            <a:endParaRPr lang="en-US" altLang="zh-CN"/>
          </a:p>
          <a:p>
            <a:pPr lvl="1"/>
            <a:r>
              <a:rPr lang="en-US" altLang="zh-CN" sz="1800"/>
              <a:t>https://docs.pingcode.com/baike/3282487 </a:t>
            </a:r>
            <a:r>
              <a:rPr lang="zh-CN" altLang="en-US" sz="1800"/>
              <a:t>（转账到微信账号）</a:t>
            </a:r>
            <a:endParaRPr lang="zh-CN" altLang="en-US" sz="1800"/>
          </a:p>
          <a:p>
            <a:pPr lvl="1"/>
            <a:r>
              <a:rPr lang="en-US" altLang="zh-CN" sz="1800">
                <a:sym typeface="+mn-ea"/>
              </a:rPr>
              <a:t>https://docs.pingcode.com/baike/3282487</a:t>
            </a:r>
            <a:r>
              <a:rPr lang="zh-CN" altLang="en-US" sz="1800"/>
              <a:t> （转账到零钱）</a:t>
            </a:r>
            <a:endParaRPr lang="zh-CN" altLang="en-US" sz="1800"/>
          </a:p>
          <a:p>
            <a:pPr lvl="1"/>
            <a:r>
              <a:rPr lang="en-US" altLang="zh-CN" sz="1800"/>
              <a:t>https://developers.weixin.qq.com/community/develop/article/doc/00082c7fddcbd818cea04f9a86b013</a:t>
            </a:r>
            <a:r>
              <a:rPr lang="zh-CN" altLang="en-US" sz="1800"/>
              <a:t> （转账到零钱）</a:t>
            </a:r>
            <a:endParaRPr lang="en-US" altLang="zh-CN" sz="1800"/>
          </a:p>
          <a:p>
            <a:pPr lvl="0"/>
            <a:r>
              <a:rPr lang="en-US" altLang="zh-CN" sz="2000"/>
              <a:t>Info</a:t>
            </a:r>
            <a:endParaRPr lang="en-US" altLang="zh-CN" sz="2000"/>
          </a:p>
          <a:p>
            <a:pPr lvl="1"/>
            <a:r>
              <a:rPr lang="zh-CN" altLang="en-US" sz="1800"/>
              <a:t>实现功能前需要先联系微信支付申请签约这个产品，开通了才可以调用</a:t>
            </a:r>
            <a:endParaRPr lang="zh-CN" altLang="en-US" sz="1800"/>
          </a:p>
          <a:p>
            <a:pPr lvl="1"/>
            <a:r>
              <a:rPr lang="zh-CN" altLang="en-US" sz="1800"/>
              <a:t>目前付款到银行卡支持</a:t>
            </a:r>
            <a:r>
              <a:rPr lang="en-US" altLang="zh-CN" sz="1800"/>
              <a:t>17</a:t>
            </a:r>
            <a:r>
              <a:rPr lang="zh-CN" altLang="en-US" sz="1800"/>
              <a:t>家银行，且是付款到个人银行卡</a:t>
            </a:r>
            <a:endParaRPr lang="zh-CN" altLang="en-US" sz="1800"/>
          </a:p>
          <a:p>
            <a:pPr lvl="1"/>
            <a:r>
              <a:rPr lang="zh-CN" altLang="en-US" sz="1800"/>
              <a:t>转账到零钱：收款方微信账号</a:t>
            </a:r>
            <a:endParaRPr lang="zh-CN" altLang="en-US" sz="1800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WeChat MiniProgram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Frameworks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910455" cy="4549140"/>
          </a:xfrm>
        </p:spPr>
        <p:txBody>
          <a:bodyPr/>
          <a:p>
            <a:r>
              <a:rPr lang="en-US" altLang="zh-CN"/>
              <a:t>Taro</a:t>
            </a:r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5650865" y="1480820"/>
            <a:ext cx="5893435" cy="18815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Configuration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211580"/>
            <a:ext cx="4908550" cy="4549140"/>
          </a:xfrm>
        </p:spPr>
        <p:txBody>
          <a:bodyPr/>
          <a:p>
            <a:r>
              <a:rPr lang="en-US" altLang="zh-CN"/>
              <a:t>Reference</a:t>
            </a:r>
            <a:endParaRPr lang="en-US" altLang="zh-CN"/>
          </a:p>
          <a:p>
            <a:pPr lvl="1"/>
            <a:r>
              <a:rPr lang="en-US" altLang="zh-CN"/>
              <a:t>https://developers.weixin.qq.com/miniprogram/dev/framework/ability/network.html</a:t>
            </a:r>
            <a:endParaRPr lang="en-US" altLang="zh-CN"/>
          </a:p>
          <a:p>
            <a:r>
              <a:rPr lang="en-US" altLang="zh-CN"/>
              <a:t>Configure domain name</a:t>
            </a:r>
            <a:endParaRPr lang="en-US" altLang="zh-CN"/>
          </a:p>
          <a:p>
            <a:pPr lvl="1"/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613400" y="1403350"/>
            <a:ext cx="6221095" cy="42824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Lifecycle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526405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https://developers.weixin.qq.com/community/develop/article/doc/000002e9b647c833cab9ef81f51c13</a:t>
            </a:r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7616825" y="182880"/>
            <a:ext cx="4217670" cy="646112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1206500" y="2602865"/>
            <a:ext cx="5825490" cy="41757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Framework 1/3</a:t>
            </a:r>
            <a:endParaRPr lang="en-US" altLang="zh-CN"/>
          </a:p>
        </p:txBody>
      </p:sp>
      <p:sp>
        <p:nvSpPr>
          <p:cNvPr id="4" name="圆角矩形 3"/>
          <p:cNvSpPr/>
          <p:nvPr/>
        </p:nvSpPr>
        <p:spPr>
          <a:xfrm>
            <a:off x="2950845" y="3547745"/>
            <a:ext cx="6511925" cy="15151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Logic: JavaScript</a:t>
            </a:r>
            <a:endParaRPr lang="en-US" altLang="zh-CN"/>
          </a:p>
        </p:txBody>
      </p:sp>
      <p:sp>
        <p:nvSpPr>
          <p:cNvPr id="6" name="圆角矩形 5"/>
          <p:cNvSpPr/>
          <p:nvPr/>
        </p:nvSpPr>
        <p:spPr>
          <a:xfrm>
            <a:off x="2950845" y="1417955"/>
            <a:ext cx="6511925" cy="15151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View: WXML/WXSS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998220" y="5398770"/>
            <a:ext cx="293433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/>
              <a:t>https://mp.weixin.qq.com</a:t>
            </a:r>
            <a:endParaRPr lang="en-US" altLang="zh-CN"/>
          </a:p>
          <a:p>
            <a:pPr algn="l"/>
            <a:endParaRPr lang="en-US" altLang="zh-CN"/>
          </a:p>
          <a:p>
            <a:pPr algn="l"/>
            <a:r>
              <a:rPr lang="en-US" altLang="zh-CN"/>
              <a:t>WXSS: WeiXin Style Sheet</a:t>
            </a:r>
            <a:endParaRPr lang="en-US" altLang="zh-CN"/>
          </a:p>
          <a:p>
            <a:pPr algn="l"/>
            <a:r>
              <a:rPr lang="en-US" altLang="zh-CN"/>
              <a:t>WXML: WeiXin XML</a:t>
            </a:r>
            <a:endParaRPr lang="en-US" altLang="zh-CN"/>
          </a:p>
        </p:txBody>
      </p:sp>
      <p:sp>
        <p:nvSpPr>
          <p:cNvPr id="8" name="上下箭头 7"/>
          <p:cNvSpPr/>
          <p:nvPr/>
        </p:nvSpPr>
        <p:spPr>
          <a:xfrm>
            <a:off x="4145915" y="2957830"/>
            <a:ext cx="199390" cy="54165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上下箭头 8"/>
          <p:cNvSpPr/>
          <p:nvPr/>
        </p:nvSpPr>
        <p:spPr>
          <a:xfrm>
            <a:off x="7093585" y="2933065"/>
            <a:ext cx="199390" cy="54165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431030" y="3081020"/>
            <a:ext cx="13569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Data binding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7292975" y="3044825"/>
            <a:ext cx="1884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Behavior binding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Framework 2/3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188085" y="2006600"/>
            <a:ext cx="4009390" cy="3692525"/>
          </a:xfrm>
          <a:prstGeom prst="rect">
            <a:avLst/>
          </a:prstGeom>
          <a:solidFill>
            <a:schemeClr val="accent5">
              <a:alpha val="43000"/>
            </a:schemeClr>
          </a:solidFill>
        </p:spPr>
        <p:txBody>
          <a:bodyPr wrap="square" rtlCol="0">
            <a:spAutoFit/>
          </a:bodyPr>
          <a:p>
            <a:pPr algn="l"/>
            <a:r>
              <a:rPr lang="en-US" altLang="zh-CN">
                <a:sym typeface="+mn-ea"/>
              </a:rPr>
              <a:t>Page({</a:t>
            </a:r>
            <a:endParaRPr lang="en-US" altLang="zh-CN"/>
          </a:p>
          <a:p>
            <a:pPr lvl="1" algn="l"/>
            <a:r>
              <a:rPr lang="en-US" altLang="zh-CN">
                <a:sym typeface="+mn-ea"/>
              </a:rPr>
              <a:t>data: {</a:t>
            </a:r>
            <a:endParaRPr lang="en-US" altLang="zh-CN">
              <a:sym typeface="+mn-ea"/>
            </a:endParaRPr>
          </a:p>
          <a:p>
            <a:pPr lvl="1" algn="l"/>
            <a:r>
              <a:rPr lang="en-US" altLang="zh-CN">
                <a:sym typeface="+mn-ea"/>
              </a:rPr>
              <a:t>	var-name: value</a:t>
            </a:r>
            <a:endParaRPr lang="en-US" altLang="zh-CN">
              <a:sym typeface="+mn-ea"/>
            </a:endParaRPr>
          </a:p>
          <a:p>
            <a:pPr lvl="1" algn="l"/>
            <a:r>
              <a:rPr lang="en-US" altLang="zh-CN">
                <a:sym typeface="+mn-ea"/>
              </a:rPr>
              <a:t>},</a:t>
            </a:r>
            <a:endParaRPr lang="en-US" altLang="zh-CN">
              <a:sym typeface="+mn-ea"/>
            </a:endParaRPr>
          </a:p>
          <a:p>
            <a:pPr lvl="1" algn="l"/>
            <a:endParaRPr lang="en-US" altLang="zh-CN">
              <a:sym typeface="+mn-ea"/>
            </a:endParaRPr>
          </a:p>
          <a:p>
            <a:pPr lvl="1" algn="l"/>
            <a:r>
              <a:rPr lang="en-US" altLang="zh-CN">
                <a:sym typeface="+mn-ea"/>
              </a:rPr>
              <a:t>function-name: function() {</a:t>
            </a:r>
            <a:endParaRPr lang="en-US" altLang="zh-CN">
              <a:sym typeface="+mn-ea"/>
            </a:endParaRPr>
          </a:p>
          <a:p>
            <a:pPr lvl="1" algn="l"/>
            <a:r>
              <a:rPr lang="en-US" altLang="zh-CN">
                <a:sym typeface="+mn-ea"/>
              </a:rPr>
              <a:t>}</a:t>
            </a:r>
            <a:endParaRPr lang="en-US" altLang="zh-CN">
              <a:sym typeface="+mn-ea"/>
            </a:endParaRPr>
          </a:p>
          <a:p>
            <a:pPr lvl="1" algn="l"/>
            <a:endParaRPr lang="en-US" altLang="zh-CN"/>
          </a:p>
          <a:p>
            <a:pPr lvl="1" algn="l"/>
            <a:r>
              <a:rPr lang="en-US" altLang="zh-CN">
                <a:sym typeface="+mn-ea"/>
              </a:rPr>
              <a:t>onLoad: function() {</a:t>
            </a:r>
            <a:endParaRPr lang="en-US" altLang="zh-CN">
              <a:sym typeface="+mn-ea"/>
            </a:endParaRPr>
          </a:p>
          <a:p>
            <a:pPr lvl="1" algn="l"/>
            <a:r>
              <a:rPr lang="en-US" altLang="zh-CN">
                <a:sym typeface="+mn-ea"/>
              </a:rPr>
              <a:t>}</a:t>
            </a:r>
            <a:endParaRPr lang="en-US" altLang="zh-CN">
              <a:sym typeface="+mn-ea"/>
            </a:endParaRPr>
          </a:p>
          <a:p>
            <a:pPr lvl="1" algn="l"/>
            <a:endParaRPr lang="en-US" altLang="zh-CN">
              <a:sym typeface="+mn-ea"/>
            </a:endParaRPr>
          </a:p>
          <a:p>
            <a:pPr marL="0" lvl="1" algn="l" fontAlgn="auto"/>
            <a:r>
              <a:rPr lang="en-US" altLang="zh-CN">
                <a:sym typeface="+mn-ea"/>
              </a:rPr>
              <a:t>})</a:t>
            </a:r>
            <a:endParaRPr lang="en-US" altLang="zh-CN">
              <a:sym typeface="+mn-ea"/>
            </a:endParaRPr>
          </a:p>
          <a:p>
            <a:endParaRPr lang="zh-CN" altLang="en-US"/>
          </a:p>
        </p:txBody>
      </p:sp>
      <p:sp>
        <p:nvSpPr>
          <p:cNvPr id="5" name="线形标注 1 4"/>
          <p:cNvSpPr/>
          <p:nvPr/>
        </p:nvSpPr>
        <p:spPr>
          <a:xfrm>
            <a:off x="3251835" y="1756410"/>
            <a:ext cx="2301240" cy="551180"/>
          </a:xfrm>
          <a:prstGeom prst="borderCallout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declaration of data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1986915" y="5460365"/>
            <a:ext cx="919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/>
              <a:t>Logic</a:t>
            </a:r>
            <a:endParaRPr lang="en-US" altLang="zh-CN" sz="2800"/>
          </a:p>
        </p:txBody>
      </p:sp>
      <p:sp>
        <p:nvSpPr>
          <p:cNvPr id="7" name="文本框 6"/>
          <p:cNvSpPr txBox="1"/>
          <p:nvPr/>
        </p:nvSpPr>
        <p:spPr>
          <a:xfrm>
            <a:off x="9024620" y="5546725"/>
            <a:ext cx="8959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/>
              <a:t>View</a:t>
            </a:r>
            <a:endParaRPr lang="en-US" altLang="zh-CN" sz="2800"/>
          </a:p>
        </p:txBody>
      </p:sp>
      <p:sp>
        <p:nvSpPr>
          <p:cNvPr id="8" name="文本框 7"/>
          <p:cNvSpPr txBox="1"/>
          <p:nvPr/>
        </p:nvSpPr>
        <p:spPr>
          <a:xfrm>
            <a:off x="8387080" y="2136775"/>
            <a:ext cx="3429635" cy="1198880"/>
          </a:xfrm>
          <a:prstGeom prst="rect">
            <a:avLst/>
          </a:prstGeom>
          <a:solidFill>
            <a:schemeClr val="accent5">
              <a:alpha val="43000"/>
            </a:schemeClr>
          </a:solidFill>
        </p:spPr>
        <p:txBody>
          <a:bodyPr wrap="square" rtlCol="0">
            <a:spAutoFit/>
          </a:bodyPr>
          <a:p>
            <a:pPr algn="l"/>
            <a:r>
              <a:rPr lang="en-US" altLang="zh-CN">
                <a:sym typeface="+mn-ea"/>
              </a:rPr>
              <a:t>{{var-name}}</a:t>
            </a:r>
            <a:endParaRPr lang="en-US" altLang="zh-CN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&lt;view bindtap=”function-name”&gt;</a:t>
            </a:r>
            <a:endParaRPr lang="en-US" altLang="zh-CN">
              <a:sym typeface="+mn-ea"/>
            </a:endParaRPr>
          </a:p>
          <a:p>
            <a:endParaRPr lang="zh-CN" altLang="en-US"/>
          </a:p>
        </p:txBody>
      </p:sp>
      <p:cxnSp>
        <p:nvCxnSpPr>
          <p:cNvPr id="9" name="曲线连接符 8"/>
          <p:cNvCxnSpPr/>
          <p:nvPr/>
        </p:nvCxnSpPr>
        <p:spPr>
          <a:xfrm flipV="1">
            <a:off x="3827780" y="2301240"/>
            <a:ext cx="4654550" cy="427990"/>
          </a:xfrm>
          <a:prstGeom prst="curvedConnector3">
            <a:avLst>
              <a:gd name="adj1" fmla="val 5001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曲线连接符 9"/>
          <p:cNvCxnSpPr/>
          <p:nvPr/>
        </p:nvCxnSpPr>
        <p:spPr>
          <a:xfrm flipV="1">
            <a:off x="2747645" y="2653030"/>
            <a:ext cx="7637145" cy="922655"/>
          </a:xfrm>
          <a:prstGeom prst="curvedConnector3">
            <a:avLst>
              <a:gd name="adj1" fmla="val 5000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123940" y="2215515"/>
            <a:ext cx="13735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b="1"/>
              <a:t>Binding data</a:t>
            </a:r>
            <a:endParaRPr lang="en-US" altLang="zh-CN" b="1"/>
          </a:p>
        </p:txBody>
      </p:sp>
      <p:sp>
        <p:nvSpPr>
          <p:cNvPr id="12" name="文本框 11"/>
          <p:cNvSpPr txBox="1"/>
          <p:nvPr/>
        </p:nvSpPr>
        <p:spPr>
          <a:xfrm>
            <a:off x="6104890" y="3058795"/>
            <a:ext cx="17881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b="1"/>
              <a:t>Binding behavior</a:t>
            </a:r>
            <a:endParaRPr lang="en-US" altLang="zh-CN" b="1"/>
          </a:p>
        </p:txBody>
      </p:sp>
      <p:sp>
        <p:nvSpPr>
          <p:cNvPr id="13" name="线形标注 1 12"/>
          <p:cNvSpPr/>
          <p:nvPr/>
        </p:nvSpPr>
        <p:spPr>
          <a:xfrm>
            <a:off x="3166745" y="2875915"/>
            <a:ext cx="2301240" cy="551180"/>
          </a:xfrm>
          <a:prstGeom prst="borderCallout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declaration of behavior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Framework 3/3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Navigate Among Pages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378585" y="1711960"/>
            <a:ext cx="74460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    wx.navigateTo({</a:t>
            </a:r>
            <a:endParaRPr lang="zh-CN" altLang="en-US"/>
          </a:p>
          <a:p>
            <a:r>
              <a:rPr lang="zh-CN" altLang="en-US"/>
              <a:t>      url: '../logs/logs'</a:t>
            </a:r>
            <a:endParaRPr lang="zh-CN" altLang="en-US"/>
          </a:p>
          <a:p>
            <a:r>
              <a:rPr lang="zh-CN" altLang="en-US"/>
              <a:t>    })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Components</a:t>
            </a:r>
            <a:endParaRPr lang="en-US" altLang="zh-CN"/>
          </a:p>
        </p:txBody>
      </p:sp>
      <p:sp>
        <p:nvSpPr>
          <p:cNvPr id="4" name="圆角矩形 3"/>
          <p:cNvSpPr/>
          <p:nvPr/>
        </p:nvSpPr>
        <p:spPr>
          <a:xfrm>
            <a:off x="1036320" y="1426210"/>
            <a:ext cx="3366135" cy="254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/>
              <a:t>View Container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1701800" y="2107565"/>
            <a:ext cx="1920875" cy="541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view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1701800" y="2710815"/>
            <a:ext cx="1920875" cy="541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scroll-view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701800" y="3299460"/>
            <a:ext cx="1920875" cy="541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swiper</a:t>
            </a:r>
            <a:endParaRPr lang="en-US" altLang="zh-CN"/>
          </a:p>
        </p:txBody>
      </p:sp>
      <p:sp>
        <p:nvSpPr>
          <p:cNvPr id="8" name="圆角矩形 7"/>
          <p:cNvSpPr/>
          <p:nvPr/>
        </p:nvSpPr>
        <p:spPr>
          <a:xfrm>
            <a:off x="4812030" y="1426210"/>
            <a:ext cx="3366135" cy="254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/>
              <a:t>Basic Content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5477510" y="2107565"/>
            <a:ext cx="1920875" cy="541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icon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5477510" y="2710815"/>
            <a:ext cx="1920875" cy="541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text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477510" y="3308350"/>
            <a:ext cx="1920875" cy="541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progress</a:t>
            </a:r>
            <a:endParaRPr lang="en-US" altLang="zh-CN"/>
          </a:p>
        </p:txBody>
      </p:sp>
      <p:sp>
        <p:nvSpPr>
          <p:cNvPr id="12" name="圆角矩形 11"/>
          <p:cNvSpPr/>
          <p:nvPr/>
        </p:nvSpPr>
        <p:spPr>
          <a:xfrm>
            <a:off x="8350250" y="1426210"/>
            <a:ext cx="3366135" cy="32905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/>
              <a:t>From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8454390" y="2107565"/>
            <a:ext cx="999490" cy="541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form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9533890" y="2107565"/>
            <a:ext cx="999490" cy="541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button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10637520" y="2107565"/>
            <a:ext cx="999490" cy="541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input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8473440" y="2710815"/>
            <a:ext cx="999490" cy="541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checkbox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9533890" y="2710815"/>
            <a:ext cx="999490" cy="541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radio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10637520" y="2710815"/>
            <a:ext cx="999490" cy="541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picker</a:t>
            </a:r>
            <a:endParaRPr lang="en-US" altLang="zh-CN"/>
          </a:p>
        </p:txBody>
      </p:sp>
      <p:sp>
        <p:nvSpPr>
          <p:cNvPr id="21" name="矩形 20"/>
          <p:cNvSpPr/>
          <p:nvPr/>
        </p:nvSpPr>
        <p:spPr>
          <a:xfrm>
            <a:off x="8473440" y="3317240"/>
            <a:ext cx="999490" cy="541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picker-view</a:t>
            </a:r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9533890" y="3317240"/>
            <a:ext cx="999490" cy="541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slider</a:t>
            </a:r>
            <a:endParaRPr lang="en-US" altLang="zh-CN"/>
          </a:p>
        </p:txBody>
      </p:sp>
      <p:sp>
        <p:nvSpPr>
          <p:cNvPr id="23" name="矩形 22"/>
          <p:cNvSpPr/>
          <p:nvPr/>
        </p:nvSpPr>
        <p:spPr>
          <a:xfrm>
            <a:off x="10637520" y="3317240"/>
            <a:ext cx="999490" cy="541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switch</a:t>
            </a:r>
            <a:endParaRPr lang="en-US" altLang="zh-CN"/>
          </a:p>
        </p:txBody>
      </p:sp>
      <p:sp>
        <p:nvSpPr>
          <p:cNvPr id="24" name="矩形 23"/>
          <p:cNvSpPr/>
          <p:nvPr/>
        </p:nvSpPr>
        <p:spPr>
          <a:xfrm>
            <a:off x="8473440" y="3929380"/>
            <a:ext cx="999490" cy="541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label</a:t>
            </a:r>
            <a:endParaRPr lang="en-US" altLang="zh-CN"/>
          </a:p>
        </p:txBody>
      </p:sp>
      <p:sp>
        <p:nvSpPr>
          <p:cNvPr id="25" name="圆角矩形 24"/>
          <p:cNvSpPr/>
          <p:nvPr/>
        </p:nvSpPr>
        <p:spPr>
          <a:xfrm>
            <a:off x="8350885" y="5267325"/>
            <a:ext cx="3366135" cy="12744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/>
              <a:t>Navigation</a:t>
            </a:r>
            <a:endParaRPr lang="en-US" altLang="zh-CN"/>
          </a:p>
        </p:txBody>
      </p:sp>
      <p:sp>
        <p:nvSpPr>
          <p:cNvPr id="26" name="矩形 25"/>
          <p:cNvSpPr/>
          <p:nvPr/>
        </p:nvSpPr>
        <p:spPr>
          <a:xfrm>
            <a:off x="8997950" y="5795010"/>
            <a:ext cx="1920875" cy="541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navigator</a:t>
            </a:r>
            <a:endParaRPr lang="en-US" altLang="zh-CN"/>
          </a:p>
        </p:txBody>
      </p:sp>
      <p:sp>
        <p:nvSpPr>
          <p:cNvPr id="29" name="圆角矩形 28"/>
          <p:cNvSpPr/>
          <p:nvPr/>
        </p:nvSpPr>
        <p:spPr>
          <a:xfrm>
            <a:off x="4869180" y="4117975"/>
            <a:ext cx="3366135" cy="254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/>
              <a:t>Media</a:t>
            </a:r>
            <a:endParaRPr lang="en-US" altLang="zh-CN"/>
          </a:p>
        </p:txBody>
      </p:sp>
      <p:sp>
        <p:nvSpPr>
          <p:cNvPr id="30" name="矩形 29"/>
          <p:cNvSpPr/>
          <p:nvPr/>
        </p:nvSpPr>
        <p:spPr>
          <a:xfrm>
            <a:off x="5534660" y="4799330"/>
            <a:ext cx="1920875" cy="541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audio</a:t>
            </a:r>
            <a:endParaRPr lang="en-US" altLang="zh-CN"/>
          </a:p>
        </p:txBody>
      </p:sp>
      <p:sp>
        <p:nvSpPr>
          <p:cNvPr id="31" name="矩形 30"/>
          <p:cNvSpPr/>
          <p:nvPr/>
        </p:nvSpPr>
        <p:spPr>
          <a:xfrm>
            <a:off x="5534660" y="5402580"/>
            <a:ext cx="1920875" cy="541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image</a:t>
            </a:r>
            <a:endParaRPr lang="en-US" altLang="zh-CN"/>
          </a:p>
        </p:txBody>
      </p:sp>
      <p:sp>
        <p:nvSpPr>
          <p:cNvPr id="32" name="矩形 31"/>
          <p:cNvSpPr/>
          <p:nvPr/>
        </p:nvSpPr>
        <p:spPr>
          <a:xfrm>
            <a:off x="5534660" y="6000115"/>
            <a:ext cx="1920875" cy="541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video</a:t>
            </a:r>
            <a:endParaRPr lang="en-US" altLang="zh-CN"/>
          </a:p>
        </p:txBody>
      </p:sp>
      <p:sp>
        <p:nvSpPr>
          <p:cNvPr id="33" name="圆角矩形 32"/>
          <p:cNvSpPr/>
          <p:nvPr/>
        </p:nvSpPr>
        <p:spPr>
          <a:xfrm>
            <a:off x="1045845" y="4117975"/>
            <a:ext cx="3366135" cy="254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/>
              <a:t>Miscellaneous</a:t>
            </a:r>
            <a:endParaRPr lang="en-US" altLang="zh-CN"/>
          </a:p>
        </p:txBody>
      </p:sp>
      <p:sp>
        <p:nvSpPr>
          <p:cNvPr id="34" name="矩形 33"/>
          <p:cNvSpPr/>
          <p:nvPr/>
        </p:nvSpPr>
        <p:spPr>
          <a:xfrm>
            <a:off x="1711325" y="4799330"/>
            <a:ext cx="1920875" cy="541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map</a:t>
            </a:r>
            <a:endParaRPr lang="en-US" altLang="zh-CN"/>
          </a:p>
        </p:txBody>
      </p:sp>
      <p:sp>
        <p:nvSpPr>
          <p:cNvPr id="35" name="矩形 34"/>
          <p:cNvSpPr/>
          <p:nvPr/>
        </p:nvSpPr>
        <p:spPr>
          <a:xfrm>
            <a:off x="1711325" y="5402580"/>
            <a:ext cx="1920875" cy="541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canvas</a:t>
            </a:r>
            <a:endParaRPr lang="en-US" altLang="zh-CN"/>
          </a:p>
        </p:txBody>
      </p:sp>
      <p:sp>
        <p:nvSpPr>
          <p:cNvPr id="36" name="矩形 35"/>
          <p:cNvSpPr/>
          <p:nvPr/>
        </p:nvSpPr>
        <p:spPr>
          <a:xfrm>
            <a:off x="1711325" y="5991225"/>
            <a:ext cx="1920875" cy="541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contact-button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API</a:t>
            </a:r>
            <a:endParaRPr lang="en-US" altLang="zh-CN"/>
          </a:p>
        </p:txBody>
      </p:sp>
      <p:sp>
        <p:nvSpPr>
          <p:cNvPr id="4" name="圆角矩形 3"/>
          <p:cNvSpPr/>
          <p:nvPr/>
        </p:nvSpPr>
        <p:spPr>
          <a:xfrm>
            <a:off x="1036320" y="1007110"/>
            <a:ext cx="3105150" cy="52241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/>
              <a:t>Network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1228725" y="1543685"/>
            <a:ext cx="1708150" cy="36766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wx.request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1209675" y="1948815"/>
            <a:ext cx="1708150" cy="36766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wx.uploadFile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228725" y="2363470"/>
            <a:ext cx="1967230" cy="36766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wx.downloadFile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228725" y="2903855"/>
            <a:ext cx="2072640" cy="36766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wx.connectSocket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1228725" y="3338195"/>
            <a:ext cx="2072640" cy="36766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wx.onSocketOpen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1228725" y="3763010"/>
            <a:ext cx="2072640" cy="36766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wx.onSocketError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1228725" y="4206875"/>
            <a:ext cx="2757170" cy="36766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wx.sendSocketMessage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1228725" y="4641850"/>
            <a:ext cx="2757170" cy="36766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wx.onSocketMessage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1209675" y="5057140"/>
            <a:ext cx="2757170" cy="36766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wx.closeSocket</a:t>
            </a:r>
            <a:endParaRPr lang="en-US" altLang="zh-CN"/>
          </a:p>
        </p:txBody>
      </p:sp>
      <p:sp>
        <p:nvSpPr>
          <p:cNvPr id="14" name="矩形 13"/>
          <p:cNvSpPr/>
          <p:nvPr/>
        </p:nvSpPr>
        <p:spPr>
          <a:xfrm>
            <a:off x="1228725" y="5481955"/>
            <a:ext cx="2757170" cy="36766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wx.onSocketClose</a:t>
            </a:r>
            <a:endParaRPr lang="en-US" altLang="zh-CN"/>
          </a:p>
        </p:txBody>
      </p:sp>
      <p:sp>
        <p:nvSpPr>
          <p:cNvPr id="15" name="圆角矩形 14"/>
          <p:cNvSpPr/>
          <p:nvPr/>
        </p:nvSpPr>
        <p:spPr>
          <a:xfrm>
            <a:off x="4289425" y="1074420"/>
            <a:ext cx="3105150" cy="57448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/>
              <a:t>Media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4481830" y="1610995"/>
            <a:ext cx="2073275" cy="28194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wx.chooseImage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4462780" y="1920875"/>
            <a:ext cx="2092325" cy="28194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wx.previewImage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4481830" y="2287905"/>
            <a:ext cx="2072005" cy="28194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wx.startRecord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4481830" y="2590165"/>
            <a:ext cx="2072640" cy="28194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wx.stopRecord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4481830" y="2900680"/>
            <a:ext cx="2072640" cy="28194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wx.playVoice</a:t>
            </a:r>
            <a:endParaRPr lang="en-US" altLang="zh-CN"/>
          </a:p>
        </p:txBody>
      </p:sp>
      <p:sp>
        <p:nvSpPr>
          <p:cNvPr id="21" name="矩形 20"/>
          <p:cNvSpPr/>
          <p:nvPr/>
        </p:nvSpPr>
        <p:spPr>
          <a:xfrm>
            <a:off x="4481830" y="3220085"/>
            <a:ext cx="2072640" cy="28194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wx.pauseVoice</a:t>
            </a:r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4481830" y="3540760"/>
            <a:ext cx="2072640" cy="28194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wx.stopVoice</a:t>
            </a:r>
            <a:endParaRPr lang="en-US" altLang="zh-CN"/>
          </a:p>
        </p:txBody>
      </p:sp>
      <p:sp>
        <p:nvSpPr>
          <p:cNvPr id="23" name="矩形 22"/>
          <p:cNvSpPr/>
          <p:nvPr/>
        </p:nvSpPr>
        <p:spPr>
          <a:xfrm>
            <a:off x="4481830" y="3937635"/>
            <a:ext cx="2757170" cy="28194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200"/>
              <a:t>wx.getBackgroundAudioPlayerState</a:t>
            </a:r>
            <a:endParaRPr lang="en-US" altLang="zh-CN" sz="1200"/>
          </a:p>
        </p:txBody>
      </p:sp>
      <p:sp>
        <p:nvSpPr>
          <p:cNvPr id="24" name="矩形 23"/>
          <p:cNvSpPr/>
          <p:nvPr/>
        </p:nvSpPr>
        <p:spPr>
          <a:xfrm>
            <a:off x="4462780" y="4248150"/>
            <a:ext cx="2757170" cy="28194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wx.playBackgroundAudio</a:t>
            </a:r>
            <a:endParaRPr lang="en-US" altLang="zh-CN"/>
          </a:p>
        </p:txBody>
      </p:sp>
      <p:sp>
        <p:nvSpPr>
          <p:cNvPr id="25" name="矩形 24"/>
          <p:cNvSpPr/>
          <p:nvPr/>
        </p:nvSpPr>
        <p:spPr>
          <a:xfrm>
            <a:off x="4481830" y="4558665"/>
            <a:ext cx="2757170" cy="28194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600"/>
              <a:t>wx.pauseBackgroundAudio</a:t>
            </a:r>
            <a:endParaRPr lang="en-US" altLang="zh-CN" sz="1600"/>
          </a:p>
        </p:txBody>
      </p:sp>
      <p:sp>
        <p:nvSpPr>
          <p:cNvPr id="26" name="矩形 25"/>
          <p:cNvSpPr/>
          <p:nvPr/>
        </p:nvSpPr>
        <p:spPr>
          <a:xfrm>
            <a:off x="4481830" y="4869180"/>
            <a:ext cx="2757170" cy="28194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600"/>
              <a:t>wx.seekBackgroundAudio</a:t>
            </a:r>
            <a:endParaRPr lang="en-US" altLang="zh-CN" sz="1600"/>
          </a:p>
        </p:txBody>
      </p:sp>
      <p:sp>
        <p:nvSpPr>
          <p:cNvPr id="27" name="矩形 26"/>
          <p:cNvSpPr/>
          <p:nvPr/>
        </p:nvSpPr>
        <p:spPr>
          <a:xfrm>
            <a:off x="4481830" y="5178425"/>
            <a:ext cx="2757170" cy="28194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600"/>
              <a:t>wx.stopBackgroundAudio</a:t>
            </a:r>
            <a:endParaRPr lang="en-US" altLang="zh-CN" sz="1600"/>
          </a:p>
        </p:txBody>
      </p:sp>
      <p:sp>
        <p:nvSpPr>
          <p:cNvPr id="28" name="矩形 27"/>
          <p:cNvSpPr/>
          <p:nvPr/>
        </p:nvSpPr>
        <p:spPr>
          <a:xfrm>
            <a:off x="4481830" y="5487670"/>
            <a:ext cx="2757170" cy="28194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600"/>
              <a:t>wx.onBackgroundAudioPlay</a:t>
            </a:r>
            <a:endParaRPr lang="en-US" altLang="zh-CN" sz="1600"/>
          </a:p>
        </p:txBody>
      </p:sp>
      <p:sp>
        <p:nvSpPr>
          <p:cNvPr id="29" name="矩形 28"/>
          <p:cNvSpPr/>
          <p:nvPr/>
        </p:nvSpPr>
        <p:spPr>
          <a:xfrm>
            <a:off x="4462780" y="5796915"/>
            <a:ext cx="2757170" cy="28194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/>
              <a:t>wx.onBackgroundAudioPause</a:t>
            </a:r>
            <a:endParaRPr lang="en-US" altLang="zh-CN" sz="1400"/>
          </a:p>
        </p:txBody>
      </p:sp>
      <p:sp>
        <p:nvSpPr>
          <p:cNvPr id="30" name="矩形 29"/>
          <p:cNvSpPr/>
          <p:nvPr/>
        </p:nvSpPr>
        <p:spPr>
          <a:xfrm>
            <a:off x="4463415" y="6106795"/>
            <a:ext cx="2757170" cy="28194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/>
              <a:t>wx.onBackgroundAudioStop</a:t>
            </a:r>
            <a:endParaRPr lang="en-US" altLang="zh-CN" sz="1400"/>
          </a:p>
        </p:txBody>
      </p:sp>
      <p:sp>
        <p:nvSpPr>
          <p:cNvPr id="31" name="矩形 30"/>
          <p:cNvSpPr/>
          <p:nvPr/>
        </p:nvSpPr>
        <p:spPr>
          <a:xfrm>
            <a:off x="4482465" y="6458585"/>
            <a:ext cx="2072640" cy="28194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wx.chooseVideo</a:t>
            </a:r>
            <a:endParaRPr lang="en-US" altLang="zh-CN"/>
          </a:p>
        </p:txBody>
      </p:sp>
      <p:sp>
        <p:nvSpPr>
          <p:cNvPr id="32" name="圆角矩形 31"/>
          <p:cNvSpPr/>
          <p:nvPr/>
        </p:nvSpPr>
        <p:spPr>
          <a:xfrm>
            <a:off x="7543800" y="1069340"/>
            <a:ext cx="3105150" cy="27539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/>
              <a:t>File</a:t>
            </a:r>
            <a:endParaRPr lang="en-US" altLang="zh-CN"/>
          </a:p>
        </p:txBody>
      </p:sp>
      <p:sp>
        <p:nvSpPr>
          <p:cNvPr id="33" name="矩形 32"/>
          <p:cNvSpPr/>
          <p:nvPr/>
        </p:nvSpPr>
        <p:spPr>
          <a:xfrm>
            <a:off x="7736205" y="1605915"/>
            <a:ext cx="1708150" cy="36766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wx.saveFile</a:t>
            </a:r>
            <a:endParaRPr lang="en-US" altLang="zh-CN"/>
          </a:p>
        </p:txBody>
      </p:sp>
      <p:sp>
        <p:nvSpPr>
          <p:cNvPr id="34" name="矩形 33"/>
          <p:cNvSpPr/>
          <p:nvPr/>
        </p:nvSpPr>
        <p:spPr>
          <a:xfrm>
            <a:off x="7717155" y="2011045"/>
            <a:ext cx="2756535" cy="36766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wx.getSavedFileList</a:t>
            </a:r>
            <a:endParaRPr lang="en-US" altLang="zh-CN"/>
          </a:p>
        </p:txBody>
      </p:sp>
      <p:sp>
        <p:nvSpPr>
          <p:cNvPr id="35" name="矩形 34"/>
          <p:cNvSpPr/>
          <p:nvPr/>
        </p:nvSpPr>
        <p:spPr>
          <a:xfrm>
            <a:off x="7736205" y="2425700"/>
            <a:ext cx="2737485" cy="36766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wx.getSavedFileInfo</a:t>
            </a:r>
            <a:endParaRPr lang="en-US" altLang="zh-CN"/>
          </a:p>
        </p:txBody>
      </p:sp>
      <p:sp>
        <p:nvSpPr>
          <p:cNvPr id="36" name="矩形 35"/>
          <p:cNvSpPr/>
          <p:nvPr/>
        </p:nvSpPr>
        <p:spPr>
          <a:xfrm>
            <a:off x="7736205" y="2851785"/>
            <a:ext cx="2737485" cy="36766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wx.removeSavedFile</a:t>
            </a:r>
            <a:endParaRPr lang="en-US" altLang="zh-CN"/>
          </a:p>
        </p:txBody>
      </p:sp>
      <p:sp>
        <p:nvSpPr>
          <p:cNvPr id="37" name="矩形 36"/>
          <p:cNvSpPr/>
          <p:nvPr/>
        </p:nvSpPr>
        <p:spPr>
          <a:xfrm>
            <a:off x="7736205" y="3276600"/>
            <a:ext cx="2737485" cy="36766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wx.openDocument</a:t>
            </a:r>
            <a:endParaRPr lang="en-US" altLang="zh-CN"/>
          </a:p>
        </p:txBody>
      </p:sp>
      <p:sp>
        <p:nvSpPr>
          <p:cNvPr id="43" name="圆角矩形 42"/>
          <p:cNvSpPr/>
          <p:nvPr/>
        </p:nvSpPr>
        <p:spPr>
          <a:xfrm>
            <a:off x="7552690" y="3986530"/>
            <a:ext cx="3105150" cy="4533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/>
              <a:t>Storage</a:t>
            </a:r>
            <a:endParaRPr lang="en-US" altLang="zh-CN"/>
          </a:p>
        </p:txBody>
      </p:sp>
      <p:sp>
        <p:nvSpPr>
          <p:cNvPr id="44" name="圆角矩形 43"/>
          <p:cNvSpPr/>
          <p:nvPr/>
        </p:nvSpPr>
        <p:spPr>
          <a:xfrm>
            <a:off x="7542530" y="4531360"/>
            <a:ext cx="3105150" cy="4533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/>
              <a:t>Location</a:t>
            </a:r>
            <a:endParaRPr lang="en-US" altLang="zh-CN"/>
          </a:p>
        </p:txBody>
      </p:sp>
      <p:sp>
        <p:nvSpPr>
          <p:cNvPr id="45" name="圆角矩形 44"/>
          <p:cNvSpPr/>
          <p:nvPr/>
        </p:nvSpPr>
        <p:spPr>
          <a:xfrm>
            <a:off x="7552690" y="5080635"/>
            <a:ext cx="3105150" cy="4533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/>
              <a:t>Device</a:t>
            </a:r>
            <a:endParaRPr lang="en-US" altLang="zh-CN"/>
          </a:p>
        </p:txBody>
      </p:sp>
      <p:sp>
        <p:nvSpPr>
          <p:cNvPr id="46" name="圆角矩形 45"/>
          <p:cNvSpPr/>
          <p:nvPr/>
        </p:nvSpPr>
        <p:spPr>
          <a:xfrm>
            <a:off x="7542530" y="5653405"/>
            <a:ext cx="3105150" cy="4533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/>
              <a:t>UI</a:t>
            </a:r>
            <a:endParaRPr lang="en-US" altLang="zh-CN"/>
          </a:p>
        </p:txBody>
      </p:sp>
      <p:sp>
        <p:nvSpPr>
          <p:cNvPr id="47" name="圆角矩形 46"/>
          <p:cNvSpPr/>
          <p:nvPr/>
        </p:nvSpPr>
        <p:spPr>
          <a:xfrm>
            <a:off x="7542530" y="6231255"/>
            <a:ext cx="3105150" cy="4533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/>
              <a:t>Wechat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Wechat Login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273675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https://developers.weixin.qq.com/miniprogram/dev/framework/open-ability/login.html</a:t>
            </a:r>
            <a:endParaRPr lang="en-US" altLang="zh-CN"/>
          </a:p>
          <a:p>
            <a:pPr lvl="1"/>
            <a:r>
              <a:rPr lang="en-US" altLang="zh-CN"/>
              <a:t>https://cloud.tencent.com/developer/article/1608597</a:t>
            </a:r>
            <a:endParaRPr lang="en-US" altLang="zh-CN"/>
          </a:p>
          <a:p>
            <a:pPr lvl="0"/>
            <a:r>
              <a:rPr lang="en-US" altLang="zh-CN"/>
              <a:t>Preparation</a:t>
            </a:r>
            <a:endParaRPr lang="en-US" altLang="zh-CN"/>
          </a:p>
          <a:p>
            <a:pPr lvl="1"/>
            <a:r>
              <a:rPr lang="zh-CN" altLang="en-US"/>
              <a:t>微信小程序</a:t>
            </a:r>
            <a:r>
              <a:rPr lang="en-US" altLang="zh-CN"/>
              <a:t>app id</a:t>
            </a:r>
            <a:r>
              <a:rPr lang="zh-CN" altLang="en-US"/>
              <a:t>，</a:t>
            </a:r>
            <a:r>
              <a:rPr lang="en-US" altLang="zh-CN"/>
              <a:t> app secret</a:t>
            </a:r>
            <a:endParaRPr lang="en-US" altLang="zh-CN"/>
          </a:p>
        </p:txBody>
      </p:sp>
      <p:pic>
        <p:nvPicPr>
          <p:cNvPr id="103" name="图片 102"/>
          <p:cNvPicPr/>
          <p:nvPr/>
        </p:nvPicPr>
        <p:blipFill>
          <a:blip r:embed="rId1"/>
          <a:stretch>
            <a:fillRect/>
          </a:stretch>
        </p:blipFill>
        <p:spPr>
          <a:xfrm>
            <a:off x="6281420" y="914400"/>
            <a:ext cx="5410200" cy="5486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圆角矩形 3"/>
          <p:cNvSpPr/>
          <p:nvPr/>
        </p:nvSpPr>
        <p:spPr>
          <a:xfrm>
            <a:off x="3541395" y="4077335"/>
            <a:ext cx="2049145" cy="6235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Get access token</a:t>
            </a:r>
            <a:endParaRPr lang="en-US" altLang="zh-CN" sz="1400"/>
          </a:p>
        </p:txBody>
      </p:sp>
      <p:sp>
        <p:nvSpPr>
          <p:cNvPr id="5" name="圆角矩形 4"/>
          <p:cNvSpPr/>
          <p:nvPr/>
        </p:nvSpPr>
        <p:spPr>
          <a:xfrm>
            <a:off x="1097280" y="4077335"/>
            <a:ext cx="2049145" cy="62357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3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400"/>
              <a:t>wx.login()</a:t>
            </a:r>
            <a:endParaRPr lang="en-US" altLang="zh-CN" sz="1400"/>
          </a:p>
          <a:p>
            <a:pPr algn="ctr"/>
            <a:r>
              <a:rPr lang="en-US" altLang="zh-CN" sz="1400"/>
              <a:t>// get code, phone code</a:t>
            </a:r>
            <a:endParaRPr lang="en-US" altLang="zh-CN" sz="1400"/>
          </a:p>
        </p:txBody>
      </p:sp>
      <p:cxnSp>
        <p:nvCxnSpPr>
          <p:cNvPr id="6" name="直接箭头连接符 5"/>
          <p:cNvCxnSpPr>
            <a:stCxn id="5" idx="3"/>
            <a:endCxn id="4" idx="1"/>
          </p:cNvCxnSpPr>
          <p:nvPr/>
        </p:nvCxnSpPr>
        <p:spPr>
          <a:xfrm>
            <a:off x="3146425" y="4389120"/>
            <a:ext cx="39497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/>
        </p:nvSpPr>
        <p:spPr>
          <a:xfrm>
            <a:off x="3541395" y="4911090"/>
            <a:ext cx="2049145" cy="6235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Get phone number using access token and phone code</a:t>
            </a:r>
            <a:endParaRPr lang="en-US" altLang="zh-CN" sz="140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4566285" y="4700905"/>
            <a:ext cx="0" cy="2101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3541395" y="5744845"/>
            <a:ext cx="2049145" cy="6235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Get OpenID using code</a:t>
            </a:r>
            <a:endParaRPr lang="en-US" altLang="zh-CN" sz="1400"/>
          </a:p>
        </p:txBody>
      </p:sp>
      <p:cxnSp>
        <p:nvCxnSpPr>
          <p:cNvPr id="10" name="直接箭头连接符 9"/>
          <p:cNvCxnSpPr>
            <a:stCxn id="7" idx="2"/>
            <a:endCxn id="9" idx="0"/>
          </p:cNvCxnSpPr>
          <p:nvPr/>
        </p:nvCxnSpPr>
        <p:spPr>
          <a:xfrm>
            <a:off x="4566285" y="5534660"/>
            <a:ext cx="0" cy="2101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Wechat Pay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933440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https://pay.weixin.qq.com/wiki/doc/apiv3/open/pay/chapter2_8_2.shtml</a:t>
            </a:r>
            <a:endParaRPr lang="en-US" altLang="zh-CN"/>
          </a:p>
          <a:p>
            <a:pPr lvl="1"/>
            <a:r>
              <a:rPr lang="en-US" altLang="zh-CN"/>
              <a:t>https://zhuanlan.zhihu.com/p/31445760</a:t>
            </a:r>
            <a:endParaRPr lang="en-US" altLang="zh-CN"/>
          </a:p>
          <a:p>
            <a:pPr lvl="0"/>
            <a:r>
              <a:rPr lang="en-US" altLang="zh-CN" sz="2400">
                <a:sym typeface="+mn-ea"/>
              </a:rPr>
              <a:t>Preparation</a:t>
            </a:r>
            <a:endParaRPr lang="en-US" altLang="zh-CN" sz="2400"/>
          </a:p>
          <a:p>
            <a:pPr lvl="1"/>
            <a:r>
              <a:rPr lang="zh-CN" altLang="en-US">
                <a:sym typeface="+mn-ea"/>
              </a:rPr>
              <a:t>微信小程序</a:t>
            </a:r>
            <a:r>
              <a:rPr lang="en-US" altLang="zh-CN">
                <a:sym typeface="+mn-ea"/>
              </a:rPr>
              <a:t>app id</a:t>
            </a:r>
            <a:endParaRPr lang="en-US" altLang="zh-CN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微信小程序已认证</a:t>
            </a:r>
            <a:endParaRPr lang="en-US" altLang="zh-CN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关联微信支付商户</a:t>
            </a:r>
            <a:r>
              <a:rPr lang="en-US" altLang="zh-CN">
                <a:sym typeface="+mn-ea"/>
              </a:rPr>
              <a:t>id</a:t>
            </a:r>
            <a:endParaRPr lang="en-US" altLang="zh-CN">
              <a:sym typeface="+mn-ea"/>
            </a:endParaRPr>
          </a:p>
        </p:txBody>
      </p:sp>
      <p:pic>
        <p:nvPicPr>
          <p:cNvPr id="104" name="图片 103"/>
          <p:cNvPicPr/>
          <p:nvPr/>
        </p:nvPicPr>
        <p:blipFill>
          <a:blip r:embed="rId1"/>
          <a:stretch>
            <a:fillRect/>
          </a:stretch>
        </p:blipFill>
        <p:spPr>
          <a:xfrm>
            <a:off x="7009750" y="0"/>
            <a:ext cx="5013991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3541395" y="4077335"/>
            <a:ext cx="2049145" cy="6235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Post unified order</a:t>
            </a:r>
            <a:endParaRPr lang="en-US" altLang="zh-CN" sz="1400"/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1097280" y="4077335"/>
            <a:ext cx="2049145" cy="62357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3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400"/>
              <a:t>调用付款接口，传入金额和</a:t>
            </a:r>
            <a:r>
              <a:rPr lang="en-US" altLang="zh-CN" sz="1400"/>
              <a:t>openid</a:t>
            </a:r>
            <a:endParaRPr lang="en-US" altLang="zh-CN" sz="1400"/>
          </a:p>
        </p:txBody>
      </p:sp>
      <p:cxnSp>
        <p:nvCxnSpPr>
          <p:cNvPr id="6" name="直接箭头连接符 5"/>
          <p:cNvCxnSpPr>
            <a:stCxn id="5" idx="3"/>
            <a:endCxn id="4" idx="1"/>
          </p:cNvCxnSpPr>
          <p:nvPr>
            <p:custDataLst>
              <p:tags r:id="rId4"/>
            </p:custDataLst>
          </p:nvPr>
        </p:nvCxnSpPr>
        <p:spPr>
          <a:xfrm>
            <a:off x="3146425" y="4389120"/>
            <a:ext cx="39497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>
            <p:custDataLst>
              <p:tags r:id="rId5"/>
            </p:custDataLst>
          </p:nvPr>
        </p:nvSpPr>
        <p:spPr>
          <a:xfrm>
            <a:off x="3541395" y="4911090"/>
            <a:ext cx="2049145" cy="6235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Get phone number using access token and phone code</a:t>
            </a:r>
            <a:endParaRPr lang="en-US" altLang="zh-CN" sz="1400"/>
          </a:p>
        </p:txBody>
      </p:sp>
      <p:cxnSp>
        <p:nvCxnSpPr>
          <p:cNvPr id="8" name="直接箭头连接符 7"/>
          <p:cNvCxnSpPr/>
          <p:nvPr>
            <p:custDataLst>
              <p:tags r:id="rId6"/>
            </p:custDataLst>
          </p:nvPr>
        </p:nvCxnSpPr>
        <p:spPr>
          <a:xfrm>
            <a:off x="4566285" y="4700905"/>
            <a:ext cx="0" cy="2101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>
            <p:custDataLst>
              <p:tags r:id="rId7"/>
            </p:custDataLst>
          </p:nvPr>
        </p:nvSpPr>
        <p:spPr>
          <a:xfrm>
            <a:off x="3541395" y="5744845"/>
            <a:ext cx="2049145" cy="6235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Get OpenID using code</a:t>
            </a:r>
            <a:endParaRPr lang="en-US" altLang="zh-CN" sz="1400"/>
          </a:p>
        </p:txBody>
      </p:sp>
      <p:cxnSp>
        <p:nvCxnSpPr>
          <p:cNvPr id="10" name="直接箭头连接符 9"/>
          <p:cNvCxnSpPr>
            <a:stCxn id="7" idx="2"/>
            <a:endCxn id="9" idx="0"/>
          </p:cNvCxnSpPr>
          <p:nvPr>
            <p:custDataLst>
              <p:tags r:id="rId8"/>
            </p:custDataLst>
          </p:nvPr>
        </p:nvCxnSpPr>
        <p:spPr>
          <a:xfrm>
            <a:off x="4566285" y="5534660"/>
            <a:ext cx="0" cy="2101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>
            <p:custDataLst>
              <p:tags r:id="rId9"/>
            </p:custDataLst>
          </p:nvPr>
        </p:nvSpPr>
        <p:spPr>
          <a:xfrm>
            <a:off x="1097280" y="5760720"/>
            <a:ext cx="2049145" cy="62357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3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1400"/>
              <a:t>根据订单</a:t>
            </a:r>
            <a:r>
              <a:rPr lang="en-US" altLang="zh-CN" sz="1400"/>
              <a:t>uuid</a:t>
            </a:r>
            <a:r>
              <a:rPr lang="zh-CN" altLang="en-US" sz="1400"/>
              <a:t>，查询订单状态</a:t>
            </a:r>
            <a:endParaRPr lang="zh-CN" altLang="en-US" sz="1400"/>
          </a:p>
        </p:txBody>
      </p:sp>
    </p:spTree>
    <p:custDataLst>
      <p:tags r:id="rId10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获取手机号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967220" cy="4549140"/>
          </a:xfrm>
        </p:spPr>
        <p:txBody>
          <a:bodyPr/>
          <a:p>
            <a:r>
              <a:rPr lang="en-US" altLang="zh-CN" sz="1600"/>
              <a:t>References</a:t>
            </a:r>
            <a:endParaRPr lang="en-US" altLang="zh-CN" sz="1600"/>
          </a:p>
          <a:p>
            <a:pPr lvl="1"/>
            <a:r>
              <a:rPr lang="en-US" altLang="zh-CN" sz="1400"/>
              <a:t>https://developers.weixin.qq.com/miniprogram/dev/framework/open-ability/getPhoneNumber.html</a:t>
            </a:r>
            <a:endParaRPr lang="en-US" altLang="zh-CN" sz="1400"/>
          </a:p>
          <a:p>
            <a:pPr lvl="1"/>
            <a:r>
              <a:rPr lang="en-US" altLang="zh-CN" sz="1400"/>
              <a:t>https://developers.weixin.qq.com/miniprogram/dev/api-backend/open-api/phonenumber/phonenumber.getPhoneNumber.html</a:t>
            </a:r>
            <a:endParaRPr lang="en-US" altLang="zh-CN" sz="1400"/>
          </a:p>
          <a:p>
            <a:pPr lvl="0"/>
            <a:r>
              <a:rPr lang="en-US" altLang="zh-CN" sz="1600"/>
              <a:t>Steps</a:t>
            </a:r>
            <a:endParaRPr lang="en-US" altLang="zh-CN" sz="1600"/>
          </a:p>
          <a:p>
            <a:pPr lvl="1"/>
            <a:r>
              <a:rPr lang="zh-CN" altLang="en-US" sz="1400"/>
              <a:t>小程序端增加按钮</a:t>
            </a:r>
            <a:endParaRPr lang="zh-CN" altLang="en-US" sz="1400"/>
          </a:p>
          <a:p>
            <a:pPr lvl="2"/>
            <a:r>
              <a:rPr lang="zh-CN" altLang="en-US" sz="1200"/>
              <a:t>&lt;button open-type="getPhoneNumber" bindgetphonenumber="getPhoneNumber"&gt;&lt;/button&gt;</a:t>
            </a:r>
            <a:endParaRPr lang="zh-CN" altLang="en-US" sz="1200"/>
          </a:p>
          <a:p>
            <a:pPr lvl="2"/>
            <a:r>
              <a:rPr lang="zh-CN" altLang="en-US" sz="1200"/>
              <a:t>在</a:t>
            </a:r>
            <a:r>
              <a:rPr lang="en-US" altLang="zh-CN" sz="1200"/>
              <a:t>getPhoneNumber</a:t>
            </a:r>
            <a:r>
              <a:rPr lang="zh-CN" altLang="en-US" sz="1200"/>
              <a:t>中获取</a:t>
            </a:r>
            <a:r>
              <a:rPr lang="en-US" altLang="zh-CN" sz="1200"/>
              <a:t>code</a:t>
            </a:r>
            <a:endParaRPr lang="en-US" altLang="zh-CN" sz="1200"/>
          </a:p>
          <a:p>
            <a:pPr lvl="3"/>
            <a:r>
              <a:rPr lang="zh-CN" altLang="en-US" sz="1200"/>
              <a:t>e.detail.code</a:t>
            </a:r>
            <a:endParaRPr lang="zh-CN" altLang="en-US" sz="1200"/>
          </a:p>
          <a:p>
            <a:pPr lvl="1"/>
            <a:r>
              <a:rPr lang="zh-CN" altLang="en-US" sz="1400"/>
              <a:t>服务端</a:t>
            </a:r>
            <a:endParaRPr lang="zh-CN" altLang="en-US" sz="1400"/>
          </a:p>
          <a:p>
            <a:pPr lvl="2"/>
            <a:r>
              <a:rPr lang="zh-CN" altLang="en-US" sz="1200"/>
              <a:t>POST https://api.weixin.qq.com/wxa/business/getuserphonenumber?access_token=ACCESS_TOKEN</a:t>
            </a:r>
            <a:endParaRPr lang="zh-CN" altLang="en-US" sz="1200"/>
          </a:p>
          <a:p>
            <a:pPr lvl="2"/>
            <a:r>
              <a:rPr lang="zh-CN" altLang="en-US" sz="1200"/>
              <a:t>curl -H "Accept: application/json" -H "Content-type: application/json" -X POST -d '{"code": "e31968a7f94cc5ee25fafc2aef2773f0bb8c3937b22520eb8ee345274d00c144"}' https://api.weixin.qq.com/wxa/business/getuserphonenumber?access_token=ACCESS_TOKEN&amp;</a:t>
            </a:r>
            <a:endParaRPr lang="zh-CN" altLang="en-US" sz="1200"/>
          </a:p>
          <a:p>
            <a:pPr lvl="1"/>
            <a:endParaRPr lang="zh-CN" altLang="en-US" sz="1200"/>
          </a:p>
        </p:txBody>
      </p:sp>
      <p:sp>
        <p:nvSpPr>
          <p:cNvPr id="4" name="文本框 3"/>
          <p:cNvSpPr txBox="1"/>
          <p:nvPr/>
        </p:nvSpPr>
        <p:spPr>
          <a:xfrm>
            <a:off x="8284845" y="1470025"/>
            <a:ext cx="3215005" cy="35382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zh-CN" altLang="en-US" sz="1600"/>
              <a:t>{</a:t>
            </a:r>
            <a:endParaRPr lang="zh-CN" altLang="en-US" sz="1600"/>
          </a:p>
          <a:p>
            <a:r>
              <a:rPr lang="zh-CN" altLang="en-US" sz="1600"/>
              <a:t>    "errcode":0,</a:t>
            </a:r>
            <a:endParaRPr lang="zh-CN" altLang="en-US" sz="1600"/>
          </a:p>
          <a:p>
            <a:r>
              <a:rPr lang="zh-CN" altLang="en-US" sz="1600"/>
              <a:t>    "errmsg":"ok",</a:t>
            </a:r>
            <a:endParaRPr lang="zh-CN" altLang="en-US" sz="1600"/>
          </a:p>
          <a:p>
            <a:r>
              <a:rPr lang="zh-CN" altLang="en-US" sz="1600"/>
              <a:t>    "phone_info": {</a:t>
            </a:r>
            <a:endParaRPr lang="zh-CN" altLang="en-US" sz="1600"/>
          </a:p>
          <a:p>
            <a:r>
              <a:rPr lang="zh-CN" altLang="en-US" sz="1600"/>
              <a:t>        "phoneNumber":"xxxxxx",</a:t>
            </a:r>
            <a:endParaRPr lang="zh-CN" altLang="en-US" sz="1600"/>
          </a:p>
          <a:p>
            <a:r>
              <a:rPr lang="zh-CN" altLang="en-US" sz="1600"/>
              <a:t>        "purePhoneNumber": "xxxxxx",</a:t>
            </a:r>
            <a:endParaRPr lang="zh-CN" altLang="en-US" sz="1600"/>
          </a:p>
          <a:p>
            <a:r>
              <a:rPr lang="zh-CN" altLang="en-US" sz="1600"/>
              <a:t>        "countryCode": 86,</a:t>
            </a:r>
            <a:endParaRPr lang="zh-CN" altLang="en-US" sz="1600"/>
          </a:p>
          <a:p>
            <a:r>
              <a:rPr lang="zh-CN" altLang="en-US" sz="1600"/>
              <a:t>        "watermark": {</a:t>
            </a:r>
            <a:endParaRPr lang="zh-CN" altLang="en-US" sz="1600"/>
          </a:p>
          <a:p>
            <a:r>
              <a:rPr lang="zh-CN" altLang="en-US" sz="1600"/>
              <a:t>            "timestamp": 1637744274,</a:t>
            </a:r>
            <a:endParaRPr lang="zh-CN" altLang="en-US" sz="1600"/>
          </a:p>
          <a:p>
            <a:r>
              <a:rPr lang="zh-CN" altLang="en-US" sz="1600"/>
              <a:t>            "appid": "xxxx"</a:t>
            </a:r>
            <a:endParaRPr lang="zh-CN" altLang="en-US" sz="1600"/>
          </a:p>
          <a:p>
            <a:r>
              <a:rPr lang="zh-CN" altLang="en-US" sz="1600"/>
              <a:t>        }</a:t>
            </a:r>
            <a:endParaRPr lang="zh-CN" altLang="en-US" sz="1600"/>
          </a:p>
          <a:p>
            <a:r>
              <a:rPr lang="zh-CN" altLang="en-US" sz="1600"/>
              <a:t>    }</a:t>
            </a:r>
            <a:endParaRPr lang="zh-CN" altLang="en-US" sz="1600"/>
          </a:p>
          <a:p>
            <a:r>
              <a:rPr lang="zh-CN" altLang="en-US" sz="1600"/>
              <a:t>}</a:t>
            </a:r>
            <a:endParaRPr lang="zh-CN" altLang="en-US" sz="1600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WebView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Preload webview</a:t>
            </a:r>
            <a:endParaRPr lang="en-US" altLang="zh-CN"/>
          </a:p>
          <a:p>
            <a:pPr lvl="1"/>
            <a:r>
              <a:rPr lang="en-US" altLang="zh-CN" sz="2000"/>
              <a:t>app.json</a:t>
            </a:r>
            <a:endParaRPr lang="en-US" altLang="zh-CN"/>
          </a:p>
          <a:p>
            <a:pPr marL="457200" lvl="1" indent="0">
              <a:buNone/>
            </a:pPr>
            <a:r>
              <a:rPr lang="en-US" altLang="zh-CN"/>
              <a:t>{</a:t>
            </a:r>
            <a:endParaRPr lang="en-US" altLang="zh-CN"/>
          </a:p>
          <a:p>
            <a:pPr marL="457200" lvl="1" indent="0">
              <a:buNone/>
            </a:pPr>
            <a:r>
              <a:rPr lang="en-US" altLang="zh-CN"/>
              <a:t>  "window": {</a:t>
            </a:r>
            <a:endParaRPr lang="en-US" altLang="zh-CN"/>
          </a:p>
          <a:p>
            <a:pPr marL="457200" lvl="1" indent="0">
              <a:buNone/>
            </a:pPr>
            <a:r>
              <a:rPr lang="en-US" altLang="zh-CN"/>
              <a:t>    "handleWebviewPreload": "auto"</a:t>
            </a:r>
            <a:endParaRPr lang="en-US" altLang="zh-CN"/>
          </a:p>
          <a:p>
            <a:pPr marL="457200" lvl="1" indent="0">
              <a:buNone/>
            </a:pPr>
            <a:r>
              <a:rPr lang="en-US" altLang="zh-CN"/>
              <a:t>  }</a:t>
            </a:r>
            <a:endParaRPr lang="en-US" altLang="zh-CN"/>
          </a:p>
          <a:p>
            <a:pPr marL="457200" lvl="1" indent="0">
              <a:buNone/>
            </a:pPr>
            <a:r>
              <a:rPr lang="en-US" altLang="zh-CN"/>
              <a:t>}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Bluetooth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698490" cy="4549140"/>
          </a:xfrm>
        </p:spPr>
        <p:txBody>
          <a:bodyPr>
            <a:normAutofit lnSpcReduction="1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https://developers.weixin.qq.com/miniprogram/dev/framework/device/ble.html</a:t>
            </a:r>
            <a:endParaRPr lang="en-US" altLang="zh-CN"/>
          </a:p>
          <a:p>
            <a:r>
              <a:rPr lang="en-US" altLang="zh-CN"/>
              <a:t>GATT (Generic Attribute Profile)</a:t>
            </a:r>
            <a:r>
              <a:rPr lang="zh-CN" altLang="en-US"/>
              <a:t>规范</a:t>
            </a:r>
            <a:endParaRPr lang="en-US" altLang="zh-CN"/>
          </a:p>
          <a:p>
            <a:pPr lvl="1"/>
            <a:r>
              <a:rPr lang="en-US" altLang="zh-CN" sz="2000"/>
              <a:t>Profile: a set of services</a:t>
            </a:r>
            <a:endParaRPr lang="en-US" altLang="zh-CN" sz="2000"/>
          </a:p>
          <a:p>
            <a:pPr lvl="1"/>
            <a:r>
              <a:rPr lang="en-US" altLang="zh-CN"/>
              <a:t>Service: UUID</a:t>
            </a:r>
            <a:endParaRPr lang="en-US" altLang="zh-CN"/>
          </a:p>
          <a:p>
            <a:pPr lvl="1"/>
            <a:r>
              <a:rPr lang="en-US" altLang="zh-CN"/>
              <a:t>Characteristic</a:t>
            </a:r>
            <a:endParaRPr lang="en-US" altLang="zh-CN"/>
          </a:p>
          <a:p>
            <a:pPr lvl="2"/>
            <a:r>
              <a:rPr lang="en-US" altLang="zh-CN"/>
              <a:t>each service provides one or more characteristics</a:t>
            </a:r>
            <a:endParaRPr lang="en-US" altLang="zh-CN"/>
          </a:p>
          <a:p>
            <a:pPr lvl="2"/>
            <a:r>
              <a:rPr lang="en-US" altLang="zh-CN"/>
              <a:t>contains one value and 0 or more descriptors</a:t>
            </a:r>
            <a:endParaRPr lang="en-US" altLang="zh-CN"/>
          </a:p>
          <a:p>
            <a:pPr lvl="2"/>
            <a:r>
              <a:rPr lang="en-US" altLang="zh-CN"/>
              <a:t>read or write characteristic values</a:t>
            </a:r>
            <a:endParaRPr lang="en-US" altLang="zh-CN"/>
          </a:p>
          <a:p>
            <a:pPr lvl="2"/>
            <a:r>
              <a:rPr lang="en-US" altLang="zh-CN"/>
              <a:t>each has a UUID</a:t>
            </a:r>
            <a:endParaRPr lang="en-US" altLang="zh-CN"/>
          </a:p>
          <a:p>
            <a:pPr lvl="1"/>
            <a:r>
              <a:rPr lang="en-US" altLang="zh-CN" sz="2000"/>
              <a:t>Descriptor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7069455" y="621030"/>
            <a:ext cx="4358640" cy="52349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Bluetooth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359400" cy="5361305"/>
          </a:xfrm>
        </p:spPr>
        <p:txBody>
          <a:bodyPr>
            <a:noAutofit/>
          </a:bodyPr>
          <a:p>
            <a:r>
              <a:rPr lang="en-US" altLang="zh-CN" sz="1400"/>
              <a:t>References</a:t>
            </a:r>
            <a:endParaRPr lang="en-US" altLang="zh-CN" sz="1400"/>
          </a:p>
          <a:p>
            <a:pPr lvl="1"/>
            <a:r>
              <a:rPr lang="en-US" altLang="zh-CN" sz="1200">
                <a:sym typeface="+mn-ea"/>
              </a:rPr>
              <a:t>https://developers.weixin.qq.com/miniprogram/dev/framework/device/ble.html</a:t>
            </a:r>
            <a:endParaRPr lang="en-US" altLang="zh-CN" sz="1200">
              <a:sym typeface="+mn-ea"/>
            </a:endParaRPr>
          </a:p>
          <a:p>
            <a:pPr lvl="1"/>
            <a:r>
              <a:rPr lang="en-US" altLang="zh-CN" sz="1200"/>
              <a:t>https://cloud.tencent.com/developer/article/1547965</a:t>
            </a:r>
            <a:endParaRPr lang="en-US" altLang="zh-CN" sz="1200"/>
          </a:p>
          <a:p>
            <a:pPr lvl="1"/>
            <a:r>
              <a:rPr lang="en-US" altLang="zh-CN" sz="1200"/>
              <a:t>https://zhuanlan.zhihu.com/p/28756203</a:t>
            </a:r>
            <a:endParaRPr lang="en-US" altLang="zh-CN" sz="1200"/>
          </a:p>
          <a:p>
            <a:pPr lvl="1"/>
            <a:r>
              <a:rPr lang="en-US" altLang="zh-CN" sz="1200"/>
              <a:t>https://www.jianshu.com/p/82ee9a908543</a:t>
            </a:r>
            <a:endParaRPr lang="en-US" altLang="zh-CN" sz="1200"/>
          </a:p>
          <a:p>
            <a:pPr lvl="1"/>
            <a:r>
              <a:rPr lang="en-US" altLang="zh-CN" sz="1200"/>
              <a:t>https://www.jianshu.com/p/e5a9d800f164</a:t>
            </a:r>
            <a:endParaRPr lang="en-US" altLang="zh-CN" sz="1200"/>
          </a:p>
          <a:p>
            <a:pPr lvl="1"/>
            <a:r>
              <a:rPr lang="en-US" altLang="zh-CN" sz="1200"/>
              <a:t>https://blog.csdn.net/Smile_ping/article/details/102938322</a:t>
            </a:r>
            <a:endParaRPr lang="en-US" altLang="zh-CN" sz="1200"/>
          </a:p>
          <a:p>
            <a:pPr lvl="1"/>
            <a:r>
              <a:rPr lang="en-US" altLang="zh-CN" sz="1200"/>
              <a:t>https://zhuanlan.zhihu.com/p/352194416</a:t>
            </a:r>
            <a:endParaRPr lang="en-US" altLang="zh-CN" sz="1200"/>
          </a:p>
          <a:p>
            <a:pPr lvl="1"/>
            <a:r>
              <a:rPr lang="en-US" altLang="zh-CN" sz="1200"/>
              <a:t>https://www.sunzhongwei.com/small-program-bluetooth-communication-logic-and-interface?from=bottom</a:t>
            </a:r>
            <a:endParaRPr lang="en-US" altLang="zh-CN" sz="1200"/>
          </a:p>
          <a:p>
            <a:pPr lvl="1"/>
            <a:r>
              <a:rPr lang="en-US" altLang="zh-CN" sz="1200"/>
              <a:t>https://www.sunzhongwei.com/send-instructions-wechat-small-application-of-bluetooth-communication-hexadecimal-code-conversion</a:t>
            </a:r>
            <a:endParaRPr lang="en-US" altLang="zh-CN" sz="1200"/>
          </a:p>
          <a:p>
            <a:pPr lvl="1"/>
            <a:r>
              <a:rPr lang="en-US" altLang="zh-CN" sz="1200"/>
              <a:t>https://www.cnblogs.com/HintLee/p/9499423.html</a:t>
            </a:r>
            <a:endParaRPr lang="en-US" altLang="zh-CN" sz="1200"/>
          </a:p>
          <a:p>
            <a:pPr lvl="0"/>
            <a:r>
              <a:rPr lang="en-US" altLang="zh-CN" sz="1400"/>
              <a:t>APIs</a:t>
            </a:r>
            <a:endParaRPr lang="en-US" altLang="zh-CN" sz="1400"/>
          </a:p>
          <a:p>
            <a:pPr lvl="1"/>
            <a:r>
              <a:rPr lang="en-US" altLang="zh-CN" sz="1200"/>
              <a:t>wx.openBluetoothAdapter, wx.closeBluetoothAdapter</a:t>
            </a:r>
            <a:endParaRPr lang="en-US" altLang="zh-CN" sz="1200"/>
          </a:p>
          <a:p>
            <a:pPr lvl="1"/>
            <a:r>
              <a:rPr lang="en-US" altLang="zh-CN" sz="1200"/>
              <a:t>wx.startBluetoothDevicesDiscovery, wx.</a:t>
            </a:r>
            <a:r>
              <a:rPr lang="en-US" altLang="zh-CN" sz="1200">
                <a:sym typeface="+mn-ea"/>
              </a:rPr>
              <a:t>stopBluetoothDevicesDiscovery</a:t>
            </a:r>
            <a:endParaRPr lang="en-US" altLang="zh-CN" sz="1200"/>
          </a:p>
          <a:p>
            <a:pPr lvl="1"/>
            <a:r>
              <a:rPr lang="en-US" altLang="zh-CN" sz="1200"/>
              <a:t>wx.onBluetoothDeviceFound</a:t>
            </a:r>
            <a:endParaRPr lang="en-US" altLang="zh-CN" sz="1200"/>
          </a:p>
          <a:p>
            <a:pPr lvl="1"/>
            <a:r>
              <a:rPr lang="en-US" altLang="zh-CN" sz="1200"/>
              <a:t>wx.createBLEConnection, wx.closeBLEConnection</a:t>
            </a:r>
            <a:endParaRPr lang="en-US" altLang="zh-CN" sz="1200"/>
          </a:p>
          <a:p>
            <a:pPr lvl="1"/>
            <a:r>
              <a:rPr lang="en-US" altLang="zh-CN" sz="1200"/>
              <a:t>wx.getConnectedBluetoothDevices</a:t>
            </a:r>
            <a:endParaRPr lang="en-US" altLang="zh-CN" sz="1200"/>
          </a:p>
          <a:p>
            <a:pPr lvl="1"/>
            <a:r>
              <a:rPr lang="en-US" altLang="zh-CN" sz="1200"/>
              <a:t>wx.getBLEDeviceServices</a:t>
            </a:r>
            <a:endParaRPr lang="en-US" altLang="zh-CN" sz="1200"/>
          </a:p>
          <a:p>
            <a:pPr lvl="1"/>
            <a:r>
              <a:rPr lang="en-US" altLang="zh-CN" sz="1200">
                <a:solidFill>
                  <a:schemeClr val="tx1"/>
                </a:solidFill>
                <a:sym typeface="+mn-ea"/>
              </a:rPr>
              <a:t>readBLECharacteristicValue, writeBLECharacteristicValue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  <a:p>
            <a:pPr lvl="1"/>
            <a:r>
              <a:rPr lang="en-US" altLang="zh-CN" sz="1200">
                <a:sym typeface="+mn-ea"/>
              </a:rPr>
              <a:t>notifyBLECharacteristicValueChange</a:t>
            </a:r>
            <a:endParaRPr lang="en-US" altLang="zh-CN" sz="1200">
              <a:sym typeface="+mn-ea"/>
            </a:endParaRPr>
          </a:p>
          <a:p>
            <a:pPr lvl="1"/>
            <a:r>
              <a:rPr lang="en-US" altLang="zh-CN" sz="1200">
                <a:sym typeface="+mn-ea"/>
              </a:rPr>
              <a:t>onBLECharacteristicValueChange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6557010" y="1547495"/>
            <a:ext cx="2302510" cy="538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wx.openBluetoothAdapter()</a:t>
            </a:r>
            <a:endParaRPr lang="en-US" altLang="zh-CN" sz="1400"/>
          </a:p>
        </p:txBody>
      </p:sp>
      <p:sp>
        <p:nvSpPr>
          <p:cNvPr id="5" name="圆角矩形 4"/>
          <p:cNvSpPr/>
          <p:nvPr/>
        </p:nvSpPr>
        <p:spPr>
          <a:xfrm>
            <a:off x="6557010" y="2304415"/>
            <a:ext cx="2302510" cy="53848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wx.startBluetoothDevicesDiscovery()</a:t>
            </a:r>
            <a:endParaRPr lang="en-US" altLang="zh-CN" sz="1400"/>
          </a:p>
        </p:txBody>
      </p:sp>
      <p:sp>
        <p:nvSpPr>
          <p:cNvPr id="6" name="圆角矩形 5"/>
          <p:cNvSpPr/>
          <p:nvPr/>
        </p:nvSpPr>
        <p:spPr>
          <a:xfrm>
            <a:off x="6557010" y="3061335"/>
            <a:ext cx="2302510" cy="53848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wx.onBluetoothDeviceFound()</a:t>
            </a:r>
            <a:endParaRPr lang="en-US" altLang="zh-CN" sz="1400"/>
          </a:p>
        </p:txBody>
      </p:sp>
      <p:sp>
        <p:nvSpPr>
          <p:cNvPr id="7" name="圆角矩形 6"/>
          <p:cNvSpPr/>
          <p:nvPr/>
        </p:nvSpPr>
        <p:spPr>
          <a:xfrm>
            <a:off x="6557010" y="3818255"/>
            <a:ext cx="2302510" cy="53848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wx.stopBluetoothDeviceDiscovery()</a:t>
            </a:r>
            <a:endParaRPr lang="en-US" altLang="zh-CN" sz="1400"/>
          </a:p>
        </p:txBody>
      </p:sp>
      <p:sp>
        <p:nvSpPr>
          <p:cNvPr id="8" name="圆角矩形 7"/>
          <p:cNvSpPr/>
          <p:nvPr/>
        </p:nvSpPr>
        <p:spPr>
          <a:xfrm>
            <a:off x="6544945" y="4575175"/>
            <a:ext cx="2301240" cy="538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wx.createBLEConnection()</a:t>
            </a:r>
            <a:endParaRPr lang="en-US" altLang="zh-CN" sz="1400"/>
          </a:p>
        </p:txBody>
      </p:sp>
      <p:sp>
        <p:nvSpPr>
          <p:cNvPr id="9" name="圆角矩形 8"/>
          <p:cNvSpPr/>
          <p:nvPr/>
        </p:nvSpPr>
        <p:spPr>
          <a:xfrm>
            <a:off x="6551295" y="5304790"/>
            <a:ext cx="2301240" cy="538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wx.getBLEDeviceServices()</a:t>
            </a:r>
            <a:endParaRPr lang="en-US" altLang="zh-CN" sz="1400"/>
          </a:p>
        </p:txBody>
      </p:sp>
      <p:cxnSp>
        <p:nvCxnSpPr>
          <p:cNvPr id="10" name="直接箭头连接符 9"/>
          <p:cNvCxnSpPr>
            <a:stCxn id="4" idx="2"/>
            <a:endCxn id="5" idx="0"/>
          </p:cNvCxnSpPr>
          <p:nvPr/>
        </p:nvCxnSpPr>
        <p:spPr>
          <a:xfrm>
            <a:off x="7708265" y="2085975"/>
            <a:ext cx="0" cy="218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5" idx="2"/>
            <a:endCxn id="6" idx="0"/>
          </p:cNvCxnSpPr>
          <p:nvPr/>
        </p:nvCxnSpPr>
        <p:spPr>
          <a:xfrm>
            <a:off x="7708265" y="2842895"/>
            <a:ext cx="0" cy="218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6" idx="2"/>
            <a:endCxn id="7" idx="0"/>
          </p:cNvCxnSpPr>
          <p:nvPr/>
        </p:nvCxnSpPr>
        <p:spPr>
          <a:xfrm>
            <a:off x="7708265" y="3599815"/>
            <a:ext cx="0" cy="218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7" idx="2"/>
            <a:endCxn id="8" idx="0"/>
          </p:cNvCxnSpPr>
          <p:nvPr/>
        </p:nvCxnSpPr>
        <p:spPr>
          <a:xfrm flipH="1">
            <a:off x="7695248" y="4357053"/>
            <a:ext cx="12700" cy="218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8" idx="2"/>
            <a:endCxn id="9" idx="0"/>
          </p:cNvCxnSpPr>
          <p:nvPr/>
        </p:nvCxnSpPr>
        <p:spPr>
          <a:xfrm>
            <a:off x="7695565" y="5113655"/>
            <a:ext cx="6350" cy="1911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14"/>
          <p:cNvCxnSpPr>
            <a:stCxn id="7" idx="1"/>
            <a:endCxn id="5" idx="1"/>
          </p:cNvCxnSpPr>
          <p:nvPr/>
        </p:nvCxnSpPr>
        <p:spPr>
          <a:xfrm rot="10800000">
            <a:off x="6557010" y="2573655"/>
            <a:ext cx="3175" cy="1513840"/>
          </a:xfrm>
          <a:prstGeom prst="bentConnector3">
            <a:avLst>
              <a:gd name="adj1" fmla="val 760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圆角矩形 15"/>
          <p:cNvSpPr/>
          <p:nvPr/>
        </p:nvSpPr>
        <p:spPr>
          <a:xfrm>
            <a:off x="9197975" y="2304415"/>
            <a:ext cx="2437765" cy="538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wx.</a:t>
            </a:r>
            <a:r>
              <a:rPr lang="en-US" altLang="zh-CN" sz="1400">
                <a:solidFill>
                  <a:srgbClr val="FFFF00"/>
                </a:solidFill>
              </a:rPr>
              <a:t>read</a:t>
            </a:r>
            <a:r>
              <a:rPr lang="en-US" altLang="zh-CN" sz="1400"/>
              <a:t>BLECharacteristicValue()</a:t>
            </a:r>
            <a:endParaRPr lang="en-US" altLang="zh-CN" sz="1400"/>
          </a:p>
        </p:txBody>
      </p:sp>
      <p:sp>
        <p:nvSpPr>
          <p:cNvPr id="17" name="圆角矩形 16"/>
          <p:cNvSpPr/>
          <p:nvPr/>
        </p:nvSpPr>
        <p:spPr>
          <a:xfrm>
            <a:off x="9198610" y="3061335"/>
            <a:ext cx="2437765" cy="538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wx.</a:t>
            </a:r>
            <a:r>
              <a:rPr lang="en-US" altLang="zh-CN" sz="1400">
                <a:solidFill>
                  <a:srgbClr val="FFFF00"/>
                </a:solidFill>
              </a:rPr>
              <a:t>write</a:t>
            </a:r>
            <a:r>
              <a:rPr lang="en-US" altLang="zh-CN" sz="1400"/>
              <a:t>BLECharacteristicValue()</a:t>
            </a:r>
            <a:endParaRPr lang="en-US" altLang="zh-CN" sz="1400"/>
          </a:p>
        </p:txBody>
      </p:sp>
      <p:cxnSp>
        <p:nvCxnSpPr>
          <p:cNvPr id="18" name="肘形连接符 17"/>
          <p:cNvCxnSpPr>
            <a:stCxn id="9" idx="2"/>
            <a:endCxn id="27" idx="0"/>
          </p:cNvCxnSpPr>
          <p:nvPr/>
        </p:nvCxnSpPr>
        <p:spPr>
          <a:xfrm rot="5400000" flipH="1" flipV="1">
            <a:off x="6911975" y="2337435"/>
            <a:ext cx="4295775" cy="2715260"/>
          </a:xfrm>
          <a:prstGeom prst="bentConnector5">
            <a:avLst>
              <a:gd name="adj1" fmla="val -5536"/>
              <a:gd name="adj2" fmla="val 48725"/>
              <a:gd name="adj3" fmla="val 10555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16" idx="2"/>
            <a:endCxn id="17" idx="0"/>
          </p:cNvCxnSpPr>
          <p:nvPr/>
        </p:nvCxnSpPr>
        <p:spPr>
          <a:xfrm>
            <a:off x="10417175" y="2842895"/>
            <a:ext cx="635" cy="218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9198610" y="3818255"/>
            <a:ext cx="2437765" cy="538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wx.notifyBLECharacteristicValueChange()</a:t>
            </a:r>
            <a:endParaRPr lang="en-US" altLang="zh-CN" sz="1400"/>
          </a:p>
        </p:txBody>
      </p:sp>
      <p:sp>
        <p:nvSpPr>
          <p:cNvPr id="21" name="圆角矩形 20"/>
          <p:cNvSpPr/>
          <p:nvPr/>
        </p:nvSpPr>
        <p:spPr>
          <a:xfrm>
            <a:off x="9197975" y="4575175"/>
            <a:ext cx="2437765" cy="538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wx.on</a:t>
            </a:r>
            <a:r>
              <a:rPr lang="en-US" altLang="zh-CN" sz="1400">
                <a:sym typeface="+mn-ea"/>
              </a:rPr>
              <a:t>BLECharacteristicValueChange</a:t>
            </a:r>
            <a:r>
              <a:rPr lang="en-US" altLang="zh-CN" sz="1400"/>
              <a:t>()</a:t>
            </a:r>
            <a:endParaRPr lang="en-US" altLang="zh-CN" sz="1400"/>
          </a:p>
        </p:txBody>
      </p:sp>
      <p:cxnSp>
        <p:nvCxnSpPr>
          <p:cNvPr id="22" name="直接箭头连接符 21"/>
          <p:cNvCxnSpPr>
            <a:stCxn id="17" idx="2"/>
            <a:endCxn id="20" idx="0"/>
          </p:cNvCxnSpPr>
          <p:nvPr/>
        </p:nvCxnSpPr>
        <p:spPr>
          <a:xfrm>
            <a:off x="10417810" y="3599815"/>
            <a:ext cx="0" cy="218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20" idx="2"/>
            <a:endCxn id="21" idx="0"/>
          </p:cNvCxnSpPr>
          <p:nvPr/>
        </p:nvCxnSpPr>
        <p:spPr>
          <a:xfrm flipH="1">
            <a:off x="10417175" y="4356735"/>
            <a:ext cx="635" cy="218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圆角矩形 24"/>
          <p:cNvSpPr/>
          <p:nvPr/>
        </p:nvSpPr>
        <p:spPr>
          <a:xfrm>
            <a:off x="9199245" y="5277485"/>
            <a:ext cx="2437765" cy="538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wx.</a:t>
            </a:r>
            <a:r>
              <a:rPr lang="en-US" altLang="zh-CN" sz="1400">
                <a:sym typeface="+mn-ea"/>
              </a:rPr>
              <a:t>closeBLEConnection</a:t>
            </a:r>
            <a:r>
              <a:rPr lang="en-US" altLang="zh-CN" sz="1400"/>
              <a:t>()</a:t>
            </a:r>
            <a:endParaRPr lang="en-US" altLang="zh-CN" sz="1400"/>
          </a:p>
        </p:txBody>
      </p:sp>
      <p:cxnSp>
        <p:nvCxnSpPr>
          <p:cNvPr id="26" name="直接箭头连接符 25"/>
          <p:cNvCxnSpPr>
            <a:stCxn id="21" idx="2"/>
            <a:endCxn id="25" idx="0"/>
          </p:cNvCxnSpPr>
          <p:nvPr/>
        </p:nvCxnSpPr>
        <p:spPr>
          <a:xfrm>
            <a:off x="10417175" y="5113655"/>
            <a:ext cx="1270" cy="1638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圆角矩形 26"/>
          <p:cNvSpPr/>
          <p:nvPr/>
        </p:nvSpPr>
        <p:spPr>
          <a:xfrm>
            <a:off x="9197975" y="1547495"/>
            <a:ext cx="2437765" cy="538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wx.</a:t>
            </a:r>
            <a:r>
              <a:rPr lang="en-US" altLang="zh-CN" sz="1400">
                <a:solidFill>
                  <a:srgbClr val="FFFF00"/>
                </a:solidFill>
              </a:rPr>
              <a:t>getBLEDeviceCharactertics</a:t>
            </a:r>
            <a:r>
              <a:rPr lang="en-US" altLang="zh-CN" sz="1400"/>
              <a:t>()</a:t>
            </a:r>
            <a:endParaRPr lang="en-US" altLang="zh-CN" sz="1400"/>
          </a:p>
        </p:txBody>
      </p:sp>
      <p:cxnSp>
        <p:nvCxnSpPr>
          <p:cNvPr id="28" name="直接箭头连接符 27"/>
          <p:cNvCxnSpPr>
            <a:stCxn id="27" idx="2"/>
            <a:endCxn id="16" idx="0"/>
          </p:cNvCxnSpPr>
          <p:nvPr/>
        </p:nvCxnSpPr>
        <p:spPr>
          <a:xfrm>
            <a:off x="10417175" y="2085975"/>
            <a:ext cx="0" cy="218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推送消息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7882255" cy="4549140"/>
          </a:xfrm>
        </p:spPr>
        <p:txBody>
          <a:bodyPr>
            <a:normAutofit lnSpcReduction="20000"/>
          </a:bodyPr>
          <a:p>
            <a:r>
              <a:rPr lang="zh-CN" altLang="en-US" sz="2000"/>
              <a:t>模板消息</a:t>
            </a:r>
            <a:endParaRPr lang="zh-CN" altLang="en-US" sz="2000"/>
          </a:p>
          <a:p>
            <a:pPr lvl="1"/>
            <a:r>
              <a:rPr lang="zh-CN" altLang="en-US" sz="1800"/>
              <a:t>已于2020年1月10日下线</a:t>
            </a:r>
            <a:endParaRPr lang="zh-CN" altLang="en-US" sz="1800"/>
          </a:p>
          <a:p>
            <a:pPr lvl="0"/>
            <a:r>
              <a:rPr lang="zh-CN" altLang="en-US" sz="2000"/>
              <a:t>订阅消息</a:t>
            </a:r>
            <a:endParaRPr lang="zh-CN" altLang="en-US" sz="2000"/>
          </a:p>
          <a:p>
            <a:pPr lvl="1"/>
            <a:r>
              <a:rPr lang="en-US" altLang="zh-CN" sz="1800"/>
              <a:t>References</a:t>
            </a:r>
            <a:endParaRPr lang="en-US" altLang="zh-CN" sz="1800"/>
          </a:p>
          <a:p>
            <a:pPr lvl="2"/>
            <a:r>
              <a:rPr lang="en-US" altLang="zh-CN" sz="1600"/>
              <a:t>https://developers.weixin.qq.com/miniprogram/dev/framework/open-ability/subscribe-message.html</a:t>
            </a:r>
            <a:endParaRPr lang="en-US" altLang="zh-CN" sz="1600"/>
          </a:p>
          <a:p>
            <a:pPr lvl="2"/>
            <a:r>
              <a:rPr lang="en-US" altLang="zh-CN" sz="1600"/>
              <a:t>https://developers.weixin.qq.com/miniprogram/dev/api/open-api/subscribe-message/wx.requestSubscribeMessage.html</a:t>
            </a:r>
            <a:endParaRPr lang="en-US" altLang="zh-CN" sz="1600"/>
          </a:p>
          <a:p>
            <a:pPr lvl="1"/>
            <a:r>
              <a:rPr lang="en-US" altLang="zh-CN" sz="1800"/>
              <a:t>订阅消息推送位置：服务通知</a:t>
            </a:r>
            <a:endParaRPr lang="en-US" altLang="zh-CN" sz="1800"/>
          </a:p>
          <a:p>
            <a:pPr lvl="1"/>
            <a:r>
              <a:rPr lang="en-US" altLang="zh-CN" sz="1800"/>
              <a:t>订阅消息下发条件：用户自主订阅</a:t>
            </a:r>
            <a:endParaRPr lang="en-US" altLang="zh-CN" sz="1800"/>
          </a:p>
          <a:p>
            <a:pPr lvl="1"/>
            <a:r>
              <a:rPr lang="en-US" altLang="zh-CN" sz="1800"/>
              <a:t>订阅消息卡片跳转能力：点击查看详情可跳转至该小程序的页面</a:t>
            </a:r>
            <a:endParaRPr lang="en-US" altLang="zh-CN" sz="1800"/>
          </a:p>
          <a:p>
            <a:pPr lvl="1"/>
            <a:r>
              <a:rPr lang="zh-CN" altLang="en-US" sz="1800"/>
              <a:t>使用步骤</a:t>
            </a:r>
            <a:endParaRPr lang="zh-CN" altLang="en-US" sz="1800"/>
          </a:p>
          <a:p>
            <a:pPr lvl="2"/>
            <a:r>
              <a:rPr lang="zh-CN" altLang="en-US" sz="1620"/>
              <a:t>获取模板 ID</a:t>
            </a:r>
            <a:endParaRPr lang="zh-CN" altLang="en-US" sz="1620"/>
          </a:p>
          <a:p>
            <a:pPr lvl="2"/>
            <a:r>
              <a:rPr lang="zh-CN" altLang="en-US" sz="1620"/>
              <a:t>获取下发权限</a:t>
            </a:r>
            <a:endParaRPr lang="zh-CN" altLang="en-US" sz="1620"/>
          </a:p>
          <a:p>
            <a:pPr lvl="3"/>
            <a:r>
              <a:rPr lang="zh-CN" altLang="en-US" sz="1620"/>
              <a:t>wx.requestSubscribeMessage</a:t>
            </a:r>
            <a:endParaRPr lang="zh-CN" altLang="en-US" sz="1620"/>
          </a:p>
          <a:p>
            <a:pPr lvl="3"/>
            <a:r>
              <a:rPr lang="en-US" altLang="zh-CN" sz="1620"/>
              <a:t>一次调用最多可订阅3条消息</a:t>
            </a:r>
            <a:endParaRPr lang="en-US" altLang="zh-CN" sz="1620"/>
          </a:p>
          <a:p>
            <a:pPr lvl="2"/>
            <a:r>
              <a:rPr lang="en-US" altLang="zh-CN" sz="1620"/>
              <a:t>调用接口下发订阅消息</a:t>
            </a:r>
            <a:endParaRPr lang="en-US" altLang="zh-CN" sz="1620"/>
          </a:p>
          <a:p>
            <a:pPr lvl="3"/>
            <a:r>
              <a:rPr lang="en-US" altLang="zh-CN" sz="1620"/>
              <a:t>subscribeMessage.send</a:t>
            </a:r>
            <a:endParaRPr lang="en-US" altLang="zh-CN" sz="1620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9518015" y="415290"/>
            <a:ext cx="2042795" cy="442023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客服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https://developers.weixin.qq.com/community/develop/article/doc/00026676a30c2804cdbead76056413?highline=sendMessagePath</a:t>
            </a:r>
            <a:endParaRPr lang="en-US" altLang="zh-CN"/>
          </a:p>
          <a:p>
            <a:pPr lvl="0"/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zh-CN" altLang="en-US"/>
              <a:t>企微</a:t>
            </a:r>
            <a:r>
              <a:rPr lang="en-US" altLang="zh-CN"/>
              <a:t>-</a:t>
            </a:r>
            <a:r>
              <a:rPr lang="zh-CN" altLang="en-US"/>
              <a:t>》工作台</a:t>
            </a:r>
            <a:r>
              <a:rPr lang="en-US" altLang="zh-CN"/>
              <a:t>-</a:t>
            </a:r>
            <a:r>
              <a:rPr lang="zh-CN" altLang="en-US"/>
              <a:t>》微信</a:t>
            </a:r>
            <a:r>
              <a:rPr lang="zh-CN" altLang="en-US"/>
              <a:t>客服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分包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257800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https://developers.weixin.qq.com/miniprogram/dev/framework/subpackages/basic.html</a:t>
            </a:r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8662035" y="257810"/>
            <a:ext cx="3048000" cy="57683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Three.js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263005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https://github.com/yannliao/threejs-example-for-miniprogram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918200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https://github.com/sanyuered/WeChat-MiniProgram-AR-3D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JSSDK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微信内网页开发工具包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Reference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https://developers.weixin.qq.com/doc/offiaccount/OA_Web_Apps/JS-SDK.html</a:t>
            </a:r>
            <a:endParaRPr lang="zh-CN" altLang="en-US"/>
          </a:p>
          <a:p>
            <a:r>
              <a:rPr lang="zh-CN" altLang="en-US"/>
              <a:t>https://pay.weixin.qq.com/wiki/doc/api/index.html</a:t>
            </a:r>
            <a:endParaRPr lang="zh-CN" altLang="en-US"/>
          </a:p>
          <a:p>
            <a:r>
              <a:rPr lang="zh-CN" altLang="en-US"/>
              <a:t>https://www.jianshu.com/p/b017fd6bb908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Concept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Info</a:t>
            </a:r>
            <a:endParaRPr lang="en-US" altLang="zh-CN"/>
          </a:p>
          <a:p>
            <a:pPr lvl="1"/>
            <a:r>
              <a:rPr lang="zh-CN" altLang="en-US"/>
              <a:t>微信JS-SDK是微信公众平台 面向网页开发者提供的基于微信内的网页开发工具包。</a:t>
            </a:r>
            <a:endParaRPr lang="zh-CN" altLang="en-US"/>
          </a:p>
          <a:p>
            <a:pPr lvl="1"/>
            <a:r>
              <a:rPr lang="zh-CN" altLang="en-US"/>
              <a:t>通过使用微信JS-SDK，网页开发者可借助微信高效地使用拍照、选图、语音、位置等手机系统的能力，同时可以直接使用微信分享、扫一扫、卡券、支付等微信特有的能力，为微信用户提供更优质的网页体验。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公众号准备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391275" y="1013460"/>
            <a:ext cx="4665980" cy="2408555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211580"/>
            <a:ext cx="4257675" cy="4549140"/>
          </a:xfrm>
        </p:spPr>
        <p:txBody>
          <a:bodyPr/>
          <a:p>
            <a:r>
              <a:rPr lang="en-US" altLang="zh-CN"/>
              <a:t>App ID</a:t>
            </a:r>
            <a:r>
              <a:rPr lang="zh-CN" altLang="en-US"/>
              <a:t>和</a:t>
            </a:r>
            <a:r>
              <a:rPr lang="en-US" altLang="zh-CN"/>
              <a:t>secret</a:t>
            </a:r>
            <a:endParaRPr lang="en-US" altLang="zh-CN"/>
          </a:p>
          <a:p>
            <a:r>
              <a:rPr lang="en-US" altLang="zh-CN"/>
              <a:t>JS</a:t>
            </a:r>
            <a:r>
              <a:rPr lang="zh-CN" altLang="en-US"/>
              <a:t>接口安全域名</a:t>
            </a:r>
            <a:endParaRPr lang="zh-CN" altLang="en-US"/>
          </a:p>
          <a:p>
            <a:r>
              <a:rPr lang="en-US" altLang="zh-CN"/>
              <a:t>IP</a:t>
            </a:r>
            <a:r>
              <a:rPr lang="zh-CN" altLang="en-US"/>
              <a:t>白名单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83005" y="3642995"/>
            <a:ext cx="4681220" cy="24168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3642995"/>
            <a:ext cx="4681855" cy="241617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Prepare</a:t>
            </a:r>
            <a:endParaRPr lang="en-US" altLang="zh-CN"/>
          </a:p>
        </p:txBody>
      </p:sp>
      <p:sp>
        <p:nvSpPr>
          <p:cNvPr id="4" name="流程图: 过程 3"/>
          <p:cNvSpPr/>
          <p:nvPr/>
        </p:nvSpPr>
        <p:spPr>
          <a:xfrm>
            <a:off x="1395095" y="1537970"/>
            <a:ext cx="3233420" cy="82169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在微信公众平台中绑定域名，设置</a:t>
            </a:r>
            <a:r>
              <a:rPr lang="en-US" altLang="zh-CN"/>
              <a:t>IP</a:t>
            </a:r>
            <a:r>
              <a:rPr lang="zh-CN" altLang="en-US"/>
              <a:t>白名单</a:t>
            </a:r>
            <a:endParaRPr lang="zh-CN" altLang="en-US"/>
          </a:p>
        </p:txBody>
      </p:sp>
      <p:sp>
        <p:nvSpPr>
          <p:cNvPr id="5" name="流程图: 过程 4"/>
          <p:cNvSpPr/>
          <p:nvPr/>
        </p:nvSpPr>
        <p:spPr>
          <a:xfrm>
            <a:off x="1395095" y="2750185"/>
            <a:ext cx="3233420" cy="82169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前端引入相关</a:t>
            </a:r>
            <a:r>
              <a:rPr lang="en-US" altLang="zh-CN"/>
              <a:t>JS</a:t>
            </a:r>
            <a:r>
              <a:rPr lang="zh-CN" altLang="en-US"/>
              <a:t>文件</a:t>
            </a:r>
            <a:endParaRPr lang="zh-CN" altLang="en-US"/>
          </a:p>
        </p:txBody>
      </p:sp>
      <p:sp>
        <p:nvSpPr>
          <p:cNvPr id="6" name="流程图: 过程 5"/>
          <p:cNvSpPr/>
          <p:nvPr/>
        </p:nvSpPr>
        <p:spPr>
          <a:xfrm>
            <a:off x="1395095" y="4053840"/>
            <a:ext cx="3233420" cy="82169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ym typeface="+mn-ea"/>
              </a:rPr>
              <a:t>通过config接口注入权限验证配置</a:t>
            </a:r>
            <a:endParaRPr lang="zh-CN" altLang="en-US">
              <a:sym typeface="+mn-ea"/>
            </a:endParaRPr>
          </a:p>
        </p:txBody>
      </p:sp>
      <p:cxnSp>
        <p:nvCxnSpPr>
          <p:cNvPr id="7" name="直接箭头连接符 6"/>
          <p:cNvCxnSpPr>
            <a:stCxn id="4" idx="2"/>
            <a:endCxn id="5" idx="0"/>
          </p:cNvCxnSpPr>
          <p:nvPr/>
        </p:nvCxnSpPr>
        <p:spPr>
          <a:xfrm>
            <a:off x="3011805" y="2359660"/>
            <a:ext cx="0" cy="3905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5" idx="2"/>
            <a:endCxn id="6" idx="0"/>
          </p:cNvCxnSpPr>
          <p:nvPr/>
        </p:nvCxnSpPr>
        <p:spPr>
          <a:xfrm>
            <a:off x="3011805" y="3571875"/>
            <a:ext cx="0" cy="4819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742950" y="5554345"/>
            <a:ext cx="1629410" cy="5734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分享好友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3573780" y="5554345"/>
            <a:ext cx="1629410" cy="5734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分享朋友圈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Share</a:t>
            </a:r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75" y="1122045"/>
            <a:ext cx="6305550" cy="25527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75" y="4001135"/>
            <a:ext cx="6267450" cy="23336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Pay</a:t>
            </a:r>
            <a:endParaRPr lang="en-US" altLang="zh-CN"/>
          </a:p>
        </p:txBody>
      </p:sp>
      <p:pic>
        <p:nvPicPr>
          <p:cNvPr id="7" name="图片 6" descr="chapter6_4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0" y="1088390"/>
            <a:ext cx="5018405" cy="5445125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1421765" y="5501005"/>
            <a:ext cx="1369060" cy="574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扫码支付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JSSDK</a:t>
            </a:r>
            <a:endParaRPr lang="en-US" altLang="zh-CN"/>
          </a:p>
        </p:txBody>
      </p:sp>
      <p:sp>
        <p:nvSpPr>
          <p:cNvPr id="4" name="流程图: 过程 3"/>
          <p:cNvSpPr/>
          <p:nvPr/>
        </p:nvSpPr>
        <p:spPr>
          <a:xfrm>
            <a:off x="1043940" y="1485900"/>
            <a:ext cx="5084445" cy="88646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获取</a:t>
            </a:r>
            <a:r>
              <a:rPr lang="en-US" altLang="zh-CN"/>
              <a:t>access token</a:t>
            </a:r>
            <a:endParaRPr lang="en-US" altLang="zh-CN"/>
          </a:p>
          <a:p>
            <a:pPr algn="ctr"/>
            <a:r>
              <a:rPr lang="en-US" altLang="zh-CN"/>
              <a:t>https://developers.weixin.qq.com/doc/offiaccount/Basic_Information/Get_access_token.html</a:t>
            </a:r>
            <a:endParaRPr lang="en-US" altLang="zh-CN"/>
          </a:p>
        </p:txBody>
      </p:sp>
      <p:sp>
        <p:nvSpPr>
          <p:cNvPr id="5" name="流程图: 过程 4"/>
          <p:cNvSpPr/>
          <p:nvPr/>
        </p:nvSpPr>
        <p:spPr>
          <a:xfrm>
            <a:off x="1043305" y="2815590"/>
            <a:ext cx="5084445" cy="113347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获取</a:t>
            </a:r>
            <a:r>
              <a:rPr lang="en-US" altLang="zh-CN"/>
              <a:t>jsapi ticket</a:t>
            </a:r>
            <a:endParaRPr lang="en-US" altLang="zh-CN"/>
          </a:p>
          <a:p>
            <a:pPr algn="ctr"/>
            <a:r>
              <a:rPr lang="en-US" altLang="zh-CN"/>
              <a:t>https://api.weixin.qq.com/cgi-bin/ticket/getticket?access_token=ACCESS_TOKEN&amp;type=jsapi</a:t>
            </a:r>
            <a:endParaRPr lang="en-US" altLang="zh-CN"/>
          </a:p>
        </p:txBody>
      </p:sp>
      <p:sp>
        <p:nvSpPr>
          <p:cNvPr id="6" name="流程图: 过程 5"/>
          <p:cNvSpPr/>
          <p:nvPr/>
        </p:nvSpPr>
        <p:spPr>
          <a:xfrm>
            <a:off x="1043305" y="4262755"/>
            <a:ext cx="5084445" cy="113347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签名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131685" y="1003935"/>
            <a:ext cx="4511040" cy="3415030"/>
          </a:xfrm>
          <a:prstGeom prst="rect">
            <a:avLst/>
          </a:prstGeom>
          <a:noFill/>
          <a:ln w="12700" cmpd="sng">
            <a:solidFill>
              <a:srgbClr val="FFC000"/>
            </a:solidFill>
            <a:prstDash val="sysDash"/>
          </a:ln>
        </p:spPr>
        <p:txBody>
          <a:bodyPr wrap="square" rtlCol="0">
            <a:spAutoFit/>
          </a:bodyPr>
          <a:p>
            <a:r>
              <a:rPr lang="zh-CN" altLang="en-US"/>
              <a:t>wx.config({</a:t>
            </a:r>
            <a:endParaRPr lang="zh-CN" altLang="en-US"/>
          </a:p>
          <a:p>
            <a:r>
              <a:rPr lang="zh-CN" altLang="en-US"/>
              <a:t>  debug: true, // 开启调试模式,调用的所有api的返回值会在客户端alert出来，若要查看传入的参数，可以在pc端打开，参数信息会通过log打出，仅在pc端时才会打印。</a:t>
            </a:r>
            <a:endParaRPr lang="zh-CN" altLang="en-US"/>
          </a:p>
          <a:p>
            <a:r>
              <a:rPr lang="zh-CN" altLang="en-US"/>
              <a:t>  appId: '', // 必填，公众号的唯一标识</a:t>
            </a:r>
            <a:endParaRPr lang="zh-CN" altLang="en-US"/>
          </a:p>
          <a:p>
            <a:r>
              <a:rPr lang="zh-CN" altLang="en-US"/>
              <a:t>  timestamp: , // 必填，生成签名的时间戳</a:t>
            </a:r>
            <a:endParaRPr lang="zh-CN" altLang="en-US"/>
          </a:p>
          <a:p>
            <a:r>
              <a:rPr lang="zh-CN" altLang="en-US"/>
              <a:t>  nonceStr: '', // 必填，生成签名的随机串</a:t>
            </a:r>
            <a:endParaRPr lang="zh-CN" altLang="en-US"/>
          </a:p>
          <a:p>
            <a:r>
              <a:rPr lang="zh-CN" altLang="en-US"/>
              <a:t>  signature: '',// 必填，签名</a:t>
            </a:r>
            <a:endParaRPr lang="zh-CN" altLang="en-US"/>
          </a:p>
          <a:p>
            <a:r>
              <a:rPr lang="zh-CN" altLang="en-US"/>
              <a:t>  jsApiList: [] // 必填，需要使用的JS接口列表</a:t>
            </a:r>
            <a:endParaRPr lang="zh-CN" altLang="en-US"/>
          </a:p>
          <a:p>
            <a:r>
              <a:rPr lang="zh-CN" altLang="en-US"/>
              <a:t>});</a:t>
            </a:r>
            <a:endParaRPr lang="zh-CN" altLang="en-US"/>
          </a:p>
        </p:txBody>
      </p:sp>
      <p:cxnSp>
        <p:nvCxnSpPr>
          <p:cNvPr id="3" name="直接箭头连接符 2"/>
          <p:cNvCxnSpPr>
            <a:stCxn id="4" idx="2"/>
            <a:endCxn id="5" idx="0"/>
          </p:cNvCxnSpPr>
          <p:nvPr/>
        </p:nvCxnSpPr>
        <p:spPr>
          <a:xfrm flipH="1">
            <a:off x="3585845" y="2372360"/>
            <a:ext cx="635" cy="4432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5" idx="2"/>
            <a:endCxn id="6" idx="0"/>
          </p:cNvCxnSpPr>
          <p:nvPr/>
        </p:nvCxnSpPr>
        <p:spPr>
          <a:xfrm>
            <a:off x="3585845" y="3949065"/>
            <a:ext cx="0" cy="3136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公众号获取</a:t>
            </a:r>
            <a:r>
              <a:rPr lang="en-US" altLang="zh-CN"/>
              <a:t>openid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步骤</a:t>
            </a:r>
            <a:endParaRPr lang="zh-CN" altLang="en-US"/>
          </a:p>
          <a:p>
            <a:pPr lvl="1"/>
            <a:r>
              <a:rPr lang="zh-CN" altLang="en-US"/>
              <a:t>参考</a:t>
            </a:r>
            <a:endParaRPr lang="zh-CN" altLang="en-US"/>
          </a:p>
          <a:p>
            <a:pPr lvl="2"/>
            <a:r>
              <a:rPr lang="zh-CN" altLang="en-US"/>
              <a:t>https://developers.weixin.qq.com/doc/offiaccount/OA_Web_Apps/Wechat_webpage_authorization.html</a:t>
            </a:r>
            <a:endParaRPr lang="zh-CN" altLang="en-US"/>
          </a:p>
          <a:p>
            <a:pPr lvl="1"/>
            <a:r>
              <a:rPr lang="zh-CN" altLang="en-US"/>
              <a:t>获取</a:t>
            </a:r>
            <a:r>
              <a:rPr lang="en-US" altLang="zh-CN"/>
              <a:t>code</a:t>
            </a:r>
            <a:endParaRPr lang="en-US" altLang="zh-CN"/>
          </a:p>
          <a:p>
            <a:pPr lvl="2"/>
            <a:r>
              <a:rPr lang="en-US" altLang="zh-CN"/>
              <a:t>https://open.weixin.qq.com/connect/oauth2/authorize?appid=APPID&amp;redirect_uri=REDIRECT_URI&amp;response_type=code&amp;scope=SCOPE&amp;state=STATE#wechat_redirect</a:t>
            </a:r>
            <a:endParaRPr lang="en-US" altLang="zh-CN"/>
          </a:p>
          <a:p>
            <a:pPr lvl="2"/>
            <a:r>
              <a:rPr lang="zh-CN" altLang="en-US"/>
              <a:t>例子：</a:t>
            </a:r>
            <a:r>
              <a:rPr lang="en-US" altLang="zh-CN"/>
              <a:t>https://open.weixin.qq.com/connect/oauth2/authorize?appid=wx520c15f417810387&amp;redirect_uri=https%3A%2F%2Fchong.qq.com%2Fphp%2Findex.php%3Fd%3D%26c%3DwxAdapter%26m%3DmobileDeal%26showwxpaytitle%3D1%26vb2ctag%3D4_2030_5_1194_60&amp;response_type=code&amp;scope=snsapi_base&amp;state=123#wechat_redirect</a:t>
            </a:r>
            <a:endParaRPr lang="en-US" altLang="zh-CN"/>
          </a:p>
          <a:p>
            <a:pPr lvl="1"/>
            <a:r>
              <a:rPr lang="zh-CN" altLang="en-US"/>
              <a:t>获取</a:t>
            </a:r>
            <a:r>
              <a:rPr lang="en-US" altLang="zh-CN"/>
              <a:t>access token</a:t>
            </a:r>
            <a:endParaRPr lang="en-US" altLang="zh-CN"/>
          </a:p>
          <a:p>
            <a:pPr lvl="2"/>
            <a:r>
              <a:rPr lang="en-US" altLang="zh-CN"/>
              <a:t>https://api.weixin.qq.com/sns/oauth2/access_token?appid=APPID&amp;secret=SECRET&amp;code=CODE&amp;grant_type=authorization_code</a:t>
            </a:r>
            <a:endParaRPr lang="en-US" altLang="zh-CN"/>
          </a:p>
          <a:p>
            <a:pPr lvl="2"/>
            <a:r>
              <a:rPr lang="zh-CN" altLang="en-US"/>
              <a:t>该接口返回</a:t>
            </a:r>
            <a:r>
              <a:rPr lang="en-US" altLang="zh-CN"/>
              <a:t>openid</a:t>
            </a:r>
            <a:r>
              <a:rPr lang="zh-CN" altLang="en-US"/>
              <a:t>字段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发送模板消息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384925" cy="4549140"/>
          </a:xfrm>
        </p:spPr>
        <p:txBody>
          <a:bodyPr>
            <a:noAutofit/>
          </a:bodyPr>
          <a:p>
            <a:r>
              <a:rPr lang="zh-CN" altLang="en-US" sz="1400"/>
              <a:t>步骤</a:t>
            </a:r>
            <a:endParaRPr lang="zh-CN" altLang="en-US" sz="1400"/>
          </a:p>
          <a:p>
            <a:pPr lvl="1"/>
            <a:r>
              <a:rPr lang="en-US" altLang="zh-CN" sz="1200"/>
              <a:t>POST </a:t>
            </a:r>
            <a:r>
              <a:rPr lang="zh-CN" altLang="en-US" sz="1200"/>
              <a:t>https://api.weixin.qq.com/cgi-bin/message/template/send?access_token=ACCESS_TOKEN</a:t>
            </a:r>
            <a:endParaRPr lang="zh-CN" altLang="en-US" sz="1200"/>
          </a:p>
          <a:p>
            <a:pPr lvl="0"/>
            <a:r>
              <a:rPr lang="zh-CN" altLang="en-US" sz="1400">
                <a:sym typeface="+mn-ea"/>
              </a:rPr>
              <a:t>概要</a:t>
            </a:r>
            <a:endParaRPr lang="zh-CN" altLang="en-US" sz="1400"/>
          </a:p>
          <a:p>
            <a:pPr lvl="1"/>
            <a:r>
              <a:rPr lang="zh-CN" altLang="en-US" sz="1200">
                <a:sym typeface="+mn-ea"/>
              </a:rPr>
              <a:t>认证的微信服务号发送模板消息通知</a:t>
            </a:r>
            <a:endParaRPr lang="zh-CN" altLang="en-US" sz="1200"/>
          </a:p>
          <a:p>
            <a:pPr lvl="1"/>
            <a:r>
              <a:rPr lang="zh-CN" altLang="en-US" sz="1200">
                <a:sym typeface="+mn-ea"/>
              </a:rPr>
              <a:t>各类型公众号权限</a:t>
            </a:r>
            <a:endParaRPr lang="zh-CN" altLang="en-US" sz="1200"/>
          </a:p>
          <a:p>
            <a:pPr lvl="2"/>
            <a:r>
              <a:rPr lang="zh-CN" altLang="en-US" sz="1000">
                <a:sym typeface="+mn-ea"/>
              </a:rPr>
              <a:t>https://developers.weixin.qq.com/doc/offiaccount/Getting_Started/Explanation_of_interface_privileges.html</a:t>
            </a:r>
            <a:endParaRPr lang="zh-CN" altLang="en-US" sz="1000"/>
          </a:p>
          <a:p>
            <a:pPr lvl="1"/>
            <a:r>
              <a:rPr lang="zh-CN" altLang="en-US" sz="1200">
                <a:sym typeface="+mn-ea"/>
              </a:rPr>
              <a:t>模板消息运营规范</a:t>
            </a:r>
            <a:endParaRPr lang="zh-CN" altLang="en-US" sz="1200"/>
          </a:p>
          <a:p>
            <a:pPr lvl="2"/>
            <a:r>
              <a:rPr lang="zh-CN" altLang="en-US" sz="1000">
                <a:sym typeface="+mn-ea"/>
              </a:rPr>
              <a:t>https://developers.weixin.qq.com/doc/offiaccount/Message_Management/Template_Message_Operation_Specifications.html</a:t>
            </a:r>
            <a:endParaRPr lang="zh-CN" altLang="en-US" sz="1000"/>
          </a:p>
          <a:p>
            <a:pPr lvl="1"/>
            <a:r>
              <a:rPr lang="zh-CN" altLang="en-US" sz="1200">
                <a:sym typeface="+mn-ea"/>
              </a:rPr>
              <a:t>模板消息接口</a:t>
            </a:r>
            <a:endParaRPr lang="zh-CN" altLang="en-US" sz="1200"/>
          </a:p>
          <a:p>
            <a:pPr lvl="2"/>
            <a:r>
              <a:rPr lang="zh-CN" altLang="en-US" sz="1000">
                <a:sym typeface="+mn-ea"/>
              </a:rPr>
              <a:t>https://developers.weixin.qq.com/doc/offiaccount/Message_Management/Template_Message_Interface.html</a:t>
            </a:r>
            <a:endParaRPr lang="zh-CN" altLang="en-US" sz="1000">
              <a:sym typeface="+mn-ea"/>
            </a:endParaRPr>
          </a:p>
          <a:p>
            <a:pPr lvl="2"/>
            <a:r>
              <a:rPr lang="zh-CN" altLang="en-US" sz="1000"/>
              <a:t>https://mp.weixin.qq.com/advanced/tmplmsg?action=faq&amp;token=1723160200&amp;lang=zh_CN</a:t>
            </a:r>
            <a:endParaRPr lang="zh-CN" altLang="en-US" sz="1000"/>
          </a:p>
          <a:p>
            <a:pPr lvl="2"/>
            <a:r>
              <a:rPr lang="zh-CN" altLang="en-US" sz="1000">
                <a:sym typeface="+mn-ea"/>
              </a:rPr>
              <a:t>https://www.zhihu.com/question/48864270/answer/1157763869</a:t>
            </a:r>
            <a:endParaRPr lang="zh-CN" altLang="en-US" sz="1000">
              <a:sym typeface="+mn-ea"/>
            </a:endParaRPr>
          </a:p>
          <a:p>
            <a:pPr lvl="2"/>
            <a:r>
              <a:rPr lang="zh-CN" altLang="en-US" sz="1000">
                <a:sym typeface="+mn-ea"/>
              </a:rPr>
              <a:t>POST请求</a:t>
            </a:r>
            <a:endParaRPr lang="zh-CN" altLang="en-US" sz="1000">
              <a:sym typeface="+mn-ea"/>
            </a:endParaRPr>
          </a:p>
          <a:p>
            <a:pPr lvl="3"/>
            <a:r>
              <a:rPr lang="zh-CN" altLang="en-US" sz="1000">
                <a:sym typeface="+mn-ea"/>
              </a:rPr>
              <a:t>https://api.weixin.qq.com/cgi-bin/message/template/send?access_token=ACCESS_TOKEN</a:t>
            </a:r>
            <a:endParaRPr lang="zh-CN" altLang="en-US" sz="1000">
              <a:sym typeface="+mn-ea"/>
            </a:endParaRPr>
          </a:p>
          <a:p>
            <a:pPr lvl="0"/>
            <a:r>
              <a:rPr lang="zh-CN" altLang="en-US" sz="1400">
                <a:sym typeface="+mn-ea"/>
              </a:rPr>
              <a:t>开通步骤</a:t>
            </a:r>
            <a:endParaRPr lang="zh-CN" altLang="en-US" sz="1400"/>
          </a:p>
          <a:p>
            <a:pPr lvl="1"/>
            <a:r>
              <a:rPr lang="zh-CN" altLang="en-US" sz="1200">
                <a:sym typeface="+mn-ea"/>
              </a:rPr>
              <a:t>登录服务号</a:t>
            </a:r>
            <a:endParaRPr lang="zh-CN" altLang="en-US" sz="1200"/>
          </a:p>
          <a:p>
            <a:pPr lvl="1"/>
            <a:r>
              <a:rPr lang="zh-CN" altLang="en-US" sz="1200">
                <a:sym typeface="+mn-ea"/>
              </a:rPr>
              <a:t>功能</a:t>
            </a:r>
            <a:r>
              <a:rPr lang="en-US" altLang="zh-CN" sz="1200">
                <a:sym typeface="+mn-ea"/>
              </a:rPr>
              <a:t>-</a:t>
            </a:r>
            <a:r>
              <a:rPr lang="zh-CN" altLang="en-US" sz="1200">
                <a:sym typeface="+mn-ea"/>
              </a:rPr>
              <a:t>》添加功能插件</a:t>
            </a:r>
            <a:r>
              <a:rPr lang="en-US" altLang="zh-CN" sz="1200">
                <a:sym typeface="+mn-ea"/>
              </a:rPr>
              <a:t>-</a:t>
            </a:r>
            <a:r>
              <a:rPr lang="zh-CN" altLang="en-US" sz="1200">
                <a:sym typeface="+mn-ea"/>
              </a:rPr>
              <a:t>》模板消息</a:t>
            </a:r>
            <a:endParaRPr lang="zh-CN" altLang="en-US" sz="1200"/>
          </a:p>
          <a:p>
            <a:pPr lvl="1"/>
            <a:r>
              <a:rPr lang="zh-CN" altLang="en-US" sz="1200">
                <a:sym typeface="+mn-ea"/>
              </a:rPr>
              <a:t>申请开通模板消息接口</a:t>
            </a:r>
            <a:endParaRPr lang="zh-CN" altLang="en-US" sz="1200"/>
          </a:p>
          <a:p>
            <a:pPr lvl="1"/>
            <a:r>
              <a:rPr lang="zh-CN" altLang="en-US" sz="1200">
                <a:sym typeface="+mn-ea"/>
              </a:rPr>
              <a:t>审核需</a:t>
            </a:r>
            <a:r>
              <a:rPr lang="en-US" altLang="zh-CN" sz="1200">
                <a:sym typeface="+mn-ea"/>
              </a:rPr>
              <a:t>2~3</a:t>
            </a:r>
            <a:r>
              <a:rPr lang="zh-CN" altLang="en-US" sz="1200">
                <a:sym typeface="+mn-ea"/>
              </a:rPr>
              <a:t>天</a:t>
            </a:r>
            <a:endParaRPr lang="zh-CN" altLang="en-US" sz="12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9670" y="1025525"/>
            <a:ext cx="4454525" cy="54876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公众号</a:t>
            </a:r>
            <a:r>
              <a:rPr lang="zh-CN" altLang="en-US"/>
              <a:t>开发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基本</a:t>
            </a:r>
            <a:r>
              <a:rPr lang="zh-CN" altLang="en-US"/>
              <a:t>信息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211580"/>
            <a:ext cx="6648450" cy="4549140"/>
          </a:xfrm>
        </p:spPr>
        <p:txBody>
          <a:bodyPr>
            <a:normAutofit lnSpcReduction="20000"/>
          </a:bodyPr>
          <a:p>
            <a:r>
              <a:rPr lang="zh-CN" altLang="en-US"/>
              <a:t>参考</a:t>
            </a:r>
            <a:endParaRPr lang="zh-CN" altLang="en-US"/>
          </a:p>
          <a:p>
            <a:pPr lvl="1"/>
            <a:r>
              <a:rPr lang="zh-CN" altLang="en-US"/>
              <a:t>https://developers.weixin.qq.com/doc/offiaccount/Basic_Information/Access_Overview.html</a:t>
            </a:r>
            <a:endParaRPr lang="zh-CN" altLang="en-US"/>
          </a:p>
          <a:p>
            <a:r>
              <a:rPr lang="zh-CN" altLang="en-US"/>
              <a:t>基础</a:t>
            </a:r>
            <a:endParaRPr lang="zh-CN" altLang="en-US"/>
          </a:p>
          <a:p>
            <a:pPr lvl="1"/>
            <a:r>
              <a:rPr lang="zh-CN" altLang="en-US"/>
              <a:t>公众平台接口调用仅支持80端口。</a:t>
            </a:r>
            <a:endParaRPr lang="zh-CN" altLang="en-US"/>
          </a:p>
          <a:p>
            <a:pPr lvl="1"/>
            <a:r>
              <a:rPr lang="en-US" altLang="zh-CN"/>
              <a:t>appid</a:t>
            </a:r>
            <a:r>
              <a:rPr lang="zh-CN" altLang="en-US"/>
              <a:t>，</a:t>
            </a:r>
            <a:r>
              <a:rPr lang="en-US" altLang="zh-CN"/>
              <a:t>appsecret</a:t>
            </a:r>
            <a:endParaRPr lang="en-US" altLang="zh-CN"/>
          </a:p>
          <a:p>
            <a:pPr lvl="1"/>
            <a:r>
              <a:rPr lang="en-US" altLang="zh-CN"/>
              <a:t>IP</a:t>
            </a:r>
            <a:r>
              <a:rPr lang="zh-CN" altLang="en-US"/>
              <a:t>白名单</a:t>
            </a:r>
            <a:endParaRPr lang="zh-CN" altLang="en-US"/>
          </a:p>
          <a:p>
            <a:pPr lvl="1"/>
            <a:r>
              <a:rPr lang="zh-CN" altLang="en-US"/>
              <a:t>网页授权</a:t>
            </a:r>
            <a:endParaRPr lang="zh-CN" altLang="en-US"/>
          </a:p>
          <a:p>
            <a:pPr lvl="2"/>
            <a:r>
              <a:rPr lang="zh-CN" altLang="en-US"/>
              <a:t>https://developers.weixin.qq.com/doc/offiaccount/OA_Web_Apps/Wechat_webpage_authorization.html</a:t>
            </a:r>
            <a:endParaRPr lang="zh-CN" altLang="en-US"/>
          </a:p>
          <a:p>
            <a:pPr lvl="2"/>
            <a:r>
              <a:rPr lang="zh-CN" altLang="en-US"/>
              <a:t>开发 - 接口权限 - 网页服务 - 网页帐号 - 网页授权获取用户基本信息，修改回调</a:t>
            </a:r>
            <a:r>
              <a:rPr lang="zh-CN" altLang="en-US"/>
              <a:t>域名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4405" y="1158875"/>
            <a:ext cx="4674235" cy="23348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获取</a:t>
            </a:r>
            <a:r>
              <a:rPr lang="en-US" altLang="zh-CN"/>
              <a:t>OpenId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575935" cy="4843780"/>
          </a:xfrm>
        </p:spPr>
        <p:txBody>
          <a:bodyPr>
            <a:normAutofit fontScale="60000"/>
          </a:bodyPr>
          <a:p>
            <a:r>
              <a:rPr lang="zh-CN" altLang="en-US"/>
              <a:t>参考</a:t>
            </a:r>
            <a:endParaRPr lang="zh-CN" altLang="en-US"/>
          </a:p>
          <a:p>
            <a:pPr lvl="1"/>
            <a:r>
              <a:rPr lang="zh-CN" altLang="en-US"/>
              <a:t>https://www.jianshu.com/p/b7e2100b56e4</a:t>
            </a:r>
            <a:endParaRPr lang="zh-CN" altLang="en-US"/>
          </a:p>
          <a:p>
            <a:pPr lvl="0"/>
            <a:r>
              <a:rPr lang="zh-CN" altLang="en-US"/>
              <a:t>概念</a:t>
            </a:r>
            <a:endParaRPr lang="zh-CN" altLang="en-US"/>
          </a:p>
          <a:p>
            <a:pPr lvl="1"/>
            <a:r>
              <a:rPr lang="zh-CN" altLang="en-US"/>
              <a:t>openId：用户在当前公众号下的唯一标识</a:t>
            </a:r>
            <a:endParaRPr lang="zh-CN" altLang="en-US"/>
          </a:p>
          <a:p>
            <a:pPr lvl="1"/>
            <a:r>
              <a:rPr lang="en-US" altLang="zh-CN"/>
              <a:t>unionId</a:t>
            </a:r>
            <a:r>
              <a:rPr lang="zh-CN" altLang="en-US"/>
              <a:t>：同一用户，对同一微信开放平台下的不同应用（移动应用、网站应用和公众帐号），unionid是相同的</a:t>
            </a:r>
            <a:endParaRPr lang="zh-CN" altLang="en-US"/>
          </a:p>
          <a:p>
            <a:pPr lvl="0"/>
            <a:r>
              <a:rPr lang="zh-CN" altLang="en-US"/>
              <a:t>获取步骤</a:t>
            </a:r>
            <a:endParaRPr lang="zh-CN" altLang="en-US"/>
          </a:p>
          <a:p>
            <a:pPr lvl="1"/>
            <a:r>
              <a:rPr lang="zh-CN" altLang="en-US"/>
              <a:t>前端调用微信</a:t>
            </a:r>
            <a:r>
              <a:rPr lang="en-US" altLang="zh-CN"/>
              <a:t>authorize</a:t>
            </a:r>
            <a:r>
              <a:rPr lang="zh-CN" altLang="en-US"/>
              <a:t>接口获取</a:t>
            </a:r>
            <a:r>
              <a:rPr lang="en-US" altLang="zh-CN"/>
              <a:t>code</a:t>
            </a:r>
            <a:endParaRPr lang="en-US" altLang="zh-CN"/>
          </a:p>
          <a:p>
            <a:pPr lvl="2"/>
            <a:r>
              <a:rPr lang="zh-CN" altLang="en-US"/>
              <a:t>https://open.weixin.qq.com/connect/oauth2/authorize?appid=' + window.APPID + '&amp;redirect_uri=' + encodeURIComponent(local) + '&amp;response_type=code&amp;scope=snsapi_</a:t>
            </a:r>
            <a:r>
              <a:rPr lang="en-US" altLang="zh-CN"/>
              <a:t>base</a:t>
            </a:r>
            <a:r>
              <a:rPr lang="zh-CN" altLang="en-US"/>
              <a:t>&amp;state=1#wechat_redirect'</a:t>
            </a:r>
            <a:endParaRPr lang="zh-CN" altLang="en-US"/>
          </a:p>
          <a:p>
            <a:pPr lvl="1"/>
            <a:r>
              <a:rPr lang="zh-CN" altLang="en-US"/>
              <a:t>前端将</a:t>
            </a:r>
            <a:r>
              <a:rPr lang="en-US" altLang="zh-CN"/>
              <a:t>code</a:t>
            </a:r>
            <a:r>
              <a:rPr lang="zh-CN" altLang="en-US"/>
              <a:t>发送给</a:t>
            </a:r>
            <a:r>
              <a:rPr lang="zh-CN" altLang="en-US"/>
              <a:t>后端</a:t>
            </a:r>
            <a:endParaRPr lang="zh-CN" altLang="en-US"/>
          </a:p>
          <a:p>
            <a:pPr lvl="1"/>
            <a:r>
              <a:rPr lang="zh-CN" altLang="en-US"/>
              <a:t>后端调用微信</a:t>
            </a:r>
            <a:r>
              <a:rPr lang="en-US" altLang="zh-CN"/>
              <a:t>access_token</a:t>
            </a:r>
            <a:r>
              <a:rPr lang="zh-CN" altLang="en-US"/>
              <a:t>接口获取</a:t>
            </a:r>
            <a:r>
              <a:rPr lang="en-US" altLang="zh-CN"/>
              <a:t>openid</a:t>
            </a:r>
            <a:endParaRPr lang="zh-CN" altLang="en-US"/>
          </a:p>
          <a:p>
            <a:pPr lvl="2"/>
            <a:r>
              <a:rPr lang="zh-CN" altLang="en-US"/>
              <a:t>https://api.weixin.qq.com/sns/oauth2/access_token?appid=APPID&amp;secret=SECRET&amp;code=CODE&amp;grant_type=authorization_code</a:t>
            </a:r>
            <a:endParaRPr lang="zh-CN" altLang="en-US"/>
          </a:p>
          <a:p>
            <a:pPr lvl="0"/>
            <a:r>
              <a:rPr lang="zh-CN" altLang="en-US"/>
              <a:t>常见</a:t>
            </a:r>
            <a:r>
              <a:rPr lang="zh-CN" altLang="en-US"/>
              <a:t>问题</a:t>
            </a:r>
            <a:endParaRPr lang="zh-CN" altLang="en-US"/>
          </a:p>
          <a:p>
            <a:pPr lvl="1"/>
            <a:r>
              <a:rPr lang="zh-CN" altLang="en-US"/>
              <a:t>同一微信号每次获取的</a:t>
            </a:r>
            <a:r>
              <a:rPr lang="en-US" altLang="zh-CN"/>
              <a:t>code</a:t>
            </a:r>
            <a:r>
              <a:rPr lang="zh-CN" altLang="en-US"/>
              <a:t>不同</a:t>
            </a:r>
            <a:endParaRPr lang="zh-CN" altLang="en-US"/>
          </a:p>
          <a:p>
            <a:pPr lvl="1"/>
            <a:r>
              <a:rPr lang="zh-CN" altLang="en-US"/>
              <a:t>同一</a:t>
            </a:r>
            <a:r>
              <a:rPr lang="en-US" altLang="zh-CN"/>
              <a:t>code</a:t>
            </a:r>
            <a:r>
              <a:rPr lang="zh-CN" altLang="en-US"/>
              <a:t>只能获取一次</a:t>
            </a:r>
            <a:r>
              <a:rPr lang="en-US" altLang="zh-CN"/>
              <a:t>openid</a:t>
            </a:r>
            <a:r>
              <a:rPr lang="zh-CN" altLang="en-US"/>
              <a:t>，第二次获取会返回</a:t>
            </a:r>
            <a:r>
              <a:rPr lang="zh-CN" altLang="en-US"/>
              <a:t>错误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8110" y="914400"/>
            <a:ext cx="5723890" cy="48983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第三方平台</a:t>
            </a:r>
            <a:r>
              <a:rPr lang="zh-CN" altLang="en-US"/>
              <a:t>接入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注册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注册第三方</a:t>
            </a:r>
            <a:r>
              <a:rPr lang="zh-CN" altLang="en-US"/>
              <a:t>平台</a:t>
            </a:r>
            <a:endParaRPr lang="zh-CN" altLang="en-US"/>
          </a:p>
          <a:p>
            <a:pPr lvl="1"/>
            <a:r>
              <a:rPr lang="zh-CN" altLang="en-US"/>
              <a:t>https://open.weixin.qq.com/</a:t>
            </a:r>
            <a:endParaRPr lang="zh-CN" altLang="en-US"/>
          </a:p>
          <a:p>
            <a:pPr lvl="1"/>
            <a:r>
              <a:rPr lang="zh-CN" altLang="en-US"/>
              <a:t>管理中心</a:t>
            </a:r>
            <a:r>
              <a:rPr lang="en-US" altLang="zh-CN"/>
              <a:t>-</a:t>
            </a:r>
            <a:r>
              <a:rPr lang="zh-CN" altLang="en-US"/>
              <a:t>》第三方平台</a:t>
            </a:r>
            <a:r>
              <a:rPr lang="en-US" altLang="zh-CN"/>
              <a:t>-</a:t>
            </a:r>
            <a:r>
              <a:rPr lang="zh-CN" altLang="en-US"/>
              <a:t>》创建第三方</a:t>
            </a:r>
            <a:r>
              <a:rPr lang="zh-CN" altLang="en-US"/>
              <a:t>平台</a:t>
            </a:r>
            <a:endParaRPr lang="zh-CN" altLang="en-US"/>
          </a:p>
          <a:p>
            <a:pPr lvl="1"/>
            <a:r>
              <a:rPr lang="zh-CN" altLang="en-US"/>
              <a:t>审核需</a:t>
            </a:r>
            <a:r>
              <a:rPr lang="en-US" altLang="zh-CN"/>
              <a:t>7</a:t>
            </a:r>
            <a:r>
              <a:rPr lang="zh-CN" altLang="en-US"/>
              <a:t>个工作</a:t>
            </a:r>
            <a:r>
              <a:rPr lang="zh-CN" altLang="en-US"/>
              <a:t>日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局域网通信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Intro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https://developers.weixin.qq.com/miniprogram/dev/framework/ability/mDNS.html</a:t>
            </a:r>
            <a:endParaRPr lang="en-US" altLang="zh-CN"/>
          </a:p>
          <a:p>
            <a:pPr lvl="1"/>
            <a:r>
              <a:rPr lang="en-US" altLang="zh-CN"/>
              <a:t>https://developers.weixin.qq.com/community/develop/article/doc/0000e8508ac910fe990121f836d013</a:t>
            </a:r>
            <a:endParaRPr lang="en-US" altLang="zh-CN"/>
          </a:p>
          <a:p>
            <a:pPr lvl="0"/>
            <a:r>
              <a:rPr lang="en-US" altLang="zh-CN"/>
              <a:t>Intro</a:t>
            </a:r>
            <a:endParaRPr lang="en-US" altLang="zh-CN"/>
          </a:p>
          <a:p>
            <a:pPr lvl="1"/>
            <a:r>
              <a:rPr lang="en-US" altLang="zh-CN"/>
              <a:t>基础库 2.4.0 提供了 wx.startLocalServiceDiscovery 等一系列 mDNS API，可以用来获取局域网内提供 mDNS 服务的设备的 IP</a:t>
            </a:r>
            <a:endParaRPr lang="en-US" altLang="zh-CN"/>
          </a:p>
          <a:p>
            <a:pPr lvl="1"/>
            <a:r>
              <a:rPr lang="en-US" altLang="zh-CN"/>
              <a:t>基础库 2.7.0 开始，提供了 wx.createUDPSocket 接口用于进行 UDP 通信。通信规则同上，仅允许同一局域网下的非本机 IP。</a:t>
            </a:r>
            <a:endParaRPr lang="en-US" altLang="zh-CN"/>
          </a:p>
          <a:p>
            <a:pPr lvl="0"/>
            <a:r>
              <a:rPr lang="en-US" altLang="zh-CN"/>
              <a:t>Interface</a:t>
            </a:r>
            <a:endParaRPr lang="en-US" altLang="zh-CN"/>
          </a:p>
          <a:p>
            <a:pPr lvl="1"/>
            <a:r>
              <a:rPr lang="en-US" altLang="zh-CN"/>
              <a:t>wx.startLocalServiceDiscovery</a:t>
            </a:r>
            <a:endParaRPr lang="en-US" altLang="zh-CN"/>
          </a:p>
          <a:p>
            <a:pPr lvl="1"/>
            <a:r>
              <a:rPr lang="en-US" altLang="zh-CN"/>
              <a:t>wx.request/wx.connectSocket/wx.uploadFile/wx.downloadFile 的 url 参数允许为 ${IP}:${PORT}/${PATH} 的格式，当且仅当 IP 与手机 IP 处在同一网段且不与本机 IP 相同（一般来说，就是同一局域网，如连接在同一个 wifi 下）时，请求/连接才会成功。</a:t>
            </a:r>
            <a:endParaRPr lang="en-US" altLang="zh-CN"/>
          </a:p>
          <a:p>
            <a:pPr lvl="1"/>
            <a:r>
              <a:rPr lang="en-US" altLang="zh-CN"/>
              <a:t>在这种情况下，不会进行安全域的校验，不要求必须使用 https/wss，也可以使用 http/ws。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XR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Intro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918200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https://developers.weixin.qq.com/miniprogram/dev/component/xr-frame/overview/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XR Frame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358890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https://developers.weixin.qq.com/miniprogram/dev/component/xr-frame/overview/</a:t>
            </a:r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8480425" y="835660"/>
            <a:ext cx="3013710" cy="30137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a"/>
  <p:tag name="KSO_WM_UNIT_INDEX" val="1"/>
  <p:tag name="KSO_WM_UNIT_ID" val="custom160402_1*a*1"/>
  <p:tag name="KSO_WM_UNIT_CLEAR" val="1"/>
  <p:tag name="KSO_WM_UNIT_LAYERLEVEL" val="1"/>
  <p:tag name="KSO_WM_UNIT_VALUE" val="19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b"/>
  <p:tag name="KSO_WM_UNIT_INDEX" val="1"/>
  <p:tag name="KSO_WM_UNIT_ID" val="custom160402_1*b*1"/>
  <p:tag name="KSO_WM_UNIT_CLEAR" val="1"/>
  <p:tag name="KSO_WM_UNIT_LAYERLEVEL" val="1"/>
  <p:tag name="KSO_WM_UNIT_VALUE" val="35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SLIDE_ID" val="custom160402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  <p:tag name="KSO_WM_SPECIAL_SOURCE" val="bdnull"/>
</p:tagLst>
</file>

<file path=ppt/tags/tag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4.xml><?xml version="1.0" encoding="utf-8"?>
<p:tagLst xmlns:p="http://schemas.openxmlformats.org/presentationml/2006/main">
  <p:tag name="KSO_WM_UNIT_PLACING_PICTURE_USER_VIEWPORT" val="{&quot;height&quot;:12420,&quot;width&quot;:18045}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7.xml><?xml version="1.0" encoding="utf-8"?>
<p:tagLst xmlns:p="http://schemas.openxmlformats.org/presentationml/2006/main">
  <p:tag name="KSO_WM_TEMPLATE_CATEGORY" val="custom"/>
  <p:tag name="KSO_WM_TEMPLATE_INDEX" val="160402"/>
  <p:tag name="KSO_WM_SPECIAL_SOURCE" val="bdnull"/>
</p:tagLst>
</file>

<file path=ppt/tags/tag28.xml><?xml version="1.0" encoding="utf-8"?>
<p:tagLst xmlns:p="http://schemas.openxmlformats.org/presentationml/2006/main">
  <p:tag name="KSO_WM_TEMPLATE_CATEGORY" val="custom"/>
  <p:tag name="KSO_WM_TEMPLATE_INDEX" val="160402"/>
  <p:tag name="KSO_WM_SPECIAL_SOURCE" val="bdnull"/>
</p:tagLst>
</file>

<file path=ppt/tags/tag29.xml><?xml version="1.0" encoding="utf-8"?>
<p:tagLst xmlns:p="http://schemas.openxmlformats.org/presentationml/2006/main">
  <p:tag name="KSO_WM_TEMPLATE_CATEGORY" val="custom"/>
  <p:tag name="KSO_WM_TEMPLATE_INDEX" val="160402"/>
  <p:tag name="KSO_WM_SPECIAL_SOURCE" val="bdnull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3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3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4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4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4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4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4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5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5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54.xml><?xml version="1.0" encoding="utf-8"?>
<p:tagLst xmlns:p="http://schemas.openxmlformats.org/presentationml/2006/main">
  <p:tag name="KSO_WM_UNIT_PLACING_PICTURE_USER_VIEWPORT" val="{&quot;height&quot;:3984,&quot;width&quot;:7719}"/>
</p:tagLst>
</file>

<file path=ppt/tags/tag55.xml><?xml version="1.0" encoding="utf-8"?>
<p:tagLst xmlns:p="http://schemas.openxmlformats.org/presentationml/2006/main">
  <p:tag name="KSO_WM_UNIT_PLACING_PICTURE_USER_VIEWPORT" val="{&quot;height&quot;:4774,&quot;width&quot;:9249}"/>
</p:tagLst>
</file>

<file path=ppt/tags/tag5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5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5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5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6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6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6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73.xml><?xml version="1.0" encoding="utf-8"?>
<p:tagLst xmlns:p="http://schemas.openxmlformats.org/presentationml/2006/main">
  <p:tag name="KSO_DOCER_TEMPLATE_OPEN_ONCE_MARK" val="1"/>
  <p:tag name="COMMONDATA" val="eyJoZGlkIjoiYjRhZjQ5NWVmZmQxNmM3NmNkNDYxNWRmNzNmMjA1ZDAifQ=="/>
  <p:tag name="KSO_WPP_MARK_KEY" val="be57f297-0f49-4a75-9a60-63649678f2ee"/>
</p:tagLst>
</file>

<file path=ppt/theme/theme1.xml><?xml version="1.0" encoding="utf-8"?>
<a:theme xmlns:a="http://schemas.openxmlformats.org/drawingml/2006/main" name="1_A000120140530A02PPBG">
  <a:themeElements>
    <a:clrScheme name="160114.114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358CC1"/>
      </a:accent1>
      <a:accent2>
        <a:srgbClr val="2D9C9F"/>
      </a:accent2>
      <a:accent3>
        <a:srgbClr val="A4C37B"/>
      </a:accent3>
      <a:accent4>
        <a:srgbClr val="9D9394"/>
      </a:accent4>
      <a:accent5>
        <a:srgbClr val="84ADE4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12680</Words>
  <Application>WPS 演示</Application>
  <PresentationFormat>宽屏</PresentationFormat>
  <Paragraphs>749</Paragraphs>
  <Slides>57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65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1_A000120140530A02PPBG</vt:lpstr>
      <vt:lpstr>WeChat Notes</vt:lpstr>
      <vt:lpstr>PowerPoint 演示文稿</vt:lpstr>
      <vt:lpstr>Overview</vt:lpstr>
      <vt:lpstr>Overview</vt:lpstr>
      <vt:lpstr>Login by Scan QR Code</vt:lpstr>
      <vt:lpstr>References</vt:lpstr>
      <vt:lpstr>Prepare</vt:lpstr>
      <vt:lpstr>Process</vt:lpstr>
      <vt:lpstr>Step 1: Get Code Method 1</vt:lpstr>
      <vt:lpstr>Step 1: Get Code Method 2</vt:lpstr>
      <vt:lpstr>扫码关注并登陆</vt:lpstr>
      <vt:lpstr>Wechat Pay</vt:lpstr>
      <vt:lpstr>Overview</vt:lpstr>
      <vt:lpstr>扫码支付</vt:lpstr>
      <vt:lpstr>Step1：统一下单</vt:lpstr>
      <vt:lpstr>Step 2：接收支付结果通知</vt:lpstr>
      <vt:lpstr>转账</vt:lpstr>
      <vt:lpstr>WeChat MiniProgram</vt:lpstr>
      <vt:lpstr>Frameworks</vt:lpstr>
      <vt:lpstr>Configuration</vt:lpstr>
      <vt:lpstr>Lifecycle</vt:lpstr>
      <vt:lpstr>Framework 1/3</vt:lpstr>
      <vt:lpstr>Framework 2/3</vt:lpstr>
      <vt:lpstr>Framework 3/3</vt:lpstr>
      <vt:lpstr>Components</vt:lpstr>
      <vt:lpstr>API</vt:lpstr>
      <vt:lpstr>Wechat Login</vt:lpstr>
      <vt:lpstr>Wechat Pay</vt:lpstr>
      <vt:lpstr>获取手机号</vt:lpstr>
      <vt:lpstr>PowerPoint 演示文稿</vt:lpstr>
      <vt:lpstr>Bluetooth</vt:lpstr>
      <vt:lpstr>Bluetooth</vt:lpstr>
      <vt:lpstr>推送消息</vt:lpstr>
      <vt:lpstr>客服</vt:lpstr>
      <vt:lpstr>分包</vt:lpstr>
      <vt:lpstr>Three.js</vt:lpstr>
      <vt:lpstr>AR</vt:lpstr>
      <vt:lpstr>JSSDK</vt:lpstr>
      <vt:lpstr>Reference</vt:lpstr>
      <vt:lpstr>Concept</vt:lpstr>
      <vt:lpstr>公众号准备</vt:lpstr>
      <vt:lpstr>Prepare</vt:lpstr>
      <vt:lpstr>Share</vt:lpstr>
      <vt:lpstr>Pay</vt:lpstr>
      <vt:lpstr>JSSDK</vt:lpstr>
      <vt:lpstr>公众号获取openid</vt:lpstr>
      <vt:lpstr>发送模板消息</vt:lpstr>
      <vt:lpstr>公众号开发</vt:lpstr>
      <vt:lpstr>基本信息</vt:lpstr>
      <vt:lpstr>获取OpenId</vt:lpstr>
      <vt:lpstr>第三方平台接入</vt:lpstr>
      <vt:lpstr>注册</vt:lpstr>
      <vt:lpstr>局域网通信</vt:lpstr>
      <vt:lpstr>Intro</vt:lpstr>
      <vt:lpstr>XR</vt:lpstr>
      <vt:lpstr>Intro</vt:lpstr>
      <vt:lpstr>XR Frame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VhuanTech</cp:lastModifiedBy>
  <cp:revision>383</cp:revision>
  <dcterms:created xsi:type="dcterms:W3CDTF">2015-05-05T08:02:00Z</dcterms:created>
  <dcterms:modified xsi:type="dcterms:W3CDTF">2026-05-12T06:39:46Z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0F19988E3187420998D7996300C52B3C</vt:lpwstr>
  </property>
</Properties>
</file>