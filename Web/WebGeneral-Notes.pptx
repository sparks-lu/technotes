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256" r:id="rId3"/>
    <p:sldId id="269" r:id="rId5"/>
    <p:sldId id="281" r:id="rId6"/>
    <p:sldId id="264" r:id="rId7"/>
    <p:sldId id="275" r:id="rId8"/>
    <p:sldId id="276" r:id="rId9"/>
    <p:sldId id="261" r:id="rId10"/>
    <p:sldId id="290" r:id="rId11"/>
    <p:sldId id="259" r:id="rId12"/>
    <p:sldId id="260" r:id="rId13"/>
    <p:sldId id="280" r:id="rId14"/>
    <p:sldId id="289" r:id="rId15"/>
    <p:sldId id="295" r:id="rId16"/>
    <p:sldId id="298" r:id="rId17"/>
    <p:sldId id="297" r:id="rId18"/>
    <p:sldId id="296" r:id="rId19"/>
    <p:sldId id="317" r:id="rId20"/>
    <p:sldId id="318" r:id="rId21"/>
    <p:sldId id="319" r:id="rId22"/>
    <p:sldId id="308" r:id="rId23"/>
    <p:sldId id="309" r:id="rId24"/>
    <p:sldId id="301" r:id="rId25"/>
    <p:sldId id="302" r:id="rId26"/>
    <p:sldId id="303" r:id="rId27"/>
    <p:sldId id="304" r:id="rId28"/>
    <p:sldId id="305" r:id="rId29"/>
    <p:sldId id="306" r:id="rId30"/>
    <p:sldId id="307" r:id="rId31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35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Relationship Id="rId3" Type="http://schemas.openxmlformats.org/officeDocument/2006/relationships/image" Target="file:///C:\Users\losti\AppData\Local\Temp\wps\INetCache\de1ab5cba57dd030b243b9b32177ea17" TargetMode="Externa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Relationship Id="rId3" Type="http://schemas.openxmlformats.org/officeDocument/2006/relationships/image" Target="../media/image7.png"/><Relationship Id="rId2" Type="http://schemas.openxmlformats.org/officeDocument/2006/relationships/image" Target="../media/image6.webp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zh-CN" smtClean="0"/>
              <a:t>Web Geneal Notes</a:t>
            </a:r>
            <a:endParaRPr lang="en-US" altLang="zh-CN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390775"/>
            <a:ext cx="9144000" cy="376237"/>
          </a:xfrm>
        </p:spPr>
        <p:txBody>
          <a:bodyPr>
            <a:noAutofit/>
          </a:bodyPr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zh-CN" sz="1600" smtClean="0"/>
              <a:t>Sparks Lu</a:t>
            </a:r>
            <a:endParaRPr lang="en-US" altLang="zh-CN" sz="1600" smtClean="0"/>
          </a:p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zh-CN" sz="1600" smtClean="0"/>
              <a:t>Last updated: 10/16/2019</a:t>
            </a:r>
            <a:endParaRPr lang="en-US" altLang="zh-CN" sz="1600" smtClean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HTTP Status Code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23900" y="1078230"/>
            <a:ext cx="3288665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    1×× Informational</a:t>
            </a:r>
            <a:endParaRPr lang="zh-CN" altLang="en-US" sz="1400"/>
          </a:p>
          <a:p>
            <a:r>
              <a:rPr lang="zh-CN" altLang="en-US" sz="1400"/>
              <a:t>    100 Continue</a:t>
            </a:r>
            <a:endParaRPr lang="zh-CN" altLang="en-US" sz="1400"/>
          </a:p>
          <a:p>
            <a:r>
              <a:rPr lang="zh-CN" altLang="en-US" sz="1400"/>
              <a:t>    101 Switching Protocols</a:t>
            </a:r>
            <a:endParaRPr lang="zh-CN" altLang="en-US" sz="1400"/>
          </a:p>
          <a:p>
            <a:r>
              <a:rPr lang="zh-CN" altLang="en-US" sz="1400"/>
              <a:t>    102 Processing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    2×× Success</a:t>
            </a:r>
            <a:endParaRPr lang="zh-CN" altLang="en-US" sz="1400"/>
          </a:p>
          <a:p>
            <a:r>
              <a:rPr lang="zh-CN" altLang="en-US" sz="1400"/>
              <a:t>    200 OK</a:t>
            </a:r>
            <a:endParaRPr lang="zh-CN" altLang="en-US" sz="1400"/>
          </a:p>
          <a:p>
            <a:r>
              <a:rPr lang="zh-CN" altLang="en-US" sz="1400"/>
              <a:t>    201 Created</a:t>
            </a:r>
            <a:endParaRPr lang="zh-CN" altLang="en-US" sz="1400"/>
          </a:p>
          <a:p>
            <a:r>
              <a:rPr lang="zh-CN" altLang="en-US" sz="1400"/>
              <a:t>    202 Accepted</a:t>
            </a:r>
            <a:endParaRPr lang="zh-CN" altLang="en-US" sz="1400"/>
          </a:p>
          <a:p>
            <a:r>
              <a:rPr lang="zh-CN" altLang="en-US" sz="1400"/>
              <a:t>    203 Non-authoritative Information</a:t>
            </a:r>
            <a:endParaRPr lang="zh-CN" altLang="en-US" sz="1400"/>
          </a:p>
          <a:p>
            <a:r>
              <a:rPr lang="zh-CN" altLang="en-US" sz="1400"/>
              <a:t>    204 No Content</a:t>
            </a:r>
            <a:endParaRPr lang="zh-CN" altLang="en-US" sz="1400"/>
          </a:p>
          <a:p>
            <a:r>
              <a:rPr lang="zh-CN" altLang="en-US" sz="1400"/>
              <a:t>    205 Reset Content</a:t>
            </a:r>
            <a:endParaRPr lang="zh-CN" altLang="en-US" sz="1400"/>
          </a:p>
          <a:p>
            <a:r>
              <a:rPr lang="zh-CN" altLang="en-US" sz="1400"/>
              <a:t>    206 Partial Content</a:t>
            </a:r>
            <a:endParaRPr lang="zh-CN" altLang="en-US" sz="1400"/>
          </a:p>
          <a:p>
            <a:r>
              <a:rPr lang="zh-CN" altLang="en-US" sz="1400"/>
              <a:t>    207 Multi-Status</a:t>
            </a:r>
            <a:endParaRPr lang="zh-CN" altLang="en-US" sz="1400"/>
          </a:p>
          <a:p>
            <a:r>
              <a:rPr lang="zh-CN" altLang="en-US" sz="1400"/>
              <a:t>    208 Already Reported</a:t>
            </a:r>
            <a:endParaRPr lang="zh-CN" altLang="en-US" sz="1400"/>
          </a:p>
          <a:p>
            <a:r>
              <a:rPr lang="zh-CN" altLang="en-US" sz="1400"/>
              <a:t>    226 IM Used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    3×× Redirection</a:t>
            </a:r>
            <a:endParaRPr lang="zh-CN" altLang="en-US" sz="1400"/>
          </a:p>
          <a:p>
            <a:r>
              <a:rPr lang="zh-CN" altLang="en-US" sz="1400"/>
              <a:t>    300 Multiple Choices</a:t>
            </a:r>
            <a:endParaRPr lang="zh-CN" altLang="en-US" sz="1400"/>
          </a:p>
          <a:p>
            <a:r>
              <a:rPr lang="zh-CN" altLang="en-US" sz="1400"/>
              <a:t>    301 Moved Permanently</a:t>
            </a:r>
            <a:endParaRPr lang="zh-CN" altLang="en-US" sz="1400"/>
          </a:p>
          <a:p>
            <a:r>
              <a:rPr lang="zh-CN" altLang="en-US" sz="1400"/>
              <a:t>    302 Found</a:t>
            </a:r>
            <a:endParaRPr lang="zh-CN" altLang="en-US" sz="1400"/>
          </a:p>
          <a:p>
            <a:r>
              <a:rPr lang="zh-CN" altLang="en-US" sz="1400"/>
              <a:t>    303 See Other</a:t>
            </a:r>
            <a:endParaRPr lang="zh-CN" altLang="en-US" sz="1400"/>
          </a:p>
          <a:p>
            <a:r>
              <a:rPr lang="zh-CN" altLang="en-US" sz="1400"/>
              <a:t>    304 Not Modified</a:t>
            </a:r>
            <a:endParaRPr lang="zh-CN" altLang="en-US" sz="1400"/>
          </a:p>
          <a:p>
            <a:r>
              <a:rPr lang="zh-CN" altLang="en-US" sz="1400"/>
              <a:t>    305 Use Proxy</a:t>
            </a:r>
            <a:endParaRPr lang="zh-CN" altLang="en-US" sz="1400"/>
          </a:p>
          <a:p>
            <a:r>
              <a:rPr lang="zh-CN" altLang="en-US" sz="1400"/>
              <a:t>    307 Temporary Redirect</a:t>
            </a:r>
            <a:endParaRPr lang="zh-CN" altLang="en-US" sz="1400"/>
          </a:p>
          <a:p>
            <a:r>
              <a:rPr lang="zh-CN" altLang="en-US" sz="1400"/>
              <a:t>    308 Permanent Redirect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4012565" y="1078230"/>
            <a:ext cx="3818890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ym typeface="+mn-ea"/>
              </a:rPr>
              <a:t>    4×× Client Error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400 Bad Request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401 Unauthorized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402 Payment Required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403 Forbidden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404 Not Found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405 Method Not Allowed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406 Not Acceptable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407 Proxy Authentication Required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408 Request Timeout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409 Conflict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410 Gone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411 Length Required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412 Precondition Failed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413 Payload Too Large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414 Request-URI Too Long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415 Unsupported Media Type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416 Requested Range Not Satisfiable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417 Expectation Failed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418 I'm a teapot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421 Misdirected Request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422 Unprocessable Entity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423 Locked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424 Failed Dependency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426 Upgrade Required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428 Precondition Required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429 Too Many Requests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431 Request Header Fields Too Large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444 Connection Closed Without Response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451 Unavailable For Legal Reasons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499 Client Closed Request</a:t>
            </a:r>
            <a:endParaRPr lang="zh-CN" altLang="en-US" sz="12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95920" y="1042035"/>
            <a:ext cx="381889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200"/>
          </a:p>
          <a:p>
            <a:r>
              <a:rPr lang="zh-CN" altLang="en-US" sz="1200">
                <a:sym typeface="+mn-ea"/>
              </a:rPr>
              <a:t>    5×× Server Error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500 Internal Server Error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501 Not Implemented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502 Bad Gateway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503 Service Unavailable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504 Gateway Timeout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505 HTTP Version Not Supported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506 Variant Also Negotiates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507 Insufficient Storage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508 Loop Detected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510 Not Extended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511 Network Authentication Required</a:t>
            </a:r>
            <a:endParaRPr lang="zh-CN" altLang="en-US" sz="1200"/>
          </a:p>
          <a:p>
            <a:r>
              <a:rPr lang="zh-CN" altLang="en-US" sz="1200">
                <a:sym typeface="+mn-ea"/>
              </a:rPr>
              <a:t>    599 Network Connect Timeout Error</a:t>
            </a:r>
            <a:endParaRPr lang="zh-CN" altLang="en-US" sz="12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Common Errors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net::ERR_CONNECTION_RESET</a:t>
            </a:r>
            <a:endParaRPr lang="zh-CN" altLang="en-US"/>
          </a:p>
          <a:p>
            <a:pPr lvl="1"/>
            <a:r>
              <a:rPr lang="en-US" altLang="zh-CN"/>
              <a:t>Maybe setting of max upload file size</a:t>
            </a:r>
            <a:endParaRPr lang="en-US" altLang="zh-CN"/>
          </a:p>
          <a:p>
            <a:pPr lvl="2"/>
            <a:r>
              <a:rPr lang="en-US" altLang="zh-CN"/>
              <a:t>e.g. nginx/sites-enabled/flask-project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Website Check List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54015" cy="5269230"/>
          </a:xfrm>
        </p:spPr>
        <p:txBody>
          <a:bodyPr>
            <a:noAutofit/>
          </a:bodyPr>
          <a:p>
            <a:r>
              <a:rPr lang="en-US" altLang="zh-CN" sz="2000"/>
              <a:t>Ref</a:t>
            </a:r>
            <a:endParaRPr lang="en-US" altLang="zh-CN" sz="2000"/>
          </a:p>
          <a:p>
            <a:pPr lvl="1"/>
            <a:r>
              <a:rPr lang="en-US" altLang="zh-CN" sz="1800"/>
              <a:t>https://www.namecheap.com/resource-center/getting-started/website-check-up/</a:t>
            </a:r>
            <a:endParaRPr lang="en-US" altLang="zh-CN" sz="1800"/>
          </a:p>
          <a:p>
            <a:pPr lvl="0"/>
            <a:r>
              <a:rPr lang="en-US" altLang="zh-CN" sz="2000"/>
              <a:t>Check list</a:t>
            </a:r>
            <a:endParaRPr lang="en-US" altLang="zh-CN" sz="2000"/>
          </a:p>
          <a:p>
            <a:pPr lvl="1"/>
            <a:r>
              <a:rPr lang="en-US" altLang="zh-CN" sz="1800"/>
              <a:t>Response and load time</a:t>
            </a:r>
            <a:endParaRPr lang="en-US" altLang="zh-CN" sz="1800"/>
          </a:p>
          <a:p>
            <a:pPr lvl="2"/>
            <a:r>
              <a:rPr lang="en-US" altLang="zh-CN" sz="1600"/>
              <a:t>large image files, unclean codes, poor hosting</a:t>
            </a:r>
            <a:endParaRPr lang="en-US" altLang="zh-CN" sz="1600"/>
          </a:p>
          <a:p>
            <a:pPr lvl="2"/>
            <a:r>
              <a:rPr lang="en-US" altLang="zh-CN" sz="1600"/>
              <a:t>https://www.17ce.com/</a:t>
            </a:r>
            <a:endParaRPr lang="en-US" altLang="zh-CN" sz="1600"/>
          </a:p>
          <a:p>
            <a:pPr lvl="1"/>
            <a:r>
              <a:rPr lang="en-US" altLang="zh-CN" sz="1800"/>
              <a:t>Mobile friendly</a:t>
            </a:r>
            <a:endParaRPr lang="en-US" altLang="zh-CN" sz="1800"/>
          </a:p>
          <a:p>
            <a:pPr lvl="2"/>
            <a:r>
              <a:rPr lang="en-US" altLang="zh-CN" sz="1600"/>
              <a:t>mobiletest.me</a:t>
            </a:r>
            <a:endParaRPr lang="en-US" altLang="zh-CN" sz="1600"/>
          </a:p>
          <a:p>
            <a:pPr lvl="1"/>
            <a:r>
              <a:rPr lang="en-US" altLang="zh-CN" sz="1800"/>
              <a:t>Brand</a:t>
            </a:r>
            <a:endParaRPr lang="en-US" altLang="zh-CN" sz="1800"/>
          </a:p>
          <a:p>
            <a:pPr lvl="2"/>
            <a:r>
              <a:rPr lang="en-US" altLang="zh-CN" sz="1600"/>
              <a:t>Icongraphy, Colors, Logos, Font</a:t>
            </a:r>
            <a:endParaRPr lang="en-US" altLang="zh-CN" sz="16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498590" y="1211580"/>
            <a:ext cx="5454015" cy="52692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800"/>
              <a:t>Above the fold, below the fold</a:t>
            </a:r>
            <a:endParaRPr lang="en-US" altLang="zh-CN" sz="1800"/>
          </a:p>
          <a:p>
            <a:pPr lvl="1"/>
            <a:r>
              <a:rPr lang="en-US" altLang="zh-CN" sz="1800"/>
              <a:t>Compelling, readable content</a:t>
            </a:r>
            <a:endParaRPr lang="en-US" altLang="zh-CN" sz="1800"/>
          </a:p>
          <a:p>
            <a:pPr lvl="1"/>
            <a:r>
              <a:rPr lang="en-US" altLang="zh-CN" sz="1800"/>
              <a:t>Clear navigation</a:t>
            </a:r>
            <a:endParaRPr lang="en-US" altLang="zh-CN" sz="1800"/>
          </a:p>
          <a:p>
            <a:pPr lvl="1"/>
            <a:r>
              <a:rPr lang="en-US" altLang="zh-CN" sz="1800"/>
              <a:t>Search function</a:t>
            </a:r>
            <a:endParaRPr lang="en-US" altLang="zh-CN" sz="1800"/>
          </a:p>
          <a:p>
            <a:pPr lvl="1"/>
            <a:r>
              <a:rPr lang="en-US" altLang="zh-CN" sz="1800"/>
              <a:t>Analytics</a:t>
            </a:r>
            <a:endParaRPr lang="en-US" altLang="zh-CN" sz="1800"/>
          </a:p>
          <a:p>
            <a:pPr lvl="1"/>
            <a:r>
              <a:rPr lang="en-US" altLang="zh-CN" sz="1800"/>
              <a:t>Broken links</a:t>
            </a:r>
            <a:endParaRPr lang="en-US" altLang="zh-CN" sz="1800"/>
          </a:p>
          <a:p>
            <a:pPr lvl="2"/>
            <a:r>
              <a:rPr lang="en-US" altLang="zh-CN" sz="1600"/>
              <a:t>www.deadlinkchecker.com</a:t>
            </a:r>
            <a:endParaRPr lang="en-US" altLang="zh-CN" sz="1600"/>
          </a:p>
          <a:p>
            <a:pPr lvl="1"/>
            <a:r>
              <a:rPr lang="en-US" altLang="zh-CN" sz="1800"/>
              <a:t>Security</a:t>
            </a:r>
            <a:endParaRPr lang="en-US" altLang="zh-CN" sz="1800"/>
          </a:p>
          <a:p>
            <a:pPr lvl="2"/>
            <a:r>
              <a:rPr lang="en-US" altLang="zh-CN" sz="1600"/>
              <a:t>siteguarding</a:t>
            </a:r>
            <a:endParaRPr lang="en-US" altLang="zh-CN" sz="1600"/>
          </a:p>
          <a:p>
            <a:pPr lvl="2"/>
            <a:r>
              <a:rPr lang="en-US" altLang="zh-CN" sz="1600"/>
              <a:t>Acunetix</a:t>
            </a:r>
            <a:endParaRPr lang="en-US" altLang="zh-CN" sz="1600"/>
          </a:p>
          <a:p>
            <a:pPr lvl="1"/>
            <a:r>
              <a:rPr lang="en-US" altLang="zh-CN" sz="1600"/>
              <a:t>Contact info</a:t>
            </a:r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Backend API Testing Using Curl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47725" y="1468755"/>
          <a:ext cx="10777855" cy="4491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650"/>
                <a:gridCol w="4418330"/>
                <a:gridCol w="4206875"/>
              </a:tblGrid>
              <a:tr h="4584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Option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Meaning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Notes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4591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-v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verbose output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84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Output response headers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91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-I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Fetch the HTTP header only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84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-H '...'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GET with provided header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-H “Content-Type: application/json”</a:t>
                      </a:r>
                      <a:endParaRPr lang="en-US" altLang="zh-CN"/>
                    </a:p>
                  </a:txBody>
                  <a:tcPr/>
                </a:tc>
              </a:tr>
              <a:tr h="4591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-X POST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POST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584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-d '{'a': 'val', ...}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POST additional data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-F name=content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Post form data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content: @filename to post file content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-r (--range) {start}-{end}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Download byte range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--range 0-99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 Server for Development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http-server</a:t>
            </a:r>
            <a:endParaRPr lang="en-US" altLang="zh-CN"/>
          </a:p>
          <a:p>
            <a:pPr lvl="1"/>
            <a:r>
              <a:rPr lang="en-US" altLang="zh-CN"/>
              <a:t>npm install http-server -g</a:t>
            </a:r>
            <a:endParaRPr lang="en-US" altLang="zh-CN"/>
          </a:p>
          <a:p>
            <a:pPr lvl="1"/>
            <a:r>
              <a:rPr lang="en-US" altLang="zh-CN"/>
              <a:t>http-server {path} {options}</a:t>
            </a:r>
            <a:endParaRPr lang="en-US" altLang="zh-CN"/>
          </a:p>
          <a:p>
            <a:pPr lvl="2"/>
            <a:r>
              <a:rPr lang="en-US" altLang="zh-CN"/>
              <a:t>-p: port to use</a:t>
            </a:r>
            <a:endParaRPr lang="en-US" altLang="zh-CN"/>
          </a:p>
          <a:p>
            <a:pPr lvl="2"/>
            <a:r>
              <a:rPr lang="en-US" altLang="zh-CN"/>
              <a:t>-a: address to use</a:t>
            </a:r>
            <a:endParaRPr lang="en-US" altLang="zh-CN"/>
          </a:p>
          <a:p>
            <a:pPr lvl="2"/>
            <a:r>
              <a:rPr lang="en-US" altLang="zh-CN"/>
              <a:t>-d: show directory listings</a:t>
            </a:r>
            <a:endParaRPr lang="en-US" altLang="zh-CN"/>
          </a:p>
          <a:p>
            <a:pPr lvl="2"/>
            <a:r>
              <a:rPr lang="en-US" altLang="zh-CN"/>
              <a:t>-i: display autoIndex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CSS - 1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限制宽高且等比缩放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44855" y="3702685"/>
            <a:ext cx="2803525" cy="2138680"/>
          </a:xfrm>
          <a:prstGeom prst="rect">
            <a:avLst/>
          </a:prstGeom>
          <a:noFill/>
          <a:ln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</a:rPr>
              <a:t>img {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    max-width:64px;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    max-height:64px;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    width:auto;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    height:auto;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}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 r:link="rId3"/>
              </a:ext>
            </a:extLst>
          </a:blip>
          <a:stretch>
            <a:fillRect/>
          </a:stretch>
        </p:blipFill>
        <p:spPr>
          <a:xfrm>
            <a:off x="7160260" y="914400"/>
            <a:ext cx="4634230" cy="5502910"/>
          </a:xfrm>
          <a:prstGeom prst="rect">
            <a:avLst/>
          </a:prstGeom>
          <a:noFill/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CSS - 2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Units</a:t>
            </a:r>
            <a:endParaRPr lang="en-US" altLang="zh-CN"/>
          </a:p>
          <a:p>
            <a:pPr lvl="1"/>
            <a:r>
              <a:rPr lang="en-US" altLang="zh-CN"/>
              <a:t>rem	font size of root element (&lt;html&gt;)</a:t>
            </a:r>
            <a:endParaRPr lang="en-US" altLang="zh-CN"/>
          </a:p>
          <a:p>
            <a:pPr lvl="1"/>
            <a:r>
              <a:rPr lang="en-US" altLang="zh-CN"/>
              <a:t>vh	1/100 of the height of the viewport</a:t>
            </a:r>
            <a:endParaRPr lang="en-US" altLang="zh-CN"/>
          </a:p>
          <a:p>
            <a:pPr lvl="1"/>
            <a:r>
              <a:rPr lang="en-US" altLang="zh-CN"/>
              <a:t>vw	1/100 of the width of the viewport</a:t>
            </a:r>
            <a:endParaRPr lang="en-US" altLang="zh-CN"/>
          </a:p>
          <a:p>
            <a:pPr lvl="1"/>
            <a:r>
              <a:rPr lang="en-US" altLang="zh-CN"/>
              <a:t>vmin	min(vh, vw)</a:t>
            </a:r>
            <a:endParaRPr lang="en-US" altLang="zh-CN"/>
          </a:p>
          <a:p>
            <a:pPr lvl="1"/>
            <a:r>
              <a:rPr lang="en-US" altLang="zh-CN"/>
              <a:t>vmax	max(vh, vw)</a:t>
            </a:r>
            <a:endParaRPr lang="en-US" altLang="zh-CN"/>
          </a:p>
          <a:p>
            <a:pPr lvl="1"/>
            <a:r>
              <a:rPr lang="en-US" altLang="zh-CN"/>
              <a:t>em	width of ‘M’ of the font size of current element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Resolution Adaptation Test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Website</a:t>
            </a:r>
            <a:endParaRPr lang="en-US" altLang="zh-CN"/>
          </a:p>
          <a:p>
            <a:pPr lvl="1"/>
            <a:r>
              <a:rPr lang="en-US" altLang="zh-CN"/>
              <a:t>http://whatismyscreenresolution.net/</a:t>
            </a:r>
            <a:endParaRPr lang="en-US" altLang="zh-CN"/>
          </a:p>
          <a:p>
            <a:pPr lvl="1"/>
            <a:r>
              <a:rPr lang="en-US" altLang="zh-CN"/>
              <a:t>http://www.responsinator.com/</a:t>
            </a:r>
            <a:endParaRPr lang="en-US" altLang="zh-CN"/>
          </a:p>
          <a:p>
            <a:pPr lvl="1"/>
            <a:r>
              <a:rPr lang="en-US" altLang="zh-CN"/>
              <a:t>http://testsize.com/</a:t>
            </a:r>
            <a:endParaRPr lang="en-US" altLang="zh-CN"/>
          </a:p>
          <a:p>
            <a:pPr lvl="0"/>
            <a:r>
              <a:rPr lang="en-US" altLang="zh-CN"/>
              <a:t>Tools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Browser Compatibility Test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Website</a:t>
            </a:r>
            <a:endParaRPr lang="en-US" altLang="zh-CN"/>
          </a:p>
          <a:p>
            <a:pPr lvl="1"/>
            <a:r>
              <a:rPr lang="en-US" altLang="zh-CN"/>
              <a:t>http://browsershots.org/</a:t>
            </a:r>
            <a:endParaRPr lang="en-US" altLang="zh-CN"/>
          </a:p>
          <a:p>
            <a:pPr lvl="1"/>
            <a:r>
              <a:rPr lang="en-US" altLang="zh-CN"/>
              <a:t>https://www.browserstack.com/ (paid)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Favicon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Generation</a:t>
            </a:r>
            <a:endParaRPr lang="en-US" altLang="zh-CN"/>
          </a:p>
          <a:p>
            <a:pPr lvl="1"/>
            <a:r>
              <a:rPr lang="en-US" altLang="zh-CN"/>
              <a:t>https://favicon.io/</a:t>
            </a:r>
            <a:endParaRPr lang="en-US" altLang="zh-CN"/>
          </a:p>
          <a:p>
            <a:pPr lvl="0"/>
            <a:r>
              <a:rPr lang="en-US" altLang="zh-CN"/>
              <a:t>How to use</a:t>
            </a:r>
            <a:endParaRPr lang="en-US" altLang="zh-CN"/>
          </a:p>
          <a:p>
            <a:pPr lvl="1"/>
            <a:r>
              <a:rPr lang="en-US" altLang="zh-CN"/>
              <a:t>Add to html</a:t>
            </a:r>
            <a:endParaRPr lang="en-US" altLang="zh-CN"/>
          </a:p>
          <a:p>
            <a:pPr lvl="2"/>
            <a:r>
              <a:rPr lang="en-US" altLang="zh-CN"/>
              <a:t>&lt;link rel="apple-touch-icon" sizes="180x180" href="/apple-touch-icon.png"&gt;</a:t>
            </a:r>
            <a:endParaRPr lang="en-US" altLang="zh-CN"/>
          </a:p>
          <a:p>
            <a:pPr lvl="2"/>
            <a:r>
              <a:rPr lang="en-US" altLang="zh-CN"/>
              <a:t>&lt;link rel="icon" type="image/png" sizes="32x32" href="/favicon-32x32.png"&gt;</a:t>
            </a:r>
            <a:endParaRPr lang="en-US" altLang="zh-CN"/>
          </a:p>
          <a:p>
            <a:pPr lvl="2"/>
            <a:r>
              <a:rPr lang="en-US" altLang="zh-CN"/>
              <a:t>&lt;link rel="icon" type="image/png" sizes="16x16" href="/favicon-16x16.png"&gt;</a:t>
            </a:r>
            <a:endParaRPr lang="en-US" altLang="zh-CN"/>
          </a:p>
          <a:p>
            <a:pPr lvl="2"/>
            <a:r>
              <a:rPr lang="en-US" altLang="zh-CN"/>
              <a:t>&lt;link rel="manifest" href="/site.webmanifest"&gt;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SSH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Avoid freeze</a:t>
            </a:r>
            <a:endParaRPr lang="en-US" altLang="zh-CN"/>
          </a:p>
          <a:p>
            <a:pPr lvl="1"/>
            <a:r>
              <a:rPr lang="en-US" altLang="zh-CN"/>
              <a:t>Modify /etc/ssh/ssh_config on client</a:t>
            </a:r>
            <a:endParaRPr lang="en-US" altLang="zh-CN"/>
          </a:p>
          <a:p>
            <a:pPr lvl="2"/>
            <a:r>
              <a:rPr lang="en-US" altLang="zh-CN"/>
              <a:t>Host *</a:t>
            </a:r>
            <a:endParaRPr lang="en-US" altLang="zh-CN"/>
          </a:p>
          <a:p>
            <a:pPr lvl="2"/>
            <a:r>
              <a:rPr lang="en-US" altLang="zh-CN"/>
              <a:t>ServerAliveInterval 100</a:t>
            </a:r>
            <a:endParaRPr lang="en-US" altLang="zh-CN"/>
          </a:p>
          <a:p>
            <a:pPr lvl="1"/>
            <a:r>
              <a:rPr lang="en-US" altLang="zh-CN"/>
              <a:t>Modify /etc/ssh/sshd_config on server</a:t>
            </a:r>
            <a:endParaRPr lang="en-US" altLang="zh-CN"/>
          </a:p>
          <a:p>
            <a:pPr lvl="2"/>
            <a:r>
              <a:rPr lang="en-US" altLang="zh-CN"/>
              <a:t>ClientAliveInterval 60</a:t>
            </a:r>
            <a:endParaRPr lang="en-US" altLang="zh-CN"/>
          </a:p>
          <a:p>
            <a:pPr lvl="2"/>
            <a:r>
              <a:rPr lang="en-US" altLang="zh-CN"/>
              <a:t>TCPKeepAlive yes</a:t>
            </a:r>
            <a:endParaRPr lang="en-US" altLang="zh-CN"/>
          </a:p>
          <a:p>
            <a:pPr lvl="2"/>
            <a:r>
              <a:rPr lang="en-US" altLang="zh-CN"/>
              <a:t>ClientAliveCountMax 10000</a:t>
            </a:r>
            <a:endParaRPr lang="en-US" altLang="zh-CN"/>
          </a:p>
          <a:p>
            <a:pPr lvl="1"/>
            <a:r>
              <a:rPr lang="en-US" altLang="zh-CN"/>
              <a:t>Run 'service sshd restart' on server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SEO - General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https://zhuanlan.zhihu.com/p/335743455</a:t>
            </a:r>
            <a:endParaRPr lang="en-US" altLang="zh-CN"/>
          </a:p>
          <a:p>
            <a:r>
              <a:rPr lang="en-US" altLang="zh-CN"/>
              <a:t>Title</a:t>
            </a:r>
            <a:endParaRPr lang="en-US" altLang="zh-CN"/>
          </a:p>
          <a:p>
            <a:pPr lvl="1"/>
            <a:r>
              <a:rPr lang="en-US" altLang="zh-CN"/>
              <a:t>在标题增加搜索量较高的词</a:t>
            </a:r>
            <a:endParaRPr lang="en-US" altLang="zh-CN" sz="2000"/>
          </a:p>
          <a:p>
            <a:pPr lvl="1"/>
            <a:r>
              <a:rPr lang="en-US" altLang="zh-CN"/>
              <a:t>在标题减少搜索量较低的词</a:t>
            </a:r>
            <a:endParaRPr lang="en-US" altLang="zh-CN"/>
          </a:p>
          <a:p>
            <a:pPr lvl="0"/>
            <a:r>
              <a:rPr lang="zh-CN" altLang="en-US"/>
              <a:t>丰富页面内容</a:t>
            </a:r>
            <a:endParaRPr lang="zh-CN" altLang="en-US"/>
          </a:p>
          <a:p>
            <a:pPr lvl="0"/>
            <a:r>
              <a:rPr lang="zh-CN" altLang="en-US"/>
              <a:t>添加相关链接</a:t>
            </a:r>
            <a:endParaRPr lang="zh-CN" altLang="en-US"/>
          </a:p>
          <a:p>
            <a:pPr lvl="0"/>
            <a:r>
              <a:rPr lang="en-US" altLang="zh-CN"/>
              <a:t>Register to search engine</a:t>
            </a:r>
            <a:endParaRPr lang="en-US" altLang="zh-CN"/>
          </a:p>
          <a:p>
            <a:pPr lvl="1"/>
            <a:r>
              <a:rPr lang="en-US" altLang="zh-CN"/>
              <a:t>https://www.bing.com/webmasters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SEO - Sitemaps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https://www.sitemaps.org/index.html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SEO - Robots.txt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476490" cy="4549140"/>
          </a:xfrm>
        </p:spPr>
        <p:txBody>
          <a:bodyPr>
            <a:normAutofit fontScale="6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https://seosherpa.com/robots-txt/</a:t>
            </a:r>
            <a:endParaRPr lang="en-US" altLang="zh-CN"/>
          </a:p>
          <a:p>
            <a:pPr lvl="0"/>
            <a:r>
              <a:rPr lang="en-US" altLang="zh-CN"/>
              <a:t>User agents</a:t>
            </a:r>
            <a:endParaRPr lang="en-US" altLang="zh-CN"/>
          </a:p>
          <a:p>
            <a:pPr lvl="1"/>
            <a:r>
              <a:rPr lang="en-US" altLang="zh-CN"/>
              <a:t>Google: Googlebot</a:t>
            </a:r>
            <a:endParaRPr lang="en-US" altLang="zh-CN"/>
          </a:p>
          <a:p>
            <a:pPr lvl="1"/>
            <a:r>
              <a:rPr lang="en-US" altLang="zh-CN"/>
              <a:t>Google Images: Googlebot-Image</a:t>
            </a:r>
            <a:endParaRPr lang="en-US" altLang="zh-CN"/>
          </a:p>
          <a:p>
            <a:pPr lvl="1"/>
            <a:r>
              <a:rPr lang="en-US" altLang="zh-CN"/>
              <a:t>Google Video: Googlebot-Video</a:t>
            </a:r>
            <a:endParaRPr lang="en-US" altLang="zh-CN"/>
          </a:p>
          <a:p>
            <a:pPr lvl="1"/>
            <a:r>
              <a:rPr lang="en-US" altLang="zh-CN"/>
              <a:t>Google News: Googlebot-News</a:t>
            </a:r>
            <a:endParaRPr lang="en-US" altLang="zh-CN"/>
          </a:p>
          <a:p>
            <a:pPr lvl="1"/>
            <a:r>
              <a:rPr lang="en-US" altLang="zh-CN"/>
              <a:t>Bing: Bingbot</a:t>
            </a:r>
            <a:endParaRPr lang="en-US" altLang="zh-CN"/>
          </a:p>
          <a:p>
            <a:pPr lvl="1"/>
            <a:r>
              <a:rPr lang="en-US" altLang="zh-CN"/>
              <a:t>Bing Images &amp; Videos: MSNBot-Media</a:t>
            </a:r>
            <a:endParaRPr lang="en-US" altLang="zh-CN"/>
          </a:p>
          <a:p>
            <a:pPr lvl="1"/>
            <a:r>
              <a:rPr lang="en-US" altLang="zh-CN"/>
              <a:t>Yahoo: Slurp</a:t>
            </a:r>
            <a:endParaRPr lang="en-US" altLang="zh-CN"/>
          </a:p>
          <a:p>
            <a:pPr lvl="1"/>
            <a:r>
              <a:rPr lang="en-US" altLang="zh-CN"/>
              <a:t>Yandex: YandexBot</a:t>
            </a:r>
            <a:endParaRPr lang="en-US" altLang="zh-CN"/>
          </a:p>
          <a:p>
            <a:pPr lvl="1"/>
            <a:r>
              <a:rPr lang="en-US" altLang="zh-CN"/>
              <a:t>Baidu: Baiduspider</a:t>
            </a:r>
            <a:endParaRPr lang="en-US" altLang="zh-CN"/>
          </a:p>
          <a:p>
            <a:pPr lvl="1"/>
            <a:r>
              <a:rPr lang="en-US" altLang="zh-CN"/>
              <a:t>DuckDuckGo: DuckDuckBot</a:t>
            </a:r>
            <a:endParaRPr lang="en-US" altLang="zh-CN"/>
          </a:p>
          <a:p>
            <a:pPr lvl="0"/>
            <a:r>
              <a:rPr lang="en-US" altLang="zh-CN"/>
              <a:t>Directives</a:t>
            </a:r>
            <a:endParaRPr lang="en-US" altLang="zh-CN"/>
          </a:p>
          <a:p>
            <a:pPr lvl="1"/>
            <a:r>
              <a:rPr lang="en-US" altLang="zh-CN"/>
              <a:t>Disallow</a:t>
            </a:r>
            <a:endParaRPr lang="en-US" altLang="zh-CN"/>
          </a:p>
          <a:p>
            <a:pPr lvl="1"/>
            <a:r>
              <a:rPr lang="en-US" altLang="zh-CN"/>
              <a:t>Allow</a:t>
            </a:r>
            <a:endParaRPr lang="en-US" altLang="zh-CN"/>
          </a:p>
          <a:p>
            <a:pPr lvl="1"/>
            <a:r>
              <a:rPr lang="en-US" altLang="zh-CN"/>
              <a:t>Sitemap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578215" y="1362075"/>
            <a:ext cx="2540000" cy="396938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zh-CN" altLang="en-US"/>
              <a:t>Sitemap: [URL location of sitemap]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User-agent: [bot identifier]</a:t>
            </a:r>
            <a:endParaRPr lang="zh-CN" altLang="en-US"/>
          </a:p>
          <a:p>
            <a:r>
              <a:rPr lang="zh-CN" altLang="en-US"/>
              <a:t>[directive 1]</a:t>
            </a:r>
            <a:endParaRPr lang="zh-CN" altLang="en-US"/>
          </a:p>
          <a:p>
            <a:r>
              <a:rPr lang="zh-CN" altLang="en-US"/>
              <a:t>[directive 2]</a:t>
            </a:r>
            <a:endParaRPr lang="zh-CN" altLang="en-US"/>
          </a:p>
          <a:p>
            <a:r>
              <a:rPr lang="zh-CN" altLang="en-US"/>
              <a:t>[directive ...]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User-agent: [another bot identifier]</a:t>
            </a:r>
            <a:endParaRPr lang="zh-CN" altLang="en-US"/>
          </a:p>
          <a:p>
            <a:r>
              <a:rPr lang="zh-CN" altLang="en-US"/>
              <a:t>[directive 1]</a:t>
            </a:r>
            <a:endParaRPr lang="zh-CN" altLang="en-US"/>
          </a:p>
          <a:p>
            <a:r>
              <a:rPr lang="zh-CN" altLang="en-US"/>
              <a:t>[directive 2]</a:t>
            </a:r>
            <a:endParaRPr lang="zh-CN" altLang="en-US"/>
          </a:p>
          <a:p>
            <a:r>
              <a:rPr lang="zh-CN" altLang="en-US"/>
              <a:t>[directive ...]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Crawl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56275" cy="4549140"/>
          </a:xfrm>
        </p:spPr>
        <p:txBody>
          <a:bodyPr/>
          <a:p>
            <a:r>
              <a:rPr lang="en-US" altLang="zh-CN"/>
              <a:t>Puppeteer</a:t>
            </a:r>
            <a:endParaRPr lang="en-US" altLang="zh-CN"/>
          </a:p>
          <a:p>
            <a:pPr lvl="1"/>
            <a:r>
              <a:rPr lang="en-US" altLang="zh-CN"/>
              <a:t>references</a:t>
            </a:r>
            <a:endParaRPr lang="en-US" altLang="zh-CN"/>
          </a:p>
          <a:p>
            <a:pPr lvl="2"/>
            <a:r>
              <a:rPr lang="en-US" altLang="zh-CN"/>
              <a:t>https://www.aymen-loukil.com/en/blog-en/google-puppeteer-tutorial-with-examples/#3Mobile_device_emulation_example</a:t>
            </a:r>
            <a:endParaRPr lang="en-US" altLang="zh-CN"/>
          </a:p>
          <a:p>
            <a:pPr lvl="1"/>
            <a:r>
              <a:rPr lang="en-US" altLang="zh-CN"/>
              <a:t>launch Chromium in headless mode</a:t>
            </a:r>
            <a:endParaRPr lang="en-US" altLang="zh-CN"/>
          </a:p>
          <a:p>
            <a:pPr lvl="1"/>
            <a:r>
              <a:rPr lang="en-US" altLang="zh-CN"/>
              <a:t>cnpm i -g puppeteer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938895" y="1110615"/>
            <a:ext cx="2506980" cy="32302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1200">
                <a:solidFill>
                  <a:srgbClr val="FF0000"/>
                </a:solidFill>
              </a:rPr>
              <a:t>website-screenshot</a:t>
            </a:r>
            <a:endParaRPr lang="en-US" altLang="zh-CN" sz="1200">
              <a:solidFill>
                <a:srgbClr val="FF0000"/>
              </a:solidFill>
            </a:endParaRPr>
          </a:p>
          <a:p>
            <a:endParaRPr lang="en-US" altLang="zh-CN" sz="1200"/>
          </a:p>
          <a:p>
            <a:r>
              <a:rPr lang="zh-CN" altLang="en-US" sz="1200"/>
              <a:t>const puppeteer = require('puppeteer');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(async () =&gt; {</a:t>
            </a:r>
            <a:endParaRPr lang="zh-CN" altLang="en-US" sz="1200"/>
          </a:p>
          <a:p>
            <a:r>
              <a:rPr lang="zh-CN" altLang="en-US" sz="1200"/>
              <a:t>  const browser = await puppeteer.launch();</a:t>
            </a:r>
            <a:endParaRPr lang="zh-CN" altLang="en-US" sz="1200"/>
          </a:p>
          <a:p>
            <a:r>
              <a:rPr lang="zh-CN" altLang="en-US" sz="1200"/>
              <a:t>  const page = await browser.newPage();</a:t>
            </a:r>
            <a:endParaRPr lang="zh-CN" altLang="en-US" sz="1200"/>
          </a:p>
          <a:p>
            <a:r>
              <a:rPr lang="zh-CN" altLang="en-US" sz="1200"/>
              <a:t>  await page.goto('https://example.com');</a:t>
            </a:r>
            <a:endParaRPr lang="zh-CN" altLang="en-US" sz="1200"/>
          </a:p>
          <a:p>
            <a:r>
              <a:rPr lang="zh-CN" altLang="en-US" sz="1200"/>
              <a:t>  await page.screenshot({ path: 'example.png' });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  await browser.close();</a:t>
            </a:r>
            <a:endParaRPr lang="zh-CN" altLang="en-US" sz="1200"/>
          </a:p>
          <a:p>
            <a:r>
              <a:rPr lang="zh-CN" altLang="en-US" sz="1200"/>
              <a:t>})();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配网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290695" cy="5142865"/>
          </a:xfrm>
        </p:spPr>
        <p:txBody>
          <a:bodyPr>
            <a:normAutofit fontScale="80000"/>
          </a:bodyPr>
          <a:p>
            <a:r>
              <a:rPr lang="en-US" altLang="zh-CN" sz="1800"/>
              <a:t>References</a:t>
            </a:r>
            <a:endParaRPr lang="en-US" altLang="zh-CN" sz="1800"/>
          </a:p>
          <a:p>
            <a:pPr lvl="1"/>
            <a:r>
              <a:rPr lang="en-US" altLang="zh-CN" sz="1625"/>
              <a:t>https://zhuanlan.zhihu.com/p/222428623</a:t>
            </a:r>
            <a:endParaRPr lang="en-US" altLang="zh-CN" sz="1625"/>
          </a:p>
          <a:p>
            <a:pPr lvl="1"/>
            <a:r>
              <a:rPr lang="en-US" altLang="zh-CN" sz="1625"/>
              <a:t>https://zhuanlan.zhihu.com/p/410052540</a:t>
            </a:r>
            <a:endParaRPr lang="en-US" altLang="zh-CN" sz="1625"/>
          </a:p>
          <a:p>
            <a:pPr lvl="1"/>
            <a:r>
              <a:rPr lang="en-US" altLang="zh-CN" sz="1570"/>
              <a:t>https://blog.51cto.com/u_16213335/12126510 </a:t>
            </a:r>
            <a:r>
              <a:rPr lang="zh-CN" altLang="en-US" sz="1570"/>
              <a:t>（</a:t>
            </a:r>
            <a:r>
              <a:rPr lang="en-US" altLang="zh-CN" sz="1570"/>
              <a:t>Android App</a:t>
            </a:r>
            <a:r>
              <a:rPr lang="zh-CN" altLang="en-US" sz="1570"/>
              <a:t>中蓝牙配网）</a:t>
            </a:r>
            <a:endParaRPr lang="en-US" altLang="zh-CN" sz="1570"/>
          </a:p>
          <a:p>
            <a:pPr lvl="0"/>
            <a:r>
              <a:rPr lang="en-US" altLang="zh-CN" sz="1800"/>
              <a:t>Methods</a:t>
            </a:r>
            <a:endParaRPr lang="en-US" altLang="zh-CN" sz="1800"/>
          </a:p>
          <a:p>
            <a:pPr lvl="1"/>
            <a:r>
              <a:rPr lang="zh-CN" altLang="en-US" sz="1600"/>
              <a:t>一键配网</a:t>
            </a:r>
            <a:endParaRPr lang="zh-CN" altLang="en-US" sz="1600"/>
          </a:p>
          <a:p>
            <a:pPr lvl="2"/>
            <a:r>
              <a:rPr lang="zh-CN" altLang="en-US" sz="1400"/>
              <a:t>广播包长方式、组播地址方式</a:t>
            </a:r>
            <a:endParaRPr lang="zh-CN" altLang="en-US" sz="1400"/>
          </a:p>
          <a:p>
            <a:pPr lvl="2"/>
            <a:r>
              <a:rPr lang="zh-CN" altLang="en-US" sz="1400"/>
              <a:t>整体兼容性差，配网成功率低</a:t>
            </a:r>
            <a:endParaRPr lang="zh-CN" altLang="en-US" sz="1400"/>
          </a:p>
          <a:p>
            <a:pPr lvl="1"/>
            <a:r>
              <a:rPr lang="zh-CN" altLang="en-US" sz="1600"/>
              <a:t>设备热点配网</a:t>
            </a:r>
            <a:endParaRPr lang="zh-CN" altLang="en-US" sz="1600"/>
          </a:p>
          <a:p>
            <a:pPr lvl="1"/>
            <a:r>
              <a:rPr lang="zh-CN" altLang="en-US" sz="1600"/>
              <a:t>手机热点配网</a:t>
            </a:r>
            <a:endParaRPr lang="zh-CN" altLang="en-US" sz="1600"/>
          </a:p>
          <a:p>
            <a:pPr lvl="1"/>
            <a:r>
              <a:rPr lang="zh-CN" altLang="en-US" sz="1600"/>
              <a:t>蓝牙配网</a:t>
            </a:r>
            <a:endParaRPr lang="zh-CN" altLang="en-US" sz="1600"/>
          </a:p>
          <a:p>
            <a:pPr lvl="2"/>
            <a:r>
              <a:rPr lang="zh-CN" altLang="en-US" sz="1400"/>
              <a:t>手机</a:t>
            </a:r>
            <a:r>
              <a:rPr lang="en-US" altLang="zh-CN" sz="1400"/>
              <a:t>APP</a:t>
            </a:r>
            <a:r>
              <a:rPr lang="zh-CN" altLang="en-US" sz="1400"/>
              <a:t>通过蓝牙连接到待配网的设备</a:t>
            </a:r>
            <a:endParaRPr lang="zh-CN" altLang="en-US" sz="1400"/>
          </a:p>
          <a:p>
            <a:pPr lvl="2"/>
            <a:r>
              <a:rPr lang="zh-CN" altLang="en-US" sz="1445"/>
              <a:t>手机通过</a:t>
            </a:r>
            <a:r>
              <a:rPr lang="en-US" altLang="zh-CN" sz="1445"/>
              <a:t>BLE</a:t>
            </a:r>
            <a:r>
              <a:rPr lang="zh-CN" altLang="en-US" sz="1445"/>
              <a:t>将</a:t>
            </a:r>
            <a:r>
              <a:rPr lang="en-US" altLang="zh-CN" sz="1445"/>
              <a:t>Wi-Fi</a:t>
            </a:r>
            <a:r>
              <a:rPr lang="zh-CN" altLang="en-US" sz="1445"/>
              <a:t>路由器的配网信息（</a:t>
            </a:r>
            <a:r>
              <a:rPr lang="en-US" altLang="zh-CN" sz="1445"/>
              <a:t>SSID/password</a:t>
            </a:r>
            <a:r>
              <a:rPr lang="zh-CN" altLang="en-US" sz="1445"/>
              <a:t>）发送给设备端</a:t>
            </a:r>
            <a:endParaRPr lang="zh-CN" altLang="en-US" sz="1445"/>
          </a:p>
          <a:p>
            <a:pPr lvl="1"/>
            <a:r>
              <a:rPr lang="zh-CN" altLang="en-US" sz="1600"/>
              <a:t>路由器配网</a:t>
            </a:r>
            <a:endParaRPr lang="zh-CN" altLang="en-US" sz="1600"/>
          </a:p>
          <a:p>
            <a:pPr lvl="2"/>
            <a:r>
              <a:rPr lang="zh-CN" altLang="en-US" sz="1400"/>
              <a:t>路由器在配网模式下开启一个特定的用于配网的</a:t>
            </a:r>
            <a:r>
              <a:rPr lang="en-US" altLang="zh-CN" sz="1400"/>
              <a:t>SSID</a:t>
            </a:r>
            <a:r>
              <a:rPr lang="zh-CN" altLang="en-US" sz="1400"/>
              <a:t>，设备发现了这个热点后连接这个热点以获取配网信息</a:t>
            </a:r>
            <a:endParaRPr lang="zh-CN" altLang="en-US" sz="1400"/>
          </a:p>
          <a:p>
            <a:pPr lvl="1"/>
            <a:r>
              <a:rPr lang="zh-CN" altLang="en-US" sz="1600"/>
              <a:t>零配</a:t>
            </a:r>
            <a:endParaRPr lang="zh-CN" altLang="en-US" sz="1600"/>
          </a:p>
          <a:p>
            <a:pPr lvl="1"/>
            <a:r>
              <a:rPr lang="zh-CN" altLang="en-US" sz="1600"/>
              <a:t>摄像头扫码配网</a:t>
            </a:r>
            <a:endParaRPr lang="zh-CN" altLang="en-US" sz="1600"/>
          </a:p>
          <a:p>
            <a:pPr lvl="2"/>
            <a:endParaRPr lang="zh-CN" altLang="en-US" sz="16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5321300" y="1885950"/>
            <a:ext cx="1784985" cy="114617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5260975" y="3803015"/>
            <a:ext cx="7051040" cy="220027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6985635" y="1102360"/>
            <a:ext cx="5082540" cy="27006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蓝牙配网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502400" cy="5290185"/>
          </a:xfrm>
        </p:spPr>
        <p:txBody>
          <a:bodyPr>
            <a:normAutofit fontScale="60000"/>
          </a:bodyPr>
          <a:p>
            <a:r>
              <a:rPr lang="zh-CN" altLang="en-US"/>
              <a:t>微信小程序蓝牙配网步骤</a:t>
            </a:r>
            <a:endParaRPr lang="en-US" altLang="zh-CN"/>
          </a:p>
          <a:p>
            <a:pPr lvl="1"/>
            <a:r>
              <a:rPr lang="zh-CN" altLang="en-US"/>
              <a:t>步骤</a:t>
            </a:r>
            <a:r>
              <a:rPr lang="en-US" altLang="zh-CN"/>
              <a:t>1</a:t>
            </a:r>
            <a:r>
              <a:rPr lang="zh-CN" altLang="en-US"/>
              <a:t>：设备进入配网模式</a:t>
            </a:r>
            <a:endParaRPr lang="zh-CN" altLang="en-US"/>
          </a:p>
          <a:p>
            <a:pPr lvl="2"/>
            <a:r>
              <a:rPr lang="zh-CN" altLang="en-US">
                <a:solidFill>
                  <a:srgbClr val="C00000"/>
                </a:solidFill>
              </a:rPr>
              <a:t>物联网设备需要支持蓝牙功能，并在配网模式下广播特定的蓝牙服务。</a:t>
            </a:r>
            <a:endParaRPr lang="zh-CN" altLang="en-US">
              <a:solidFill>
                <a:srgbClr val="C00000"/>
              </a:solidFill>
            </a:endParaRPr>
          </a:p>
          <a:p>
            <a:pPr lvl="2"/>
            <a:r>
              <a:rPr lang="zh-CN" altLang="en-US"/>
              <a:t>设备通常会有一个配网按钮，长按后进入配网模式。</a:t>
            </a:r>
            <a:endParaRPr lang="zh-CN" altLang="en-US"/>
          </a:p>
          <a:p>
            <a:pPr lvl="1"/>
            <a:r>
              <a:rPr lang="zh-CN" altLang="en-US"/>
              <a:t>步骤</a:t>
            </a:r>
            <a:r>
              <a:rPr lang="en-US" altLang="zh-CN"/>
              <a:t>2</a:t>
            </a:r>
            <a:r>
              <a:rPr lang="zh-CN" altLang="en-US"/>
              <a:t>：小程序搜索并连接设备</a:t>
            </a:r>
            <a:endParaRPr lang="zh-CN" altLang="en-US"/>
          </a:p>
          <a:p>
            <a:pPr lvl="2"/>
            <a:r>
              <a:rPr lang="zh-CN" altLang="en-US"/>
              <a:t>使用微信小程序的蓝牙</a:t>
            </a:r>
            <a:r>
              <a:rPr lang="en-US" altLang="zh-CN"/>
              <a:t>API</a:t>
            </a:r>
            <a:r>
              <a:rPr lang="zh-CN" altLang="en-US"/>
              <a:t>（如</a:t>
            </a:r>
            <a:r>
              <a:rPr lang="en-US" altLang="zh-CN"/>
              <a:t> wx.startBluetoothDevicesDiscovery</a:t>
            </a:r>
            <a:r>
              <a:rPr lang="zh-CN" altLang="en-US"/>
              <a:t>）搜索附近的蓝牙设备。</a:t>
            </a:r>
            <a:endParaRPr lang="zh-CN" altLang="en-US"/>
          </a:p>
          <a:p>
            <a:pPr lvl="2"/>
            <a:r>
              <a:rPr lang="zh-CN" altLang="en-US"/>
              <a:t>找到目标设备后，通过</a:t>
            </a:r>
            <a:r>
              <a:rPr lang="en-US" altLang="zh-CN"/>
              <a:t> wx.createBLEConnection </a:t>
            </a:r>
            <a:r>
              <a:rPr lang="zh-CN" altLang="en-US"/>
              <a:t>建立蓝牙连接。</a:t>
            </a:r>
            <a:endParaRPr lang="zh-CN" altLang="en-US"/>
          </a:p>
          <a:p>
            <a:pPr lvl="1"/>
            <a:r>
              <a:rPr lang="zh-CN" altLang="en-US"/>
              <a:t>步骤</a:t>
            </a:r>
            <a:r>
              <a:rPr lang="en-US" altLang="zh-CN"/>
              <a:t>3</a:t>
            </a:r>
            <a:r>
              <a:rPr lang="zh-CN" altLang="en-US"/>
              <a:t>：发送</a:t>
            </a:r>
            <a:r>
              <a:rPr lang="en-US" altLang="zh-CN"/>
              <a:t>Wi-Fi</a:t>
            </a:r>
            <a:r>
              <a:rPr lang="zh-CN" altLang="en-US"/>
              <a:t>配置信息</a:t>
            </a:r>
            <a:endParaRPr lang="zh-CN" altLang="en-US"/>
          </a:p>
          <a:p>
            <a:pPr lvl="2"/>
            <a:r>
              <a:rPr lang="zh-CN" altLang="en-US"/>
              <a:t>小程序通过蓝牙</a:t>
            </a:r>
            <a:r>
              <a:rPr lang="en-US" altLang="zh-CN"/>
              <a:t>API</a:t>
            </a:r>
            <a:r>
              <a:rPr lang="zh-CN" altLang="en-US"/>
              <a:t>（如</a:t>
            </a:r>
            <a:r>
              <a:rPr lang="en-US" altLang="zh-CN"/>
              <a:t> wx.writeBLECharacteristicValue</a:t>
            </a:r>
            <a:r>
              <a:rPr lang="zh-CN" altLang="en-US"/>
              <a:t>）将</a:t>
            </a:r>
            <a:r>
              <a:rPr lang="en-US" altLang="zh-CN"/>
              <a:t>Wi-Fi</a:t>
            </a:r>
            <a:r>
              <a:rPr lang="zh-CN" altLang="en-US"/>
              <a:t>的</a:t>
            </a:r>
            <a:r>
              <a:rPr lang="en-US" altLang="zh-CN"/>
              <a:t>SSID</a:t>
            </a:r>
            <a:r>
              <a:rPr lang="zh-CN" altLang="en-US"/>
              <a:t>和密码发送给设备。</a:t>
            </a:r>
            <a:endParaRPr lang="zh-CN" altLang="en-US"/>
          </a:p>
          <a:p>
            <a:pPr lvl="2"/>
            <a:r>
              <a:rPr lang="zh-CN" altLang="en-US"/>
              <a:t>数据通常需要按照设备厂商定义的协议进行封装。</a:t>
            </a:r>
            <a:endParaRPr lang="zh-CN" altLang="en-US"/>
          </a:p>
          <a:p>
            <a:pPr lvl="1"/>
            <a:r>
              <a:rPr lang="zh-CN" altLang="en-US"/>
              <a:t>步骤</a:t>
            </a:r>
            <a:r>
              <a:rPr lang="en-US" altLang="zh-CN"/>
              <a:t>4</a:t>
            </a:r>
            <a:r>
              <a:rPr lang="zh-CN" altLang="en-US"/>
              <a:t>：设备连接</a:t>
            </a:r>
            <a:r>
              <a:rPr lang="en-US" altLang="zh-CN"/>
              <a:t>Wi-Fi</a:t>
            </a:r>
            <a:endParaRPr lang="en-US" altLang="zh-CN"/>
          </a:p>
          <a:p>
            <a:pPr lvl="2"/>
            <a:r>
              <a:rPr lang="zh-CN" altLang="en-US">
                <a:solidFill>
                  <a:srgbClr val="C00000"/>
                </a:solidFill>
              </a:rPr>
              <a:t>设备接收到</a:t>
            </a:r>
            <a:r>
              <a:rPr lang="en-US" altLang="zh-CN">
                <a:solidFill>
                  <a:srgbClr val="C00000"/>
                </a:solidFill>
              </a:rPr>
              <a:t>Wi-Fi</a:t>
            </a:r>
            <a:r>
              <a:rPr lang="zh-CN" altLang="en-US">
                <a:solidFill>
                  <a:srgbClr val="C00000"/>
                </a:solidFill>
              </a:rPr>
              <a:t>配置信息后，尝试连接指定的</a:t>
            </a:r>
            <a:r>
              <a:rPr lang="en-US" altLang="zh-CN">
                <a:solidFill>
                  <a:srgbClr val="C00000"/>
                </a:solidFill>
              </a:rPr>
              <a:t>Wi-Fi</a:t>
            </a:r>
            <a:r>
              <a:rPr lang="zh-CN" altLang="en-US">
                <a:solidFill>
                  <a:srgbClr val="C00000"/>
                </a:solidFill>
              </a:rPr>
              <a:t>网络。</a:t>
            </a:r>
            <a:endParaRPr lang="zh-CN" altLang="en-US">
              <a:solidFill>
                <a:srgbClr val="C00000"/>
              </a:solidFill>
            </a:endParaRPr>
          </a:p>
          <a:p>
            <a:pPr lvl="2"/>
            <a:r>
              <a:rPr lang="zh-CN" altLang="en-US">
                <a:solidFill>
                  <a:srgbClr val="C00000"/>
                </a:solidFill>
              </a:rPr>
              <a:t>设备通过蓝牙向小程序反馈连接状态（成功或失败）。</a:t>
            </a:r>
            <a:endParaRPr lang="zh-CN" altLang="en-US">
              <a:solidFill>
                <a:srgbClr val="C00000"/>
              </a:solidFill>
            </a:endParaRPr>
          </a:p>
          <a:p>
            <a:pPr lvl="1"/>
            <a:r>
              <a:rPr lang="zh-CN" altLang="en-US"/>
              <a:t>步骤</a:t>
            </a:r>
            <a:r>
              <a:rPr lang="en-US" altLang="zh-CN"/>
              <a:t>5</a:t>
            </a:r>
            <a:r>
              <a:rPr lang="zh-CN" altLang="en-US"/>
              <a:t>：小程序显示配网结果</a:t>
            </a:r>
            <a:endParaRPr lang="zh-CN" altLang="en-US"/>
          </a:p>
          <a:p>
            <a:pPr lvl="2"/>
            <a:r>
              <a:rPr lang="zh-CN" altLang="en-US"/>
              <a:t>小程序监听设备的反馈，并根据结果提示用户配网是否成功。</a:t>
            </a:r>
            <a:endParaRPr lang="zh-CN" altLang="en-US"/>
          </a:p>
          <a:p>
            <a:pPr lvl="0"/>
            <a:r>
              <a:rPr lang="zh-CN" altLang="en-US"/>
              <a:t>微信小程序</a:t>
            </a:r>
            <a:r>
              <a:rPr lang="en-US" altLang="zh-CN"/>
              <a:t>API</a:t>
            </a:r>
            <a:endParaRPr lang="en-US" altLang="zh-CN"/>
          </a:p>
          <a:p>
            <a:pPr lvl="1"/>
            <a:r>
              <a:rPr lang="en-US" altLang="zh-CN"/>
              <a:t>wx.startBluetoothDevicesDiscovery</a:t>
            </a:r>
            <a:r>
              <a:rPr lang="zh-CN" altLang="en-US"/>
              <a:t>：开始搜索附近的蓝牙设备。</a:t>
            </a:r>
            <a:endParaRPr lang="zh-CN" altLang="en-US"/>
          </a:p>
          <a:p>
            <a:pPr lvl="1"/>
            <a:r>
              <a:rPr lang="en-US" altLang="zh-CN"/>
              <a:t>wx.onBluetoothDeviceFound</a:t>
            </a:r>
            <a:r>
              <a:rPr lang="zh-CN" altLang="en-US"/>
              <a:t>：监听搜索到的蓝牙设备。</a:t>
            </a:r>
            <a:endParaRPr lang="zh-CN" altLang="en-US"/>
          </a:p>
          <a:p>
            <a:pPr lvl="1"/>
            <a:r>
              <a:rPr lang="en-US" altLang="zh-CN"/>
              <a:t>wx.createBLEConnection</a:t>
            </a:r>
            <a:r>
              <a:rPr lang="zh-CN" altLang="en-US"/>
              <a:t>：连接指定的蓝牙设备。</a:t>
            </a:r>
            <a:endParaRPr lang="zh-CN" altLang="en-US"/>
          </a:p>
          <a:p>
            <a:pPr lvl="1"/>
            <a:r>
              <a:rPr lang="en-US" altLang="zh-CN"/>
              <a:t>wx.writeBLECharacteristicValue</a:t>
            </a:r>
            <a:r>
              <a:rPr lang="zh-CN" altLang="en-US"/>
              <a:t>：向设备写入数据（如</a:t>
            </a:r>
            <a:r>
              <a:rPr lang="en-US" altLang="zh-CN"/>
              <a:t>Wi-Fi</a:t>
            </a:r>
            <a:r>
              <a:rPr lang="zh-CN" altLang="en-US"/>
              <a:t>配置信息）。</a:t>
            </a:r>
            <a:endParaRPr lang="zh-CN" altLang="en-US"/>
          </a:p>
          <a:p>
            <a:pPr lvl="1"/>
            <a:r>
              <a:rPr lang="en-US" altLang="zh-CN"/>
              <a:t>wx.onBLECharacteristicValueChange</a:t>
            </a:r>
            <a:r>
              <a:rPr lang="zh-CN" altLang="en-US"/>
              <a:t>：监听设备返回的数据（如连接状态）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830185" y="91440"/>
            <a:ext cx="4144645" cy="66757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noAutofit/>
          </a:bodyPr>
          <a:p>
            <a:r>
              <a:rPr lang="en-US" altLang="zh-CN" sz="900"/>
              <a:t>// </a:t>
            </a:r>
            <a:r>
              <a:rPr lang="zh-CN" altLang="en-US" sz="900"/>
              <a:t>搜索设备</a:t>
            </a:r>
            <a:endParaRPr lang="zh-CN" altLang="en-US" sz="900"/>
          </a:p>
          <a:p>
            <a:r>
              <a:rPr lang="en-US" altLang="zh-CN" sz="900"/>
              <a:t>wx.startBluetoothDevicesDiscovery({</a:t>
            </a:r>
            <a:endParaRPr lang="en-US" altLang="zh-CN" sz="900"/>
          </a:p>
          <a:p>
            <a:r>
              <a:rPr lang="en-US" altLang="zh-CN" sz="900"/>
              <a:t>  success: function (res) {</a:t>
            </a:r>
            <a:endParaRPr lang="en-US" altLang="zh-CN" sz="900"/>
          </a:p>
          <a:p>
            <a:r>
              <a:rPr lang="en-US" altLang="zh-CN" sz="900"/>
              <a:t>    console.log('</a:t>
            </a:r>
            <a:r>
              <a:rPr lang="zh-CN" altLang="en-US" sz="900"/>
              <a:t>开始搜索设备</a:t>
            </a:r>
            <a:r>
              <a:rPr lang="en-US" altLang="zh-CN" sz="900"/>
              <a:t>', res);</a:t>
            </a:r>
            <a:endParaRPr lang="en-US" altLang="zh-CN" sz="900"/>
          </a:p>
          <a:p>
            <a:r>
              <a:rPr lang="en-US" altLang="zh-CN" sz="900"/>
              <a:t>  }</a:t>
            </a:r>
            <a:endParaRPr lang="en-US" altLang="zh-CN" sz="900"/>
          </a:p>
          <a:p>
            <a:r>
              <a:rPr lang="en-US" altLang="zh-CN" sz="900"/>
              <a:t>});</a:t>
            </a:r>
            <a:endParaRPr lang="en-US" altLang="zh-CN" sz="900"/>
          </a:p>
          <a:p>
            <a:endParaRPr lang="en-US" altLang="zh-CN" sz="900"/>
          </a:p>
          <a:p>
            <a:r>
              <a:rPr lang="en-US" altLang="zh-CN" sz="900"/>
              <a:t>// </a:t>
            </a:r>
            <a:r>
              <a:rPr lang="zh-CN" altLang="en-US" sz="900"/>
              <a:t>监听搜索到的设备</a:t>
            </a:r>
            <a:endParaRPr lang="zh-CN" altLang="en-US" sz="900"/>
          </a:p>
          <a:p>
            <a:r>
              <a:rPr lang="en-US" altLang="zh-CN" sz="900"/>
              <a:t>wx.onBluetoothDeviceFound(function (res) {</a:t>
            </a:r>
            <a:endParaRPr lang="en-US" altLang="zh-CN" sz="900"/>
          </a:p>
          <a:p>
            <a:r>
              <a:rPr lang="en-US" altLang="zh-CN" sz="900"/>
              <a:t>  const devices = res.devices;</a:t>
            </a:r>
            <a:endParaRPr lang="en-US" altLang="zh-CN" sz="900"/>
          </a:p>
          <a:p>
            <a:r>
              <a:rPr lang="en-US" altLang="zh-CN" sz="900"/>
              <a:t>  if (devices.length &gt; 0) {</a:t>
            </a:r>
            <a:endParaRPr lang="en-US" altLang="zh-CN" sz="900"/>
          </a:p>
          <a:p>
            <a:r>
              <a:rPr lang="en-US" altLang="zh-CN" sz="900"/>
              <a:t>    const targetDevice = devices[0]; // </a:t>
            </a:r>
            <a:r>
              <a:rPr lang="zh-CN" altLang="en-US" sz="900"/>
              <a:t>假设第一个设备是目标设备</a:t>
            </a:r>
            <a:endParaRPr lang="zh-CN" altLang="en-US" sz="900"/>
          </a:p>
          <a:p>
            <a:r>
              <a:rPr lang="en-US" altLang="zh-CN" sz="900"/>
              <a:t>    wx.createBLEConnection({</a:t>
            </a:r>
            <a:endParaRPr lang="en-US" altLang="zh-CN" sz="900"/>
          </a:p>
          <a:p>
            <a:r>
              <a:rPr lang="en-US" altLang="zh-CN" sz="900"/>
              <a:t>      deviceId: targetDevice.deviceId,</a:t>
            </a:r>
            <a:endParaRPr lang="en-US" altLang="zh-CN" sz="900"/>
          </a:p>
          <a:p>
            <a:r>
              <a:rPr lang="en-US" altLang="zh-CN" sz="900"/>
              <a:t>      success: function (res) {</a:t>
            </a:r>
            <a:endParaRPr lang="en-US" altLang="zh-CN" sz="900"/>
          </a:p>
          <a:p>
            <a:r>
              <a:rPr lang="en-US" altLang="zh-CN" sz="900"/>
              <a:t>        console.log('</a:t>
            </a:r>
            <a:r>
              <a:rPr lang="zh-CN" altLang="en-US" sz="900"/>
              <a:t>蓝牙连接成功</a:t>
            </a:r>
            <a:r>
              <a:rPr lang="en-US" altLang="zh-CN" sz="900"/>
              <a:t>', res);</a:t>
            </a:r>
            <a:endParaRPr lang="en-US" altLang="zh-CN" sz="900"/>
          </a:p>
          <a:p>
            <a:r>
              <a:rPr lang="en-US" altLang="zh-CN" sz="900"/>
              <a:t>        // </a:t>
            </a:r>
            <a:r>
              <a:rPr lang="zh-CN" altLang="en-US" sz="900"/>
              <a:t>发送</a:t>
            </a:r>
            <a:r>
              <a:rPr lang="en-US" altLang="zh-CN" sz="900"/>
              <a:t>Wi-Fi</a:t>
            </a:r>
            <a:r>
              <a:rPr lang="zh-CN" altLang="en-US" sz="900"/>
              <a:t>配置信息</a:t>
            </a:r>
            <a:endParaRPr lang="zh-CN" altLang="en-US" sz="900"/>
          </a:p>
          <a:p>
            <a:r>
              <a:rPr lang="en-US" altLang="zh-CN" sz="900"/>
              <a:t>        const wifiInfo = { ssid: 'YourWiFiSSID', password: 'YourWiFiPassword' };</a:t>
            </a:r>
            <a:endParaRPr lang="en-US" altLang="zh-CN" sz="900"/>
          </a:p>
          <a:p>
            <a:r>
              <a:rPr lang="en-US" altLang="zh-CN" sz="900"/>
              <a:t>        const buffer = new ArrayBuffer(64);</a:t>
            </a:r>
            <a:endParaRPr lang="en-US" altLang="zh-CN" sz="900"/>
          </a:p>
          <a:p>
            <a:r>
              <a:rPr lang="en-US" altLang="zh-CN" sz="900"/>
              <a:t>        const dataView = new DataView(buffer);</a:t>
            </a:r>
            <a:endParaRPr lang="en-US" altLang="zh-CN" sz="900"/>
          </a:p>
          <a:p>
            <a:r>
              <a:rPr lang="en-US" altLang="zh-CN" sz="900"/>
              <a:t>        // </a:t>
            </a:r>
            <a:r>
              <a:rPr lang="zh-CN" altLang="en-US" sz="900"/>
              <a:t>按照设备协议封装数据</a:t>
            </a:r>
            <a:endParaRPr lang="zh-CN" altLang="en-US" sz="900"/>
          </a:p>
          <a:p>
            <a:r>
              <a:rPr lang="en-US" altLang="zh-CN" sz="900"/>
              <a:t>        // </a:t>
            </a:r>
            <a:r>
              <a:rPr lang="zh-CN" altLang="en-US" sz="900"/>
              <a:t>例如：前</a:t>
            </a:r>
            <a:r>
              <a:rPr lang="en-US" altLang="zh-CN" sz="900"/>
              <a:t>32</a:t>
            </a:r>
            <a:r>
              <a:rPr lang="zh-CN" altLang="en-US" sz="900"/>
              <a:t>字节为</a:t>
            </a:r>
            <a:r>
              <a:rPr lang="en-US" altLang="zh-CN" sz="900"/>
              <a:t>SSID</a:t>
            </a:r>
            <a:r>
              <a:rPr lang="zh-CN" altLang="en-US" sz="900"/>
              <a:t>，后</a:t>
            </a:r>
            <a:r>
              <a:rPr lang="en-US" altLang="zh-CN" sz="900"/>
              <a:t>32</a:t>
            </a:r>
            <a:r>
              <a:rPr lang="zh-CN" altLang="en-US" sz="900"/>
              <a:t>字节为密码</a:t>
            </a:r>
            <a:endParaRPr lang="zh-CN" altLang="en-US" sz="900"/>
          </a:p>
          <a:p>
            <a:r>
              <a:rPr lang="en-US" altLang="zh-CN" sz="900"/>
              <a:t>        for (let i = 0; i &lt; wifiInfo.ssid.length; i++) {</a:t>
            </a:r>
            <a:endParaRPr lang="en-US" altLang="zh-CN" sz="900"/>
          </a:p>
          <a:p>
            <a:r>
              <a:rPr lang="en-US" altLang="zh-CN" sz="900"/>
              <a:t>          dataView.setUint8(i, wifiInfo.ssid.charCodeAt(i));</a:t>
            </a:r>
            <a:endParaRPr lang="en-US" altLang="zh-CN" sz="900"/>
          </a:p>
          <a:p>
            <a:r>
              <a:rPr lang="en-US" altLang="zh-CN" sz="900"/>
              <a:t>        }</a:t>
            </a:r>
            <a:endParaRPr lang="en-US" altLang="zh-CN" sz="900"/>
          </a:p>
          <a:p>
            <a:r>
              <a:rPr lang="en-US" altLang="zh-CN" sz="900"/>
              <a:t>        for (let i = 0; i &lt; wifiInfo.password.length; i++) {</a:t>
            </a:r>
            <a:endParaRPr lang="en-US" altLang="zh-CN" sz="900"/>
          </a:p>
          <a:p>
            <a:r>
              <a:rPr lang="en-US" altLang="zh-CN" sz="900"/>
              <a:t>          dataView.setUint8(32 + i, wifiInfo.password.charCodeAt(i));</a:t>
            </a:r>
            <a:endParaRPr lang="en-US" altLang="zh-CN" sz="900"/>
          </a:p>
          <a:p>
            <a:r>
              <a:rPr lang="en-US" altLang="zh-CN" sz="900"/>
              <a:t>        }</a:t>
            </a:r>
            <a:endParaRPr lang="en-US" altLang="zh-CN" sz="900"/>
          </a:p>
          <a:p>
            <a:r>
              <a:rPr lang="en-US" altLang="zh-CN" sz="900"/>
              <a:t>        wx.writeBLECharacteristicValue({</a:t>
            </a:r>
            <a:endParaRPr lang="en-US" altLang="zh-CN" sz="900"/>
          </a:p>
          <a:p>
            <a:r>
              <a:rPr lang="en-US" altLang="zh-CN" sz="900"/>
              <a:t>          deviceId: targetDevice.deviceId,</a:t>
            </a:r>
            <a:endParaRPr lang="en-US" altLang="zh-CN" sz="900"/>
          </a:p>
          <a:p>
            <a:r>
              <a:rPr lang="en-US" altLang="zh-CN" sz="900"/>
              <a:t>          serviceId: '</a:t>
            </a:r>
            <a:r>
              <a:rPr lang="zh-CN" altLang="en-US" sz="900"/>
              <a:t>服务</a:t>
            </a:r>
            <a:r>
              <a:rPr lang="en-US" altLang="zh-CN" sz="900"/>
              <a:t>UUID',</a:t>
            </a:r>
            <a:endParaRPr lang="en-US" altLang="zh-CN" sz="900"/>
          </a:p>
          <a:p>
            <a:r>
              <a:rPr lang="en-US" altLang="zh-CN" sz="900"/>
              <a:t>          characteristicId: '</a:t>
            </a:r>
            <a:r>
              <a:rPr lang="zh-CN" altLang="en-US" sz="900"/>
              <a:t>特征值</a:t>
            </a:r>
            <a:r>
              <a:rPr lang="en-US" altLang="zh-CN" sz="900"/>
              <a:t>UUID',</a:t>
            </a:r>
            <a:endParaRPr lang="en-US" altLang="zh-CN" sz="900"/>
          </a:p>
          <a:p>
            <a:r>
              <a:rPr lang="en-US" altLang="zh-CN" sz="900"/>
              <a:t>          value: buffer,</a:t>
            </a:r>
            <a:endParaRPr lang="en-US" altLang="zh-CN" sz="900"/>
          </a:p>
          <a:p>
            <a:r>
              <a:rPr lang="en-US" altLang="zh-CN" sz="900"/>
              <a:t>          success: function (res) {</a:t>
            </a:r>
            <a:endParaRPr lang="en-US" altLang="zh-CN" sz="900"/>
          </a:p>
          <a:p>
            <a:r>
              <a:rPr lang="en-US" altLang="zh-CN" sz="900"/>
              <a:t>            console.log('Wi-Fi</a:t>
            </a:r>
            <a:r>
              <a:rPr lang="zh-CN" altLang="en-US" sz="900"/>
              <a:t>配置信息发送成功</a:t>
            </a:r>
            <a:r>
              <a:rPr lang="en-US" altLang="zh-CN" sz="900"/>
              <a:t>', res);</a:t>
            </a:r>
            <a:endParaRPr lang="en-US" altLang="zh-CN" sz="900"/>
          </a:p>
          <a:p>
            <a:r>
              <a:rPr lang="en-US" altLang="zh-CN" sz="900"/>
              <a:t>          },</a:t>
            </a:r>
            <a:endParaRPr lang="en-US" altLang="zh-CN" sz="900"/>
          </a:p>
          <a:p>
            <a:r>
              <a:rPr lang="en-US" altLang="zh-CN" sz="900"/>
              <a:t>          fail: function (err) {</a:t>
            </a:r>
            <a:endParaRPr lang="en-US" altLang="zh-CN" sz="900"/>
          </a:p>
          <a:p>
            <a:r>
              <a:rPr lang="en-US" altLang="zh-CN" sz="900"/>
              <a:t>            console.error('</a:t>
            </a:r>
            <a:r>
              <a:rPr lang="zh-CN" altLang="en-US" sz="900"/>
              <a:t>发送失败</a:t>
            </a:r>
            <a:r>
              <a:rPr lang="en-US" altLang="zh-CN" sz="900"/>
              <a:t>', err);</a:t>
            </a:r>
            <a:endParaRPr lang="en-US" altLang="zh-CN" sz="900"/>
          </a:p>
          <a:p>
            <a:r>
              <a:rPr lang="en-US" altLang="zh-CN" sz="900"/>
              <a:t>          }</a:t>
            </a:r>
            <a:endParaRPr lang="en-US" altLang="zh-CN" sz="900"/>
          </a:p>
          <a:p>
            <a:r>
              <a:rPr lang="en-US" altLang="zh-CN" sz="900"/>
              <a:t>        });</a:t>
            </a:r>
            <a:endParaRPr lang="en-US" altLang="zh-CN" sz="900"/>
          </a:p>
          <a:p>
            <a:r>
              <a:rPr lang="en-US" altLang="zh-CN" sz="900"/>
              <a:t>      },</a:t>
            </a:r>
            <a:endParaRPr lang="en-US" altLang="zh-CN" sz="900"/>
          </a:p>
          <a:p>
            <a:r>
              <a:rPr lang="en-US" altLang="zh-CN" sz="900"/>
              <a:t>      fail: function (err) {</a:t>
            </a:r>
            <a:endParaRPr lang="en-US" altLang="zh-CN" sz="900"/>
          </a:p>
          <a:p>
            <a:r>
              <a:rPr lang="en-US" altLang="zh-CN" sz="900"/>
              <a:t>        console.error('</a:t>
            </a:r>
            <a:r>
              <a:rPr lang="zh-CN" altLang="en-US" sz="900"/>
              <a:t>蓝牙连接失败</a:t>
            </a:r>
            <a:r>
              <a:rPr lang="en-US" altLang="zh-CN" sz="900"/>
              <a:t>', err);</a:t>
            </a:r>
            <a:endParaRPr lang="en-US" altLang="zh-CN" sz="900"/>
          </a:p>
          <a:p>
            <a:r>
              <a:rPr lang="en-US" altLang="zh-CN" sz="900"/>
              <a:t>      }</a:t>
            </a:r>
            <a:endParaRPr lang="en-US" altLang="zh-CN" sz="900"/>
          </a:p>
          <a:p>
            <a:r>
              <a:rPr lang="en-US" altLang="zh-CN" sz="900"/>
              <a:t>    });</a:t>
            </a:r>
            <a:endParaRPr lang="en-US" altLang="zh-CN" sz="900"/>
          </a:p>
          <a:p>
            <a:r>
              <a:rPr lang="en-US" altLang="zh-CN" sz="900"/>
              <a:t>  }</a:t>
            </a:r>
            <a:endParaRPr lang="en-US" altLang="zh-CN" sz="900"/>
          </a:p>
          <a:p>
            <a:r>
              <a:rPr lang="en-US" altLang="zh-CN" sz="900"/>
              <a:t>});</a:t>
            </a:r>
            <a:endParaRPr lang="en-US" altLang="zh-CN" sz="90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Log System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83555" cy="4549140"/>
          </a:xfrm>
        </p:spPr>
        <p:txBody>
          <a:bodyPr/>
          <a:p>
            <a:r>
              <a:rPr lang="en-US" altLang="zh-CN"/>
              <a:t>https://github.com/Meituan-Dianping/Logan</a:t>
            </a:r>
            <a:endParaRPr lang="en-US" altLang="zh-CN"/>
          </a:p>
          <a:p>
            <a:pPr lvl="1"/>
            <a:r>
              <a:rPr lang="en-US" altLang="zh-CN"/>
              <a:t>MIT license</a:t>
            </a:r>
            <a:endParaRPr lang="en-US" altLang="zh-CN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5300345" y="387985"/>
            <a:ext cx="6336030" cy="2476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Network Protocols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mDNS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516245" cy="4549140"/>
          </a:xfrm>
        </p:spPr>
        <p:txBody>
          <a:bodyPr>
            <a:normAutofit fontScale="8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https://blog.alexsun.top/vuepress-network-notes/application-layer-protocol/dns/mdns.html</a:t>
            </a:r>
            <a:endParaRPr lang="en-US" altLang="zh-CN"/>
          </a:p>
          <a:p>
            <a:pPr lvl="1"/>
            <a:r>
              <a:rPr lang="en-US" altLang="zh-CN"/>
              <a:t>https://baike.baidu.com/item/mdns/7544078</a:t>
            </a:r>
            <a:endParaRPr lang="en-US" altLang="zh-CN"/>
          </a:p>
          <a:p>
            <a:pPr lvl="0"/>
            <a:r>
              <a:rPr lang="zh-CN" altLang="en-US"/>
              <a:t>服务发现</a:t>
            </a:r>
            <a:endParaRPr lang="zh-CN" altLang="en-US"/>
          </a:p>
          <a:p>
            <a:pPr lvl="1"/>
            <a:r>
              <a:rPr lang="zh-CN" altLang="en-US"/>
              <a:t>设备</a:t>
            </a:r>
            <a:r>
              <a:rPr lang="en-US" altLang="zh-CN"/>
              <a:t>B</a:t>
            </a:r>
            <a:r>
              <a:rPr lang="zh-CN" altLang="en-US"/>
              <a:t>广播自己提供的服务（如</a:t>
            </a:r>
            <a:r>
              <a:rPr lang="en-US" altLang="zh-CN"/>
              <a:t> _http._tcp.local</a:t>
            </a:r>
            <a:r>
              <a:rPr lang="zh-CN" altLang="en-US"/>
              <a:t>）。</a:t>
            </a:r>
            <a:endParaRPr lang="zh-CN" altLang="en-US"/>
          </a:p>
          <a:p>
            <a:pPr lvl="1"/>
            <a:r>
              <a:rPr lang="zh-CN" altLang="en-US"/>
              <a:t>设备</a:t>
            </a:r>
            <a:r>
              <a:rPr lang="en-US" altLang="zh-CN"/>
              <a:t>A</a:t>
            </a:r>
            <a:r>
              <a:rPr lang="zh-CN" altLang="en-US"/>
              <a:t>发送服务查询请求。</a:t>
            </a:r>
            <a:endParaRPr lang="zh-CN" altLang="en-US"/>
          </a:p>
          <a:p>
            <a:pPr lvl="1"/>
            <a:r>
              <a:rPr lang="zh-CN" altLang="en-US"/>
              <a:t>设备</a:t>
            </a:r>
            <a:r>
              <a:rPr lang="en-US" altLang="zh-CN"/>
              <a:t>B</a:t>
            </a:r>
            <a:r>
              <a:rPr lang="zh-CN" altLang="en-US"/>
              <a:t>响应，提供服务的详细信息（如</a:t>
            </a:r>
            <a:r>
              <a:rPr lang="en-US" altLang="zh-CN"/>
              <a:t>IP</a:t>
            </a:r>
            <a:r>
              <a:rPr lang="zh-CN" altLang="en-US"/>
              <a:t>地址、端口号等）。</a:t>
            </a:r>
            <a:endParaRPr lang="zh-CN" altLang="en-US"/>
          </a:p>
          <a:p>
            <a:pPr lvl="0"/>
            <a:r>
              <a:rPr lang="zh-CN" altLang="en-US"/>
              <a:t>嵌入式设备通常使用轻量级的</a:t>
            </a:r>
            <a:r>
              <a:rPr lang="en-US" altLang="zh-CN"/>
              <a:t> mDNS </a:t>
            </a:r>
            <a:r>
              <a:rPr lang="zh-CN" altLang="en-US"/>
              <a:t>实现库</a:t>
            </a:r>
            <a:endParaRPr lang="zh-CN" altLang="en-US"/>
          </a:p>
          <a:p>
            <a:pPr lvl="1"/>
            <a:r>
              <a:rPr lang="en-US" altLang="zh-CN"/>
              <a:t>Avahi</a:t>
            </a:r>
            <a:r>
              <a:rPr lang="zh-CN" altLang="en-US"/>
              <a:t>：</a:t>
            </a:r>
            <a:r>
              <a:rPr lang="en-US" altLang="zh-CN"/>
              <a:t>Linux </a:t>
            </a:r>
            <a:r>
              <a:rPr lang="zh-CN" altLang="en-US"/>
              <a:t>平台常用的</a:t>
            </a:r>
            <a:r>
              <a:rPr lang="en-US" altLang="zh-CN"/>
              <a:t> mDNS </a:t>
            </a:r>
            <a:r>
              <a:rPr lang="zh-CN" altLang="en-US"/>
              <a:t>实现。</a:t>
            </a:r>
            <a:endParaRPr lang="zh-CN" altLang="en-US"/>
          </a:p>
          <a:p>
            <a:pPr lvl="1"/>
            <a:r>
              <a:rPr lang="en-US" altLang="zh-CN"/>
              <a:t>Apple Bonjour</a:t>
            </a:r>
            <a:r>
              <a:rPr lang="zh-CN" altLang="en-US"/>
              <a:t>：</a:t>
            </a:r>
            <a:r>
              <a:rPr lang="en-US" altLang="zh-CN"/>
              <a:t>macOS </a:t>
            </a:r>
            <a:r>
              <a:rPr lang="zh-CN" altLang="en-US"/>
              <a:t>和</a:t>
            </a:r>
            <a:r>
              <a:rPr lang="en-US" altLang="zh-CN"/>
              <a:t> Windows </a:t>
            </a:r>
            <a:r>
              <a:rPr lang="zh-CN" altLang="en-US"/>
              <a:t>平台的支持。</a:t>
            </a:r>
            <a:endParaRPr lang="zh-CN" altLang="en-US"/>
          </a:p>
          <a:p>
            <a:pPr lvl="1"/>
            <a:r>
              <a:rPr lang="en-US" altLang="zh-CN"/>
              <a:t>ESP-IDF</a:t>
            </a:r>
            <a:r>
              <a:rPr lang="zh-CN" altLang="en-US"/>
              <a:t>：</a:t>
            </a:r>
            <a:r>
              <a:rPr lang="en-US" altLang="zh-CN"/>
              <a:t>ESP32 </a:t>
            </a:r>
            <a:r>
              <a:rPr lang="zh-CN" altLang="en-US"/>
              <a:t>开发框架中集成了</a:t>
            </a:r>
            <a:r>
              <a:rPr lang="en-US" altLang="zh-CN"/>
              <a:t> mDNS </a:t>
            </a:r>
            <a:r>
              <a:rPr lang="zh-CN" altLang="en-US"/>
              <a:t>功能。</a:t>
            </a:r>
            <a:endParaRPr lang="zh-CN" altLang="en-US"/>
          </a:p>
          <a:p>
            <a:pPr lvl="0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ClearPath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https://www.arubanetworks.com/assets/so/SO_ClearPass.pdf</a:t>
            </a:r>
            <a:endParaRPr lang="zh-CN" altLang="en-US"/>
          </a:p>
          <a:p>
            <a:r>
              <a:rPr lang="zh-CN" altLang="en-US"/>
              <a:t>https://www.arubanetworks.com/products/security/network-access-control/secure-access/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22520" cy="4549140"/>
          </a:xfrm>
        </p:spPr>
        <p:txBody>
          <a:bodyPr/>
          <a:p>
            <a:r>
              <a:rPr lang="en-US" altLang="zh-CN"/>
              <a:t>Intro</a:t>
            </a:r>
            <a:endParaRPr lang="en-US" altLang="zh-CN"/>
          </a:p>
          <a:p>
            <a:r>
              <a:rPr lang="en-US" altLang="zh-CN"/>
              <a:t>API</a:t>
            </a:r>
            <a:endParaRPr lang="en-US" altLang="zh-CN"/>
          </a:p>
          <a:p>
            <a:pPr lvl="1"/>
            <a:r>
              <a:rPr lang="en-US" altLang="zh-CN"/>
              <a:t>https://community.arubanetworks.com/browse/articles/blogviewer?blogkey=0744ffa6-e5aa-4957-9910-c3f52b9f3055</a:t>
            </a:r>
            <a:endParaRPr lang="en-US" altLang="zh-CN"/>
          </a:p>
          <a:p>
            <a:pPr lvl="1"/>
            <a:r>
              <a:rPr lang="en-US" altLang="zh-CN"/>
              <a:t>create a new guest account</a:t>
            </a:r>
            <a:endParaRPr lang="en-US" altLang="zh-CN"/>
          </a:p>
          <a:p>
            <a:pPr lvl="2"/>
            <a:r>
              <a:rPr lang="en-US" altLang="zh-CN" sz="1800"/>
              <a:t>user name, password, expire_time, role_id</a:t>
            </a:r>
            <a:endParaRPr lang="en-US" altLang="zh-CN"/>
          </a:p>
          <a:p>
            <a:pPr lvl="1"/>
            <a:r>
              <a:rPr lang="en-US" altLang="zh-CN"/>
              <a:t>update a guest account</a:t>
            </a:r>
            <a:endParaRPr lang="en-US" altLang="zh-CN"/>
          </a:p>
          <a:p>
            <a:pPr lvl="1"/>
            <a:r>
              <a:rPr lang="en-US" altLang="zh-CN"/>
              <a:t>delete a guest account</a:t>
            </a:r>
            <a:endParaRPr lang="en-US" altLang="zh-CN"/>
          </a:p>
          <a:p>
            <a:pPr lvl="1"/>
            <a:r>
              <a:rPr lang="en-US" altLang="zh-CN"/>
              <a:t>fetch a guest account details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275195" y="1211580"/>
            <a:ext cx="4533900" cy="299466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Performance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 General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https://www.webpagetest.org/</a:t>
            </a:r>
            <a:endParaRPr lang="en-US" altLang="zh-CN"/>
          </a:p>
          <a:p>
            <a:pPr lvl="1"/>
            <a:r>
              <a:rPr lang="en-US" altLang="zh-CN"/>
              <a:t>https://web.dev/fast/#optimize-webfonts</a:t>
            </a:r>
            <a:endParaRPr lang="en-US" altLang="zh-CN"/>
          </a:p>
          <a:p>
            <a:pPr lvl="1"/>
            <a:r>
              <a:rPr lang="en-US" altLang="zh-CN"/>
              <a:t>https://developer.mozilla.org/en-US/docs/Learn/Performance/CSS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https://developer.mozilla.org/en-US/docs/Web/Performance/Lazy_loading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/>
              <a:t>https://phoenixnap.com/kb/reduce-server-response-time</a:t>
            </a:r>
            <a:endParaRPr lang="en-US" altLang="zh-CN"/>
          </a:p>
          <a:p>
            <a:pPr lvl="1"/>
            <a:r>
              <a:rPr lang="en-US" altLang="zh-CN"/>
              <a:t>https://phoenixnap.com/kb/best-website-speed-performance-test-tools#ftoc-4-varvy-pagespeed-optimmization</a:t>
            </a:r>
            <a:endParaRPr lang="en-US" altLang="zh-CN"/>
          </a:p>
          <a:p>
            <a:pPr lvl="0"/>
            <a:r>
              <a:rPr lang="en-US" altLang="zh-CN"/>
              <a:t>Lazy loading</a:t>
            </a:r>
            <a:endParaRPr lang="en-US" altLang="zh-CN"/>
          </a:p>
          <a:p>
            <a:pPr lvl="1"/>
            <a:r>
              <a:rPr lang="en-US" altLang="zh-CN"/>
              <a:t>JS</a:t>
            </a:r>
            <a:endParaRPr lang="en-US" altLang="zh-CN"/>
          </a:p>
          <a:p>
            <a:pPr lvl="2"/>
            <a:r>
              <a:rPr lang="en-US" altLang="zh-CN"/>
              <a:t>type=”module”</a:t>
            </a:r>
            <a:endParaRPr lang="en-US" altLang="zh-CN"/>
          </a:p>
          <a:p>
            <a:pPr lvl="1"/>
            <a:r>
              <a:rPr lang="en-US" altLang="zh-CN"/>
              <a:t>CSS</a:t>
            </a:r>
            <a:endParaRPr lang="en-US" altLang="zh-CN"/>
          </a:p>
          <a:p>
            <a:pPr lvl="1"/>
            <a:r>
              <a:rPr lang="en-US" altLang="zh-CN"/>
              <a:t>Images</a:t>
            </a:r>
            <a:endParaRPr lang="en-US" altLang="zh-CN"/>
          </a:p>
          <a:p>
            <a:pPr lvl="2"/>
            <a:r>
              <a:rPr lang="en-US" altLang="zh-CN"/>
              <a:t>&lt;img loading=”lazy”&gt;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FAQ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Avoid Auto Change Into HTTPS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97535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https://www.cnblogs.com/colder/p/18072929</a:t>
            </a:r>
            <a:endParaRPr lang="en-US" altLang="zh-CN"/>
          </a:p>
          <a:p>
            <a:pPr lvl="0"/>
            <a:r>
              <a:rPr lang="en-US" altLang="zh-CN"/>
              <a:t>Step</a:t>
            </a:r>
            <a:endParaRPr lang="en-US" altLang="zh-CN"/>
          </a:p>
          <a:p>
            <a:pPr lvl="1"/>
            <a:r>
              <a:rPr lang="en-US" altLang="zh-CN"/>
              <a:t>Chrome</a:t>
            </a:r>
            <a:endParaRPr lang="en-US" altLang="zh-CN"/>
          </a:p>
          <a:p>
            <a:pPr lvl="2"/>
            <a:r>
              <a:rPr lang="en-US" altLang="zh-CN"/>
              <a:t>地址栏中输入chrome://net-internals/#hsts</a:t>
            </a:r>
            <a:endParaRPr lang="en-US" altLang="zh-CN"/>
          </a:p>
          <a:p>
            <a:pPr lvl="2"/>
            <a:r>
              <a:rPr lang="en-US" altLang="zh-CN"/>
              <a:t>在Delete domain security policies中输入项目的域名，并Delete（删除）</a:t>
            </a:r>
            <a:endParaRPr lang="en-US" altLang="zh-CN"/>
          </a:p>
          <a:p>
            <a:pPr lvl="1"/>
            <a:r>
              <a:rPr lang="en-US" altLang="zh-CN"/>
              <a:t>Edge</a:t>
            </a:r>
            <a:endParaRPr lang="en-US" altLang="zh-CN"/>
          </a:p>
          <a:p>
            <a:pPr lvl="2"/>
            <a:r>
              <a:rPr lang="en-US" altLang="zh-CN"/>
              <a:t>地址栏中输入edge://net-internals/#hsts</a:t>
            </a:r>
            <a:endParaRPr lang="en-US" altLang="zh-CN"/>
          </a:p>
          <a:p>
            <a:pPr lvl="2"/>
            <a:r>
              <a:rPr lang="en-US" altLang="zh-CN"/>
              <a:t>在Delete domain security policies中输入项目的域名，并Delete（删除）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SLIDE_ID" val="custom160402_1"/>
  <p:tag name="KSO_WM_TEMPLATE_SUBCATEGORY" val="0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160402"/>
  <p:tag name="KSO_WM_SLIDE_LAYOUT" val="a_b"/>
  <p:tag name="KSO_WM_SLIDE_LAYOUT_CNT" val="1_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UNIT_TABLE_BEAUTIFY" val="smartTable{1e735b3f-35b7-4e21-9007-a310f3ead156}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5.xml><?xml version="1.0" encoding="utf-8"?>
<p:tagLst xmlns:p="http://schemas.openxmlformats.org/presentationml/2006/main">
  <p:tag name="COMMONDATA" val="eyJoZGlkIjoiODcwZjc5M2RmYzUwOWE5MjVkODVjZGMyZDUwOTRjYmEifQ=="/>
  <p:tag name="commondata" val="eyJoZGlkIjoiYjRhZjQ5NWVmZmQxNmM3NmNkNDYxNWRmNzNmMjA1ZDAifQ=="/>
</p:tagLst>
</file>

<file path=ppt/theme/theme1.xml><?xml version="1.0" encoding="utf-8"?>
<a:theme xmlns:a="http://schemas.openxmlformats.org/drawingml/2006/main" name="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8860</Words>
  <Application>WPS 演示</Application>
  <PresentationFormat>宽屏</PresentationFormat>
  <Paragraphs>461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Arial</vt:lpstr>
      <vt:lpstr>宋体</vt:lpstr>
      <vt:lpstr>Wingdings</vt:lpstr>
      <vt:lpstr>黑体</vt:lpstr>
      <vt:lpstr>微软雅黑</vt:lpstr>
      <vt:lpstr>Arial Unicode MS</vt:lpstr>
      <vt:lpstr>A000120140530A02PPBG</vt:lpstr>
      <vt:lpstr>Web Geneal Notes</vt:lpstr>
      <vt:lpstr>HTTP Status Code</vt:lpstr>
      <vt:lpstr>Common Errors</vt:lpstr>
      <vt:lpstr>Website Check List</vt:lpstr>
      <vt:lpstr>Backend API Testing Using Curl</vt:lpstr>
      <vt:lpstr>Web Server for Development</vt:lpstr>
      <vt:lpstr>CSS - 1</vt:lpstr>
      <vt:lpstr>CSS - 2</vt:lpstr>
      <vt:lpstr>Resolution Adaptation Test</vt:lpstr>
      <vt:lpstr>Browser Compatibility Test</vt:lpstr>
      <vt:lpstr>Favicon</vt:lpstr>
      <vt:lpstr>SSH</vt:lpstr>
      <vt:lpstr>SEO - General</vt:lpstr>
      <vt:lpstr>SEO - Sitemaps</vt:lpstr>
      <vt:lpstr>SEO - Robots.txt</vt:lpstr>
      <vt:lpstr>Crawl</vt:lpstr>
      <vt:lpstr>配网</vt:lpstr>
      <vt:lpstr>蓝牙配网</vt:lpstr>
      <vt:lpstr>PowerPoint 演示文稿</vt:lpstr>
      <vt:lpstr>Network Protocols</vt:lpstr>
      <vt:lpstr>mDNS</vt:lpstr>
      <vt:lpstr>ClearPath</vt:lpstr>
      <vt:lpstr>References</vt:lpstr>
      <vt:lpstr>Intro</vt:lpstr>
      <vt:lpstr>Performance</vt:lpstr>
      <vt:lpstr>In General</vt:lpstr>
      <vt:lpstr>FAQ</vt:lpstr>
      <vt:lpstr>Avoid Auto Change Into HTTPS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177</cp:revision>
  <dcterms:created xsi:type="dcterms:W3CDTF">2019-06-19T02:08:00Z</dcterms:created>
  <dcterms:modified xsi:type="dcterms:W3CDTF">2025-05-09T14:29:01Z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56402738130D44D5B0EF0648A1F64D7D</vt:lpwstr>
  </property>
</Properties>
</file>