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1.webp" ContentType="image/webp"/>
  <Override PartName="/ppt/media/image12.webp" ContentType="image/webp"/>
  <Override PartName="/ppt/media/image3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handoutMasterIdLst>
    <p:handoutMasterId r:id="rId78"/>
  </p:handoutMasterIdLst>
  <p:sldIdLst>
    <p:sldId id="256" r:id="rId3"/>
    <p:sldId id="402" r:id="rId4"/>
    <p:sldId id="943" r:id="rId5"/>
    <p:sldId id="366" r:id="rId6"/>
    <p:sldId id="754" r:id="rId7"/>
    <p:sldId id="815" r:id="rId8"/>
    <p:sldId id="876" r:id="rId9"/>
    <p:sldId id="314" r:id="rId10"/>
    <p:sldId id="325" r:id="rId11"/>
    <p:sldId id="434" r:id="rId12"/>
    <p:sldId id="488" r:id="rId13"/>
    <p:sldId id="435" r:id="rId14"/>
    <p:sldId id="284" r:id="rId15"/>
    <p:sldId id="323" r:id="rId16"/>
    <p:sldId id="329" r:id="rId17"/>
    <p:sldId id="277" r:id="rId18"/>
    <p:sldId id="333" r:id="rId20"/>
    <p:sldId id="633" r:id="rId21"/>
    <p:sldId id="337" r:id="rId22"/>
    <p:sldId id="334" r:id="rId23"/>
    <p:sldId id="341" r:id="rId24"/>
    <p:sldId id="354" r:id="rId25"/>
    <p:sldId id="574" r:id="rId26"/>
    <p:sldId id="390" r:id="rId27"/>
    <p:sldId id="711" r:id="rId28"/>
    <p:sldId id="712" r:id="rId29"/>
    <p:sldId id="713" r:id="rId30"/>
    <p:sldId id="714" r:id="rId31"/>
    <p:sldId id="715" r:id="rId32"/>
    <p:sldId id="716" r:id="rId33"/>
    <p:sldId id="717" r:id="rId34"/>
    <p:sldId id="718" r:id="rId35"/>
    <p:sldId id="719" r:id="rId36"/>
    <p:sldId id="720" r:id="rId37"/>
    <p:sldId id="941" r:id="rId38"/>
    <p:sldId id="942" r:id="rId39"/>
    <p:sldId id="721" r:id="rId40"/>
    <p:sldId id="710" r:id="rId41"/>
    <p:sldId id="937" r:id="rId42"/>
    <p:sldId id="389" r:id="rId43"/>
    <p:sldId id="938" r:id="rId44"/>
    <p:sldId id="673" r:id="rId45"/>
    <p:sldId id="672" r:id="rId46"/>
    <p:sldId id="358" r:id="rId47"/>
    <p:sldId id="528" r:id="rId48"/>
    <p:sldId id="529" r:id="rId49"/>
    <p:sldId id="359" r:id="rId50"/>
    <p:sldId id="401" r:id="rId51"/>
    <p:sldId id="362" r:id="rId52"/>
    <p:sldId id="356" r:id="rId53"/>
    <p:sldId id="722" r:id="rId54"/>
    <p:sldId id="709" r:id="rId55"/>
    <p:sldId id="723" r:id="rId56"/>
    <p:sldId id="724" r:id="rId57"/>
    <p:sldId id="516" r:id="rId58"/>
    <p:sldId id="517" r:id="rId59"/>
    <p:sldId id="518" r:id="rId60"/>
    <p:sldId id="523" r:id="rId61"/>
    <p:sldId id="524" r:id="rId62"/>
    <p:sldId id="367" r:id="rId63"/>
    <p:sldId id="368" r:id="rId64"/>
    <p:sldId id="369" r:id="rId65"/>
    <p:sldId id="570" r:id="rId66"/>
    <p:sldId id="571" r:id="rId67"/>
    <p:sldId id="572" r:id="rId68"/>
    <p:sldId id="573" r:id="rId69"/>
    <p:sldId id="705" r:id="rId70"/>
    <p:sldId id="706" r:id="rId71"/>
    <p:sldId id="707" r:id="rId72"/>
    <p:sldId id="708" r:id="rId73"/>
    <p:sldId id="939" r:id="rId74"/>
    <p:sldId id="940" r:id="rId75"/>
    <p:sldId id="944" r:id="rId76"/>
    <p:sldId id="945" r:id="rId77"/>
  </p:sldIdLst>
  <p:sldSz cx="12192000" cy="6858000"/>
  <p:notesSz cx="6858000" cy="9144000"/>
  <p:custDataLst>
    <p:tags r:id="rId8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2" Type="http://schemas.openxmlformats.org/officeDocument/2006/relationships/tags" Target="tags/tag92.xml"/><Relationship Id="rId81" Type="http://schemas.openxmlformats.org/officeDocument/2006/relationships/tableStyles" Target="tableStyles.xml"/><Relationship Id="rId80" Type="http://schemas.openxmlformats.org/officeDocument/2006/relationships/viewProps" Target="viewProps.xml"/><Relationship Id="rId8" Type="http://schemas.openxmlformats.org/officeDocument/2006/relationships/slide" Target="slides/slide6.xml"/><Relationship Id="rId79" Type="http://schemas.openxmlformats.org/officeDocument/2006/relationships/presProps" Target="presProps.xml"/><Relationship Id="rId78" Type="http://schemas.openxmlformats.org/officeDocument/2006/relationships/handoutMaster" Target="handoutMasters/handoutMaster1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5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599881"/>
            <a:ext cx="9144000" cy="682643"/>
          </a:xfrm>
        </p:spPr>
        <p:txBody>
          <a:bodyPr anchor="ctr" anchorCtr="0">
            <a:normAutofit/>
          </a:bodyPr>
          <a:lstStyle>
            <a:lvl1pPr algn="ctr">
              <a:defRPr sz="40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299335"/>
            <a:ext cx="9144000" cy="376237"/>
          </a:xfrm>
        </p:spPr>
        <p:txBody>
          <a:bodyPr anchor="ctr" anchorCtr="0"/>
          <a:lstStyle>
            <a:lvl1pPr marL="0" indent="0" algn="ctr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31219"/>
            <a:ext cx="10515600" cy="1551646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95320" y="3697371"/>
            <a:ext cx="8401360" cy="896937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1625237" y="3582865"/>
            <a:ext cx="8941526" cy="102651"/>
            <a:chOff x="3914775" y="2524125"/>
            <a:chExt cx="2428875" cy="57150"/>
          </a:xfrm>
        </p:grpSpPr>
        <p:sp>
          <p:nvSpPr>
            <p:cNvPr id="8" name="矩形 7"/>
            <p:cNvSpPr/>
            <p:nvPr/>
          </p:nvSpPr>
          <p:spPr>
            <a:xfrm>
              <a:off x="3914775" y="2524125"/>
              <a:ext cx="809625" cy="571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黑体" panose="02010609060101010101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4724400" y="2524125"/>
              <a:ext cx="809625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黑体" panose="02010609060101010101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5534025" y="2524125"/>
              <a:ext cx="809625" cy="5715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黑体" panose="02010609060101010101" charset="-122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223461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23461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7498"/>
            <a:ext cx="10515600" cy="77229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145907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1969819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145907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969819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33134" y="2522178"/>
            <a:ext cx="5309839" cy="1226171"/>
          </a:xfrm>
        </p:spPr>
        <p:txBody>
          <a:bodyPr>
            <a:normAutofit/>
          </a:bodyPr>
          <a:lstStyle>
            <a:lvl1pPr algn="ctr">
              <a:defRPr sz="7200" b="0"/>
            </a:lvl1pPr>
          </a:lstStyle>
          <a:p>
            <a:r>
              <a:rPr lang="zh-CN" altLang="en-US" dirty="0" smtClean="0"/>
              <a:t>编辑标题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  <p:sp>
        <p:nvSpPr>
          <p:cNvPr id="6" name="空心弧 5"/>
          <p:cNvSpPr/>
          <p:nvPr/>
        </p:nvSpPr>
        <p:spPr bwMode="auto">
          <a:xfrm rot="7086271">
            <a:off x="7390896" y="2034751"/>
            <a:ext cx="2201026" cy="2201026"/>
          </a:xfrm>
          <a:prstGeom prst="blockArc">
            <a:avLst>
              <a:gd name="adj1" fmla="val 5502533"/>
              <a:gd name="adj2" fmla="val 1980318"/>
              <a:gd name="adj3" fmla="val 1053"/>
            </a:avLst>
          </a:prstGeom>
          <a:solidFill>
            <a:schemeClr val="accent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8" name="内容占位符 7"/>
          <p:cNvSpPr>
            <a:spLocks noGrp="1"/>
          </p:cNvSpPr>
          <p:nvPr>
            <p:ph sz="quarter" idx="13" hasCustomPrompt="1"/>
          </p:nvPr>
        </p:nvSpPr>
        <p:spPr>
          <a:xfrm>
            <a:off x="3748670" y="3778700"/>
            <a:ext cx="3878765" cy="845746"/>
          </a:xfrm>
        </p:spPr>
        <p:txBody>
          <a:bodyPr anchor="ctr" anchorCtr="0">
            <a:normAutofit/>
          </a:bodyPr>
          <a:lstStyle>
            <a:lvl1pPr marL="0" indent="0" algn="dist">
              <a:buNone/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zh-CN" altLang="en-US" dirty="0" smtClean="0"/>
              <a:t>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994" y="245327"/>
            <a:ext cx="10514012" cy="719795"/>
          </a:xfrm>
        </p:spPr>
        <p:txBody>
          <a:bodyPr anchor="ctr" anchorCtr="0">
            <a:normAutofit/>
          </a:bodyPr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101020" y="1257090"/>
            <a:ext cx="3878116" cy="44523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122" y="1257090"/>
            <a:ext cx="5597912" cy="4452336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7600" y="408675"/>
            <a:ext cx="10516800" cy="581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tags" Target="../tags/tag3.xml"/><Relationship Id="rId13" Type="http://schemas.openxmlformats.org/officeDocument/2006/relationships/tags" Target="../tags/tag2.xml"/><Relationship Id="rId12" Type="http://schemas.openxmlformats.org/officeDocument/2006/relationships/tags" Target="../tags/tag1.xml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38200" y="182881"/>
            <a:ext cx="10515600" cy="7315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38200" y="1211581"/>
            <a:ext cx="10515600" cy="45491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Font typeface="黑体" panose="02010609060101010101" charset="-122"/>
        <a:buChar char="〉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" Target="slide69.xml"/><Relationship Id="rId8" Type="http://schemas.openxmlformats.org/officeDocument/2006/relationships/slide" Target="slide67.xml"/><Relationship Id="rId7" Type="http://schemas.openxmlformats.org/officeDocument/2006/relationships/slide" Target="slide63.xml"/><Relationship Id="rId6" Type="http://schemas.openxmlformats.org/officeDocument/2006/relationships/slide" Target="slide60.xml"/><Relationship Id="rId5" Type="http://schemas.openxmlformats.org/officeDocument/2006/relationships/slide" Target="slide58.xml"/><Relationship Id="rId4" Type="http://schemas.openxmlformats.org/officeDocument/2006/relationships/slide" Target="slide55.xml"/><Relationship Id="rId3" Type="http://schemas.openxmlformats.org/officeDocument/2006/relationships/slide" Target="slide52.xml"/><Relationship Id="rId2" Type="http://schemas.openxmlformats.org/officeDocument/2006/relationships/slide" Target="slide38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8.xml"/><Relationship Id="rId11" Type="http://schemas.openxmlformats.org/officeDocument/2006/relationships/slide" Target="slide73.xml"/><Relationship Id="rId10" Type="http://schemas.openxmlformats.org/officeDocument/2006/relationships/slide" Target="slide71.xml"/><Relationship Id="rId1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.xml"/><Relationship Id="rId1" Type="http://schemas.openxmlformats.org/officeDocument/2006/relationships/image" Target="../media/image3.web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8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0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0.xml"/><Relationship Id="rId1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33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5.xml"/><Relationship Id="rId1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9.xml"/><Relationship Id="rId1" Type="http://schemas.openxmlformats.org/officeDocument/2006/relationships/tags" Target="../tags/tag38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41.xml"/><Relationship Id="rId2" Type="http://schemas.openxmlformats.org/officeDocument/2006/relationships/image" Target="../media/image10.png"/><Relationship Id="rId1" Type="http://schemas.openxmlformats.org/officeDocument/2006/relationships/tags" Target="../tags/tag40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42.xml"/><Relationship Id="rId3" Type="http://schemas.openxmlformats.org/officeDocument/2006/relationships/image" Target="../media/image13.jpeg"/><Relationship Id="rId2" Type="http://schemas.openxmlformats.org/officeDocument/2006/relationships/image" Target="../media/image12.webp"/><Relationship Id="rId1" Type="http://schemas.openxmlformats.org/officeDocument/2006/relationships/image" Target="../media/image11.webp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6.xml"/><Relationship Id="rId1" Type="http://schemas.openxmlformats.org/officeDocument/2006/relationships/image" Target="../media/image1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8.xml"/><Relationship Id="rId1" Type="http://schemas.openxmlformats.org/officeDocument/2006/relationships/image" Target="../media/image15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52.xml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53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5.xml"/><Relationship Id="rId1" Type="http://schemas.openxmlformats.org/officeDocument/2006/relationships/tags" Target="../tags/tag5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7.xml"/><Relationship Id="rId1" Type="http://schemas.openxmlformats.org/officeDocument/2006/relationships/tags" Target="../tags/tag5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0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1.xml"/></Relationships>
</file>

<file path=ppt/slides/_rels/slide4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2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image" Target="../media/image2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image" Target="../media/image22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68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7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2.xml"/><Relationship Id="rId1" Type="http://schemas.openxmlformats.org/officeDocument/2006/relationships/image" Target="../media/image23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7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5.xml"/><Relationship Id="rId1" Type="http://schemas.openxmlformats.org/officeDocument/2006/relationships/image" Target="../media/image24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7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8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79.xml"/></Relationships>
</file>

<file path=ppt/slides/_rels/slide6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1.xml"/><Relationship Id="rId2" Type="http://schemas.openxmlformats.org/officeDocument/2006/relationships/image" Target="../media/image25.png"/><Relationship Id="rId1" Type="http://schemas.openxmlformats.org/officeDocument/2006/relationships/tags" Target="../tags/tag80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2.xml"/><Relationship Id="rId1" Type="http://schemas.openxmlformats.org/officeDocument/2006/relationships/image" Target="../media/image26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3.xml"/><Relationship Id="rId1" Type="http://schemas.openxmlformats.org/officeDocument/2006/relationships/image" Target="../media/image27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8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5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8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88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9.xml"/><Relationship Id="rId1" Type="http://schemas.openxmlformats.org/officeDocument/2006/relationships/image" Target="../media/image28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90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ctr"/>
            <a:r>
              <a:rPr lang="en-US" altLang="zh-CN" smtClean="0"/>
              <a:t>Web Server</a:t>
            </a:r>
            <a:endParaRPr lang="en-US" altLang="zh-CN" smtClean="0"/>
          </a:p>
        </p:txBody>
      </p:sp>
      <p:sp>
        <p:nvSpPr>
          <p:cNvPr id="4" name="副标题 3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524000" y="5299075"/>
            <a:ext cx="9144000" cy="688975"/>
          </a:xfrm>
        </p:spPr>
        <p:txBody>
          <a:bodyPr>
            <a:normAutofit fontScale="65000"/>
          </a:bodyPr>
          <a:p>
            <a:pPr algn="ctr"/>
            <a:r>
              <a:rPr lang="en-US" altLang="zh-CN" smtClean="0"/>
              <a:t>Sparks Lu</a:t>
            </a:r>
            <a:endParaRPr lang="en-US" altLang="zh-CN" smtClean="0"/>
          </a:p>
          <a:p>
            <a:pPr algn="ctr"/>
            <a:r>
              <a:rPr lang="en-US" altLang="zh-CN" smtClean="0"/>
              <a:t>Last updated: 3/7/2022</a:t>
            </a:r>
            <a:endParaRPr lang="zh-CN" altLang="en-US" smtClean="0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Change History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11/24/2021</a:t>
            </a:r>
            <a:endParaRPr lang="en-US" altLang="zh-CN"/>
          </a:p>
          <a:p>
            <a:pPr lvl="1"/>
            <a:r>
              <a:rPr lang="en-US" altLang="zh-CN"/>
              <a:t>Added “Lets’ Encrypt for Docker” slide</a:t>
            </a:r>
            <a:endParaRPr lang="en-US" altLang="zh-CN"/>
          </a:p>
          <a:p>
            <a:pPr lvl="0"/>
            <a:r>
              <a:rPr lang="en-US" altLang="zh-CN"/>
              <a:t>3/7/2022</a:t>
            </a:r>
            <a:endParaRPr lang="en-US" altLang="zh-CN"/>
          </a:p>
          <a:p>
            <a:pPr lvl="1"/>
            <a:r>
              <a:rPr lang="en-US" altLang="zh-CN"/>
              <a:t>Added ssh slide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Contents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en-US" altLang="zh-CN">
                <a:hlinkClick r:id="rId1" action="ppaction://hlinksldjump"/>
              </a:rPr>
              <a:t>General</a:t>
            </a:r>
            <a:endParaRPr lang="en-US" altLang="zh-CN"/>
          </a:p>
          <a:p>
            <a:r>
              <a:rPr lang="en-US" altLang="zh-CN">
                <a:hlinkClick r:id="rId2" action="ppaction://hlinksldjump"/>
              </a:rPr>
              <a:t>SSL &amp; Certificate</a:t>
            </a:r>
            <a:endParaRPr lang="en-US" altLang="zh-CN"/>
          </a:p>
          <a:p>
            <a:r>
              <a:rPr lang="en-US" altLang="zh-CN">
                <a:hlinkClick r:id="rId3" action="ppaction://hlinksldjump"/>
              </a:rPr>
              <a:t>Windows Server</a:t>
            </a:r>
            <a:endParaRPr lang="en-US" altLang="zh-CN"/>
          </a:p>
          <a:p>
            <a:r>
              <a:rPr lang="en-US" altLang="zh-CN">
                <a:hlinkClick r:id="rId4" action="ppaction://hlinksldjump"/>
              </a:rPr>
              <a:t>Zabbix</a:t>
            </a:r>
            <a:endParaRPr lang="en-US" altLang="zh-CN"/>
          </a:p>
          <a:p>
            <a:r>
              <a:rPr lang="en-US" altLang="zh-CN">
                <a:hlinkClick r:id="rId5" action="ppaction://hlinksldjump"/>
              </a:rPr>
              <a:t>AWS</a:t>
            </a:r>
            <a:endParaRPr lang="en-US" altLang="zh-CN"/>
          </a:p>
          <a:p>
            <a:r>
              <a:rPr lang="en-US" altLang="zh-CN">
                <a:hlinkClick r:id="rId6" action="ppaction://hlinksldjump"/>
              </a:rPr>
              <a:t>BaaS</a:t>
            </a:r>
            <a:endParaRPr lang="en-US" altLang="zh-CN"/>
          </a:p>
          <a:p>
            <a:r>
              <a:rPr lang="en-US" altLang="zh-CN">
                <a:hlinkClick r:id="rId7" action="ppaction://hlinksldjump"/>
              </a:rPr>
              <a:t>API Testing</a:t>
            </a:r>
            <a:endParaRPr lang="en-US" altLang="zh-CN"/>
          </a:p>
          <a:p>
            <a:r>
              <a:rPr lang="en-US" altLang="zh-CN">
                <a:hlinkClick r:id="rId8" action="ppaction://hlinksldjump"/>
              </a:rPr>
              <a:t>CMS</a:t>
            </a:r>
            <a:endParaRPr lang="en-US" altLang="zh-CN"/>
          </a:p>
          <a:p>
            <a:r>
              <a:rPr lang="en-US" altLang="zh-CN">
                <a:hlinkClick r:id="rId9" action="ppaction://hlinksldjump"/>
              </a:rPr>
              <a:t>Docker</a:t>
            </a:r>
            <a:endParaRPr lang="en-US" altLang="zh-CN"/>
          </a:p>
          <a:p>
            <a:r>
              <a:rPr lang="en-US" altLang="zh-CN">
                <a:hlinkClick r:id="rId10" action="ppaction://hlinksldjump"/>
              </a:rPr>
              <a:t>Statistics</a:t>
            </a:r>
            <a:endParaRPr lang="en-US" altLang="zh-CN">
              <a:hlinkClick r:id="rId10" action="ppaction://hlinksldjump"/>
            </a:endParaRPr>
          </a:p>
          <a:p>
            <a:r>
              <a:rPr lang="en-US" altLang="zh-CN">
                <a:hlinkClick r:id="rId11" tooltip="" action="ppaction://hlinksldjump"/>
              </a:rPr>
              <a:t>Security</a:t>
            </a:r>
            <a:endParaRPr lang="en-US" altLang="zh-CN"/>
          </a:p>
        </p:txBody>
      </p:sp>
    </p:spTree>
    <p:custDataLst>
      <p:tags r:id="rId1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General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公有云、私有云、本地化部署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430520" cy="4549140"/>
          </a:xfrm>
        </p:spPr>
        <p:txBody>
          <a:bodyPr>
            <a:normAutofit fontScale="70000"/>
          </a:bodyPr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https://xie.infoq.cn/article/6c96b1f0883b59c2a7bd1596c</a:t>
            </a:r>
            <a:endParaRPr lang="en-US" altLang="zh-CN"/>
          </a:p>
          <a:p>
            <a:pPr lvl="0"/>
            <a:r>
              <a:rPr lang="en-US" altLang="zh-CN"/>
              <a:t>Definitions</a:t>
            </a:r>
            <a:endParaRPr lang="en-US" altLang="zh-CN"/>
          </a:p>
          <a:p>
            <a:pPr lvl="1"/>
            <a:r>
              <a:rPr lang="en-US" altLang="zh-CN"/>
              <a:t>私有云(Private Clouds)是为一个客户单独使用而构建的，因而提供对数据、安全性和服务质量的最有效控制。该公司拥有基础设施，并可以控制在此基础设施上部署应用程序的方式。私有云可部署在企业数据中心的防火墙内，也可以将它们部署在一个安全的主机托管场所，私有云的核心属性是专有资源。</a:t>
            </a:r>
            <a:endParaRPr lang="en-US" altLang="zh-CN"/>
          </a:p>
          <a:p>
            <a:pPr lvl="1"/>
            <a:r>
              <a:rPr lang="en-US" altLang="zh-CN"/>
              <a:t>公有云通常指第三方提供商为用户提供的能够使用的云，公有云一般可通过 Internet 使用，可能是免费或成本低廉的，公有云的核心属性是共享资源服务。这种云有许多实例，可在当今整个开放的公有网络中提供服务。</a:t>
            </a:r>
            <a:endParaRPr lang="en-US" altLang="zh-CN"/>
          </a:p>
          <a:p>
            <a:pPr lvl="1"/>
            <a:r>
              <a:rPr lang="zh-CN" altLang="en-US"/>
              <a:t>本地化部署指运行在用户或组织所在的经营场所计算机中的软件，即自购的在自己公司营业场所运行的系统。</a:t>
            </a:r>
            <a:endParaRPr lang="zh-CN" altLang="en-US"/>
          </a:p>
          <a:p>
            <a:pPr lvl="0"/>
            <a:r>
              <a:rPr lang="en-US" altLang="zh-CN" sz="2400"/>
              <a:t>Differences</a:t>
            </a:r>
            <a:endParaRPr lang="en-US" altLang="zh-CN" sz="2400"/>
          </a:p>
          <a:p>
            <a:pPr lvl="1"/>
            <a:r>
              <a:rPr lang="zh-CN" altLang="en-US"/>
              <a:t>一个例子，说说私有云、公有云和本地化部署的区别。每个人都要住宿，租房子住相当于私有云模式，住宾馆相当于公有云模式，自己买房子住相当于本地化部署模式。</a:t>
            </a:r>
            <a:endParaRPr lang="zh-CN" altLang="en-US"/>
          </a:p>
        </p:txBody>
      </p:sp>
      <p:pic>
        <p:nvPicPr>
          <p:cNvPr id="4" name="图片 3"/>
          <p:cNvPicPr/>
          <p:nvPr/>
        </p:nvPicPr>
        <p:blipFill>
          <a:blip r:embed="rId1"/>
        </p:blipFill>
        <p:spPr>
          <a:xfrm>
            <a:off x="7807027" y="-95885"/>
            <a:ext cx="3795357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腾讯云</a:t>
            </a:r>
            <a:r>
              <a:rPr lang="en-US" altLang="zh-CN"/>
              <a:t> </a:t>
            </a:r>
            <a:r>
              <a:rPr lang="zh-CN" altLang="en-US"/>
              <a:t>配置及价格</a:t>
            </a:r>
            <a:endParaRPr lang="zh-CN" altLang="en-US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746125" y="1308735"/>
          <a:ext cx="10607675" cy="5106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560"/>
                <a:gridCol w="1178560"/>
                <a:gridCol w="1178560"/>
                <a:gridCol w="1178560"/>
                <a:gridCol w="1179195"/>
                <a:gridCol w="1178560"/>
                <a:gridCol w="1178560"/>
                <a:gridCol w="1178560"/>
                <a:gridCol w="1178560"/>
              </a:tblGrid>
              <a:tr h="9144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规格名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vCPU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RAM 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GB</a:t>
                      </a:r>
                      <a:r>
                        <a:rPr lang="zh-CN" altLang="en-US"/>
                        <a:t>）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主频</a:t>
                      </a:r>
                      <a:r>
                        <a:rPr lang="en-US" altLang="zh-CN"/>
                        <a:t> 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GHz</a:t>
                      </a:r>
                      <a:r>
                        <a:rPr lang="zh-CN" altLang="en-US"/>
                        <a:t>）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内网带宽</a:t>
                      </a:r>
                      <a:r>
                        <a:rPr lang="en-US" altLang="zh-CN"/>
                        <a:t> 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3Gbps</a:t>
                      </a:r>
                      <a:r>
                        <a:rPr lang="zh-CN" altLang="en-US"/>
                        <a:t>）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竞价价格</a:t>
                      </a:r>
                      <a:endParaRPr lang="zh-CN" altLang="en-US"/>
                    </a:p>
                    <a:p>
                      <a:pPr>
                        <a:buNone/>
                      </a:pPr>
                      <a:r>
                        <a:rPr lang="zh-CN" altLang="en-US"/>
                        <a:t>（元</a:t>
                      </a:r>
                      <a:r>
                        <a:rPr lang="en-US" altLang="zh-CN"/>
                        <a:t>/</a:t>
                      </a:r>
                      <a:r>
                        <a:rPr lang="zh-CN" altLang="en-US"/>
                        <a:t>小时）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包月价格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包年价格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对应轻量服务器价格</a:t>
                      </a:r>
                      <a:endParaRPr lang="zh-CN" altLang="en-US"/>
                    </a:p>
                  </a:txBody>
                  <a:tcPr/>
                </a:tc>
              </a:tr>
              <a:tr h="5791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SA3.MEDIUM4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2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4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600"/>
                    </a:p>
                  </a:txBody>
                  <a:tcPr>
                    <a:gradFill>
                      <a:gsLst>
                        <a:gs pos="100000">
                          <a:srgbClr val="B3CED5"/>
                        </a:gs>
                        <a:gs pos="0">
                          <a:srgbClr val="DDE3D8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120</a:t>
                      </a:r>
                      <a:endParaRPr lang="en-US" altLang="zh-CN" sz="1600"/>
                    </a:p>
                  </a:txBody>
                  <a:tcPr>
                    <a:gradFill>
                      <a:gsLst>
                        <a:gs pos="100000">
                          <a:srgbClr val="B3CED5"/>
                        </a:gs>
                        <a:gs pos="0">
                          <a:srgbClr val="DDE3D8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1176.74</a:t>
                      </a:r>
                      <a:endParaRPr lang="en-US" altLang="zh-CN" sz="1600"/>
                    </a:p>
                  </a:txBody>
                  <a:tcPr>
                    <a:gradFill>
                      <a:gsLst>
                        <a:gs pos="100000">
                          <a:srgbClr val="B3CED5"/>
                        </a:gs>
                        <a:gs pos="0">
                          <a:srgbClr val="DDE3D8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5M 70/</a:t>
                      </a:r>
                      <a:r>
                        <a:rPr lang="zh-CN" altLang="en-US" sz="1600"/>
                        <a:t>月</a:t>
                      </a:r>
                      <a:endParaRPr lang="zh-CN" altLang="en-US" sz="1600"/>
                    </a:p>
                    <a:p>
                      <a:pPr>
                        <a:buNone/>
                      </a:pPr>
                      <a:r>
                        <a:rPr lang="en-US" altLang="zh-CN" sz="1600"/>
                        <a:t>714</a:t>
                      </a:r>
                      <a:r>
                        <a:rPr lang="zh-CN" altLang="en-US" sz="1600"/>
                        <a:t>年</a:t>
                      </a:r>
                      <a:endParaRPr lang="zh-CN" altLang="en-US" sz="1600"/>
                    </a:p>
                  </a:txBody>
                  <a:tcPr>
                    <a:gradFill>
                      <a:gsLst>
                        <a:gs pos="100000">
                          <a:srgbClr val="B3CED5"/>
                        </a:gs>
                        <a:gs pos="0">
                          <a:srgbClr val="DDE3D8"/>
                        </a:gs>
                      </a:gsLst>
                      <a:lin ang="5400000" scaled="1"/>
                    </a:gradFill>
                  </a:tcPr>
                </a:tc>
              </a:tr>
              <a:tr h="8229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 SA2.LARGE8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4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8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2.6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1.5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0.1</a:t>
                      </a:r>
                      <a:endParaRPr lang="en-US" altLang="zh-CN" sz="1600"/>
                    </a:p>
                  </a:txBody>
                  <a:tcPr>
                    <a:gradFill>
                      <a:gsLst>
                        <a:gs pos="100000">
                          <a:srgbClr val="B3CED5"/>
                        </a:gs>
                        <a:gs pos="0">
                          <a:srgbClr val="DDE3D8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281</a:t>
                      </a:r>
                      <a:endParaRPr lang="en-US" altLang="zh-CN" sz="1600"/>
                    </a:p>
                  </a:txBody>
                  <a:tcPr>
                    <a:gradFill>
                      <a:gsLst>
                        <a:gs pos="100000">
                          <a:srgbClr val="B3CED5"/>
                        </a:gs>
                        <a:gs pos="0">
                          <a:srgbClr val="DDE3D8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2215.08</a:t>
                      </a:r>
                      <a:endParaRPr lang="en-US" altLang="zh-CN" sz="1600"/>
                    </a:p>
                  </a:txBody>
                  <a:tcPr>
                    <a:gradFill>
                      <a:gsLst>
                        <a:gs pos="100000">
                          <a:srgbClr val="B3CED5"/>
                        </a:gs>
                        <a:gs pos="0">
                          <a:srgbClr val="DDE3D8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245/</a:t>
                      </a:r>
                      <a:r>
                        <a:rPr lang="zh-CN" altLang="en-US" sz="1600"/>
                        <a:t>月</a:t>
                      </a:r>
                      <a:endParaRPr lang="zh-CN" altLang="en-US" sz="1600"/>
                    </a:p>
                    <a:p>
                      <a:pPr>
                        <a:buNone/>
                      </a:pPr>
                      <a:r>
                        <a:rPr lang="en-US" altLang="zh-CN" sz="1600"/>
                        <a:t>2500/</a:t>
                      </a:r>
                      <a:r>
                        <a:rPr lang="zh-CN" altLang="en-US" sz="1600"/>
                        <a:t>年</a:t>
                      </a:r>
                      <a:endParaRPr lang="zh-CN" altLang="en-US" sz="1600"/>
                    </a:p>
                  </a:txBody>
                  <a:tcPr>
                    <a:gradFill>
                      <a:gsLst>
                        <a:gs pos="100000">
                          <a:srgbClr val="B3CED5"/>
                        </a:gs>
                        <a:gs pos="0">
                          <a:srgbClr val="DDE3D8"/>
                        </a:gs>
                      </a:gsLst>
                      <a:lin ang="5400000" scaled="1"/>
                    </a:gradFill>
                  </a:tcPr>
                </a:tc>
              </a:tr>
              <a:tr h="5791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S5.2XLARGE16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8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16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2.5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3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0.0798</a:t>
                      </a:r>
                      <a:endParaRPr lang="en-US" altLang="zh-CN" sz="1600"/>
                    </a:p>
                  </a:txBody>
                  <a:tcPr>
                    <a:gradFill>
                      <a:gsLst>
                        <a:gs pos="100000">
                          <a:srgbClr val="B3CED5"/>
                        </a:gs>
                        <a:gs pos="0">
                          <a:srgbClr val="DDE3D8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640.32</a:t>
                      </a:r>
                      <a:endParaRPr lang="en-US" altLang="zh-CN" sz="1600"/>
                    </a:p>
                  </a:txBody>
                  <a:tcPr>
                    <a:gradFill>
                      <a:gsLst>
                        <a:gs pos="100000">
                          <a:srgbClr val="B3CED5"/>
                        </a:gs>
                        <a:gs pos="0">
                          <a:srgbClr val="DDE3D8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6150.48</a:t>
                      </a:r>
                      <a:endParaRPr lang="en-US" altLang="zh-CN" sz="1600"/>
                    </a:p>
                  </a:txBody>
                  <a:tcPr>
                    <a:gradFill>
                      <a:gsLst>
                        <a:gs pos="100000">
                          <a:srgbClr val="B3CED5"/>
                        </a:gs>
                        <a:gs pos="0">
                          <a:srgbClr val="DDE3D8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600"/>
                    </a:p>
                  </a:txBody>
                  <a:tcPr>
                    <a:gradFill>
                      <a:gsLst>
                        <a:gs pos="100000">
                          <a:srgbClr val="B3CED5"/>
                        </a:gs>
                        <a:gs pos="0">
                          <a:srgbClr val="DDE3D8"/>
                        </a:gs>
                      </a:gsLst>
                      <a:lin ang="5400000" scaled="1"/>
                    </a:gradFill>
                  </a:tcPr>
                </a:tc>
              </a:tr>
              <a:tr h="5791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>
                          <a:sym typeface="+mn-ea"/>
                        </a:rPr>
                        <a:t>SA2.4XLARGE32</a:t>
                      </a:r>
                      <a:endParaRPr lang="zh-CN" altLang="en-US" sz="16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16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32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2.6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3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0.398</a:t>
                      </a:r>
                      <a:endParaRPr lang="en-US" altLang="zh-CN" sz="1600"/>
                    </a:p>
                  </a:txBody>
                  <a:tcPr>
                    <a:gradFill>
                      <a:gsLst>
                        <a:gs pos="100000">
                          <a:srgbClr val="B3CED5"/>
                        </a:gs>
                        <a:gs pos="0">
                          <a:srgbClr val="DDE3D8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1000</a:t>
                      </a:r>
                      <a:endParaRPr lang="en-US" altLang="zh-CN" sz="1600"/>
                    </a:p>
                  </a:txBody>
                  <a:tcPr>
                    <a:gradFill>
                      <a:gsLst>
                        <a:gs pos="100000">
                          <a:srgbClr val="B3CED5"/>
                        </a:gs>
                        <a:gs pos="0">
                          <a:srgbClr val="DDE3D8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8362.32</a:t>
                      </a:r>
                      <a:endParaRPr lang="en-US" altLang="zh-CN" sz="1600"/>
                    </a:p>
                  </a:txBody>
                  <a:tcPr>
                    <a:gradFill>
                      <a:gsLst>
                        <a:gs pos="100000">
                          <a:srgbClr val="B3CED5"/>
                        </a:gs>
                        <a:gs pos="0">
                          <a:srgbClr val="DDE3D8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600"/>
                    </a:p>
                  </a:txBody>
                  <a:tcPr>
                    <a:gradFill>
                      <a:gsLst>
                        <a:gs pos="100000">
                          <a:srgbClr val="B3CED5"/>
                        </a:gs>
                        <a:gs pos="0">
                          <a:srgbClr val="DDE3D8"/>
                        </a:gs>
                      </a:gsLst>
                      <a:lin ang="5400000" scaled="1"/>
                    </a:gradFill>
                  </a:tcPr>
                </a:tc>
              </a:tr>
              <a:tr h="5791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SA2.8XLARGE64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32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64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2.6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5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0.796</a:t>
                      </a:r>
                      <a:endParaRPr lang="en-US" altLang="zh-CN" sz="1600"/>
                    </a:p>
                  </a:txBody>
                  <a:tcPr>
                    <a:gradFill>
                      <a:gsLst>
                        <a:gs pos="100000">
                          <a:srgbClr val="B3CED5"/>
                        </a:gs>
                        <a:gs pos="0">
                          <a:srgbClr val="DDE3D8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2098</a:t>
                      </a:r>
                      <a:endParaRPr lang="en-US" altLang="zh-CN" sz="1600"/>
                    </a:p>
                  </a:txBody>
                  <a:tcPr>
                    <a:gradFill>
                      <a:gsLst>
                        <a:gs pos="100000">
                          <a:srgbClr val="B3CED5"/>
                        </a:gs>
                        <a:gs pos="0">
                          <a:srgbClr val="DDE3D8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16226.64</a:t>
                      </a:r>
                      <a:endParaRPr lang="en-US" altLang="zh-CN" sz="1600"/>
                    </a:p>
                  </a:txBody>
                  <a:tcPr>
                    <a:gradFill>
                      <a:gsLst>
                        <a:gs pos="100000">
                          <a:srgbClr val="B3CED5"/>
                        </a:gs>
                        <a:gs pos="0">
                          <a:srgbClr val="DDE3D8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600"/>
                    </a:p>
                  </a:txBody>
                  <a:tcPr>
                    <a:gradFill>
                      <a:gsLst>
                        <a:gs pos="100000">
                          <a:srgbClr val="B3CED5"/>
                        </a:gs>
                        <a:gs pos="0">
                          <a:srgbClr val="DDE3D8"/>
                        </a:gs>
                      </a:gsLst>
                      <a:lin ang="5400000" scaled="1"/>
                    </a:gradFill>
                  </a:tcPr>
                </a:tc>
              </a:tr>
              <a:tr h="526415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600"/>
                    </a:p>
                  </a:txBody>
                  <a:tcPr>
                    <a:gradFill>
                      <a:gsLst>
                        <a:gs pos="100000">
                          <a:srgbClr val="B3CED5"/>
                        </a:gs>
                        <a:gs pos="0">
                          <a:srgbClr val="DDE3D8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600"/>
                    </a:p>
                  </a:txBody>
                  <a:tcPr>
                    <a:gradFill>
                      <a:gsLst>
                        <a:gs pos="100000">
                          <a:srgbClr val="B3CED5"/>
                        </a:gs>
                        <a:gs pos="0">
                          <a:srgbClr val="DDE3D8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600"/>
                    </a:p>
                  </a:txBody>
                  <a:tcPr>
                    <a:gradFill>
                      <a:gsLst>
                        <a:gs pos="100000">
                          <a:srgbClr val="B3CED5"/>
                        </a:gs>
                        <a:gs pos="0">
                          <a:srgbClr val="DDE3D8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600"/>
                    </a:p>
                  </a:txBody>
                  <a:tcPr>
                    <a:gradFill>
                      <a:gsLst>
                        <a:gs pos="100000">
                          <a:srgbClr val="B3CED5"/>
                        </a:gs>
                        <a:gs pos="0">
                          <a:srgbClr val="DDE3D8"/>
                        </a:gs>
                      </a:gsLst>
                      <a:lin ang="5400000" scaled="1"/>
                    </a:gradFill>
                  </a:tcPr>
                </a:tc>
              </a:tr>
              <a:tr h="526415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600"/>
                    </a:p>
                  </a:txBody>
                  <a:tcPr>
                    <a:gradFill>
                      <a:gsLst>
                        <a:gs pos="100000">
                          <a:srgbClr val="B3CED5"/>
                        </a:gs>
                        <a:gs pos="0">
                          <a:srgbClr val="DDE3D8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600"/>
                    </a:p>
                  </a:txBody>
                  <a:tcPr>
                    <a:gradFill>
                      <a:gsLst>
                        <a:gs pos="100000">
                          <a:srgbClr val="B3CED5"/>
                        </a:gs>
                        <a:gs pos="0">
                          <a:srgbClr val="DDE3D8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600"/>
                    </a:p>
                  </a:txBody>
                  <a:tcPr>
                    <a:gradFill>
                      <a:gsLst>
                        <a:gs pos="100000">
                          <a:srgbClr val="B3CED5"/>
                        </a:gs>
                        <a:gs pos="0">
                          <a:srgbClr val="DDE3D8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600"/>
                    </a:p>
                  </a:txBody>
                  <a:tcPr>
                    <a:gradFill>
                      <a:gsLst>
                        <a:gs pos="100000">
                          <a:srgbClr val="B3CED5"/>
                        </a:gs>
                        <a:gs pos="0">
                          <a:srgbClr val="DDE3D8"/>
                        </a:gs>
                      </a:gsLst>
                      <a:lin ang="5400000" scaled="1"/>
                    </a:gradFill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云硬盘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初始化</a:t>
            </a:r>
            <a:endParaRPr lang="zh-CN" altLang="en-US"/>
          </a:p>
          <a:p>
            <a:pPr lvl="1"/>
            <a:r>
              <a:rPr lang="en-US" altLang="zh-CN"/>
              <a:t>mkfs.ext4 /dev/vdb</a:t>
            </a:r>
            <a:endParaRPr lang="en-US" altLang="zh-CN"/>
          </a:p>
          <a:p>
            <a:pPr lvl="0"/>
            <a:r>
              <a:rPr lang="zh-CN" altLang="en-US"/>
              <a:t>复制</a:t>
            </a:r>
            <a:r>
              <a:rPr lang="zh-CN" altLang="en-US"/>
              <a:t>数据</a:t>
            </a:r>
            <a:endParaRPr lang="zh-CN" altLang="en-US"/>
          </a:p>
          <a:p>
            <a:pPr lvl="1"/>
            <a:r>
              <a:rPr lang="en-US" altLang="zh-CN"/>
              <a:t>screen -S copy_data</a:t>
            </a:r>
            <a:endParaRPr lang="en-US" altLang="zh-CN"/>
          </a:p>
          <a:p>
            <a:pPr lvl="1"/>
            <a:r>
              <a:rPr lang="en-US" altLang="zh-CN"/>
              <a:t>sudo rsync -avxHAX --progress /data/ /data2/</a:t>
            </a:r>
            <a:endParaRPr lang="en-US" altLang="zh-CN"/>
          </a:p>
          <a:p>
            <a:pPr lvl="1"/>
            <a:r>
              <a:rPr lang="en-US" altLang="zh-CN"/>
              <a:t>Ctrl-z</a:t>
            </a:r>
            <a:endParaRPr lang="en-US" altLang="zh-CN"/>
          </a:p>
          <a:p>
            <a:pPr lvl="1"/>
            <a:r>
              <a:rPr lang="en-US" altLang="zh-CN"/>
              <a:t>bg</a:t>
            </a:r>
            <a:endParaRPr lang="en-US" altLang="zh-CN"/>
          </a:p>
          <a:p>
            <a:pPr lvl="1"/>
            <a:r>
              <a:rPr lang="en-US" altLang="zh-CN"/>
              <a:t>screen -r copy_data</a:t>
            </a:r>
            <a:r>
              <a:rPr lang="en-US" altLang="zh-CN" b="1"/>
              <a:t>	</a:t>
            </a:r>
            <a:r>
              <a:rPr lang="en-US" altLang="zh-CN"/>
              <a:t># recover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anchor="b">
            <a:normAutofit/>
          </a:bodyPr>
          <a:p>
            <a:r>
              <a:rPr lang="en-US" altLang="zh-CN" smtClean="0"/>
              <a:t>CentOS</a:t>
            </a:r>
            <a:endParaRPr lang="en-US" altLang="zh-CN" smtClean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50000"/>
          </a:bodyPr>
          <a:p>
            <a:pPr marL="357505" indent="-357505" algn="l">
              <a:lnSpc>
                <a:spcPct val="200000"/>
              </a:lnSpc>
              <a:buClr>
                <a:schemeClr val="accent1"/>
              </a:buClr>
              <a:buSzTx/>
              <a:buFont typeface="Wingdings" panose="05000000000000000000" pitchFamily="2" charset="2"/>
              <a:buChar char=""/>
            </a:pPr>
            <a:r>
              <a:rPr lang="en-US" altLang="zh-CN" smtClean="0"/>
              <a:t>Determine CentOS version</a:t>
            </a:r>
            <a:endParaRPr lang="en-US" altLang="zh-CN" smtClean="0"/>
          </a:p>
          <a:p>
            <a:pPr marL="814705" lvl="1" indent="-357505" algn="l">
              <a:lnSpc>
                <a:spcPct val="200000"/>
              </a:lnSpc>
              <a:buClr>
                <a:schemeClr val="accent1"/>
              </a:buClr>
              <a:buSzTx/>
              <a:buFont typeface="Wingdings" panose="05000000000000000000" pitchFamily="2" charset="2"/>
              <a:buChar char=""/>
            </a:pPr>
            <a:r>
              <a:rPr lang="en-US" altLang="zh-CN" sz="2000" smtClean="0"/>
              <a:t>vim /etc/centos-release</a:t>
            </a:r>
            <a:endParaRPr lang="en-US" altLang="zh-CN" sz="2000" smtClean="0"/>
          </a:p>
          <a:p>
            <a:pPr marL="357505" lvl="0" indent="-357505" algn="l">
              <a:lnSpc>
                <a:spcPct val="200000"/>
              </a:lnSpc>
              <a:buClr>
                <a:schemeClr val="accent1"/>
              </a:buClr>
              <a:buSzTx/>
              <a:buFont typeface="Wingdings" panose="05000000000000000000" pitchFamily="2" charset="2"/>
              <a:buChar char=""/>
            </a:pPr>
            <a:r>
              <a:rPr lang="en-US" altLang="zh-CN" sz="2400" smtClean="0"/>
              <a:t>Set up the system</a:t>
            </a:r>
            <a:endParaRPr lang="en-US" altLang="zh-CN" sz="2400" smtClean="0"/>
          </a:p>
          <a:p>
            <a:pPr marL="814705" lvl="1" indent="-357505" algn="l">
              <a:lnSpc>
                <a:spcPct val="200000"/>
              </a:lnSpc>
              <a:buClr>
                <a:schemeClr val="accent1"/>
              </a:buClr>
              <a:buSzTx/>
              <a:buFont typeface="Wingdings" panose="05000000000000000000" pitchFamily="2" charset="2"/>
              <a:buChar char=""/>
            </a:pPr>
            <a:r>
              <a:rPr lang="en-US" altLang="zh-CN" sz="2000" smtClean="0"/>
              <a:t>sudo yum -y update</a:t>
            </a:r>
            <a:endParaRPr lang="en-US" altLang="zh-CN" sz="2000" smtClean="0"/>
          </a:p>
          <a:p>
            <a:pPr marL="814705" lvl="1" indent="-357505" algn="l">
              <a:lnSpc>
                <a:spcPct val="200000"/>
              </a:lnSpc>
              <a:buClr>
                <a:schemeClr val="accent1"/>
              </a:buClr>
              <a:buSzTx/>
              <a:buFont typeface="Wingdings" panose="05000000000000000000" pitchFamily="2" charset="2"/>
              <a:buChar char=""/>
            </a:pPr>
            <a:r>
              <a:rPr lang="en-US" altLang="zh-CN" sz="2000" smtClean="0"/>
              <a:t>sudo yum groupinstall -y development</a:t>
            </a:r>
            <a:endParaRPr lang="en-US" altLang="zh-CN" sz="2000" smtClean="0"/>
          </a:p>
          <a:p>
            <a:pPr marL="814705" lvl="1" indent="-357505" algn="l">
              <a:lnSpc>
                <a:spcPct val="200000"/>
              </a:lnSpc>
              <a:buClr>
                <a:schemeClr val="accent1"/>
              </a:buClr>
              <a:buSzTx/>
              <a:buFont typeface="Wingdings" panose="05000000000000000000" pitchFamily="2" charset="2"/>
              <a:buChar char=""/>
            </a:pPr>
            <a:r>
              <a:rPr lang="en-US" altLang="zh-CN" smtClean="0"/>
              <a:t>Install Python</a:t>
            </a:r>
            <a:endParaRPr lang="en-US" altLang="zh-CN" smtClean="0"/>
          </a:p>
          <a:p>
            <a:pPr marL="1271905" lvl="2" indent="-357505" algn="l">
              <a:lnSpc>
                <a:spcPct val="200000"/>
              </a:lnSpc>
              <a:buClr>
                <a:schemeClr val="accent1"/>
              </a:buClr>
              <a:buSzTx/>
              <a:buFont typeface="Wingdings" panose="05000000000000000000" pitchFamily="2" charset="2"/>
              <a:buChar char=""/>
            </a:pPr>
            <a:r>
              <a:rPr lang="en-US" altLang="zh-CN" smtClean="0"/>
              <a:t>wget http://www.python.org/ftp/python/2.7.15/Python-2.7.15.tar.xz</a:t>
            </a:r>
            <a:endParaRPr lang="en-US" altLang="zh-CN" smtClean="0"/>
          </a:p>
          <a:p>
            <a:pPr marL="1271905" lvl="2" indent="-357505" algn="l">
              <a:lnSpc>
                <a:spcPct val="200000"/>
              </a:lnSpc>
              <a:buClr>
                <a:schemeClr val="accent1"/>
              </a:buClr>
              <a:buSzTx/>
              <a:buFont typeface="Wingdings" panose="05000000000000000000" pitchFamily="2" charset="2"/>
              <a:buChar char=""/>
            </a:pPr>
            <a:r>
              <a:rPr lang="en-US" altLang="zh-CN" smtClean="0"/>
              <a:t>xz -d Python-2.7.15.tar.xz</a:t>
            </a:r>
            <a:endParaRPr lang="en-US" altLang="zh-CN" smtClean="0"/>
          </a:p>
          <a:p>
            <a:pPr marL="1271905" lvl="2" indent="-357505" algn="l">
              <a:lnSpc>
                <a:spcPct val="200000"/>
              </a:lnSpc>
              <a:buClr>
                <a:schemeClr val="accent1"/>
              </a:buClr>
              <a:buSzTx/>
              <a:buFont typeface="Wingdings" panose="05000000000000000000" pitchFamily="2" charset="2"/>
              <a:buChar char=""/>
            </a:pPr>
            <a:r>
              <a:rPr lang="en-US" altLang="zh-CN" smtClean="0"/>
              <a:t>tar xvf Python-2.7.15.tar</a:t>
            </a:r>
            <a:endParaRPr lang="en-US" altLang="zh-CN" smtClean="0"/>
          </a:p>
          <a:p>
            <a:pPr marL="1271905" lvl="2" indent="-357505" algn="l">
              <a:lnSpc>
                <a:spcPct val="200000"/>
              </a:lnSpc>
              <a:buClr>
                <a:schemeClr val="accent1"/>
              </a:buClr>
              <a:buSzTx/>
              <a:buFont typeface="Wingdings" panose="05000000000000000000" pitchFamily="2" charset="2"/>
              <a:buChar char=""/>
            </a:pPr>
            <a:r>
              <a:rPr lang="en-US" altLang="zh-CN" smtClean="0"/>
              <a:t>cd Python-2.7.15 &amp;&amp; ./configure --prefix=/usr/local &amp;&amp; make &amp;&amp; make install</a:t>
            </a:r>
            <a:endParaRPr lang="en-US" altLang="zh-CN" smtClean="0"/>
          </a:p>
          <a:p>
            <a:pPr marL="814705" lvl="1" indent="-357505" algn="l">
              <a:lnSpc>
                <a:spcPct val="200000"/>
              </a:lnSpc>
              <a:buClr>
                <a:schemeClr val="accent1"/>
              </a:buClr>
              <a:buSzTx/>
              <a:buFont typeface="Wingdings" panose="05000000000000000000" pitchFamily="2" charset="2"/>
              <a:buChar char=""/>
            </a:pPr>
            <a:r>
              <a:rPr lang="en-US" altLang="zh-CN" sz="2000" smtClean="0"/>
              <a:t>sudo yum install python-pip</a:t>
            </a:r>
            <a:endParaRPr lang="en-US" altLang="zh-CN" sz="2000" smtClean="0"/>
          </a:p>
          <a:p>
            <a:pPr marL="814705" lvl="1" indent="-357505" algn="l">
              <a:lnSpc>
                <a:spcPct val="200000"/>
              </a:lnSpc>
              <a:buClr>
                <a:schemeClr val="accent1"/>
              </a:buClr>
              <a:buSzTx/>
              <a:buFont typeface="Wingdings" panose="05000000000000000000" pitchFamily="2" charset="2"/>
              <a:buChar char=""/>
            </a:pPr>
            <a:r>
              <a:rPr lang="en-US" altLang="zh-CN" sz="2000" smtClean="0"/>
              <a:t>sudo python -m pip install “django&lt;2”</a:t>
            </a:r>
            <a:endParaRPr lang="en-US" altLang="zh-CN" smtClean="0"/>
          </a:p>
          <a:p>
            <a:pPr marL="814705" lvl="1" indent="-357505" algn="l">
              <a:lnSpc>
                <a:spcPct val="200000"/>
              </a:lnSpc>
              <a:buClr>
                <a:schemeClr val="accent1"/>
              </a:buClr>
              <a:buSzTx/>
              <a:buFont typeface="Wingdings" panose="05000000000000000000" pitchFamily="2" charset="2"/>
              <a:buChar char=""/>
            </a:pPr>
            <a:endParaRPr lang="en-US" altLang="zh-CN" smtClean="0"/>
          </a:p>
          <a:p>
            <a:pPr marL="357505" lvl="1" indent="-357505" algn="l">
              <a:lnSpc>
                <a:spcPct val="200000"/>
              </a:lnSpc>
              <a:buClr>
                <a:schemeClr val="accent1"/>
              </a:buClr>
              <a:buSzTx/>
              <a:buFont typeface="Wingdings" panose="05000000000000000000" pitchFamily="2" charset="2"/>
              <a:buChar char=""/>
            </a:pPr>
            <a:endParaRPr lang="en-US" altLang="zh-CN" smtClean="0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Ubuntu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375910" cy="4549140"/>
          </a:xfrm>
        </p:spPr>
        <p:txBody>
          <a:bodyPr>
            <a:normAutofit lnSpcReduction="20000"/>
          </a:bodyPr>
          <a:p>
            <a:r>
              <a:rPr lang="en-US" altLang="zh-CN"/>
              <a:t>Swap</a:t>
            </a:r>
            <a:endParaRPr lang="en-US" altLang="zh-CN"/>
          </a:p>
          <a:p>
            <a:pPr lvl="1"/>
            <a:r>
              <a:rPr lang="en-US" altLang="zh-CN"/>
              <a:t>Configure Swap</a:t>
            </a:r>
            <a:endParaRPr lang="en-US" altLang="zh-CN"/>
          </a:p>
          <a:p>
            <a:pPr lvl="2"/>
            <a:r>
              <a:rPr lang="en-US" altLang="zh-CN"/>
              <a:t>sudo fallocate -l 1G /swapfile</a:t>
            </a:r>
            <a:endParaRPr lang="en-US" altLang="zh-CN"/>
          </a:p>
          <a:p>
            <a:pPr lvl="2"/>
            <a:r>
              <a:rPr lang="en-US" altLang="zh-CN"/>
              <a:t>ls -lh /swapfile</a:t>
            </a:r>
            <a:endParaRPr lang="en-US" altLang="zh-CN"/>
          </a:p>
          <a:p>
            <a:pPr lvl="2"/>
            <a:r>
              <a:rPr lang="en-US" altLang="zh-CN"/>
              <a:t>sudo chmod 600 /swapfile</a:t>
            </a:r>
            <a:endParaRPr lang="en-US" altLang="zh-CN"/>
          </a:p>
          <a:p>
            <a:pPr lvl="2"/>
            <a:r>
              <a:rPr lang="en-US" altLang="zh-CN"/>
              <a:t>sudo mkswap /swapfile</a:t>
            </a:r>
            <a:endParaRPr lang="en-US" altLang="zh-CN"/>
          </a:p>
          <a:p>
            <a:pPr lvl="2"/>
            <a:r>
              <a:rPr lang="en-US" altLang="zh-CN"/>
              <a:t>sudo swapon /swapfile</a:t>
            </a:r>
            <a:endParaRPr lang="en-US" altLang="zh-CN"/>
          </a:p>
          <a:p>
            <a:pPr lvl="2"/>
            <a:r>
              <a:rPr lang="en-US" altLang="zh-CN"/>
              <a:t>sudo swapon --show</a:t>
            </a:r>
            <a:endParaRPr lang="en-US" altLang="zh-CN"/>
          </a:p>
          <a:p>
            <a:pPr lvl="2"/>
            <a:r>
              <a:rPr lang="en-US" altLang="zh-CN"/>
              <a:t>free -h</a:t>
            </a:r>
            <a:endParaRPr lang="en-US" altLang="zh-CN"/>
          </a:p>
          <a:p>
            <a:pPr lvl="2"/>
            <a:r>
              <a:rPr lang="en-US" altLang="zh-CN"/>
              <a:t>echo '/swapfile none swap sw 0 0' | sudo tee -a /etc/fstab</a:t>
            </a:r>
            <a:endParaRPr lang="en-US" altLang="zh-CN"/>
          </a:p>
          <a:p>
            <a:pPr lvl="1"/>
            <a:r>
              <a:rPr lang="en-US" altLang="zh-CN"/>
              <a:t>Swappiness</a:t>
            </a:r>
            <a:endParaRPr lang="en-US" altLang="zh-CN"/>
          </a:p>
          <a:p>
            <a:pPr lvl="2"/>
            <a:r>
              <a:rPr lang="en-US" altLang="zh-CN"/>
              <a:t>cat /proc/sys/vm/swappiness</a:t>
            </a:r>
            <a:endParaRPr lang="en-US" altLang="zh-CN"/>
          </a:p>
          <a:p>
            <a:pPr lvl="2"/>
            <a:r>
              <a:rPr lang="en-US" altLang="zh-CN"/>
              <a:t>sudo nano /etc/sysctl.conf</a:t>
            </a:r>
            <a:endParaRPr lang="en-US" altLang="zh-CN"/>
          </a:p>
          <a:p>
            <a:pPr lvl="2"/>
            <a:r>
              <a:rPr lang="en-US" altLang="zh-CN"/>
              <a:t>vm.swappiness=10</a:t>
            </a:r>
            <a:endParaRPr lang="en-US" altLang="zh-CN"/>
          </a:p>
          <a:p>
            <a:pPr lvl="2"/>
            <a:r>
              <a:rPr lang="en-US" altLang="zh-CN"/>
              <a:t>vm.vfs_cache_pressure=50</a:t>
            </a:r>
            <a:endParaRPr lang="en-US" altLang="zh-CN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841490" y="1211580"/>
            <a:ext cx="4589145" cy="45491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黑体" panose="02010609060101010101" charset="-122"/>
              <a:buChar char="〉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Tools</a:t>
            </a:r>
            <a:endParaRPr lang="en-US" altLang="zh-CN"/>
          </a:p>
          <a:p>
            <a:pPr lvl="2"/>
            <a:r>
              <a:rPr lang="en-US" altLang="zh-CN"/>
              <a:t>check port status</a:t>
            </a:r>
            <a:endParaRPr lang="en-US" altLang="zh-CN"/>
          </a:p>
          <a:p>
            <a:pPr lvl="3"/>
            <a:r>
              <a:rPr lang="en-US" altLang="zh-CN"/>
              <a:t>netstat -tuln</a:t>
            </a:r>
            <a:endParaRPr lang="en-US" altLang="zh-CN"/>
          </a:p>
          <a:p>
            <a:pPr lvl="3"/>
            <a:r>
              <a:rPr lang="en-US" altLang="zh-CN">
                <a:sym typeface="+mn-ea"/>
              </a:rPr>
              <a:t>sudo nmap -sT -O localhost</a:t>
            </a:r>
            <a:endParaRPr lang="en-US" altLang="zh-CN"/>
          </a:p>
          <a:p>
            <a:pPr lvl="3"/>
            <a:r>
              <a:rPr lang="en-US" altLang="zh-CN">
                <a:sym typeface="+mn-ea"/>
              </a:rPr>
              <a:t>sudo lsof -i -P -n | grep LISTEN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SQL Server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4563745" cy="4549140"/>
          </a:xfrm>
        </p:spPr>
        <p:txBody>
          <a:bodyPr/>
          <a:p>
            <a:r>
              <a:rPr lang="en-US" altLang="zh-CN"/>
              <a:t>Setup</a:t>
            </a:r>
            <a:endParaRPr lang="en-US" altLang="zh-CN"/>
          </a:p>
          <a:p>
            <a:pPr lvl="1"/>
            <a:r>
              <a:rPr lang="en-US" altLang="zh-CN"/>
              <a:t>Install</a:t>
            </a:r>
            <a:endParaRPr lang="en-US" altLang="zh-CN"/>
          </a:p>
          <a:p>
            <a:pPr lvl="1"/>
            <a:r>
              <a:rPr lang="en-US" altLang="zh-CN"/>
              <a:t>Enable TCP/IP</a:t>
            </a:r>
            <a:endParaRPr lang="en-US" altLang="zh-CN"/>
          </a:p>
          <a:p>
            <a:pPr lvl="2"/>
            <a:r>
              <a:rPr lang="en-US" altLang="zh-CN"/>
              <a:t>Open “SQL Server Configuration Manager”</a:t>
            </a:r>
            <a:endParaRPr lang="en-US" altLang="zh-CN"/>
          </a:p>
          <a:p>
            <a:pPr lvl="2"/>
            <a:r>
              <a:rPr lang="en-US" altLang="zh-CN"/>
              <a:t>Expand “SQL Server Network Configuration”</a:t>
            </a:r>
            <a:endParaRPr lang="en-US" altLang="zh-CN"/>
          </a:p>
          <a:p>
            <a:pPr lvl="2"/>
            <a:r>
              <a:rPr lang="en-US" altLang="zh-CN"/>
              <a:t>Turn “TCP/IP” on</a:t>
            </a:r>
            <a:endParaRPr lang="en-US" altLang="zh-CN"/>
          </a:p>
        </p:txBody>
      </p:sp>
      <p:pic>
        <p:nvPicPr>
          <p:cNvPr id="106" name="图片 105"/>
          <p:cNvPicPr/>
          <p:nvPr/>
        </p:nvPicPr>
        <p:blipFill>
          <a:blip r:embed="rId1"/>
          <a:stretch>
            <a:fillRect/>
          </a:stretch>
        </p:blipFill>
        <p:spPr>
          <a:xfrm>
            <a:off x="5857875" y="1647190"/>
            <a:ext cx="6135370" cy="261048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SSH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4928870" cy="4549140"/>
          </a:xfrm>
        </p:spPr>
        <p:txBody>
          <a:bodyPr>
            <a:normAutofit fontScale="70000"/>
          </a:bodyPr>
          <a:p>
            <a:r>
              <a:rPr lang="zh-CN" altLang="en-US"/>
              <a:t>/etc/ssh/sshd_config</a:t>
            </a:r>
            <a:endParaRPr lang="zh-CN" altLang="en-US"/>
          </a:p>
          <a:p>
            <a:pPr lvl="1"/>
            <a:r>
              <a:rPr lang="zh-CN" altLang="en-US"/>
              <a:t>PasswordAuthentication</a:t>
            </a:r>
            <a:endParaRPr lang="zh-CN" altLang="en-US"/>
          </a:p>
          <a:p>
            <a:pPr lvl="2"/>
            <a:r>
              <a:rPr lang="en-US" altLang="zh-CN"/>
              <a:t>no -&gt; yes</a:t>
            </a:r>
            <a:endParaRPr lang="en-US" altLang="zh-CN"/>
          </a:p>
          <a:p>
            <a:pPr lvl="1"/>
            <a:r>
              <a:rPr lang="en-US" altLang="zh-CN" sz="2000"/>
              <a:t>Avoid ssh connection freeze</a:t>
            </a:r>
            <a:endParaRPr lang="en-US" altLang="zh-CN" sz="2000"/>
          </a:p>
          <a:p>
            <a:pPr lvl="2"/>
            <a:r>
              <a:rPr lang="en-US" altLang="zh-CN" sz="1800"/>
              <a:t>TCPKeepAlive yes</a:t>
            </a:r>
            <a:endParaRPr lang="en-US" altLang="zh-CN" sz="1800"/>
          </a:p>
          <a:p>
            <a:pPr lvl="2"/>
            <a:r>
              <a:rPr lang="en-US" altLang="zh-CN" sz="1800"/>
              <a:t>ClientAliveInterval 100</a:t>
            </a:r>
            <a:endParaRPr lang="en-US" altLang="zh-CN" sz="1800"/>
          </a:p>
          <a:p>
            <a:pPr lvl="2"/>
            <a:r>
              <a:rPr lang="en-US" altLang="zh-CN" sz="1800"/>
              <a:t>ClientAliveCountMax 3000</a:t>
            </a:r>
            <a:endParaRPr lang="en-US" altLang="zh-CN" sz="1800"/>
          </a:p>
          <a:p>
            <a:pPr lvl="1"/>
            <a:r>
              <a:rPr lang="en-US" altLang="zh-CN"/>
              <a:t>sudo service sshd restart</a:t>
            </a:r>
            <a:endParaRPr lang="en-US" altLang="zh-CN"/>
          </a:p>
          <a:p>
            <a:pPr lvl="0"/>
            <a:r>
              <a:rPr lang="en-US" altLang="zh-CN"/>
              <a:t>ssh client</a:t>
            </a:r>
            <a:endParaRPr lang="en-US" altLang="zh-CN"/>
          </a:p>
          <a:p>
            <a:pPr lvl="1"/>
            <a:r>
              <a:rPr lang="en-US" altLang="zh-CN"/>
              <a:t>avoid freeze</a:t>
            </a:r>
            <a:endParaRPr lang="en-US" altLang="zh-CN"/>
          </a:p>
          <a:p>
            <a:pPr lvl="2"/>
            <a:r>
              <a:rPr lang="en-US" altLang="zh-CN"/>
              <a:t>~/.ssh/config</a:t>
            </a:r>
            <a:endParaRPr lang="en-US" altLang="zh-CN"/>
          </a:p>
          <a:p>
            <a:pPr lvl="3"/>
            <a:r>
              <a:rPr lang="en-US" altLang="zh-CN"/>
              <a:t>ServerAliveInterval	// seconds that the client will wait before sending a null packet to the server (to keep the connection alive)</a:t>
            </a:r>
            <a:endParaRPr lang="en-US" altLang="zh-CN"/>
          </a:p>
          <a:p>
            <a:pPr lvl="3"/>
            <a:r>
              <a:rPr lang="en-US" altLang="zh-CN"/>
              <a:t>ClientAliveInterval	// number of seconds that the server will wait before sending a null packet to the client (to keep the connection alive).</a:t>
            </a:r>
            <a:endParaRPr lang="en-US" altLang="zh-CN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424930" y="1211580"/>
            <a:ext cx="4928870" cy="454914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黑体" panose="02010609060101010101" charset="-122"/>
              <a:buChar char="〉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/>
              <a:t>Store keys to avoid password input each time</a:t>
            </a:r>
            <a:endParaRPr lang="en-US" altLang="zh-CN" sz="1800"/>
          </a:p>
          <a:p>
            <a:pPr lvl="1"/>
            <a:r>
              <a:rPr lang="en-US" altLang="zh-CN" sz="1500"/>
              <a:t>generate public/private key pair</a:t>
            </a:r>
            <a:endParaRPr lang="en-US" altLang="zh-CN" sz="1500"/>
          </a:p>
          <a:p>
            <a:pPr lvl="2"/>
            <a:r>
              <a:rPr lang="en-US" altLang="zh-CN" sz="1350"/>
              <a:t>ssh-keygen -t rsa -b 4096 -C "telegram-be-deploy"</a:t>
            </a:r>
            <a:endParaRPr lang="en-US" altLang="zh-CN" sz="1350"/>
          </a:p>
          <a:p>
            <a:pPr lvl="3"/>
            <a:r>
              <a:rPr lang="en-US" altLang="zh-CN" sz="1350"/>
              <a:t>-t: type</a:t>
            </a:r>
            <a:endParaRPr lang="en-US" altLang="zh-CN" sz="1350"/>
          </a:p>
          <a:p>
            <a:pPr lvl="3"/>
            <a:r>
              <a:rPr lang="en-US" altLang="zh-CN" sz="1350"/>
              <a:t>-b: number of bits in the key to create</a:t>
            </a:r>
            <a:endParaRPr lang="en-US" altLang="zh-CN" sz="1350"/>
          </a:p>
          <a:p>
            <a:pPr lvl="3"/>
            <a:r>
              <a:rPr lang="en-US" altLang="zh-CN" sz="1350"/>
              <a:t>-C: comment</a:t>
            </a:r>
            <a:endParaRPr lang="en-US" altLang="zh-CN" sz="1350"/>
          </a:p>
          <a:p>
            <a:pPr lvl="3"/>
            <a:r>
              <a:rPr lang="en-US" altLang="zh-CN" sz="1350"/>
              <a:t>generated into ~/.ssh folder</a:t>
            </a:r>
            <a:endParaRPr lang="en-US" altLang="zh-CN" sz="1350"/>
          </a:p>
          <a:p>
            <a:pPr lvl="1"/>
            <a:r>
              <a:rPr lang="en-US" altLang="zh-CN" sz="1500">
                <a:sym typeface="+mn-ea"/>
              </a:rPr>
              <a:t>copy public key to remote server</a:t>
            </a:r>
            <a:endParaRPr lang="en-US" altLang="zh-CN" sz="1500">
              <a:sym typeface="+mn-ea"/>
            </a:endParaRPr>
          </a:p>
          <a:p>
            <a:pPr lvl="2"/>
            <a:r>
              <a:rPr lang="en-US" altLang="zh-CN" sz="1350"/>
              <a:t>ssh-copy-id -p 22 root@your-server-ip</a:t>
            </a:r>
            <a:endParaRPr lang="en-US" altLang="zh-CN" sz="1350"/>
          </a:p>
          <a:p>
            <a:pPr lvl="0"/>
            <a:r>
              <a:rPr lang="en-US" altLang="zh-CN" sz="1800"/>
              <a:t>Generate secret keys</a:t>
            </a:r>
            <a:endParaRPr lang="en-US" altLang="zh-CN" sz="1800"/>
          </a:p>
          <a:p>
            <a:pPr lvl="1"/>
            <a:r>
              <a:rPr lang="en-US" altLang="zh-CN" sz="1500"/>
              <a:t>python -c 'import secrets; print(secrets.token_hex(32))'</a:t>
            </a:r>
            <a:endParaRPr lang="en-US" altLang="zh-CN" sz="1500"/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Windows Server - HTTPS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4795520" cy="4549140"/>
          </a:xfrm>
        </p:spPr>
        <p:txBody>
          <a:bodyPr/>
          <a:p>
            <a:r>
              <a:rPr lang="en-US" altLang="zh-CN"/>
              <a:t>Cert</a:t>
            </a:r>
            <a:endParaRPr lang="en-US" altLang="zh-CN"/>
          </a:p>
          <a:p>
            <a:pPr lvl="1"/>
            <a:r>
              <a:rPr lang="en-US" altLang="zh-CN"/>
              <a:t>keytool -import -alias example -keystore  "C:\Program Files (x86)\Java\jre1.6.0_22\lib\security\cacerts" -file example.cer</a:t>
            </a:r>
            <a:endParaRPr lang="en-US" altLang="zh-CN"/>
          </a:p>
          <a:p>
            <a:pPr lvl="2"/>
            <a:r>
              <a:rPr lang="en-US" altLang="zh-CN"/>
              <a:t>password: changeit</a:t>
            </a:r>
            <a:endParaRPr lang="en-US" altLang="zh-CN"/>
          </a:p>
          <a:p>
            <a:pPr lvl="0"/>
            <a:r>
              <a:rPr lang="en-US" altLang="zh-CN"/>
              <a:t>Server SSL test</a:t>
            </a:r>
            <a:endParaRPr lang="en-US" altLang="zh-CN"/>
          </a:p>
          <a:p>
            <a:pPr lvl="1"/>
            <a:r>
              <a:rPr lang="en-US" altLang="zh-CN"/>
              <a:t>https://www.ssllabs.com/ssltest/analyze.html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7425" y="1705610"/>
            <a:ext cx="5508625" cy="283781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Web Server Architecture</a:t>
            </a:r>
            <a:endParaRPr lang="en-US" altLang="zh-CN"/>
          </a:p>
        </p:txBody>
      </p:sp>
      <p:sp>
        <p:nvSpPr>
          <p:cNvPr id="4" name="圆角矩形 3"/>
          <p:cNvSpPr/>
          <p:nvPr/>
        </p:nvSpPr>
        <p:spPr>
          <a:xfrm>
            <a:off x="2856865" y="4996815"/>
            <a:ext cx="3242945" cy="109093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Nginx</a:t>
            </a:r>
            <a:endParaRPr lang="en-US" altLang="zh-CN"/>
          </a:p>
        </p:txBody>
      </p:sp>
      <p:sp>
        <p:nvSpPr>
          <p:cNvPr id="5" name="圆角矩形 4"/>
          <p:cNvSpPr/>
          <p:nvPr/>
        </p:nvSpPr>
        <p:spPr>
          <a:xfrm>
            <a:off x="3049270" y="3780790"/>
            <a:ext cx="3050540" cy="109093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Django</a:t>
            </a:r>
            <a:endParaRPr lang="en-US" altLang="zh-CN"/>
          </a:p>
        </p:txBody>
      </p:sp>
      <p:sp>
        <p:nvSpPr>
          <p:cNvPr id="6" name="圆角矩形 5"/>
          <p:cNvSpPr/>
          <p:nvPr/>
        </p:nvSpPr>
        <p:spPr>
          <a:xfrm>
            <a:off x="6234430" y="3761105"/>
            <a:ext cx="3050540" cy="109093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Bootstrap</a:t>
            </a:r>
            <a:endParaRPr lang="en-US" altLang="zh-CN"/>
          </a:p>
        </p:txBody>
      </p:sp>
      <p:sp>
        <p:nvSpPr>
          <p:cNvPr id="3" name="圆角矩形 2"/>
          <p:cNvSpPr/>
          <p:nvPr/>
        </p:nvSpPr>
        <p:spPr>
          <a:xfrm>
            <a:off x="6234430" y="4996815"/>
            <a:ext cx="3242945" cy="109093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Apache + mod_wsgi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Nginx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4829175" cy="4549140"/>
          </a:xfrm>
        </p:spPr>
        <p:txBody>
          <a:bodyPr>
            <a:normAutofit lnSpcReduction="10000"/>
          </a:bodyPr>
          <a:p>
            <a:r>
              <a:rPr lang="en-US" altLang="zh-CN"/>
              <a:t>Install</a:t>
            </a:r>
            <a:endParaRPr lang="en-US" altLang="zh-CN"/>
          </a:p>
          <a:p>
            <a:pPr lvl="1"/>
            <a:r>
              <a:rPr lang="en-US" altLang="zh-CN" sz="2000"/>
              <a:t>sudo apt install nginx</a:t>
            </a:r>
            <a:endParaRPr lang="en-US" altLang="zh-CN"/>
          </a:p>
          <a:p>
            <a:r>
              <a:rPr lang="en-US" altLang="zh-CN"/>
              <a:t>Configuration Files</a:t>
            </a:r>
            <a:endParaRPr lang="en-US" altLang="zh-CN"/>
          </a:p>
          <a:p>
            <a:pPr lvl="1"/>
            <a:r>
              <a:rPr lang="en-US" altLang="zh-CN"/>
              <a:t>/etc/nginx/nginx.conf</a:t>
            </a:r>
            <a:endParaRPr lang="en-US" altLang="zh-CN"/>
          </a:p>
          <a:p>
            <a:pPr lvl="1"/>
            <a:r>
              <a:rPr lang="en-US" altLang="zh-CN"/>
              <a:t>/etc/nginx/conf.d/*.conf</a:t>
            </a:r>
            <a:endParaRPr lang="en-US" altLang="zh-CN"/>
          </a:p>
          <a:p>
            <a:pPr lvl="1"/>
            <a:r>
              <a:rPr lang="en-US" altLang="zh-CN"/>
              <a:t>/etc/nginx/sites-available</a:t>
            </a:r>
            <a:endParaRPr lang="en-US" altLang="zh-CN"/>
          </a:p>
          <a:p>
            <a:pPr lvl="1"/>
            <a:r>
              <a:rPr lang="en-US" altLang="zh-CN"/>
              <a:t>/etc/nginx/sites-enabled</a:t>
            </a:r>
            <a:endParaRPr lang="en-US" altLang="zh-CN"/>
          </a:p>
          <a:p>
            <a:pPr lvl="1"/>
            <a:r>
              <a:rPr lang="en-US" altLang="zh-CN"/>
              <a:t>/var/log/nginx/</a:t>
            </a:r>
            <a:endParaRPr lang="en-US" altLang="zh-CN"/>
          </a:p>
          <a:p>
            <a:pPr lvl="0"/>
            <a:r>
              <a:rPr lang="en-US" altLang="zh-CN"/>
              <a:t>Commands</a:t>
            </a:r>
            <a:endParaRPr lang="en-US" altLang="zh-CN"/>
          </a:p>
          <a:p>
            <a:pPr lvl="1"/>
            <a:r>
              <a:rPr lang="en-US" altLang="zh-CN"/>
              <a:t>nginx -v</a:t>
            </a:r>
            <a:endParaRPr lang="en-US" altLang="zh-CN"/>
          </a:p>
          <a:p>
            <a:pPr lvl="1"/>
            <a:r>
              <a:rPr lang="en-US" altLang="zh-CN"/>
              <a:t>nginx -h</a:t>
            </a:r>
            <a:endParaRPr lang="en-US" altLang="zh-CN"/>
          </a:p>
          <a:p>
            <a:pPr lvl="1"/>
            <a:r>
              <a:rPr lang="en-US" altLang="zh-CN"/>
              <a:t>service nginx start/stop/restart</a:t>
            </a:r>
            <a:endParaRPr lang="en-US" altLang="zh-CN"/>
          </a:p>
          <a:p>
            <a:pPr lvl="1"/>
            <a:r>
              <a:rPr lang="en-US" altLang="zh-CN"/>
              <a:t>nginx -s reload</a:t>
            </a:r>
            <a:endParaRPr lang="en-US" altLang="zh-CN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370955" y="1228725"/>
            <a:ext cx="4829175" cy="45491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黑体" panose="02010609060101010101" charset="-122"/>
              <a:buChar char="〉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Content type</a:t>
            </a:r>
            <a:endParaRPr lang="en-US" altLang="zh-CN"/>
          </a:p>
          <a:p>
            <a:pPr lvl="1"/>
            <a:r>
              <a:rPr lang="en-US" altLang="zh-CN"/>
              <a:t>/etc/nginx/mime.types</a:t>
            </a:r>
            <a:endParaRPr lang="en-US" altLang="zh-CN"/>
          </a:p>
          <a:p>
            <a:pPr lvl="0"/>
            <a:r>
              <a:rPr lang="en-US" altLang="zh-CN"/>
              <a:t>gzip</a:t>
            </a:r>
            <a:endParaRPr lang="en-US" altLang="zh-CN"/>
          </a:p>
          <a:p>
            <a:pPr lvl="1"/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Nginx Configuration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154430"/>
            <a:ext cx="10515600" cy="1928495"/>
          </a:xfrm>
        </p:spPr>
        <p:txBody>
          <a:bodyPr/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https://nginx.org/en/docs/http/ngx_http_core_module.html</a:t>
            </a:r>
            <a:endParaRPr lang="en-US" altLang="zh-CN"/>
          </a:p>
          <a:p>
            <a:r>
              <a:rPr lang="en-US" altLang="zh-CN"/>
              <a:t>Config options</a:t>
            </a:r>
            <a:endParaRPr lang="en-US" altLang="zh-CN"/>
          </a:p>
          <a:p>
            <a:pPr lvl="1"/>
            <a:r>
              <a:rPr lang="en-US" altLang="zh-CN"/>
              <a:t>max_ranges:</a:t>
            </a:r>
            <a:endParaRPr lang="en-US" altLang="zh-CN"/>
          </a:p>
          <a:p>
            <a:pPr lvl="2"/>
            <a:r>
              <a:rPr lang="en-US" altLang="zh-CN"/>
              <a:t>0 to disable byte-range support</a:t>
            </a:r>
            <a:endParaRPr lang="en-US" altLang="zh-CN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838200" y="3082925"/>
          <a:ext cx="10605135" cy="294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165"/>
                <a:gridCol w="3171825"/>
                <a:gridCol w="458914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max_ranges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Limits the maximum allowed number of ranges in byte-range requests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Default: not limited</a:t>
                      </a:r>
                      <a:endParaRPr lang="en-US" altLang="zh-CN" sz="1400"/>
                    </a:p>
                    <a:p>
                      <a:pPr>
                        <a:buNone/>
                      </a:pPr>
                      <a:r>
                        <a:rPr lang="en-US" altLang="zh-CN" sz="1400"/>
                        <a:t>0: disable byte-range support</a:t>
                      </a:r>
                      <a:endParaRPr lang="en-US" altLang="zh-CN" sz="1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proxy_connect_timeout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proxy_send_timeout</a:t>
                      </a:r>
                      <a:endParaRPr lang="zh-CN" altLang="en-US" sz="14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proxy_read_timeout</a:t>
                      </a:r>
                      <a:endParaRPr lang="zh-CN" altLang="en-US" sz="14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send_timeout</a:t>
                      </a:r>
                      <a:endParaRPr lang="zh-CN" altLang="en-US" sz="14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limit_rate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limit_rate 512k;</a:t>
                      </a:r>
                      <a:r>
                        <a:rPr lang="en-US" altLang="zh-CN" sz="1400"/>
                        <a:t>  // limit bandwidth to 512K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该指令用于限制向客户端传输数据的速度，单位是Byte/s每秒传输的字节数，设置0禁用限制功能。</a:t>
                      </a:r>
                      <a:endParaRPr lang="zh-CN" altLang="en-US" sz="1400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anchor="b">
            <a:normAutofit/>
          </a:bodyPr>
          <a:p>
            <a:r>
              <a:rPr lang="en-US" altLang="zh-CN" smtClean="0"/>
              <a:t>Apache</a:t>
            </a:r>
            <a:endParaRPr lang="en-US" altLang="zh-CN" smtClean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70000"/>
          </a:bodyPr>
          <a:p>
            <a:pPr marL="357505" indent="-357505" algn="l">
              <a:lnSpc>
                <a:spcPct val="200000"/>
              </a:lnSpc>
              <a:buClr>
                <a:schemeClr val="accent1"/>
              </a:buClr>
              <a:buSzTx/>
              <a:buFont typeface="Wingdings" panose="05000000000000000000" pitchFamily="2" charset="2"/>
              <a:buChar char=""/>
            </a:pPr>
            <a:r>
              <a:rPr lang="en-US" altLang="zh-CN" smtClean="0"/>
              <a:t>Install</a:t>
            </a:r>
            <a:endParaRPr lang="en-US" altLang="zh-CN" smtClean="0"/>
          </a:p>
          <a:p>
            <a:pPr marL="357505" indent="-357505" algn="l">
              <a:lnSpc>
                <a:spcPct val="200000"/>
              </a:lnSpc>
              <a:buClr>
                <a:schemeClr val="accent1"/>
              </a:buClr>
              <a:buSzTx/>
              <a:buFont typeface="Wingdings" panose="05000000000000000000" pitchFamily="2" charset="2"/>
              <a:buChar char=""/>
            </a:pPr>
            <a:r>
              <a:rPr lang="en-US" altLang="zh-CN" smtClean="0"/>
              <a:t>Run as a service</a:t>
            </a:r>
            <a:endParaRPr lang="en-US" altLang="zh-CN" smtClean="0"/>
          </a:p>
          <a:p>
            <a:pPr lvl="1" algn="l">
              <a:lnSpc>
                <a:spcPct val="200000"/>
              </a:lnSpc>
              <a:buFont typeface="Wingdings" panose="05000000000000000000" charset="0"/>
              <a:buChar char="l"/>
            </a:pPr>
            <a:r>
              <a:rPr lang="en-US" altLang="zh-CN" smtClean="0"/>
              <a:t>httpd.exe -k install</a:t>
            </a:r>
            <a:endParaRPr lang="en-US" altLang="zh-CN" smtClean="0"/>
          </a:p>
          <a:p>
            <a:pPr lvl="1" algn="l">
              <a:lnSpc>
                <a:spcPct val="200000"/>
              </a:lnSpc>
              <a:buFont typeface="Wingdings" panose="05000000000000000000" charset="0"/>
              <a:buChar char="l"/>
            </a:pPr>
            <a:r>
              <a:rPr lang="en-US" altLang="zh-CN" smtClean="0"/>
              <a:t>conf/httpd.conf</a:t>
            </a:r>
            <a:endParaRPr lang="en-US" altLang="zh-CN" smtClean="0"/>
          </a:p>
          <a:p>
            <a:pPr lvl="0" algn="l">
              <a:lnSpc>
                <a:spcPct val="200000"/>
              </a:lnSpc>
              <a:buFont typeface="Wingdings" panose="05000000000000000000" charset="0"/>
              <a:buChar char="l"/>
            </a:pPr>
            <a:r>
              <a:rPr lang="en-US" altLang="zh-CN" smtClean="0"/>
              <a:t>WSGI (Web Service Gateway Interface)</a:t>
            </a:r>
            <a:endParaRPr lang="en-US" altLang="zh-CN" smtClean="0"/>
          </a:p>
          <a:p>
            <a:pPr lvl="1" algn="l">
              <a:lnSpc>
                <a:spcPct val="200000"/>
              </a:lnSpc>
              <a:buFont typeface="Wingdings" panose="05000000000000000000" charset="0"/>
              <a:buChar char="l"/>
            </a:pPr>
            <a:r>
              <a:rPr lang="en-US" altLang="zh-CN" smtClean="0"/>
              <a:t>mod_wsgi</a:t>
            </a:r>
            <a:endParaRPr lang="en-US" altLang="zh-CN" smtClean="0"/>
          </a:p>
          <a:p>
            <a:pPr lvl="2" algn="l">
              <a:lnSpc>
                <a:spcPct val="200000"/>
              </a:lnSpc>
              <a:buFont typeface="Wingdings" panose="05000000000000000000" charset="0"/>
              <a:buChar char="l"/>
            </a:pPr>
            <a:r>
              <a:rPr lang="en-US" altLang="zh-CN" smtClean="0"/>
              <a:t>module to host python applications</a:t>
            </a:r>
            <a:endParaRPr lang="en-US" altLang="zh-CN" smtClean="0"/>
          </a:p>
          <a:p>
            <a:pPr lvl="2" algn="l">
              <a:lnSpc>
                <a:spcPct val="200000"/>
              </a:lnSpc>
              <a:buFont typeface="Wingdings" panose="05000000000000000000" charset="0"/>
              <a:buChar char="l"/>
            </a:pPr>
            <a:r>
              <a:rPr lang="en-US" altLang="zh-CN" smtClean="0"/>
              <a:t>pip install mod_wsgi</a:t>
            </a:r>
            <a:endParaRPr lang="en-US" altLang="zh-CN" smtClean="0"/>
          </a:p>
        </p:txBody>
      </p:sp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Monitoring</a:t>
            </a:r>
            <a:endParaRPr lang="en-US" altLang="zh-CN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976630" y="1437640"/>
          <a:ext cx="10553065" cy="38703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2105"/>
                <a:gridCol w="4458970"/>
                <a:gridCol w="4491990"/>
              </a:tblGrid>
              <a:tr h="51752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命令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说明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51689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监控硬件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ipmitool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64198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CPU</a:t>
                      </a:r>
                      <a:r>
                        <a:rPr lang="zh-CN" altLang="en-US"/>
                        <a:t>相关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lscpu uptime top htop vmstat mpstat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51752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内存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free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51689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磁盘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df dd iotop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51752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网络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iftop nethogs</a:t>
                      </a:r>
                      <a:endParaRPr lang="en-US" altLang="zh-CN"/>
                    </a:p>
                    <a:p>
                      <a:pPr>
                        <a:buNone/>
                      </a:pPr>
                      <a:r>
                        <a:rPr lang="en-US" altLang="zh-CN"/>
                        <a:t>sudo lsof -i -P -n | grep LISTEN</a:t>
                      </a:r>
                      <a:endParaRPr lang="en-US" altLang="zh-CN"/>
                    </a:p>
                    <a:p>
                      <a:pPr>
                        <a:buNone/>
                      </a:pPr>
                      <a:r>
                        <a:rPr lang="en-US" altLang="zh-CN"/>
                        <a:t>netstat -nltp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列出正在监听的端口</a:t>
                      </a:r>
                      <a:endParaRPr lang="zh-CN" altLang="en-US"/>
                    </a:p>
                  </a:txBody>
                  <a:tcPr/>
                </a:tc>
              </a:tr>
              <a:tr h="64198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监控出图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mrtg nagios cacti zabbix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Operation &amp; Maintenance Tools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4587240" cy="4549140"/>
          </a:xfrm>
        </p:spPr>
        <p:txBody>
          <a:bodyPr/>
          <a:p>
            <a:r>
              <a:rPr lang="en-US" altLang="zh-CN"/>
              <a:t>1Panel</a:t>
            </a:r>
            <a:endParaRPr lang="en-US" altLang="zh-CN"/>
          </a:p>
          <a:p>
            <a:pPr lvl="1"/>
            <a:r>
              <a:rPr lang="en-US" altLang="zh-CN"/>
              <a:t>https://github.com/1Panel-dev/1Panel</a:t>
            </a:r>
            <a:endParaRPr lang="en-US" altLang="zh-CN"/>
          </a:p>
          <a:p>
            <a:pPr lvl="1"/>
            <a:r>
              <a:rPr lang="en-US" altLang="zh-CN"/>
              <a:t>Install</a:t>
            </a:r>
            <a:endParaRPr lang="en-US" altLang="zh-CN"/>
          </a:p>
          <a:p>
            <a:pPr lvl="2"/>
            <a:r>
              <a:rPr lang="en-US" altLang="zh-CN"/>
              <a:t>curl -sSL https://resource.fit2cloud.com/1panel/package/quick_start.sh -o quick_start.sh &amp;&amp; sudo bash quick_start.sh</a:t>
            </a:r>
            <a:endParaRPr lang="en-US" altLang="zh-CN"/>
          </a:p>
          <a:p>
            <a:pPr lvl="2"/>
            <a:r>
              <a:rPr lang="zh-CN" altLang="en-US"/>
              <a:t>会更改</a:t>
            </a:r>
            <a:r>
              <a:rPr lang="en-US" altLang="zh-CN"/>
              <a:t>docker</a:t>
            </a:r>
            <a:r>
              <a:rPr lang="zh-CN" altLang="en-US"/>
              <a:t>配置，导致</a:t>
            </a:r>
            <a:r>
              <a:rPr lang="en-US" altLang="zh-CN"/>
              <a:t>docker</a:t>
            </a:r>
            <a:r>
              <a:rPr lang="zh-CN" altLang="en-US"/>
              <a:t>服务重启</a:t>
            </a:r>
            <a:endParaRPr lang="zh-CN" altLang="en-US"/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5531485" y="1278890"/>
            <a:ext cx="6270625" cy="301815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SAR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10515600" cy="5447665"/>
          </a:xfrm>
        </p:spPr>
        <p:txBody>
          <a:bodyPr>
            <a:normAutofit fontScale="70000"/>
          </a:bodyPr>
          <a:p>
            <a:r>
              <a:rPr lang="en-US" altLang="zh-CN"/>
              <a:t>sudo apt install sysstat</a:t>
            </a:r>
            <a:endParaRPr lang="en-US" altLang="zh-CN"/>
          </a:p>
          <a:p>
            <a:r>
              <a:rPr lang="en-US" altLang="zh-CN"/>
              <a:t>Enable sysstat</a:t>
            </a:r>
            <a:endParaRPr lang="en-US" altLang="zh-CN"/>
          </a:p>
          <a:p>
            <a:pPr lvl="1"/>
            <a:r>
              <a:rPr lang="en-US" altLang="zh-CN"/>
              <a:t>/etc/default/sysstat false-&gt;true</a:t>
            </a:r>
            <a:endParaRPr lang="en-US" altLang="zh-CN"/>
          </a:p>
          <a:p>
            <a:pPr lvl="0"/>
            <a:r>
              <a:rPr lang="en-US" altLang="zh-CN" sz="2400"/>
              <a:t>Configure sysstat</a:t>
            </a:r>
            <a:endParaRPr lang="en-US" altLang="zh-CN"/>
          </a:p>
          <a:p>
            <a:pPr lvl="1"/>
            <a:r>
              <a:rPr lang="en-US" altLang="zh-CN"/>
              <a:t>/etc/cron.d/sysstat 5-55/10-&gt;*/2</a:t>
            </a:r>
            <a:endParaRPr lang="en-US" altLang="zh-CN"/>
          </a:p>
          <a:p>
            <a:pPr lvl="1"/>
            <a:r>
              <a:rPr lang="en-US" altLang="zh-CN"/>
              <a:t>/etc/sysstat/sysstat</a:t>
            </a:r>
            <a:endParaRPr lang="en-US" altLang="zh-CN"/>
          </a:p>
          <a:p>
            <a:pPr lvl="2"/>
            <a:r>
              <a:rPr lang="en-US" altLang="zh-CN" sz="1800"/>
              <a:t>HISTORY: 7-&gt;30</a:t>
            </a:r>
            <a:endParaRPr lang="en-US" altLang="zh-CN"/>
          </a:p>
          <a:p>
            <a:pPr lvl="0"/>
            <a:r>
              <a:rPr lang="en-US" altLang="zh-CN"/>
              <a:t>Start sysstat</a:t>
            </a:r>
            <a:endParaRPr lang="en-US" altLang="zh-CN"/>
          </a:p>
          <a:p>
            <a:pPr lvl="1"/>
            <a:r>
              <a:rPr lang="en-US" altLang="zh-CN"/>
              <a:t>sudo service sysstat restart</a:t>
            </a:r>
            <a:endParaRPr lang="en-US" altLang="zh-CN"/>
          </a:p>
          <a:p>
            <a:pPr lvl="1"/>
            <a:r>
              <a:rPr lang="en-US" altLang="zh-CN"/>
              <a:t>sudo service --status-all</a:t>
            </a:r>
            <a:endParaRPr lang="en-US" altLang="zh-CN"/>
          </a:p>
          <a:p>
            <a:pPr lvl="1"/>
            <a:r>
              <a:rPr lang="en-US" altLang="zh-CN"/>
              <a:t>log file: /var/log/sysstat/sa*</a:t>
            </a:r>
            <a:endParaRPr lang="en-US" altLang="zh-CN"/>
          </a:p>
          <a:p>
            <a:pPr lvl="0"/>
            <a:r>
              <a:rPr lang="en-US" altLang="zh-CN"/>
              <a:t>ksar</a:t>
            </a:r>
            <a:endParaRPr lang="en-US" altLang="zh-CN"/>
          </a:p>
          <a:p>
            <a:pPr lvl="1"/>
            <a:r>
              <a:rPr lang="en-US" altLang="zh-CN"/>
              <a:t>sudo apt install openjdk-8-jre</a:t>
            </a:r>
            <a:endParaRPr lang="en-US" altLang="zh-CN"/>
          </a:p>
          <a:p>
            <a:pPr lvl="1"/>
            <a:r>
              <a:rPr lang="en-US" altLang="zh-CN"/>
              <a:t>wget https://excellmedia.dl.sourceforge.net/project/ksar/ksar/5.0.6/kSar-5.0.6.zip</a:t>
            </a:r>
            <a:endParaRPr lang="en-US" altLang="zh-CN"/>
          </a:p>
          <a:p>
            <a:pPr lvl="1"/>
            <a:r>
              <a:rPr lang="en-US" altLang="zh-CN"/>
              <a:t>LC_ALL=C sar -A -f sa22 &gt;sa22.parse</a:t>
            </a:r>
            <a:endParaRPr lang="en-US" altLang="zh-CN"/>
          </a:p>
          <a:p>
            <a:pPr lvl="1"/>
            <a:r>
              <a:rPr lang="en-US" altLang="zh-CN"/>
              <a:t>run.sh &amp;</a:t>
            </a:r>
            <a:endParaRPr lang="en-US" altLang="zh-CN"/>
          </a:p>
          <a:p>
            <a:pPr lvl="1"/>
            <a:r>
              <a:rPr lang="en-US" altLang="zh-CN"/>
              <a:t>Select “load from text file...”</a:t>
            </a:r>
            <a:endParaRPr lang="en-US" altLang="zh-CN"/>
          </a:p>
          <a:p>
            <a:pPr lvl="0"/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https://www.howtoforge.com/install-and-configure-sar-and-ksar-for-daily-monitoring-on-linux-and-generate-pdf-reports/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6075680" y="1211580"/>
            <a:ext cx="5632450" cy="341503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p>
            <a:r>
              <a:rPr lang="zh-CN" altLang="en-US"/>
              <a:t>#!/bin/bash</a:t>
            </a:r>
            <a:endParaRPr lang="zh-CN" altLang="en-US"/>
          </a:p>
          <a:p>
            <a:r>
              <a:rPr lang="zh-CN" altLang="en-US"/>
              <a:t>idx=`date --date="1 days ago" +%</a:t>
            </a:r>
            <a:r>
              <a:rPr lang="en-US" altLang="zh-CN"/>
              <a:t>Y%m%</a:t>
            </a:r>
            <a:r>
              <a:rPr lang="zh-CN" altLang="en-US"/>
              <a:t>d`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work_dir="/home/lgm/SarReports/"</a:t>
            </a:r>
            <a:endParaRPr lang="zh-CN" altLang="en-US"/>
          </a:p>
          <a:p>
            <a:r>
              <a:rPr lang="zh-CN" altLang="en-US"/>
              <a:t>sar_file="$work_dir/sa$idx"</a:t>
            </a:r>
            <a:endParaRPr lang="zh-CN" altLang="en-US"/>
          </a:p>
          <a:p>
            <a:r>
              <a:rPr lang="zh-CN" altLang="en-US"/>
              <a:t>pdf_file="$work_dir/sa$idx.pdf'</a:t>
            </a:r>
            <a:endParaRPr lang="zh-CN" altLang="en-US"/>
          </a:p>
          <a:p>
            <a:r>
              <a:rPr lang="en-US" altLang="zh-CN"/>
              <a:t>ksar_dir=”</a:t>
            </a:r>
            <a:r>
              <a:rPr lang="zh-CN" altLang="en-US">
                <a:sym typeface="+mn-ea"/>
              </a:rPr>
              <a:t>/home/lgm/Programs/kSar-5.0.6/</a:t>
            </a:r>
            <a:r>
              <a:rPr lang="en-US" altLang="zh-CN">
                <a:sym typeface="+mn-ea"/>
              </a:rPr>
              <a:t>”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LC_ALL=C sar -A -f /var/log/sysstat/sa$idx &gt; $sar_file</a:t>
            </a:r>
            <a:endParaRPr lang="zh-CN" altLang="en-US"/>
          </a:p>
          <a:p>
            <a:r>
              <a:rPr lang="zh-CN" altLang="en-US"/>
              <a:t>cd </a:t>
            </a:r>
            <a:r>
              <a:rPr lang="en-US" altLang="zh-CN"/>
              <a:t>$ksar_dir</a:t>
            </a:r>
            <a:endParaRPr lang="en-US" altLang="zh-CN"/>
          </a:p>
          <a:p>
            <a:r>
              <a:rPr lang="zh-CN" altLang="en-US"/>
              <a:t>java -jar kSar.jar -input $sar_file -outputPDF $pdf_file</a:t>
            </a:r>
            <a:endParaRPr lang="zh-CN" altLang="en-US"/>
          </a:p>
          <a:p>
            <a:r>
              <a:rPr lang="zh-CN" altLang="en-US"/>
              <a:t>echo "Ksar graph successfully generated"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阿里云域名</a:t>
            </a:r>
            <a:r>
              <a:rPr lang="en-US" altLang="zh-CN"/>
              <a:t>+</a:t>
            </a:r>
            <a:r>
              <a:rPr lang="zh-CN" altLang="en-US"/>
              <a:t>腾讯云服务器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https://blog.csdn.net/daotiao0199/article/details/81945865</a:t>
            </a:r>
            <a:endParaRPr lang="en-US" altLang="zh-CN"/>
          </a:p>
          <a:p>
            <a:pPr lvl="0"/>
            <a:r>
              <a:rPr lang="en-US" altLang="zh-CN" sz="2400"/>
              <a:t>Steps</a:t>
            </a:r>
            <a:endParaRPr lang="en-US" altLang="zh-CN" sz="2400"/>
          </a:p>
          <a:p>
            <a:pPr lvl="1"/>
            <a:r>
              <a:rPr lang="en-US" altLang="zh-CN"/>
              <a:t>阿里云-&gt;控制台-&gt;域名-&gt;域名列表-&gt;管理</a:t>
            </a:r>
            <a:endParaRPr lang="en-US" altLang="zh-CN" sz="2000"/>
          </a:p>
          <a:p>
            <a:pPr lvl="1"/>
            <a:r>
              <a:rPr lang="en-US" altLang="zh-CN"/>
              <a:t>修改域名的DNS服务器</a:t>
            </a:r>
            <a:r>
              <a:rPr lang="zh-CN" altLang="en-US"/>
              <a:t>为</a:t>
            </a:r>
            <a:r>
              <a:rPr lang="en-US" altLang="zh-CN"/>
              <a:t>s1g1ns1.dnspod.net</a:t>
            </a:r>
            <a:r>
              <a:rPr lang="zh-CN" altLang="en-US"/>
              <a:t>和</a:t>
            </a:r>
            <a:r>
              <a:rPr lang="en-US" altLang="zh-CN">
                <a:sym typeface="+mn-ea"/>
              </a:rPr>
              <a:t>s1g1ns2.dnspod.net</a:t>
            </a:r>
            <a:endParaRPr lang="en-US" altLang="zh-CN">
              <a:sym typeface="+mn-ea"/>
            </a:endParaRPr>
          </a:p>
          <a:p>
            <a:pPr lvl="1"/>
            <a:r>
              <a:rPr lang="en-US" altLang="zh-CN"/>
              <a:t>腾讯云-&gt;控制台-&gt;域名服务-&gt;我的域名-&gt;添加解析</a:t>
            </a:r>
            <a:endParaRPr lang="en-US" altLang="zh-CN"/>
          </a:p>
          <a:p>
            <a:pPr lvl="1"/>
            <a:r>
              <a:rPr lang="zh-CN" altLang="en-US"/>
              <a:t>腾讯云域名诊断工具 </a:t>
            </a:r>
            <a:r>
              <a:rPr lang="en-US" altLang="zh-CN"/>
              <a:t>https://domaintool.cloud.tencent.com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CDN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759450" cy="4549140"/>
          </a:xfrm>
        </p:spPr>
        <p:txBody>
          <a:bodyPr/>
          <a:p>
            <a:r>
              <a:rPr lang="en-US" altLang="zh-CN"/>
              <a:t>Content Delivery Network</a:t>
            </a:r>
            <a:endParaRPr lang="en-US" altLang="zh-CN"/>
          </a:p>
          <a:p>
            <a:r>
              <a:rPr lang="zh-CN" altLang="en-US"/>
              <a:t>动静分离</a:t>
            </a:r>
            <a:endParaRPr lang="zh-CN" altLang="en-US"/>
          </a:p>
          <a:p>
            <a:pPr lvl="1"/>
            <a:r>
              <a:rPr lang="zh-CN" altLang="en-US"/>
              <a:t>https://www.cnblogs.com/matengfei123/p/8005404.html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0695" y="1338580"/>
            <a:ext cx="4878705" cy="9937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285" y="2651125"/>
            <a:ext cx="5005705" cy="215201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Set Up VPN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058410" cy="5146675"/>
          </a:xfrm>
        </p:spPr>
        <p:txBody>
          <a:bodyPr>
            <a:normAutofit fontScale="70000"/>
          </a:bodyPr>
          <a:p>
            <a:r>
              <a:rPr lang="en-US" altLang="zh-CN"/>
              <a:t>Rent server from vultr.com</a:t>
            </a:r>
            <a:endParaRPr lang="en-US" altLang="zh-CN"/>
          </a:p>
          <a:p>
            <a:r>
              <a:rPr lang="en-US" altLang="zh-CN"/>
              <a:t>Config server as VPN server</a:t>
            </a:r>
            <a:endParaRPr lang="en-US" altLang="zh-CN"/>
          </a:p>
          <a:p>
            <a:pPr lvl="1"/>
            <a:r>
              <a:rPr lang="en-US" altLang="zh-CN"/>
              <a:t>Refer</a:t>
            </a:r>
            <a:endParaRPr lang="en-US" altLang="zh-CN"/>
          </a:p>
          <a:p>
            <a:pPr lvl="2"/>
            <a:r>
              <a:rPr lang="en-US" altLang="zh-CN"/>
              <a:t>https://www.vultr.com/docs/setup-a-pptp-vpn-server-on-ubuntu</a:t>
            </a:r>
            <a:endParaRPr lang="en-US" altLang="zh-CN"/>
          </a:p>
          <a:p>
            <a:pPr lvl="2"/>
            <a:r>
              <a:rPr lang="en-US" altLang="zh-CN"/>
              <a:t>https://blog.warmcolor.net/2013/06/21/%E5%9F%BA%E4%BA%8Eubuntu%E6%90%AD%E5%BB%BAvpn%E6%9C%8D%E5%8A%A1%E5%99%A8%E5%B7%B2%E9%AA%8C%E8%AF%81/</a:t>
            </a:r>
            <a:endParaRPr lang="en-US" altLang="zh-CN"/>
          </a:p>
          <a:p>
            <a:pPr lvl="1"/>
            <a:r>
              <a:rPr lang="en-US" altLang="zh-CN" sz="2000"/>
              <a:t>Steps</a:t>
            </a:r>
            <a:endParaRPr lang="en-US" altLang="zh-CN" sz="2000"/>
          </a:p>
          <a:p>
            <a:pPr lvl="2"/>
            <a:r>
              <a:rPr lang="en-US" altLang="zh-CN"/>
              <a:t>apt-get install pptpd</a:t>
            </a:r>
            <a:endParaRPr lang="en-US" altLang="zh-CN" sz="1800"/>
          </a:p>
          <a:p>
            <a:pPr lvl="2"/>
            <a:r>
              <a:rPr lang="en-US" altLang="zh-CN"/>
              <a:t>Edit /etc/pptpd.conf</a:t>
            </a:r>
            <a:endParaRPr lang="en-US" altLang="zh-CN"/>
          </a:p>
          <a:p>
            <a:pPr lvl="3"/>
            <a:r>
              <a:rPr lang="en-US" altLang="zh-CN"/>
              <a:t>option /etc/ppp/pptpd-options</a:t>
            </a:r>
            <a:endParaRPr lang="en-US" altLang="zh-CN"/>
          </a:p>
          <a:p>
            <a:pPr lvl="3"/>
            <a:r>
              <a:rPr lang="en-US" altLang="zh-CN"/>
              <a:t>localip {server-ip}</a:t>
            </a:r>
            <a:endParaRPr lang="en-US" altLang="zh-CN"/>
          </a:p>
          <a:p>
            <a:pPr lvl="3"/>
            <a:r>
              <a:rPr lang="en-US" altLang="zh-CN"/>
              <a:t>remoteip 192.168.0.11-150</a:t>
            </a:r>
            <a:endParaRPr lang="en-US" altLang="zh-CN"/>
          </a:p>
          <a:p>
            <a:pPr lvl="2"/>
            <a:r>
              <a:rPr lang="en-US" altLang="zh-CN"/>
              <a:t>Edit /etc/ppp/pptpd-options</a:t>
            </a:r>
            <a:endParaRPr lang="en-US" altLang="zh-CN"/>
          </a:p>
          <a:p>
            <a:pPr lvl="3"/>
            <a:r>
              <a:rPr lang="en-US" altLang="zh-CN"/>
              <a:t>ms-dns 8.8.8.8</a:t>
            </a:r>
            <a:endParaRPr lang="en-US" altLang="zh-CN"/>
          </a:p>
          <a:p>
            <a:pPr lvl="3"/>
            <a:r>
              <a:rPr lang="en-US" altLang="zh-CN"/>
              <a:t>ms-dns 8.8.4.4</a:t>
            </a:r>
            <a:endParaRPr lang="en-US" altLang="zh-CN"/>
          </a:p>
          <a:p>
            <a:pPr lvl="2"/>
            <a:r>
              <a:rPr lang="en-US" altLang="zh-CN"/>
              <a:t>/etc/ppp/chap-secrets</a:t>
            </a:r>
            <a:endParaRPr lang="en-US" altLang="zh-CN"/>
          </a:p>
          <a:p>
            <a:pPr lvl="3"/>
            <a:r>
              <a:rPr lang="en-US" altLang="zh-CN"/>
              <a:t>	用户名 pptpd 密码 *</a:t>
            </a:r>
            <a:endParaRPr lang="en-US" altLang="zh-CN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352540" y="1195070"/>
            <a:ext cx="5001260" cy="49510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黑体" panose="02010609060101010101" charset="-122"/>
              <a:buChar char="〉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en-US" altLang="zh-CN" sz="1200"/>
              <a:t>/etc/init.d/pptpd restart</a:t>
            </a:r>
            <a:endParaRPr lang="en-US" altLang="zh-CN" sz="1200"/>
          </a:p>
          <a:p>
            <a:pPr lvl="2"/>
            <a:r>
              <a:rPr lang="en-US" altLang="zh-CN" sz="1200"/>
              <a:t>iptables -I INPUT -p tcp --dport 1723 -j ACCEPT</a:t>
            </a:r>
            <a:endParaRPr lang="en-US" altLang="zh-CN" sz="1200"/>
          </a:p>
          <a:p>
            <a:pPr lvl="2"/>
            <a:r>
              <a:rPr lang="en-US" altLang="zh-CN" sz="1200"/>
              <a:t>Edit /etc/sysctl.conf</a:t>
            </a:r>
            <a:endParaRPr lang="en-US" altLang="zh-CN" sz="1200"/>
          </a:p>
          <a:p>
            <a:pPr lvl="3"/>
            <a:r>
              <a:rPr lang="en-US" altLang="zh-CN" sz="1200"/>
              <a:t>	net.ipv4.ip_forward = 1</a:t>
            </a:r>
            <a:endParaRPr lang="en-US" altLang="zh-CN" sz="1200"/>
          </a:p>
          <a:p>
            <a:pPr lvl="2"/>
            <a:r>
              <a:rPr lang="en-US" altLang="zh-CN" sz="1200"/>
              <a:t>sysctl -p</a:t>
            </a:r>
            <a:endParaRPr lang="en-US" altLang="zh-CN" sz="1200"/>
          </a:p>
          <a:p>
            <a:pPr lvl="3"/>
            <a:r>
              <a:rPr lang="en-US" altLang="zh-CN" sz="1200">
                <a:sym typeface="+mn-ea"/>
              </a:rPr>
              <a:t>cat /proc/sys/net/ipv4/ip_forward: 1</a:t>
            </a:r>
            <a:endParaRPr lang="en-US" altLang="zh-CN" sz="1200"/>
          </a:p>
          <a:p>
            <a:pPr lvl="2"/>
            <a:r>
              <a:rPr lang="en-US" altLang="zh-CN" sz="1200"/>
              <a:t>/etc/init.d/procps restart</a:t>
            </a:r>
            <a:endParaRPr lang="en-US" altLang="zh-CN" sz="1200"/>
          </a:p>
          <a:p>
            <a:pPr lvl="2"/>
            <a:r>
              <a:rPr lang="en-US" altLang="zh-CN" sz="1200"/>
              <a:t>apt-get install iptables</a:t>
            </a:r>
            <a:endParaRPr lang="en-US" altLang="zh-CN" sz="1200"/>
          </a:p>
          <a:p>
            <a:pPr lvl="2"/>
            <a:r>
              <a:rPr lang="en-US" altLang="zh-CN" sz="1200"/>
              <a:t>sudo ifconfig</a:t>
            </a:r>
            <a:endParaRPr lang="en-US" altLang="zh-CN" sz="1200"/>
          </a:p>
          <a:p>
            <a:pPr lvl="3"/>
            <a:r>
              <a:rPr lang="en-US" altLang="zh-CN" sz="1200"/>
              <a:t>get eth0 name: e.g. enp1s0</a:t>
            </a:r>
            <a:endParaRPr lang="en-US" altLang="zh-CN" sz="1200"/>
          </a:p>
          <a:p>
            <a:pPr lvl="2"/>
            <a:r>
              <a:rPr lang="en-US" altLang="zh-CN" sz="1200"/>
              <a:t>iptables --table nat --append POSTROUTING --out-interface {eth0} --jump MASQUERADE</a:t>
            </a:r>
            <a:endParaRPr lang="en-US" altLang="zh-CN" sz="1200"/>
          </a:p>
          <a:p>
            <a:pPr lvl="2"/>
            <a:r>
              <a:rPr lang="en-US" altLang="zh-CN" sz="1200"/>
              <a:t>Edit /etc/rc.local:</a:t>
            </a:r>
            <a:endParaRPr lang="en-US" altLang="zh-CN" sz="1200"/>
          </a:p>
          <a:p>
            <a:pPr lvl="3"/>
            <a:r>
              <a:rPr lang="en-US" altLang="zh-CN" sz="1200"/>
              <a:t>iptables --table nat --append POSTROUTING --out-interface eth0 --jump MASQUERADE</a:t>
            </a:r>
            <a:endParaRPr lang="en-US" altLang="zh-CN" sz="1200"/>
          </a:p>
          <a:p>
            <a:pPr lvl="2"/>
            <a:r>
              <a:rPr lang="en-US" altLang="zh-CN" sz="1200"/>
              <a:t>sudo iptables-save</a:t>
            </a:r>
            <a:endParaRPr lang="en-US" altLang="zh-CN" sz="1200"/>
          </a:p>
          <a:p>
            <a:pPr lvl="2"/>
            <a:r>
              <a:rPr lang="en-US" altLang="zh-CN" sz="1200"/>
              <a:t>sudo systemctl enable pptpd</a:t>
            </a:r>
            <a:endParaRPr lang="en-US" altLang="zh-CN" sz="1200"/>
          </a:p>
          <a:p>
            <a:pPr lvl="2"/>
            <a:r>
              <a:rPr lang="en-US" altLang="zh-CN" sz="1200"/>
              <a:t>sudo apt-get install -y iptables-persistent</a:t>
            </a:r>
            <a:endParaRPr lang="en-US" altLang="zh-CN" sz="1200"/>
          </a:p>
          <a:p>
            <a:pPr lvl="0"/>
            <a:r>
              <a:rPr lang="en-US" altLang="zh-CN" sz="1600"/>
              <a:t>Set up client</a:t>
            </a:r>
            <a:endParaRPr lang="en-US" altLang="zh-CN" sz="1600"/>
          </a:p>
          <a:p>
            <a:pPr lvl="1"/>
            <a:r>
              <a:rPr lang="en-US" altLang="zh-CN" sz="1400"/>
              <a:t>Search vpn in start menu</a:t>
            </a:r>
            <a:endParaRPr lang="en-US" altLang="zh-CN" sz="1400"/>
          </a:p>
        </p:txBody>
      </p: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/>
              <a:t>Set Up VPN 2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4230370" cy="4549140"/>
          </a:xfrm>
        </p:spPr>
        <p:txBody>
          <a:bodyPr/>
          <a:p>
            <a:r>
              <a:rPr lang="en-US" altLang="zh-CN"/>
              <a:t>Client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5475" y="1327150"/>
            <a:ext cx="5771515" cy="456311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Firewall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en-US" altLang="zh-CN"/>
              <a:t>Ubuntu</a:t>
            </a:r>
            <a:endParaRPr lang="en-US" altLang="zh-CN"/>
          </a:p>
          <a:p>
            <a:pPr lvl="1"/>
            <a:r>
              <a:rPr lang="en-US" altLang="zh-CN"/>
              <a:t>iptables</a:t>
            </a:r>
            <a:endParaRPr lang="en-US" altLang="zh-CN"/>
          </a:p>
          <a:p>
            <a:pPr lvl="2"/>
            <a:r>
              <a:rPr lang="en-US" altLang="zh-CN"/>
              <a:t>sudo iptables -L -n -v</a:t>
            </a:r>
            <a:endParaRPr lang="en-US" altLang="zh-CN" sz="1800"/>
          </a:p>
          <a:p>
            <a:pPr lvl="2"/>
            <a:r>
              <a:rPr lang="en-US" altLang="zh-CN"/>
              <a:t>sudo iptables -A INPUT -p tcp --dport 8080 -j ACCEPT</a:t>
            </a:r>
            <a:endParaRPr lang="en-US" altLang="zh-CN"/>
          </a:p>
          <a:p>
            <a:pPr lvl="1"/>
            <a:r>
              <a:rPr lang="en-US" altLang="zh-CN"/>
              <a:t>ufw</a:t>
            </a:r>
            <a:endParaRPr lang="en-US" altLang="zh-CN"/>
          </a:p>
          <a:p>
            <a:pPr lvl="2"/>
            <a:r>
              <a:rPr lang="en-US" altLang="zh-CN"/>
              <a:t>sudo ufw status verbose</a:t>
            </a:r>
            <a:endParaRPr lang="en-US" altLang="zh-CN"/>
          </a:p>
          <a:p>
            <a:pPr lvl="2"/>
            <a:r>
              <a:rPr lang="en-US" altLang="zh-CN"/>
              <a:t>sudo ufw allow 80</a:t>
            </a:r>
            <a:endParaRPr lang="en-US" altLang="zh-CN"/>
          </a:p>
          <a:p>
            <a:pPr lvl="2"/>
            <a:r>
              <a:rPr lang="en-US" altLang="zh-CN"/>
              <a:t>sudo ufw delete allow 80</a:t>
            </a:r>
            <a:endParaRPr lang="en-US" altLang="zh-CN"/>
          </a:p>
          <a:p>
            <a:pPr lvl="0"/>
            <a:r>
              <a:rPr lang="en-US" altLang="zh-CN"/>
              <a:t>CentOS</a:t>
            </a:r>
            <a:endParaRPr lang="en-US" altLang="zh-CN"/>
          </a:p>
          <a:p>
            <a:pPr lvl="1"/>
            <a:r>
              <a:rPr lang="en-US" altLang="zh-CN"/>
              <a:t>firewall-cmd --zone=public --list-ports</a:t>
            </a:r>
            <a:endParaRPr lang="en-US" altLang="zh-CN"/>
          </a:p>
          <a:p>
            <a:pPr lvl="1"/>
            <a:r>
              <a:rPr lang="en-US" altLang="zh-CN"/>
              <a:t>firewall-cmd --zone=public --add-port=80/tcp --permanent</a:t>
            </a:r>
            <a:endParaRPr lang="en-US" altLang="zh-CN"/>
          </a:p>
          <a:p>
            <a:pPr lvl="1"/>
            <a:r>
              <a:rPr lang="en-US" altLang="zh-CN"/>
              <a:t>firewall-cmd --zone=public --add-port=443/tcp --permanent</a:t>
            </a:r>
            <a:endParaRPr lang="en-US" altLang="zh-CN"/>
          </a:p>
          <a:p>
            <a:pPr lvl="1"/>
            <a:r>
              <a:rPr lang="en-US" altLang="zh-CN"/>
              <a:t>firewall-cmd --zone=public --remove-port=80/tcp --permanent</a:t>
            </a:r>
            <a:endParaRPr lang="en-US" altLang="zh-CN"/>
          </a:p>
          <a:p>
            <a:pPr lvl="1"/>
            <a:r>
              <a:rPr lang="en-US" altLang="zh-CN"/>
              <a:t>firewall-cmd --reload</a:t>
            </a:r>
            <a:endParaRPr lang="en-US" altLang="zh-CN"/>
          </a:p>
          <a:p>
            <a:pPr lvl="1"/>
            <a:r>
              <a:rPr lang="en-US" altLang="zh-CN"/>
              <a:t>firewall-cmd --zone=public --query-port=80/tcp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Gunicorn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6231255" cy="4549140"/>
          </a:xfrm>
        </p:spPr>
        <p:txBody>
          <a:bodyPr/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https://medium.com/building-the-system/gunicorn-3-means-of-concurrency-efbb547674b7</a:t>
            </a:r>
            <a:endParaRPr lang="en-US" altLang="zh-CN"/>
          </a:p>
          <a:p>
            <a:pPr lvl="0"/>
            <a:r>
              <a:rPr lang="en-US" altLang="zh-CN"/>
              <a:t>Notes</a:t>
            </a:r>
            <a:endParaRPr lang="en-US" altLang="zh-CN"/>
          </a:p>
          <a:p>
            <a:pPr lvl="1"/>
            <a:r>
              <a:rPr lang="en-US" altLang="zh-CN"/>
              <a:t>sync workers execute one request after another</a:t>
            </a:r>
            <a:endParaRPr lang="en-US" altLang="zh-CN"/>
          </a:p>
        </p:txBody>
      </p:sp>
      <p:sp>
        <p:nvSpPr>
          <p:cNvPr id="4" name="圆角矩形 3"/>
          <p:cNvSpPr/>
          <p:nvPr/>
        </p:nvSpPr>
        <p:spPr>
          <a:xfrm>
            <a:off x="7069455" y="2171065"/>
            <a:ext cx="1270000" cy="32854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Master Process</a:t>
            </a:r>
            <a:endParaRPr lang="en-US" altLang="zh-CN"/>
          </a:p>
        </p:txBody>
      </p:sp>
      <p:sp>
        <p:nvSpPr>
          <p:cNvPr id="5" name="圆角矩形 4"/>
          <p:cNvSpPr/>
          <p:nvPr/>
        </p:nvSpPr>
        <p:spPr>
          <a:xfrm>
            <a:off x="8339455" y="1945640"/>
            <a:ext cx="1421130" cy="8439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Worker Process</a:t>
            </a:r>
            <a:endParaRPr lang="en-US" altLang="zh-CN"/>
          </a:p>
        </p:txBody>
      </p:sp>
      <p:sp>
        <p:nvSpPr>
          <p:cNvPr id="6" name="圆角矩形 5"/>
          <p:cNvSpPr/>
          <p:nvPr/>
        </p:nvSpPr>
        <p:spPr>
          <a:xfrm>
            <a:off x="9760585" y="1666875"/>
            <a:ext cx="1187450" cy="5899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Worker Thread</a:t>
            </a:r>
            <a:endParaRPr lang="en-US" altLang="zh-CN"/>
          </a:p>
        </p:txBody>
      </p:sp>
      <p:sp>
        <p:nvSpPr>
          <p:cNvPr id="7" name="圆角矩形 6"/>
          <p:cNvSpPr/>
          <p:nvPr/>
        </p:nvSpPr>
        <p:spPr>
          <a:xfrm>
            <a:off x="9760585" y="2330450"/>
            <a:ext cx="1187450" cy="5899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Worker Thread</a:t>
            </a:r>
            <a:endParaRPr lang="en-US" altLang="zh-CN"/>
          </a:p>
        </p:txBody>
      </p:sp>
      <p:sp>
        <p:nvSpPr>
          <p:cNvPr id="8" name="圆角矩形 7"/>
          <p:cNvSpPr/>
          <p:nvPr/>
        </p:nvSpPr>
        <p:spPr>
          <a:xfrm>
            <a:off x="8339455" y="3207385"/>
            <a:ext cx="1421130" cy="8439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Worker Process</a:t>
            </a:r>
            <a:endParaRPr lang="en-US" altLang="zh-CN"/>
          </a:p>
        </p:txBody>
      </p:sp>
      <p:cxnSp>
        <p:nvCxnSpPr>
          <p:cNvPr id="9" name="直接箭头连接符 8"/>
          <p:cNvCxnSpPr>
            <a:endCxn id="6" idx="3"/>
          </p:cNvCxnSpPr>
          <p:nvPr/>
        </p:nvCxnSpPr>
        <p:spPr>
          <a:xfrm flipH="1">
            <a:off x="10948035" y="1949450"/>
            <a:ext cx="878840" cy="127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H="1">
            <a:off x="10948035" y="2619375"/>
            <a:ext cx="878840" cy="127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圆角矩形 10"/>
          <p:cNvSpPr/>
          <p:nvPr/>
        </p:nvSpPr>
        <p:spPr>
          <a:xfrm>
            <a:off x="9760585" y="3334385"/>
            <a:ext cx="1187450" cy="5899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Worker Thread</a:t>
            </a:r>
            <a:endParaRPr lang="en-US" altLang="zh-CN"/>
          </a:p>
        </p:txBody>
      </p:sp>
      <p:cxnSp>
        <p:nvCxnSpPr>
          <p:cNvPr id="12" name="直接箭头连接符 11"/>
          <p:cNvCxnSpPr>
            <a:endCxn id="11" idx="3"/>
          </p:cNvCxnSpPr>
          <p:nvPr/>
        </p:nvCxnSpPr>
        <p:spPr>
          <a:xfrm flipH="1">
            <a:off x="10948035" y="3622675"/>
            <a:ext cx="893445" cy="69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11065510" y="1557655"/>
            <a:ext cx="8477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request</a:t>
            </a:r>
            <a:endParaRPr lang="en-US" altLang="zh-CN" sz="1400"/>
          </a:p>
        </p:txBody>
      </p:sp>
      <p:sp>
        <p:nvSpPr>
          <p:cNvPr id="14" name="文本框 13"/>
          <p:cNvSpPr txBox="1"/>
          <p:nvPr/>
        </p:nvSpPr>
        <p:spPr>
          <a:xfrm>
            <a:off x="11065510" y="2256790"/>
            <a:ext cx="8477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request</a:t>
            </a:r>
            <a:endParaRPr lang="en-US" altLang="zh-CN" sz="1400"/>
          </a:p>
        </p:txBody>
      </p:sp>
      <p:sp>
        <p:nvSpPr>
          <p:cNvPr id="15" name="文本框 14"/>
          <p:cNvSpPr txBox="1"/>
          <p:nvPr/>
        </p:nvSpPr>
        <p:spPr>
          <a:xfrm>
            <a:off x="11065510" y="3207385"/>
            <a:ext cx="8477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request</a:t>
            </a:r>
            <a:endParaRPr lang="en-US" altLang="zh-CN" sz="1400"/>
          </a:p>
        </p:txBody>
      </p:sp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Redis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4767580" cy="3620770"/>
          </a:xfrm>
        </p:spPr>
        <p:txBody>
          <a:bodyPr>
            <a:normAutofit fontScale="90000"/>
          </a:bodyPr>
          <a:p>
            <a:r>
              <a:rPr lang="en-US" altLang="zh-CN"/>
              <a:t>Server</a:t>
            </a:r>
            <a:endParaRPr lang="en-US" altLang="zh-CN"/>
          </a:p>
          <a:p>
            <a:pPr lvl="1"/>
            <a:r>
              <a:rPr lang="en-US" altLang="zh-CN"/>
              <a:t>sudo apt install redis-server</a:t>
            </a:r>
            <a:endParaRPr lang="en-US" altLang="zh-CN"/>
          </a:p>
          <a:p>
            <a:pPr lvl="1"/>
            <a:r>
              <a:rPr lang="en-US" altLang="zh-CN"/>
              <a:t>sudo service redis-server start</a:t>
            </a:r>
            <a:endParaRPr lang="en-US" altLang="zh-CN"/>
          </a:p>
          <a:p>
            <a:pPr lvl="2"/>
            <a:r>
              <a:rPr lang="en-US" altLang="zh-CN" sz="1800"/>
              <a:t>port 6379</a:t>
            </a:r>
            <a:endParaRPr lang="en-US" altLang="zh-CN"/>
          </a:p>
          <a:p>
            <a:pPr lvl="1"/>
            <a:r>
              <a:rPr lang="en-US" altLang="zh-CN"/>
              <a:t>sudo service redis-server status</a:t>
            </a:r>
            <a:endParaRPr lang="en-US" altLang="zh-CN"/>
          </a:p>
          <a:p>
            <a:pPr lvl="0"/>
            <a:r>
              <a:rPr lang="en-US" altLang="zh-CN"/>
              <a:t>Client</a:t>
            </a:r>
            <a:endParaRPr lang="en-US" altLang="zh-CN"/>
          </a:p>
          <a:p>
            <a:pPr lvl="1"/>
            <a:r>
              <a:rPr lang="en-US" altLang="zh-CN" sz="2000"/>
              <a:t>redis-cli</a:t>
            </a:r>
            <a:endParaRPr lang="en-US" altLang="zh-CN" sz="2000"/>
          </a:p>
          <a:p>
            <a:pPr lvl="2"/>
            <a:r>
              <a:rPr lang="en-US" altLang="zh-CN"/>
              <a:t>sudo apt install redis-tools</a:t>
            </a:r>
            <a:endParaRPr lang="en-US" altLang="zh-CN" sz="1800"/>
          </a:p>
          <a:p>
            <a:pPr lvl="2"/>
            <a:r>
              <a:rPr lang="en-US" altLang="zh-CN" sz="1800"/>
              <a:t>https://redis.com.cn/commands.html</a:t>
            </a:r>
            <a:endParaRPr lang="en-US" altLang="zh-CN" sz="1800"/>
          </a:p>
          <a:p>
            <a:pPr lvl="2"/>
            <a:r>
              <a:rPr lang="en-US" altLang="zh-CN">
                <a:sym typeface="+mn-ea"/>
              </a:rPr>
              <a:t>redis-cli --rdb /tmp/dump.rdb // dump keys/values</a:t>
            </a:r>
            <a:endParaRPr lang="en-US" altLang="zh-CN"/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5723255" y="1211580"/>
          <a:ext cx="6130925" cy="435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3375"/>
                <a:gridCol w="3082290"/>
                <a:gridCol w="1445260"/>
              </a:tblGrid>
              <a:tr h="3352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Command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Explanation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Note</a:t>
                      </a:r>
                      <a:endParaRPr lang="en-US" altLang="zh-CN" sz="1600"/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info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show info</a:t>
                      </a:r>
                      <a:endParaRPr lang="en-US" altLang="zh-CN" sz="16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600"/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auth {pwd}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verify password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600"/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ping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verify whether or not work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600"/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select {idx}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select a db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600"/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keys *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list all keys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600"/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scan 0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list keys starting from 0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600"/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client list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list all clients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600"/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flushall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delete all keys in all dbs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600"/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flushdb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delete all keys in current db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600"/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monitor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monitor changes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600"/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role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600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Replace Server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6821170" cy="5104765"/>
          </a:xfrm>
        </p:spPr>
        <p:txBody>
          <a:bodyPr>
            <a:noAutofit/>
          </a:bodyPr>
          <a:p>
            <a:r>
              <a:rPr lang="en-US" altLang="zh-CN" sz="1400"/>
              <a:t>Steps</a:t>
            </a:r>
            <a:endParaRPr lang="en-US" altLang="zh-CN" sz="1400"/>
          </a:p>
          <a:p>
            <a:pPr lvl="1"/>
            <a:r>
              <a:rPr lang="en-US" altLang="zh-CN" sz="1200"/>
              <a:t>old server</a:t>
            </a:r>
            <a:endParaRPr lang="en-US" altLang="zh-CN" sz="1200"/>
          </a:p>
          <a:p>
            <a:pPr lvl="2"/>
            <a:r>
              <a:rPr lang="en-US" altLang="zh-CN" sz="1000"/>
              <a:t>create snapshot</a:t>
            </a:r>
            <a:endParaRPr lang="en-US" altLang="zh-CN" sz="1000"/>
          </a:p>
          <a:p>
            <a:pPr lvl="2"/>
            <a:r>
              <a:rPr lang="en-US" altLang="zh-CN" sz="1000"/>
              <a:t>share snapshot by account id</a:t>
            </a:r>
            <a:endParaRPr lang="en-US" altLang="zh-CN" sz="1000"/>
          </a:p>
          <a:p>
            <a:pPr lvl="2"/>
            <a:r>
              <a:rPr lang="en-US" altLang="zh-CN" sz="1000"/>
              <a:t>dump postgresql db</a:t>
            </a:r>
            <a:endParaRPr lang="en-US" altLang="zh-CN" sz="1000"/>
          </a:p>
          <a:p>
            <a:pPr lvl="3"/>
            <a:r>
              <a:rPr lang="en-US" altLang="zh-CN" sz="1000"/>
              <a:t>sudo docker-compose -f docker-compose.yml start db</a:t>
            </a:r>
            <a:endParaRPr lang="en-US" altLang="zh-CN" sz="1000"/>
          </a:p>
          <a:p>
            <a:pPr lvl="3"/>
            <a:r>
              <a:rPr lang="en-US" altLang="zh-CN" sz="1000"/>
              <a:t>sudo docker exec -t fishpano_db_1 pg_dump -U fishpano fishpano_db &gt;/tmp/202112261900.pgdump</a:t>
            </a:r>
            <a:endParaRPr lang="en-US" altLang="zh-CN" sz="1000"/>
          </a:p>
          <a:p>
            <a:pPr lvl="1"/>
            <a:r>
              <a:rPr lang="en-US" altLang="zh-CN" sz="1200"/>
              <a:t>new server</a:t>
            </a:r>
            <a:endParaRPr lang="en-US" altLang="zh-CN" sz="1200"/>
          </a:p>
          <a:p>
            <a:pPr lvl="2"/>
            <a:r>
              <a:rPr lang="en-US" altLang="zh-CN" sz="1000"/>
              <a:t>open necessary ports</a:t>
            </a:r>
            <a:endParaRPr lang="en-US" altLang="zh-CN" sz="1000"/>
          </a:p>
          <a:p>
            <a:pPr lvl="2"/>
            <a:r>
              <a:rPr lang="en-US" altLang="zh-CN" sz="1000"/>
              <a:t>set swap</a:t>
            </a:r>
            <a:endParaRPr lang="en-US" altLang="zh-CN" sz="1000"/>
          </a:p>
          <a:p>
            <a:pPr lvl="2"/>
            <a:r>
              <a:rPr lang="en-US" altLang="zh-CN" sz="1000"/>
              <a:t>mount new disk</a:t>
            </a:r>
            <a:endParaRPr lang="en-US" altLang="zh-CN" sz="1000"/>
          </a:p>
          <a:p>
            <a:pPr lvl="3"/>
            <a:r>
              <a:rPr lang="en-US" altLang="zh-CN" sz="1000" b="1"/>
              <a:t>mkfs.ext4 /dev/vdb</a:t>
            </a:r>
            <a:endParaRPr lang="en-US" altLang="zh-CN" sz="1000"/>
          </a:p>
          <a:p>
            <a:pPr lvl="3"/>
            <a:r>
              <a:rPr lang="en-US" altLang="zh-CN" sz="1000"/>
              <a:t>sudo mount /dev/vdb /data</a:t>
            </a:r>
            <a:endParaRPr lang="en-US" altLang="zh-CN" sz="1000"/>
          </a:p>
          <a:p>
            <a:pPr lvl="2"/>
            <a:r>
              <a:rPr lang="en-US" altLang="zh-CN" sz="1000"/>
              <a:t>create disk from shared snapshot</a:t>
            </a:r>
            <a:endParaRPr lang="en-US" altLang="zh-CN" sz="1000"/>
          </a:p>
          <a:p>
            <a:pPr lvl="2"/>
            <a:r>
              <a:rPr lang="en-US" altLang="zh-CN" sz="1000"/>
              <a:t>mount created disk</a:t>
            </a:r>
            <a:endParaRPr lang="en-US" altLang="zh-CN" sz="1000"/>
          </a:p>
          <a:p>
            <a:pPr lvl="2"/>
            <a:r>
              <a:rPr lang="en-US" altLang="zh-CN" sz="1000"/>
              <a:t>mv files from created disk to new disk</a:t>
            </a:r>
            <a:endParaRPr lang="en-US" altLang="zh-CN" sz="1000"/>
          </a:p>
          <a:p>
            <a:pPr lvl="2"/>
            <a:r>
              <a:rPr lang="en-US" altLang="zh-CN" sz="1000"/>
              <a:t>restore DB</a:t>
            </a:r>
            <a:endParaRPr lang="en-US" altLang="zh-CN" sz="1000"/>
          </a:p>
          <a:p>
            <a:pPr lvl="3"/>
            <a:r>
              <a:rPr lang="en-US" altLang="zh-CN" sz="1000"/>
              <a:t>sudo docker compose up db &amp;</a:t>
            </a:r>
            <a:endParaRPr lang="en-US" altLang="zh-CN" sz="1000"/>
          </a:p>
          <a:p>
            <a:pPr lvl="3"/>
            <a:r>
              <a:rPr lang="en-US" altLang="zh-CN" sz="1000"/>
              <a:t>sudo docker exec -it expovr-db-1 /bin/bash</a:t>
            </a:r>
            <a:endParaRPr lang="en-US" altLang="zh-CN" sz="1000"/>
          </a:p>
          <a:p>
            <a:pPr lvl="3"/>
            <a:r>
              <a:rPr lang="en-US" altLang="zh-CN" sz="1000"/>
              <a:t>dropdb -U fishpano fishpano_db</a:t>
            </a:r>
            <a:endParaRPr lang="en-US" altLang="zh-CN" sz="1000"/>
          </a:p>
          <a:p>
            <a:pPr lvl="3"/>
            <a:r>
              <a:rPr lang="en-US" altLang="zh-CN" sz="1000"/>
              <a:t>createdb -U fishpano fishpano_db</a:t>
            </a:r>
            <a:endParaRPr lang="en-US" altLang="zh-CN" sz="1000"/>
          </a:p>
          <a:p>
            <a:pPr lvl="3"/>
            <a:r>
              <a:rPr lang="en-US" altLang="zh-CN" sz="1000"/>
              <a:t>psql -U fishpano fishpano_db &lt;/tmp/202112261900.pgdump</a:t>
            </a:r>
            <a:endParaRPr lang="en-US" altLang="zh-CN" sz="1000"/>
          </a:p>
          <a:p>
            <a:pPr lvl="2"/>
            <a:r>
              <a:rPr lang="en-US" altLang="zh-CN" sz="1000"/>
              <a:t>copy bashrc, cron scripts</a:t>
            </a:r>
            <a:endParaRPr lang="en-US" altLang="zh-CN" sz="1000"/>
          </a:p>
          <a:p>
            <a:pPr lvl="2"/>
            <a:r>
              <a:rPr lang="en-US" altLang="zh-CN" sz="1000"/>
              <a:t>install docker environment</a:t>
            </a:r>
            <a:endParaRPr lang="en-US" altLang="zh-CN" sz="1000"/>
          </a:p>
          <a:p>
            <a:pPr lvl="1"/>
            <a:r>
              <a:rPr lang="en-US" altLang="zh-CN" sz="1000"/>
              <a:t>change DNS</a:t>
            </a:r>
            <a:endParaRPr lang="en-US" altLang="zh-CN" sz="1000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799070" y="914400"/>
            <a:ext cx="4084955" cy="331089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微服务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6189345" cy="4549140"/>
          </a:xfrm>
        </p:spPr>
        <p:txBody>
          <a:bodyPr/>
          <a:p>
            <a:r>
              <a:rPr lang="en-US" altLang="zh-CN"/>
              <a:t>Intro</a:t>
            </a:r>
            <a:endParaRPr lang="en-US" altLang="zh-CN"/>
          </a:p>
          <a:p>
            <a:pPr lvl="1"/>
            <a:r>
              <a:rPr lang="en-US" altLang="zh-CN"/>
              <a:t>Framework: SpringCloud</a:t>
            </a:r>
            <a:endParaRPr lang="en-US" altLang="zh-CN"/>
          </a:p>
          <a:p>
            <a:pPr lvl="1"/>
            <a:r>
              <a:rPr lang="zh-CN" altLang="en-US"/>
              <a:t>优点：逻辑清晰、简化部署、可扩展、灵活组合、技术异构、高</a:t>
            </a:r>
            <a:r>
              <a:rPr lang="zh-CN" altLang="en-US"/>
              <a:t>可靠</a:t>
            </a:r>
            <a:endParaRPr lang="zh-CN" altLang="en-US"/>
          </a:p>
          <a:p>
            <a:pPr lvl="1"/>
            <a:r>
              <a:rPr lang="zh-CN" altLang="en-US"/>
              <a:t>缺点：复杂度高、运维复杂、影响</a:t>
            </a:r>
            <a:r>
              <a:rPr lang="zh-CN" altLang="en-US"/>
              <a:t>性能</a:t>
            </a:r>
            <a:endParaRPr lang="zh-CN" altLang="en-US"/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7027545" y="61595"/>
            <a:ext cx="4620895" cy="390080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1" name="图片 100"/>
          <p:cNvPicPr/>
          <p:nvPr/>
        </p:nvPicPr>
        <p:blipFill>
          <a:blip r:embed="rId2"/>
          <a:stretch>
            <a:fillRect/>
          </a:stretch>
        </p:blipFill>
        <p:spPr>
          <a:xfrm>
            <a:off x="962025" y="3014980"/>
            <a:ext cx="6316980" cy="336359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" name="图片 101"/>
          <p:cNvPicPr/>
          <p:nvPr/>
        </p:nvPicPr>
        <p:blipFill>
          <a:blip r:embed="rId3"/>
          <a:stretch>
            <a:fillRect/>
          </a:stretch>
        </p:blipFill>
        <p:spPr>
          <a:xfrm>
            <a:off x="7200265" y="3654425"/>
            <a:ext cx="4275455" cy="293560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4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FTP Concept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Mode</a:t>
            </a:r>
            <a:endParaRPr lang="en-US" altLang="zh-CN"/>
          </a:p>
          <a:p>
            <a:pPr lvl="1"/>
            <a:r>
              <a:rPr lang="en-US" altLang="zh-CN"/>
              <a:t>Active</a:t>
            </a:r>
            <a:endParaRPr lang="en-US" altLang="zh-CN"/>
          </a:p>
          <a:p>
            <a:pPr lvl="2"/>
            <a:r>
              <a:rPr lang="en-US" altLang="zh-CN"/>
              <a:t>PORT（主动）方式的连接过程是：客户端向服务器的FTP端口（默认是21）发送连接请求，服务器接受连接，建立一条命令链路。当需要传送数据时，客户端在命令链路上用PORT命令告诉服务器：“我打开了XXXX端口，你过来连接我”。于是服务器从20端口向客户端的XXXX端口发送连接请求，建立一条数据链路来传送数据。</a:t>
            </a:r>
            <a:endParaRPr lang="en-US" altLang="zh-CN"/>
          </a:p>
          <a:p>
            <a:pPr lvl="1"/>
            <a:r>
              <a:rPr lang="en-US" altLang="zh-CN"/>
              <a:t>Passive</a:t>
            </a:r>
            <a:endParaRPr lang="en-US" altLang="zh-CN"/>
          </a:p>
          <a:p>
            <a:pPr lvl="2"/>
            <a:r>
              <a:rPr lang="en-US" altLang="zh-CN"/>
              <a:t>PASV（被动）方式的连接过程是：客户端向服务器的FTP端口（默认是21）发送连接请求，服务器接受连接，建立一条命令链路。当需要传送数据时，服务器在命令链路上用PASV命令告诉客户端：“我打开了XXXX端口，你过来连接我”。于是客户端向服务器的XXXX端口发送连接请求，建立一条数据链路来传送数据。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FTP Server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445760" cy="4933950"/>
          </a:xfrm>
        </p:spPr>
        <p:txBody>
          <a:bodyPr>
            <a:noAutofit/>
          </a:bodyPr>
          <a:p>
            <a:r>
              <a:rPr lang="en-US" altLang="zh-CN" sz="1600"/>
              <a:t>References</a:t>
            </a:r>
            <a:endParaRPr lang="en-US" altLang="zh-CN" sz="1600"/>
          </a:p>
          <a:p>
            <a:pPr lvl="1"/>
            <a:r>
              <a:rPr lang="en-US" altLang="zh-CN" sz="1200"/>
              <a:t>https://www.linuxidc.com/Linux/2018-08/153491.htm</a:t>
            </a:r>
            <a:endParaRPr lang="en-US" altLang="zh-CN" sz="1200"/>
          </a:p>
          <a:p>
            <a:r>
              <a:rPr lang="en-US" altLang="zh-CN" sz="1600"/>
              <a:t>Linux</a:t>
            </a:r>
            <a:endParaRPr lang="en-US" altLang="zh-CN" sz="1600"/>
          </a:p>
          <a:p>
            <a:pPr lvl="1"/>
            <a:r>
              <a:rPr lang="en-US" altLang="zh-CN" sz="1200"/>
              <a:t>Install server</a:t>
            </a:r>
            <a:endParaRPr lang="en-US" altLang="zh-CN" sz="1200"/>
          </a:p>
          <a:p>
            <a:pPr lvl="2"/>
            <a:r>
              <a:rPr lang="en-US" altLang="zh-CN" sz="1000"/>
              <a:t>sudo apt install vsftpd</a:t>
            </a:r>
            <a:endParaRPr lang="en-US" altLang="zh-CN" sz="1000"/>
          </a:p>
          <a:p>
            <a:pPr lvl="2"/>
            <a:r>
              <a:rPr lang="en-US" altLang="zh-CN" sz="1000"/>
              <a:t>sudo systemctl status vsftpd</a:t>
            </a:r>
            <a:endParaRPr lang="en-US" altLang="zh-CN" sz="1000"/>
          </a:p>
          <a:p>
            <a:pPr lvl="2"/>
            <a:r>
              <a:rPr lang="en-US" altLang="zh-CN" sz="1000"/>
              <a:t>sudo systemctl enable --now vsftpd</a:t>
            </a:r>
            <a:endParaRPr lang="en-US" altLang="zh-CN" sz="1000"/>
          </a:p>
          <a:p>
            <a:pPr lvl="1"/>
            <a:r>
              <a:rPr lang="en-US" altLang="zh-CN" sz="1200"/>
              <a:t>Configure firewall</a:t>
            </a:r>
            <a:endParaRPr lang="en-US" altLang="zh-CN" sz="1200"/>
          </a:p>
          <a:p>
            <a:pPr lvl="1"/>
            <a:r>
              <a:rPr lang="en-US" altLang="zh-CN" sz="1200"/>
              <a:t>Configure users</a:t>
            </a:r>
            <a:endParaRPr lang="en-US" altLang="zh-CN" sz="1200"/>
          </a:p>
          <a:p>
            <a:pPr lvl="2"/>
            <a:r>
              <a:rPr lang="en-US" altLang="zh-CN" sz="1000"/>
              <a:t>sudo adduser ftpuser</a:t>
            </a:r>
            <a:endParaRPr lang="en-US" altLang="zh-CN" sz="1000"/>
          </a:p>
          <a:p>
            <a:pPr lvl="2"/>
            <a:r>
              <a:rPr lang="en-US" altLang="zh-CN" sz="1000"/>
              <a:t>sudo vim /etc/ssh/sshd_config</a:t>
            </a:r>
            <a:endParaRPr lang="en-US" altLang="zh-CN" sz="1000"/>
          </a:p>
          <a:p>
            <a:pPr lvl="3"/>
            <a:r>
              <a:rPr lang="en-US" altLang="zh-CN" sz="1000"/>
              <a:t>DenyUsers ftpuser</a:t>
            </a:r>
            <a:endParaRPr lang="en-US" altLang="zh-CN" sz="1000"/>
          </a:p>
          <a:p>
            <a:pPr lvl="2"/>
            <a:r>
              <a:rPr lang="en-US" altLang="zh-CN" sz="1000"/>
              <a:t>sudo systemctl restart sshd</a:t>
            </a:r>
            <a:endParaRPr lang="en-US" altLang="zh-CN" sz="1000"/>
          </a:p>
          <a:p>
            <a:pPr lvl="1"/>
            <a:r>
              <a:rPr lang="en-US" altLang="zh-CN" sz="1200"/>
              <a:t>Create the FTP folder and set permissions</a:t>
            </a:r>
            <a:endParaRPr lang="en-US" altLang="zh-CN" sz="1200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379210" y="1203325"/>
            <a:ext cx="5445760" cy="512953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黑体" panose="02010609060101010101" charset="-122"/>
              <a:buChar char="〉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zh-CN" sz="1400"/>
              <a:t>Configure and secure vsftpd</a:t>
            </a:r>
            <a:endParaRPr lang="en-US" altLang="zh-CN" sz="1400"/>
          </a:p>
          <a:p>
            <a:pPr lvl="2"/>
            <a:r>
              <a:rPr lang="en-US" altLang="zh-CN" sz="1200">
                <a:sym typeface="+mn-ea"/>
              </a:rPr>
              <a:t>vim /etc/vsftpd.conf</a:t>
            </a:r>
            <a:endParaRPr lang="en-US" altLang="zh-CN" sz="1200"/>
          </a:p>
          <a:p>
            <a:pPr lvl="3"/>
            <a:r>
              <a:rPr lang="en-US" altLang="zh-CN" sz="1200"/>
              <a:t>anonymous_enable=NO</a:t>
            </a:r>
            <a:endParaRPr lang="en-US" altLang="zh-CN" sz="1200"/>
          </a:p>
          <a:p>
            <a:pPr lvl="3"/>
            <a:r>
              <a:rPr lang="en-US" altLang="zh-CN" sz="1200"/>
              <a:t>local_enable=YES</a:t>
            </a:r>
            <a:endParaRPr lang="en-US" altLang="zh-CN" sz="1200"/>
          </a:p>
          <a:p>
            <a:pPr lvl="3"/>
            <a:r>
              <a:rPr lang="en-US" altLang="zh-CN" sz="1200"/>
              <a:t>write_enable=YES</a:t>
            </a:r>
            <a:endParaRPr lang="en-US" altLang="zh-CN" sz="1200"/>
          </a:p>
          <a:p>
            <a:pPr lvl="3"/>
            <a:r>
              <a:rPr lang="en-US" altLang="zh-CN" sz="1200"/>
              <a:t>pasv_min_port=30000	// passive mode min port</a:t>
            </a:r>
            <a:endParaRPr lang="en-US" altLang="zh-CN" sz="1200"/>
          </a:p>
          <a:p>
            <a:pPr lvl="3"/>
            <a:r>
              <a:rPr lang="en-US" altLang="zh-CN" sz="1200"/>
              <a:t>pasv_max_port=31000	// passive mode max port</a:t>
            </a:r>
            <a:endParaRPr lang="en-US" altLang="zh-CN" sz="1200"/>
          </a:p>
          <a:p>
            <a:pPr lvl="3"/>
            <a:r>
              <a:rPr lang="en-US" altLang="zh-CN" sz="1200"/>
              <a:t>chroot_local_user=YES</a:t>
            </a:r>
            <a:endParaRPr lang="en-US" altLang="zh-CN" sz="1200"/>
          </a:p>
          <a:p>
            <a:pPr lvl="3"/>
            <a:r>
              <a:rPr lang="en-US" altLang="zh-CN" sz="1200"/>
              <a:t>local_umask=022</a:t>
            </a:r>
            <a:endParaRPr lang="en-US" altLang="zh-CN" sz="900"/>
          </a:p>
        </p:txBody>
      </p:sp>
    </p:spTree>
    <p:custDataLst>
      <p:tags r:id="rId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FTP Server 2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154930" cy="5343525"/>
          </a:xfrm>
        </p:spPr>
        <p:txBody>
          <a:bodyPr>
            <a:normAutofit fontScale="70000"/>
          </a:bodyPr>
          <a:p>
            <a:pPr lvl="1"/>
            <a:r>
              <a:rPr lang="en-US" altLang="zh-CN" sz="1600">
                <a:sym typeface="+mn-ea"/>
              </a:rPr>
              <a:t>Securing vsftpd with SSL/TLS</a:t>
            </a:r>
            <a:endParaRPr lang="en-US" altLang="zh-CN" sz="1600"/>
          </a:p>
          <a:p>
            <a:pPr lvl="2"/>
            <a:r>
              <a:rPr lang="en-US" altLang="zh-CN" sz="1600">
                <a:sym typeface="+mn-ea"/>
              </a:rPr>
              <a:t>sudo openssl req -x509 -nodes -days 365 -newkey rsa:2048 -keyout /etc/ssl/private/vsftpd.pem -out /etc/ssl/private/vsftpd.pem</a:t>
            </a:r>
            <a:endParaRPr lang="en-US" altLang="zh-CN" sz="1600"/>
          </a:p>
          <a:p>
            <a:pPr lvl="2"/>
            <a:r>
              <a:rPr lang="en-US" altLang="zh-CN" sz="1600">
                <a:sym typeface="+mn-ea"/>
              </a:rPr>
              <a:t>sudo nano /etc/vsftpd.conf</a:t>
            </a:r>
            <a:endParaRPr lang="en-US" altLang="zh-CN" sz="1600"/>
          </a:p>
          <a:p>
            <a:pPr lvl="3"/>
            <a:r>
              <a:rPr lang="en-US" altLang="zh-CN" sz="1600">
                <a:sym typeface="+mn-ea"/>
              </a:rPr>
              <a:t>Remove lines</a:t>
            </a:r>
            <a:endParaRPr lang="en-US" altLang="zh-CN" sz="1600"/>
          </a:p>
          <a:p>
            <a:pPr lvl="4"/>
            <a:r>
              <a:rPr lang="en-US" altLang="zh-CN" sz="1600">
                <a:sym typeface="+mn-ea"/>
              </a:rPr>
              <a:t>rsa_cert_file=/etc/ssl/certs/ssl-cert-snakeoil.pem</a:t>
            </a:r>
            <a:endParaRPr lang="en-US" altLang="zh-CN" sz="1600"/>
          </a:p>
          <a:p>
            <a:pPr lvl="4"/>
            <a:r>
              <a:rPr lang="en-US" altLang="zh-CN" sz="1600">
                <a:sym typeface="+mn-ea"/>
              </a:rPr>
              <a:t>rsa_private_key_file=/etc/ssl/private/ssl-cert-snakeoil.key</a:t>
            </a:r>
            <a:endParaRPr lang="en-US" altLang="zh-CN" sz="1600"/>
          </a:p>
          <a:p>
            <a:pPr lvl="4"/>
            <a:r>
              <a:rPr lang="en-US" altLang="zh-CN" sz="1600">
                <a:sym typeface="+mn-ea"/>
              </a:rPr>
              <a:t>ssl_enable=NO</a:t>
            </a:r>
            <a:endParaRPr lang="en-US" altLang="zh-CN" sz="1600">
              <a:sym typeface="+mn-ea"/>
            </a:endParaRPr>
          </a:p>
          <a:p>
            <a:pPr lvl="3"/>
            <a:r>
              <a:rPr lang="en-US" altLang="zh-CN" sz="1600">
                <a:sym typeface="+mn-ea"/>
              </a:rPr>
              <a:t>Add lines</a:t>
            </a:r>
            <a:endParaRPr lang="en-US" altLang="zh-CN" sz="1600">
              <a:sym typeface="+mn-ea"/>
            </a:endParaRPr>
          </a:p>
          <a:p>
            <a:pPr lvl="4"/>
            <a:r>
              <a:rPr lang="en-US" altLang="zh-CN" sz="1600"/>
              <a:t>rsa_cert_file=/etc/ssl/private/vsftpd.pem</a:t>
            </a:r>
            <a:endParaRPr lang="en-US" altLang="zh-CN" sz="1600"/>
          </a:p>
          <a:p>
            <a:pPr lvl="4"/>
            <a:r>
              <a:rPr lang="en-US" altLang="zh-CN" sz="1600"/>
              <a:t>rsa_private_key_file=/etc/ssl/private/vsftpd.pem</a:t>
            </a:r>
            <a:endParaRPr lang="en-US" altLang="zh-CN" sz="1600"/>
          </a:p>
          <a:p>
            <a:pPr lvl="4"/>
            <a:r>
              <a:rPr lang="en-US" altLang="zh-CN" sz="1600"/>
              <a:t>ssl_enable=YES</a:t>
            </a:r>
            <a:endParaRPr lang="en-US" altLang="zh-CN" sz="1600"/>
          </a:p>
          <a:p>
            <a:pPr lvl="4"/>
            <a:r>
              <a:rPr lang="en-US" altLang="zh-CN" sz="1600"/>
              <a:t>allow_anon_ssl=NO</a:t>
            </a:r>
            <a:endParaRPr lang="en-US" altLang="zh-CN" sz="1600"/>
          </a:p>
          <a:p>
            <a:pPr lvl="4"/>
            <a:r>
              <a:rPr lang="en-US" altLang="zh-CN" sz="1600"/>
              <a:t>force_local_data_ssl=YES</a:t>
            </a:r>
            <a:endParaRPr lang="en-US" altLang="zh-CN" sz="1600"/>
          </a:p>
          <a:p>
            <a:pPr lvl="4"/>
            <a:r>
              <a:rPr lang="en-US" altLang="zh-CN" sz="1600"/>
              <a:t>force_local_logins_ssl=YES</a:t>
            </a:r>
            <a:endParaRPr lang="en-US" altLang="zh-CN" sz="1600"/>
          </a:p>
          <a:p>
            <a:pPr lvl="4"/>
            <a:r>
              <a:rPr lang="en-US" altLang="zh-CN" sz="1600"/>
              <a:t>ssl_tlsv1=YES</a:t>
            </a:r>
            <a:endParaRPr lang="en-US" altLang="zh-CN" sz="1600"/>
          </a:p>
          <a:p>
            <a:pPr lvl="4"/>
            <a:r>
              <a:rPr lang="en-US" altLang="zh-CN" sz="1600"/>
              <a:t>ssl_sslv2=NO</a:t>
            </a:r>
            <a:endParaRPr lang="en-US" altLang="zh-CN" sz="1600"/>
          </a:p>
          <a:p>
            <a:pPr lvl="4"/>
            <a:r>
              <a:rPr lang="en-US" altLang="zh-CN" sz="1600"/>
              <a:t>ssl_sslv3=NO</a:t>
            </a:r>
            <a:endParaRPr lang="en-US" altLang="zh-CN" sz="1600"/>
          </a:p>
          <a:p>
            <a:pPr lvl="4"/>
            <a:r>
              <a:rPr lang="en-US" altLang="zh-CN" sz="1600"/>
              <a:t>require_ssl_reuse=NO</a:t>
            </a:r>
            <a:endParaRPr lang="en-US" altLang="zh-CN" sz="1600"/>
          </a:p>
          <a:p>
            <a:pPr lvl="4"/>
            <a:r>
              <a:rPr lang="en-US" altLang="zh-CN" sz="1600"/>
              <a:t>ssl_ciphers=HIGH</a:t>
            </a:r>
            <a:endParaRPr lang="en-US" altLang="zh-CN" sz="1600"/>
          </a:p>
          <a:p>
            <a:pPr lvl="2"/>
            <a:r>
              <a:rPr lang="en-US" altLang="zh-CN" sz="1600"/>
              <a:t>sudo systemctl restart --now vsftpd</a:t>
            </a:r>
            <a:endParaRPr lang="en-US" altLang="zh-CN" sz="1600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805930" y="1211580"/>
            <a:ext cx="5121275" cy="5343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黑体" panose="02010609060101010101" charset="-122"/>
              <a:buChar char="〉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zh-CN" sz="1775"/>
              <a:t>Disable shell access</a:t>
            </a:r>
            <a:endParaRPr lang="en-US" altLang="zh-CN" sz="1775"/>
          </a:p>
          <a:p>
            <a:pPr lvl="2"/>
            <a:r>
              <a:rPr lang="en-US" altLang="zh-CN" sz="1595"/>
              <a:t>echo -e '#!/bin/sh\necho "This account is limited to FTP access only."' | sudo tee -a  /bin/ftponly</a:t>
            </a:r>
            <a:endParaRPr lang="en-US" altLang="zh-CN" sz="1595"/>
          </a:p>
          <a:p>
            <a:pPr lvl="2"/>
            <a:r>
              <a:rPr lang="en-US" altLang="zh-CN" sz="1595"/>
              <a:t>sudo chmod a+x /bin/ftponly</a:t>
            </a:r>
            <a:endParaRPr lang="en-US" altLang="zh-CN" sz="1595"/>
          </a:p>
          <a:p>
            <a:pPr lvl="2"/>
            <a:r>
              <a:rPr lang="en-US" altLang="zh-CN" sz="1595"/>
              <a:t>echo "/bin/ftponly" | sudo tee -a /etc/shells</a:t>
            </a:r>
            <a:endParaRPr lang="en-US" altLang="zh-CN" sz="1595"/>
          </a:p>
          <a:p>
            <a:pPr lvl="2"/>
            <a:r>
              <a:rPr lang="en-US" altLang="zh-CN" sz="1595"/>
              <a:t>sudo usermod ftpuser -s /bin/ftponly</a:t>
            </a:r>
            <a:endParaRPr lang="en-US" altLang="zh-CN" sz="1595"/>
          </a:p>
          <a:p>
            <a:endParaRPr lang="en-US" altLang="zh-CN" sz="1600"/>
          </a:p>
        </p:txBody>
      </p:sp>
    </p:spTree>
    <p:custDataLst>
      <p:tags r:id="rId1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VNC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6114415" cy="4918075"/>
          </a:xfrm>
        </p:spPr>
        <p:txBody>
          <a:bodyPr>
            <a:normAutofit fontScale="70000"/>
          </a:bodyPr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https://www.digitalocean.com/community/tutorials/how-to-install-and-configure-vnc-on-ubuntu-20-04</a:t>
            </a:r>
            <a:endParaRPr lang="en-US" altLang="zh-CN"/>
          </a:p>
          <a:p>
            <a:pPr lvl="0"/>
            <a:r>
              <a:rPr lang="en-US" altLang="zh-CN"/>
              <a:t>Steps</a:t>
            </a:r>
            <a:endParaRPr lang="en-US" altLang="zh-CN"/>
          </a:p>
          <a:p>
            <a:pPr lvl="1"/>
            <a:r>
              <a:rPr lang="en-US" altLang="zh-CN"/>
              <a:t>sudo apt update</a:t>
            </a:r>
            <a:endParaRPr lang="en-US" altLang="zh-CN"/>
          </a:p>
          <a:p>
            <a:pPr lvl="1"/>
            <a:r>
              <a:rPr lang="en-US" altLang="zh-CN"/>
              <a:t>sudo apt install xfce4 xfce4-goodies</a:t>
            </a:r>
            <a:endParaRPr lang="en-US" altLang="zh-CN"/>
          </a:p>
          <a:p>
            <a:pPr lvl="1"/>
            <a:r>
              <a:rPr lang="en-US" altLang="zh-CN"/>
              <a:t>sudo apt install tightvncserver</a:t>
            </a:r>
            <a:endParaRPr lang="en-US" altLang="zh-CN"/>
          </a:p>
          <a:p>
            <a:pPr lvl="1"/>
            <a:r>
              <a:rPr lang="en-US" altLang="zh-CN"/>
              <a:t>vncserver</a:t>
            </a:r>
            <a:endParaRPr lang="en-US" altLang="zh-CN"/>
          </a:p>
          <a:p>
            <a:pPr lvl="2"/>
            <a:r>
              <a:rPr lang="en-US" altLang="zh-CN"/>
              <a:t> it launches a default server instance on port 5901</a:t>
            </a:r>
            <a:endParaRPr lang="en-US" altLang="zh-CN"/>
          </a:p>
          <a:p>
            <a:pPr lvl="2"/>
            <a:r>
              <a:rPr lang="en-US" altLang="zh-CN"/>
              <a:t>vncserver -kill :1	// kill the vnc server</a:t>
            </a:r>
            <a:endParaRPr lang="en-US" altLang="zh-CN"/>
          </a:p>
          <a:p>
            <a:pPr lvl="1"/>
            <a:r>
              <a:rPr lang="en-US" altLang="zh-CN"/>
              <a:t>vim  ~/.vnc/xstartup</a:t>
            </a:r>
            <a:endParaRPr lang="en-US" altLang="zh-CN"/>
          </a:p>
          <a:p>
            <a:pPr lvl="2"/>
            <a:r>
              <a:rPr lang="en-US" altLang="zh-CN"/>
              <a:t>#!/bin/bash</a:t>
            </a:r>
            <a:endParaRPr lang="en-US" altLang="zh-CN"/>
          </a:p>
          <a:p>
            <a:pPr lvl="2"/>
            <a:r>
              <a:rPr lang="en-US" altLang="zh-CN"/>
              <a:t>xrdb $HOME/.Xresources</a:t>
            </a:r>
            <a:endParaRPr lang="en-US" altLang="zh-CN"/>
          </a:p>
          <a:p>
            <a:pPr lvl="2"/>
            <a:r>
              <a:rPr lang="en-US" altLang="zh-CN"/>
              <a:t>startxfce4 &amp;</a:t>
            </a:r>
            <a:endParaRPr lang="en-US" altLang="zh-CN"/>
          </a:p>
          <a:p>
            <a:pPr lvl="1"/>
            <a:r>
              <a:rPr lang="en-US" altLang="zh-CN"/>
              <a:t>chmod +x ~/.vnc/xstartup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vncserver -kill :1</a:t>
            </a:r>
            <a:endParaRPr lang="en-US" altLang="zh-CN">
              <a:sym typeface="+mn-ea"/>
            </a:endParaRPr>
          </a:p>
          <a:p>
            <a:pPr lvl="1"/>
            <a:r>
              <a:rPr lang="en-US" altLang="zh-CN"/>
              <a:t>vncserver</a:t>
            </a:r>
            <a:endParaRPr lang="en-US" altLang="zh-CN"/>
          </a:p>
          <a:p>
            <a:pPr lvl="1"/>
            <a:r>
              <a:rPr lang="en-US" altLang="zh-CN"/>
              <a:t>sudo ufw allow 5901/tcp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0590" y="812800"/>
            <a:ext cx="3888740" cy="523176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Disk &amp; Partition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p>
            <a:r>
              <a:rPr lang="en-US" altLang="zh-CN"/>
              <a:t>Steps (e.g. /dev/vdb)</a:t>
            </a:r>
            <a:endParaRPr lang="en-US" altLang="zh-CN"/>
          </a:p>
          <a:p>
            <a:pPr lvl="1"/>
            <a:r>
              <a:rPr lang="en-US" altLang="zh-CN"/>
              <a:t>Create new empty partitions:</a:t>
            </a:r>
            <a:endParaRPr lang="en-US" altLang="zh-CN"/>
          </a:p>
          <a:p>
            <a:pPr lvl="2"/>
            <a:r>
              <a:rPr lang="en-US" altLang="zh-CN"/>
              <a:t># parted -s /dev/vdb mklabel gpt</a:t>
            </a:r>
            <a:endParaRPr lang="en-US" altLang="zh-CN"/>
          </a:p>
          <a:p>
            <a:pPr lvl="2"/>
            <a:r>
              <a:rPr lang="en-US" altLang="zh-CN"/>
              <a:t># parted -s /dev/vdb unit mib mkpart primary 0% 100%</a:t>
            </a:r>
            <a:endParaRPr lang="en-US" altLang="zh-CN"/>
          </a:p>
          <a:p>
            <a:pPr lvl="1"/>
            <a:r>
              <a:rPr lang="en-US" altLang="zh-CN"/>
              <a:t>Create new empty filesystem:</a:t>
            </a:r>
            <a:endParaRPr lang="en-US" altLang="zh-CN"/>
          </a:p>
          <a:p>
            <a:pPr lvl="2"/>
            <a:r>
              <a:rPr lang="en-US" altLang="zh-CN"/>
              <a:t># mkfs.ext4 /dev/vdb1</a:t>
            </a:r>
            <a:endParaRPr lang="en-US" altLang="zh-CN"/>
          </a:p>
          <a:p>
            <a:pPr lvl="1"/>
            <a:r>
              <a:rPr lang="en-US" altLang="zh-CN"/>
              <a:t>Mount block storage:</a:t>
            </a:r>
            <a:endParaRPr lang="en-US" altLang="zh-CN"/>
          </a:p>
          <a:p>
            <a:pPr lvl="2"/>
            <a:r>
              <a:rPr lang="en-US" altLang="zh-CN"/>
              <a:t># mkdir /mnt/blockstorage</a:t>
            </a:r>
            <a:endParaRPr lang="en-US" altLang="zh-CN"/>
          </a:p>
          <a:p>
            <a:pPr lvl="2"/>
            <a:r>
              <a:rPr lang="en-US" altLang="zh-CN"/>
              <a:t># echo &gt;&gt; /etc/fstab</a:t>
            </a:r>
            <a:endParaRPr lang="en-US" altLang="zh-CN"/>
          </a:p>
          <a:p>
            <a:pPr lvl="2"/>
            <a:r>
              <a:rPr lang="en-US" altLang="zh-CN"/>
              <a:t># echo /dev/vdb1               /mnt/blockstorage       ext4    defaults,noatime,nofail 0 0 &gt;&gt; /etc/fstab</a:t>
            </a:r>
            <a:endParaRPr lang="en-US" altLang="zh-CN"/>
          </a:p>
          <a:p>
            <a:pPr lvl="2"/>
            <a:r>
              <a:rPr lang="en-US" altLang="zh-CN"/>
              <a:t># mount /mnt/blockstorage</a:t>
            </a:r>
            <a:endParaRPr lang="en-US" altLang="zh-CN"/>
          </a:p>
          <a:p>
            <a:pPr lvl="0"/>
            <a:r>
              <a:rPr lang="en-US" altLang="zh-CN"/>
              <a:t>Increase disk size</a:t>
            </a:r>
            <a:endParaRPr lang="en-US" altLang="zh-CN"/>
          </a:p>
          <a:p>
            <a:pPr lvl="1"/>
            <a:r>
              <a:rPr lang="en-US" altLang="zh-CN"/>
              <a:t>sudo fdisk -l  # </a:t>
            </a:r>
            <a:r>
              <a:rPr lang="zh-CN" altLang="en-US"/>
              <a:t>查看是否</a:t>
            </a:r>
            <a:r>
              <a:rPr lang="en-US" altLang="zh-CN"/>
              <a:t>gpt</a:t>
            </a:r>
            <a:r>
              <a:rPr lang="zh-CN" altLang="en-US"/>
              <a:t>分区</a:t>
            </a:r>
            <a:endParaRPr lang="zh-CN" altLang="en-US"/>
          </a:p>
          <a:p>
            <a:pPr lvl="1"/>
            <a:r>
              <a:rPr lang="en-US" altLang="zh-CN"/>
              <a:t>sudo file -s /dev/vda2   # </a:t>
            </a:r>
            <a:r>
              <a:rPr lang="zh-CN" altLang="en-US"/>
              <a:t>查看文件系统是否为</a:t>
            </a:r>
            <a:r>
              <a:rPr lang="en-US" altLang="zh-CN"/>
              <a:t>ext4</a:t>
            </a:r>
            <a:endParaRPr lang="zh-CN" altLang="en-US"/>
          </a:p>
          <a:p>
            <a:pPr lvl="1"/>
            <a:r>
              <a:rPr lang="en-US" altLang="zh-CN"/>
              <a:t>sudo apt install -y gdisk cloud-guest-utils</a:t>
            </a:r>
            <a:endParaRPr lang="en-US" altLang="zh-CN"/>
          </a:p>
          <a:p>
            <a:pPr lvl="1"/>
            <a:r>
              <a:rPr lang="en-US" altLang="zh-CN"/>
              <a:t>sudo LC_ALL=en_US.UTF-8 growpart /dev/vda 2</a:t>
            </a:r>
            <a:endParaRPr lang="en-US" altLang="zh-CN"/>
          </a:p>
          <a:p>
            <a:pPr lvl="1"/>
            <a:r>
              <a:rPr lang="en-US" altLang="zh-CN"/>
              <a:t>resize2fs /dev/vda2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GPU Server</a:t>
            </a:r>
            <a:endParaRPr lang="en-US" altLang="zh-CN"/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2425700" y="1170940"/>
            <a:ext cx="7339965" cy="498665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Log Rotate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4846320" cy="4549140"/>
          </a:xfrm>
        </p:spPr>
        <p:txBody>
          <a:bodyPr/>
          <a:p>
            <a:r>
              <a:rPr lang="en-US" altLang="zh-CN"/>
              <a:t>/etc/logrotate.d/nginx-docker</a:t>
            </a:r>
            <a:endParaRPr lang="en-US" altLang="zh-CN"/>
          </a:p>
          <a:p>
            <a:pPr lvl="1"/>
            <a:r>
              <a:rPr lang="en-US" altLang="zh-CN"/>
              <a:t>dry run</a:t>
            </a:r>
            <a:endParaRPr lang="en-US" altLang="zh-CN"/>
          </a:p>
          <a:p>
            <a:pPr lvl="2"/>
            <a:r>
              <a:rPr lang="en-US" altLang="zh-CN"/>
              <a:t>sudo logrotate -d /etc/logrotate.d/nginx-docker</a:t>
            </a:r>
            <a:endParaRPr lang="en-US" altLang="zh-CN"/>
          </a:p>
          <a:p>
            <a:pPr lvl="1"/>
            <a:r>
              <a:rPr lang="en-US" altLang="zh-CN"/>
              <a:t>force rotation</a:t>
            </a:r>
            <a:endParaRPr lang="en-US" altLang="zh-CN"/>
          </a:p>
          <a:p>
            <a:pPr lvl="2"/>
            <a:r>
              <a:rPr lang="en-US" altLang="zh-CN"/>
              <a:t>sudo logrotate -f /etc/logrotate.d/nginx-docker</a:t>
            </a:r>
            <a:endParaRPr lang="en-US" altLang="zh-CN"/>
          </a:p>
          <a:p>
            <a:pPr lvl="1"/>
            <a:r>
              <a:rPr lang="en-US" altLang="zh-CN"/>
              <a:t>/etc/cron.daily/logrotate</a:t>
            </a:r>
            <a:endParaRPr lang="en-US" altLang="zh-CN"/>
          </a:p>
          <a:p>
            <a:pPr lvl="1"/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6918960" y="1349375"/>
            <a:ext cx="4419600" cy="418465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p>
            <a:r>
              <a:rPr lang="en-US" altLang="zh-CN" sz="1400"/>
              <a:t>/data/PanoService/log/*.log {</a:t>
            </a:r>
            <a:endParaRPr lang="en-US" altLang="zh-CN" sz="1400"/>
          </a:p>
          <a:p>
            <a:r>
              <a:rPr lang="en-US" altLang="zh-CN" sz="1400"/>
              <a:t>    daily</a:t>
            </a:r>
            <a:endParaRPr lang="en-US" altLang="zh-CN" sz="1400"/>
          </a:p>
          <a:p>
            <a:r>
              <a:rPr lang="en-US" altLang="zh-CN" sz="1400"/>
              <a:t>    missingok</a:t>
            </a:r>
            <a:endParaRPr lang="en-US" altLang="zh-CN" sz="1400"/>
          </a:p>
          <a:p>
            <a:r>
              <a:rPr lang="en-US" altLang="zh-CN" sz="1400"/>
              <a:t>    rotate 14</a:t>
            </a:r>
            <a:endParaRPr lang="en-US" altLang="zh-CN" sz="1400"/>
          </a:p>
          <a:p>
            <a:r>
              <a:rPr lang="en-US" altLang="zh-CN" sz="1400"/>
              <a:t>    compress   </a:t>
            </a:r>
            <a:endParaRPr lang="en-US" altLang="zh-CN" sz="1400"/>
          </a:p>
          <a:p>
            <a:r>
              <a:rPr lang="en-US" altLang="zh-CN" sz="1400"/>
              <a:t>    delaycompress</a:t>
            </a:r>
            <a:endParaRPr lang="en-US" altLang="zh-CN" sz="1400"/>
          </a:p>
          <a:p>
            <a:r>
              <a:rPr lang="en-US" altLang="zh-CN" sz="1400"/>
              <a:t>    notifempty</a:t>
            </a:r>
            <a:endParaRPr lang="en-US" altLang="zh-CN" sz="1400"/>
          </a:p>
          <a:p>
            <a:r>
              <a:rPr lang="en-US" altLang="zh-CN" sz="1400"/>
              <a:t>    create 0640 root root</a:t>
            </a:r>
            <a:endParaRPr lang="en-US" altLang="zh-CN" sz="1400"/>
          </a:p>
          <a:p>
            <a:r>
              <a:rPr lang="en-US" altLang="zh-CN" sz="1400"/>
              <a:t>    sharedscripts</a:t>
            </a:r>
            <a:endParaRPr lang="en-US" altLang="zh-CN" sz="1400"/>
          </a:p>
          <a:p>
            <a:r>
              <a:rPr lang="en-US" altLang="zh-CN" sz="1400"/>
              <a:t>    postrotate</a:t>
            </a:r>
            <a:endParaRPr lang="en-US" altLang="zh-CN" sz="1400"/>
          </a:p>
          <a:p>
            <a:r>
              <a:rPr lang="en-US" altLang="zh-CN" sz="1400"/>
              <a:t>         docker exec nginx-container-name nginx -s reload</a:t>
            </a:r>
            <a:endParaRPr lang="en-US" altLang="zh-CN" sz="1400"/>
          </a:p>
          <a:p>
            <a:pPr indent="457200"/>
            <a:r>
              <a:rPr lang="en-US" altLang="zh-CN" sz="1400"/>
              <a:t> BACKUP_PATH="/home/ubuntu/Backup/logs/nginx/$(date +%Y-%m)"</a:t>
            </a:r>
            <a:endParaRPr lang="en-US" altLang="zh-CN" sz="1400"/>
          </a:p>
          <a:p>
            <a:pPr indent="457200"/>
            <a:r>
              <a:rPr lang="en-US" altLang="zh-CN" sz="1400"/>
              <a:t>mkdir -p "$BACKUP_PATH"</a:t>
            </a:r>
            <a:endParaRPr lang="en-US" altLang="zh-CN" sz="1400"/>
          </a:p>
          <a:p>
            <a:r>
              <a:rPr lang="en-US" altLang="zh-CN" sz="1400"/>
              <a:t>         find /data/PanoService/log/ -name "*.gz" -mtime -1 -exec cp {} "$BACKUP_PATH" \;    endscript</a:t>
            </a:r>
            <a:endParaRPr lang="en-US" altLang="zh-CN" sz="1400"/>
          </a:p>
          <a:p>
            <a:r>
              <a:rPr lang="en-US" altLang="zh-CN" sz="1400"/>
              <a:t>}</a:t>
            </a:r>
            <a:endParaRPr lang="en-US" altLang="zh-CN" sz="1400"/>
          </a:p>
        </p:txBody>
      </p:sp>
    </p:spTree>
    <p:custDataLst>
      <p:tags r:id="rId1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/>
              <a:t>Move to New Server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Backup DB on old server</a:t>
            </a:r>
            <a:endParaRPr lang="en-US" altLang="zh-CN"/>
          </a:p>
          <a:p>
            <a:r>
              <a:rPr lang="en-US" altLang="zh-CN"/>
              <a:t>Backup user data on old server</a:t>
            </a:r>
            <a:endParaRPr lang="en-US" altLang="zh-CN"/>
          </a:p>
          <a:p>
            <a:r>
              <a:rPr lang="en-US" altLang="zh-CN"/>
              <a:t>Install docker environment (Linux-bootstrap)</a:t>
            </a:r>
            <a:endParaRPr lang="en-US" altLang="zh-CN"/>
          </a:p>
          <a:p>
            <a:r>
              <a:rPr lang="en-US" altLang="zh-CN"/>
              <a:t>Deploy services onto new server</a:t>
            </a:r>
            <a:endParaRPr lang="en-US" altLang="zh-CN"/>
          </a:p>
          <a:p>
            <a:r>
              <a:rPr lang="en-US" altLang="zh-CN"/>
              <a:t>Copy user data to new server</a:t>
            </a:r>
            <a:endParaRPr lang="en-US" altLang="zh-CN"/>
          </a:p>
          <a:p>
            <a:r>
              <a:rPr lang="en-US" altLang="zh-CN"/>
              <a:t>Import DB in new server</a:t>
            </a:r>
            <a:endParaRPr lang="en-US" altLang="zh-CN"/>
          </a:p>
          <a:p>
            <a:r>
              <a:rPr lang="en-US" altLang="zh-CN"/>
              <a:t>“crontab -e” to set up maintenance tasks</a:t>
            </a:r>
            <a:endParaRPr lang="en-US" altLang="zh-CN"/>
          </a:p>
          <a:p>
            <a:pPr lvl="1"/>
            <a:r>
              <a:rPr lang="en-US" altLang="zh-CN" sz="2000"/>
              <a:t>backup_docker_logs.sh</a:t>
            </a:r>
            <a:endParaRPr lang="en-US" altLang="zh-CN"/>
          </a:p>
          <a:p>
            <a:r>
              <a:rPr lang="en-US" altLang="zh-CN"/>
              <a:t>Copy nginx-docker to /etc/logrotate.d/</a:t>
            </a:r>
            <a:endParaRPr lang="en-US" altLang="zh-CN"/>
          </a:p>
          <a:p>
            <a:pPr lvl="1"/>
            <a:r>
              <a:rPr lang="en-US" altLang="zh-CN"/>
              <a:t>for nginx log rotation</a:t>
            </a:r>
            <a:endParaRPr lang="en-US" altLang="zh-CN"/>
          </a:p>
          <a:p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Q&amp;A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6463030" cy="4549140"/>
          </a:xfrm>
        </p:spPr>
        <p:txBody>
          <a:bodyPr/>
          <a:p>
            <a:r>
              <a:rPr lang="zh-CN" altLang="en-US"/>
              <a:t>Safari浏览器不支持将非ASCII字符存入Cookie</a:t>
            </a:r>
            <a:endParaRPr lang="zh-CN" altLang="en-US"/>
          </a:p>
          <a:p>
            <a:r>
              <a:rPr lang="en-US" altLang="zh-CN"/>
              <a:t>SameSite cookie issue</a:t>
            </a:r>
            <a:endParaRPr lang="en-US" altLang="zh-CN"/>
          </a:p>
          <a:p>
            <a:pPr lvl="1"/>
            <a:r>
              <a:rPr lang="en-US" altLang="zh-CN"/>
              <a:t>https://trinitytuts.com/fix-samesite-cookie-issue-in-chrome-browser/</a:t>
            </a:r>
            <a:endParaRPr lang="en-US" altLang="zh-CN"/>
          </a:p>
          <a:p>
            <a:pPr lvl="1"/>
            <a:r>
              <a:rPr lang="en-US" altLang="zh-CN"/>
              <a:t>It happens when debug frontend using “npm run dev”</a:t>
            </a:r>
            <a:endParaRPr lang="en-US" altLang="zh-CN"/>
          </a:p>
          <a:p>
            <a:pPr lvl="1"/>
            <a:r>
              <a:rPr lang="en-US" altLang="zh-CN"/>
              <a:t>solution: modify nginx configuration</a:t>
            </a:r>
            <a:endParaRPr lang="en-US" altLang="zh-CN"/>
          </a:p>
          <a:p>
            <a:pPr lvl="0"/>
            <a:r>
              <a:rPr lang="zh-CN" altLang="en-US"/>
              <a:t>云盘系统盘扩容</a:t>
            </a:r>
            <a:endParaRPr lang="zh-CN" altLang="en-US"/>
          </a:p>
          <a:p>
            <a:pPr lvl="1"/>
            <a:r>
              <a:rPr lang="zh-CN" altLang="en-US"/>
              <a:t>sudo apt-get install -y cloud-guest-utils</a:t>
            </a:r>
            <a:endParaRPr lang="zh-CN" altLang="en-US"/>
          </a:p>
          <a:p>
            <a:pPr lvl="1"/>
            <a:r>
              <a:rPr lang="zh-CN" altLang="en-US"/>
              <a:t>sudo growpart /dev/vda </a:t>
            </a:r>
            <a:r>
              <a:rPr lang="en-US" altLang="zh-CN"/>
              <a:t>2</a:t>
            </a:r>
            <a:endParaRPr lang="zh-CN" altLang="en-US"/>
          </a:p>
          <a:p>
            <a:pPr lvl="1"/>
            <a:r>
              <a:rPr lang="zh-CN" altLang="en-US"/>
              <a:t>sudo resize2fs /dev/vda</a:t>
            </a:r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7890510" y="1211580"/>
            <a:ext cx="3463290" cy="159956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p>
            <a:r>
              <a:rPr lang="zh-CN" altLang="en-US" sz="1400"/>
              <a:t>server {</a:t>
            </a:r>
            <a:endParaRPr lang="zh-CN" altLang="en-US" sz="1400"/>
          </a:p>
          <a:p>
            <a:r>
              <a:rPr lang="zh-CN" altLang="en-US" sz="1400"/>
              <a:t>   </a:t>
            </a:r>
            <a:r>
              <a:rPr lang="en-US" altLang="zh-CN" sz="1400"/>
              <a:t> </a:t>
            </a:r>
            <a:r>
              <a:rPr lang="zh-CN" altLang="en-US" sz="1400"/>
              <a:t># Your other server directives...</a:t>
            </a:r>
            <a:endParaRPr lang="zh-CN" altLang="en-US" sz="1400"/>
          </a:p>
          <a:p>
            <a:r>
              <a:rPr lang="zh-CN" altLang="en-US" sz="1400"/>
              <a:t>    location / {</a:t>
            </a:r>
            <a:endParaRPr lang="zh-CN" altLang="en-US" sz="1400"/>
          </a:p>
          <a:p>
            <a:r>
              <a:rPr lang="zh-CN" altLang="en-US" sz="1400"/>
              <a:t>      proxy_cookie_path / "/; secure; HttpOnly; SameSite=None";</a:t>
            </a:r>
            <a:endParaRPr lang="zh-CN" altLang="en-US" sz="1400"/>
          </a:p>
          <a:p>
            <a:r>
              <a:rPr lang="zh-CN" altLang="en-US" sz="1400"/>
              <a:t>    }</a:t>
            </a:r>
            <a:endParaRPr lang="zh-CN" altLang="en-US" sz="1400"/>
          </a:p>
          <a:p>
            <a:r>
              <a:rPr lang="zh-CN" altLang="en-US" sz="1400"/>
              <a:t> }</a:t>
            </a:r>
            <a:endParaRPr lang="zh-CN" altLang="en-US" sz="1400"/>
          </a:p>
        </p:txBody>
      </p:sp>
    </p:spTree>
    <p:custDataLst>
      <p:tags r:id="rId1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SSL &amp; Certificate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Certificate Overview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257800" cy="4549140"/>
          </a:xfrm>
        </p:spPr>
        <p:txBody>
          <a:bodyPr>
            <a:normAutofit fontScale="80000"/>
          </a:bodyPr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https://thesecmaster.com/what-are-the-different-types-of-certificate-formats/</a:t>
            </a:r>
            <a:endParaRPr lang="en-US" altLang="zh-CN"/>
          </a:p>
          <a:p>
            <a:pPr lvl="1"/>
            <a:r>
              <a:rPr lang="en-US" altLang="zh-CN" sz="2220">
                <a:sym typeface="+mn-ea"/>
              </a:rPr>
              <a:t>https://www.howtouselinux.com/post/converting-cer-crt-der-pem-pfx-certificate</a:t>
            </a:r>
            <a:endParaRPr lang="en-US" altLang="zh-CN" sz="2220"/>
          </a:p>
          <a:p>
            <a:pPr lvl="1"/>
            <a:r>
              <a:rPr lang="en-US" altLang="zh-CN" sz="2220">
                <a:sym typeface="+mn-ea"/>
              </a:rPr>
              <a:t>https://www.sslshopper.com/ssl-converter.html</a:t>
            </a:r>
            <a:endParaRPr lang="en-US" altLang="zh-CN" sz="2220"/>
          </a:p>
          <a:p>
            <a:pPr lvl="1"/>
            <a:r>
              <a:rPr lang="en-US" altLang="zh-CN" sz="2220">
                <a:sym typeface="+mn-ea"/>
              </a:rPr>
              <a:t>https://thesecmaster.com/what-are-the-different-types-of-certificate-formats/</a:t>
            </a:r>
            <a:endParaRPr lang="en-US" altLang="zh-CN" sz="2220">
              <a:sym typeface="+mn-ea"/>
            </a:endParaRPr>
          </a:p>
          <a:p>
            <a:pPr lvl="0"/>
            <a:r>
              <a:rPr lang="en-US" altLang="zh-CN" sz="2400">
                <a:sym typeface="+mn-ea"/>
              </a:rPr>
              <a:t>Format</a:t>
            </a:r>
            <a:endParaRPr lang="en-US" altLang="zh-CN" sz="2400"/>
          </a:p>
          <a:p>
            <a:pPr lvl="1"/>
            <a:r>
              <a:rPr lang="en-US" altLang="zh-CN" sz="2400">
                <a:sym typeface="+mn-ea"/>
              </a:rPr>
              <a:t>Tomcat:.pfx, Nginx: .crt .pem</a:t>
            </a:r>
            <a:endParaRPr lang="en-US" altLang="zh-CN" sz="2400"/>
          </a:p>
          <a:p>
            <a:pPr lvl="0"/>
            <a:r>
              <a:rPr lang="en-US" altLang="zh-CN" sz="2400">
                <a:sym typeface="+mn-ea"/>
              </a:rPr>
              <a:t>Keytool</a:t>
            </a:r>
            <a:endParaRPr lang="en-US" altLang="zh-CN" sz="2400"/>
          </a:p>
          <a:p>
            <a:pPr lvl="1"/>
            <a:r>
              <a:rPr lang="en-US" altLang="zh-CN" sz="2400">
                <a:sym typeface="+mn-ea"/>
              </a:rPr>
              <a:t>default password: “changeit”</a:t>
            </a:r>
            <a:endParaRPr lang="en-US" altLang="zh-CN" sz="2400">
              <a:sym typeface="+mn-ea"/>
            </a:endParaRPr>
          </a:p>
          <a:p>
            <a:pPr lvl="0"/>
            <a:r>
              <a:rPr lang="en-US" altLang="zh-CN">
                <a:sym typeface="+mn-ea"/>
              </a:rPr>
              <a:t>PKS (Public Key Cryptography Standards)</a:t>
            </a:r>
            <a:endParaRPr lang="zh-CN" altLang="en-US"/>
          </a:p>
          <a:p>
            <a:pPr lvl="0"/>
            <a:endParaRPr lang="en-US" altLang="zh-CN"/>
          </a:p>
        </p:txBody>
      </p: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6939280" y="834390"/>
            <a:ext cx="4963795" cy="238633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65" y="3204845"/>
            <a:ext cx="5459730" cy="307213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OpenSSL</a:t>
            </a:r>
            <a:endParaRPr lang="en-US" altLang="zh-CN"/>
          </a:p>
        </p:txBody>
      </p:sp>
      <p:sp>
        <p:nvSpPr>
          <p:cNvPr id="4" name="流程图: 过程 3"/>
          <p:cNvSpPr/>
          <p:nvPr/>
        </p:nvSpPr>
        <p:spPr>
          <a:xfrm>
            <a:off x="8549005" y="1565910"/>
            <a:ext cx="3321050" cy="586740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generate a key pair</a:t>
            </a:r>
            <a:endParaRPr lang="en-US" altLang="zh-CN"/>
          </a:p>
        </p:txBody>
      </p:sp>
      <p:sp>
        <p:nvSpPr>
          <p:cNvPr id="5" name="流程图: 过程 4"/>
          <p:cNvSpPr/>
          <p:nvPr/>
        </p:nvSpPr>
        <p:spPr>
          <a:xfrm>
            <a:off x="8548370" y="2411730"/>
            <a:ext cx="3306445" cy="806450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generate a CSR (Certificatae Signing Request) that contains public key and domain name</a:t>
            </a:r>
            <a:endParaRPr lang="en-US" altLang="zh-CN"/>
          </a:p>
        </p:txBody>
      </p:sp>
      <p:sp>
        <p:nvSpPr>
          <p:cNvPr id="6" name="流程图: 过程 5"/>
          <p:cNvSpPr/>
          <p:nvPr/>
        </p:nvSpPr>
        <p:spPr>
          <a:xfrm>
            <a:off x="8549005" y="3524250"/>
            <a:ext cx="3306445" cy="806450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upload request to a CA (Certificate Authority)</a:t>
            </a:r>
            <a:endParaRPr lang="en-US" altLang="zh-CN"/>
          </a:p>
        </p:txBody>
      </p:sp>
      <p:sp>
        <p:nvSpPr>
          <p:cNvPr id="7" name="流程图: 过程 6"/>
          <p:cNvSpPr/>
          <p:nvPr/>
        </p:nvSpPr>
        <p:spPr>
          <a:xfrm>
            <a:off x="8548370" y="4652010"/>
            <a:ext cx="3306445" cy="806450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download the certificate</a:t>
            </a:r>
            <a:endParaRPr lang="en-US" altLang="zh-CN"/>
          </a:p>
        </p:txBody>
      </p:sp>
      <p:cxnSp>
        <p:nvCxnSpPr>
          <p:cNvPr id="8" name="直接箭头连接符 7"/>
          <p:cNvCxnSpPr>
            <a:stCxn id="4" idx="2"/>
            <a:endCxn id="5" idx="0"/>
          </p:cNvCxnSpPr>
          <p:nvPr/>
        </p:nvCxnSpPr>
        <p:spPr>
          <a:xfrm flipH="1">
            <a:off x="10201910" y="2152650"/>
            <a:ext cx="7620" cy="2590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>
            <a:stCxn id="5" idx="2"/>
            <a:endCxn id="6" idx="0"/>
          </p:cNvCxnSpPr>
          <p:nvPr/>
        </p:nvCxnSpPr>
        <p:spPr>
          <a:xfrm>
            <a:off x="10201910" y="3218180"/>
            <a:ext cx="635" cy="3060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stCxn id="6" idx="2"/>
            <a:endCxn id="7" idx="0"/>
          </p:cNvCxnSpPr>
          <p:nvPr/>
        </p:nvCxnSpPr>
        <p:spPr>
          <a:xfrm flipH="1">
            <a:off x="10201910" y="4330700"/>
            <a:ext cx="635" cy="3213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表格 10"/>
          <p:cNvGraphicFramePr/>
          <p:nvPr>
            <p:custDataLst>
              <p:tags r:id="rId1"/>
            </p:custDataLst>
          </p:nvPr>
        </p:nvGraphicFramePr>
        <p:xfrm>
          <a:off x="350520" y="1214755"/>
          <a:ext cx="8049895" cy="505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0520"/>
                <a:gridCol w="2791460"/>
                <a:gridCol w="1097915"/>
              </a:tblGrid>
              <a:tr h="3048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Command</a:t>
                      </a:r>
                      <a:endParaRPr lang="en-US" altLang="zh-CN" sz="1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Usage</a:t>
                      </a:r>
                      <a:endParaRPr lang="en-US" altLang="zh-CN" sz="1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Note</a:t>
                      </a:r>
                      <a:endParaRPr lang="en-US" altLang="zh-CN" sz="1400"/>
                    </a:p>
                  </a:txBody>
                  <a:tcPr anchor="ctr" anchorCtr="0"/>
                </a:tc>
              </a:tr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openssl genrsa -out privateKey.key 2048</a:t>
                      </a: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Generate private key</a:t>
                      </a: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openssl req -new -key privateKey.key -out CSR.csr</a:t>
                      </a: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Generate </a:t>
                      </a:r>
                      <a:r>
                        <a:rPr lang="en-US" altLang="zh-CN" sz="1200" b="1">
                          <a:sym typeface="+mn-ea"/>
                        </a:rPr>
                        <a:t>CSR (Certificate Signing Requests)</a:t>
                      </a:r>
                      <a:endParaRPr lang="en-US" altLang="zh-CN" sz="1200" b="1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lvl="2"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input fields</a:t>
                      </a: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</a:tr>
              <a:tr h="8229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openssl req -out CSR.csr -new -newkey rsa:2048 -nodes -keyout privateKey.key -subj "/C=US/ST=Florida/L=Saint Petersburg/O=Your Company, Inc./OU=IT/CN=yourdomain.com"</a:t>
                      </a: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Generate private key and CSR</a:t>
                      </a: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openssl req -x509 -sha256 -nodes -days 365 -newkey rsa:2048 -keyout privateKey.key -out certificate.crt</a:t>
                      </a: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Generate a self-signed certificate</a:t>
                      </a: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 marL="0" lvl="1"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openssl rsa -text -in privateKey.key -noout</a:t>
                      </a: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Check private key info</a:t>
                      </a: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 marL="0" lvl="1"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openssl req -text -in CSR.csr -noout</a:t>
                      </a: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Check CSR info</a:t>
                      </a: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 marL="0" lvl="1">
                        <a:buNone/>
                      </a:pPr>
                      <a:r>
                        <a:rPr lang="en-US" altLang="zh-CN" sz="1200">
                          <a:solidFill>
                            <a:srgbClr val="FF0000"/>
                          </a:solidFill>
                          <a:sym typeface="+mn-ea"/>
                        </a:rPr>
                        <a:t>openssl x509 -text -in certificate.crt -noout</a:t>
                      </a:r>
                      <a:endParaRPr lang="en-US" altLang="zh-CN" sz="1200">
                        <a:solidFill>
                          <a:srgbClr val="FF0000"/>
                        </a:solidFill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View certificate info in crt</a:t>
                      </a: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 marL="0" lvl="1">
                        <a:buNone/>
                      </a:pPr>
                      <a:r>
                        <a:rPr lang="en-US" altLang="zh-CN" sz="1200"/>
                        <a:t>openssl x509 -in certificate.crt -subject/-issuer/-dates/-pubkey/-fingerprint -noout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View certificate subject/issuer/dates/pubkey/fingerprint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 marL="0" lvl="1">
                        <a:buNone/>
                      </a:pPr>
                      <a:r>
                        <a:rPr lang="en-US" altLang="zh-CN" sz="1200"/>
                        <a:t>openssl pkcs12 -in yourfile.pfx -clcerts -nokeys -info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View certificate info in pfx</a:t>
                      </a: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 marL="0" lvl="1"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openssl pkcs7 -print_certs -inform der -in file.p7b</a:t>
                      </a: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Verify .p7b certificate</a:t>
                      </a: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457200">
                <a:tc>
                  <a:txBody>
                    <a:bodyPr/>
                    <a:p>
                      <a:pPr marL="0" lvl="1">
                        <a:buNone/>
                      </a:pPr>
                      <a:r>
                        <a:rPr lang="en-US" altLang="zh-CN" sz="1200" b="1">
                          <a:solidFill>
                            <a:srgbClr val="FF0000"/>
                          </a:solidFill>
                          <a:sym typeface="+mn-ea"/>
                        </a:rPr>
                        <a:t>openssl s_client -showcerts -connect &lt;hostname&gt;:&lt;port&gt; -prexit</a:t>
                      </a:r>
                      <a:endParaRPr lang="en-US" altLang="zh-CN" sz="1200" b="1">
                        <a:solidFill>
                          <a:srgbClr val="FF0000"/>
                        </a:solidFill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="1">
                          <a:solidFill>
                            <a:srgbClr val="FF0000"/>
                          </a:solidFill>
                          <a:sym typeface="+mn-ea"/>
                        </a:rPr>
                        <a:t>Check certificate of website</a:t>
                      </a:r>
                      <a:endParaRPr lang="en-US" altLang="zh-CN" sz="1200" b="1">
                        <a:solidFill>
                          <a:srgbClr val="FF0000"/>
                        </a:solidFill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457200">
                <a:tc>
                  <a:txBody>
                    <a:bodyPr/>
                    <a:p>
                      <a:pPr marL="0" lvl="1"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echo -n | openssl s_client -connect fr.cib-biz.com:8097 | openssl x509 &gt; /tmp/cis.cert</a:t>
                      </a: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Download certificate from a website</a:t>
                      </a:r>
                      <a:endParaRPr lang="en-US" altLang="zh-CN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8549005" y="5688330"/>
            <a:ext cx="3200400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Ref: </a:t>
            </a:r>
            <a:endParaRPr lang="en-US" altLang="zh-CN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https://www.digitalocean.com/community/tutorials/openssl-essentials-working-with-ssl-certificates-private-keys-and-csrs</a:t>
            </a:r>
            <a:endParaRPr lang="zh-CN" altLang="en-US" sz="1400"/>
          </a:p>
        </p:txBody>
      </p:sp>
    </p:spTree>
    <p:custDataLst>
      <p:tags r:id="rId2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Certificate Conversion</a:t>
            </a:r>
            <a:endParaRPr lang="en-US" altLang="zh-CN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838200" y="1261110"/>
          <a:ext cx="11073765" cy="4760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64400"/>
                <a:gridCol w="2292350"/>
                <a:gridCol w="1517015"/>
              </a:tblGrid>
              <a:tr h="3676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Command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Purpose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Note</a:t>
                      </a:r>
                      <a:endParaRPr lang="en-US" altLang="zh-CN"/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openssl pkcs12 -export -out domain.name.pfx -inkey domain.name.key -in domain.name.crt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convert .crt to .pfx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9144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openssl pkcs7 -print_certs -in certificate.p7b -out certificate.cer</a:t>
                      </a:r>
                      <a:endParaRPr lang="en-US" altLang="zh-CN"/>
                    </a:p>
                    <a:p>
                      <a:pPr>
                        <a:buNone/>
                      </a:pPr>
                      <a:r>
                        <a:rPr lang="en-US" altLang="zh-CN"/>
                        <a:t>openssl pkcs12 -export -in certificate.cer -inkey privateKey.key -out certificate.pfx -certfile CACert.cer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convert .p7b to .pfx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676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openssl pkcs12 -in certificate.pfx -out certificate.cer -nodes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covnert .pfx to PEM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676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openssl crl2pkcs7 -nocrl -certfile certificate.cer -out certificate.p7b -certfile CACert.cer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convert PEM to .p7b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676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openssl pkcs12 -export -out certificate.pfx -inkey privateKey.pem -in certificate.pem -certfile certificate.pem</a:t>
                      </a:r>
                      <a:endParaRPr lang="en-US" altLang="zh-CN"/>
                    </a:p>
                    <a:p>
                      <a:pPr>
                        <a:buNone/>
                      </a:pPr>
                      <a:r>
                        <a:rPr lang="en-US" altLang="zh-CN"/>
                        <a:t>// when private key is separate</a:t>
                      </a:r>
                      <a:endParaRPr lang="en-US" altLang="zh-CN"/>
                    </a:p>
                    <a:p>
                      <a:pPr>
                        <a:buNone/>
                      </a:pPr>
                      <a:r>
                        <a:rPr lang="en-US" altLang="zh-CN"/>
                        <a:t>openssl pkcs12 -export -out certificate.pfx -inkey combined.pem -in combined.pem -passout pass:yourpassword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convert .pem to .pfx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67665">
                <a:tc>
                  <a:txBody>
                    <a:bodyPr/>
                    <a:p>
                      <a:pPr marL="0" lvl="1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openssl pkcs12 -in yourfile.pfx -clcerts -nokeys -out certificate.cer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 dirty="0" err="1">
                          <a:sym typeface="+mn-ea"/>
                        </a:rPr>
                        <a:t>Convert .pfx to .cer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Certificate in Java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411470" cy="5219065"/>
          </a:xfrm>
        </p:spPr>
        <p:txBody>
          <a:bodyPr>
            <a:normAutofit/>
          </a:bodyPr>
          <a:p>
            <a:r>
              <a:rPr lang="en-US" altLang="zh-CN" sz="1800"/>
              <a:t>References</a:t>
            </a:r>
            <a:endParaRPr lang="en-US" altLang="zh-CN" sz="1800"/>
          </a:p>
          <a:p>
            <a:pPr lvl="1"/>
            <a:r>
              <a:rPr lang="en-US" altLang="zh-CN" sz="1600"/>
              <a:t>https://www.baeldung.com/jvm-certificate-store-errors</a:t>
            </a:r>
            <a:endParaRPr lang="en-US" altLang="zh-CN" sz="1600"/>
          </a:p>
          <a:p>
            <a:r>
              <a:rPr lang="en-US" altLang="zh-CN" sz="1800"/>
              <a:t>Keytool</a:t>
            </a:r>
            <a:endParaRPr lang="en-US" altLang="zh-CN" sz="1800"/>
          </a:p>
          <a:p>
            <a:pPr lvl="1"/>
            <a:r>
              <a:rPr lang="en-US" altLang="zh-CN" sz="1600">
                <a:sym typeface="+mn-ea"/>
              </a:rPr>
              <a:t>jks (Java KeyStore): repository of security certificates</a:t>
            </a:r>
            <a:endParaRPr lang="en-US" altLang="zh-CN" sz="1600"/>
          </a:p>
          <a:p>
            <a:pPr lvl="1"/>
            <a:r>
              <a:rPr lang="en-US" altLang="zh-CN" sz="1600" b="1"/>
              <a:t>list certificates</a:t>
            </a:r>
            <a:endParaRPr lang="en-US" altLang="zh-CN" sz="1600" b="1"/>
          </a:p>
          <a:p>
            <a:pPr lvl="2"/>
            <a:r>
              <a:rPr lang="en-US" altLang="zh-CN" sz="1440" b="1"/>
              <a:t>keytool -list -keystore </a:t>
            </a:r>
            <a:r>
              <a:rPr lang="zh-CN" altLang="en-US" sz="1440" b="1">
                <a:sym typeface="+mn-ea"/>
              </a:rPr>
              <a:t>$JAVA_HOME\jre\lib\security</a:t>
            </a:r>
            <a:r>
              <a:rPr lang="en-US" altLang="zh-CN" sz="1440" b="1">
                <a:sym typeface="+mn-ea"/>
              </a:rPr>
              <a:t>\</a:t>
            </a:r>
            <a:r>
              <a:rPr lang="en-US" altLang="zh-CN" sz="1440" b="1"/>
              <a:t>cacerts</a:t>
            </a:r>
            <a:endParaRPr lang="en-US" altLang="zh-CN" sz="1440"/>
          </a:p>
          <a:p>
            <a:pPr lvl="2"/>
            <a:r>
              <a:rPr lang="en-US" altLang="zh-CN" sz="1440"/>
              <a:t>// get a list of all the certificates registered in the JVM’s certificate store</a:t>
            </a:r>
            <a:endParaRPr lang="en-US" altLang="zh-CN" sz="1440"/>
          </a:p>
          <a:p>
            <a:pPr lvl="1"/>
            <a:r>
              <a:rPr lang="en-US" altLang="zh-CN" sz="1600">
                <a:sym typeface="+mn-ea"/>
              </a:rPr>
              <a:t>create keystore</a:t>
            </a:r>
            <a:endParaRPr lang="en-US" altLang="zh-CN" sz="1600"/>
          </a:p>
          <a:p>
            <a:pPr lvl="2"/>
            <a:r>
              <a:rPr lang="en-US" altLang="zh-CN" sz="1400">
                <a:sym typeface="+mn-ea"/>
              </a:rPr>
              <a:t>keytool -list -keystore ssle.jks -v</a:t>
            </a:r>
            <a:endParaRPr lang="en-US" altLang="zh-CN" sz="1400"/>
          </a:p>
          <a:p>
            <a:pPr lvl="0"/>
            <a:r>
              <a:rPr lang="en-US" altLang="zh-CN" sz="1800">
                <a:sym typeface="+mn-ea"/>
              </a:rPr>
              <a:t>Add certificate to JVM’s certificate store</a:t>
            </a:r>
            <a:endParaRPr lang="en-US" altLang="zh-CN" sz="1800"/>
          </a:p>
          <a:p>
            <a:pPr lvl="1"/>
            <a:r>
              <a:rPr lang="en-US" altLang="zh-CN" sz="1600" b="1">
                <a:sym typeface="+mn-ea"/>
              </a:rPr>
              <a:t>$JAVA_HOME/bin/keytool -import -trustcacerts -file booking.crt -keystore $JAVA_HOME/jre/lib/security/cacerts</a:t>
            </a:r>
            <a:endParaRPr lang="en-US" altLang="zh-CN" sz="1600"/>
          </a:p>
          <a:p>
            <a:pPr lvl="0"/>
            <a:endParaRPr lang="en-US" altLang="zh-CN" sz="1800"/>
          </a:p>
          <a:p>
            <a:pPr lvl="1"/>
            <a:endParaRPr lang="en-US" altLang="zh-CN" sz="1400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355080" y="1211580"/>
            <a:ext cx="5411470" cy="52190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黑体" panose="02010609060101010101" charset="-122"/>
              <a:buChar char="〉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2000">
                <a:sym typeface="+mn-ea"/>
              </a:rPr>
              <a:t>Use .p7b certificate in Tomcat</a:t>
            </a:r>
            <a:endParaRPr lang="en-US" altLang="zh-CN" sz="2000"/>
          </a:p>
          <a:p>
            <a:pPr lvl="1"/>
            <a:r>
              <a:rPr lang="en-US" altLang="zh-CN" sz="1600">
                <a:sym typeface="+mn-ea"/>
              </a:rPr>
              <a:t>refereces</a:t>
            </a:r>
            <a:endParaRPr lang="en-US" altLang="zh-CN" sz="1600"/>
          </a:p>
          <a:p>
            <a:pPr lvl="2"/>
            <a:r>
              <a:rPr lang="en-US" altLang="zh-CN" sz="1400">
                <a:sym typeface="+mn-ea"/>
              </a:rPr>
              <a:t>https://ssle.cn/help/tomcat-an-zhuang-ssl-zheng-shu/</a:t>
            </a:r>
            <a:endParaRPr lang="en-US" altLang="zh-CN" sz="1400"/>
          </a:p>
          <a:p>
            <a:pPr lvl="1"/>
            <a:r>
              <a:rPr lang="en-US" altLang="zh-CN" sz="1600">
                <a:sym typeface="+mn-ea"/>
              </a:rPr>
              <a:t>create keystore</a:t>
            </a:r>
            <a:endParaRPr lang="en-US" altLang="zh-CN" sz="1600"/>
          </a:p>
          <a:p>
            <a:pPr lvl="2"/>
            <a:r>
              <a:rPr lang="en-US" altLang="zh-CN" sz="1400">
                <a:sym typeface="+mn-ea"/>
              </a:rPr>
              <a:t>keytool -genkey -alias </a:t>
            </a:r>
            <a:r>
              <a:rPr lang="en-US" altLang="zh-CN" sz="1400" b="1">
                <a:sym typeface="+mn-ea"/>
              </a:rPr>
              <a:t>server </a:t>
            </a:r>
            <a:r>
              <a:rPr lang="en-US" altLang="zh-CN" sz="1400">
                <a:sym typeface="+mn-ea"/>
              </a:rPr>
              <a:t>-keyalg RSA -keysize 2048 -keystore your_site_name.jks</a:t>
            </a:r>
            <a:endParaRPr lang="en-US" altLang="zh-CN" sz="1400"/>
          </a:p>
          <a:p>
            <a:pPr lvl="1"/>
            <a:r>
              <a:rPr lang="en-US" altLang="zh-CN" sz="1600">
                <a:sym typeface="+mn-ea"/>
              </a:rPr>
              <a:t>import p7b into keystore</a:t>
            </a:r>
            <a:endParaRPr lang="en-US" altLang="zh-CN" sz="1600"/>
          </a:p>
          <a:p>
            <a:pPr lvl="2"/>
            <a:r>
              <a:rPr lang="en-US" altLang="zh-CN" sz="1400">
                <a:sym typeface="+mn-ea"/>
              </a:rPr>
              <a:t>keytool -import -trustcacerts -alias </a:t>
            </a:r>
            <a:r>
              <a:rPr lang="en-US" altLang="zh-CN" sz="1400" b="1">
                <a:sym typeface="+mn-ea"/>
              </a:rPr>
              <a:t>server </a:t>
            </a:r>
            <a:r>
              <a:rPr lang="en-US" altLang="zh-CN" sz="1400">
                <a:sym typeface="+mn-ea"/>
              </a:rPr>
              <a:t>-file domain.p7b -keystore ssle.jks</a:t>
            </a:r>
            <a:endParaRPr lang="en-US" altLang="zh-CN" sz="1400"/>
          </a:p>
          <a:p>
            <a:pPr lvl="1"/>
            <a:r>
              <a:rPr lang="en-US" altLang="zh-CN" sz="1600">
                <a:sym typeface="+mn-ea"/>
              </a:rPr>
              <a:t>check keystore</a:t>
            </a:r>
            <a:endParaRPr lang="en-US" altLang="zh-CN" sz="1600"/>
          </a:p>
          <a:p>
            <a:pPr lvl="1"/>
            <a:r>
              <a:rPr lang="en-US" altLang="zh-CN" sz="1600">
                <a:sym typeface="+mn-ea"/>
              </a:rPr>
              <a:t>Modify conf/server.xml</a:t>
            </a:r>
            <a:endParaRPr lang="en-US" altLang="zh-CN" sz="1600"/>
          </a:p>
          <a:p>
            <a:pPr lvl="2"/>
            <a:r>
              <a:rPr lang="en-US" altLang="zh-CN" sz="1400">
                <a:sym typeface="+mn-ea"/>
              </a:rPr>
              <a:t>set jks to “keystoreFile”</a:t>
            </a:r>
            <a:endParaRPr lang="en-US" altLang="zh-CN" sz="1400"/>
          </a:p>
          <a:p>
            <a:pPr lvl="2"/>
            <a:r>
              <a:rPr lang="en-US" altLang="zh-CN" sz="1400">
                <a:sym typeface="+mn-ea"/>
              </a:rPr>
              <a:t>set “keystorePass” </a:t>
            </a:r>
            <a:endParaRPr lang="en-US" altLang="zh-CN" sz="140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Certificate FAQ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zh-CN" altLang="en-US"/>
              <a:t>SunCertPathBuilderException: unable to find valid certification path to requested target</a:t>
            </a:r>
            <a:endParaRPr lang="zh-CN" altLang="en-US"/>
          </a:p>
          <a:p>
            <a:pPr lvl="1"/>
            <a:r>
              <a:rPr lang="en-US" altLang="zh-CN"/>
              <a:t>Cause</a:t>
            </a:r>
            <a:endParaRPr lang="en-US" altLang="zh-CN"/>
          </a:p>
          <a:p>
            <a:pPr lvl="2"/>
            <a:r>
              <a:rPr lang="zh-CN" altLang="en-US"/>
              <a:t>the certificate offered by the endpoint is not considered valid to your JDK's default trust store</a:t>
            </a:r>
            <a:endParaRPr lang="zh-CN" altLang="en-US"/>
          </a:p>
          <a:p>
            <a:pPr lvl="1"/>
            <a:r>
              <a:rPr lang="en-US" altLang="zh-CN" sz="2000"/>
              <a:t>Solution</a:t>
            </a:r>
            <a:endParaRPr lang="en-US" altLang="zh-CN" sz="2000"/>
          </a:p>
          <a:p>
            <a:pPr lvl="2"/>
            <a:r>
              <a:rPr lang="en-US" altLang="zh-CN" sz="1800"/>
              <a:t>get InstallCert.java from https://github.com/escline/InstallCert</a:t>
            </a:r>
            <a:endParaRPr lang="en-US" altLang="zh-CN" sz="1800"/>
          </a:p>
          <a:p>
            <a:pPr lvl="2"/>
            <a:r>
              <a:rPr lang="en-US" altLang="zh-CN" sz="1800"/>
              <a:t>run “javac InstallCert.java”</a:t>
            </a:r>
            <a:endParaRPr lang="en-US" altLang="zh-CN" sz="1800"/>
          </a:p>
          <a:p>
            <a:pPr lvl="2"/>
            <a:r>
              <a:rPr lang="en-US" altLang="zh-CN" sz="1800"/>
              <a:t>run “java InstallCert localhost:8443”</a:t>
            </a:r>
            <a:endParaRPr lang="en-US" altLang="zh-CN" sz="1800"/>
          </a:p>
          <a:p>
            <a:pPr lvl="3"/>
            <a:r>
              <a:rPr lang="en-US" altLang="zh-CN" sz="1800"/>
              <a:t>add your localhost as a trusted keystore, and generates a file “jssecacerts”</a:t>
            </a:r>
            <a:endParaRPr lang="en-US" altLang="zh-CN" sz="1800"/>
          </a:p>
          <a:p>
            <a:pPr lvl="2"/>
            <a:r>
              <a:rPr lang="en-US" altLang="zh-CN"/>
              <a:t>c</a:t>
            </a:r>
            <a:r>
              <a:rPr lang="zh-CN" altLang="en-US"/>
              <a:t>opy the generated jssecacerts file to your $JAVA_HOME\jre\lib\security folder.</a:t>
            </a:r>
            <a:endParaRPr lang="zh-CN" altLang="en-US"/>
          </a:p>
          <a:p>
            <a:pPr lvl="2"/>
            <a:r>
              <a:rPr lang="en-US" altLang="zh-CN"/>
              <a:t>restart web service</a:t>
            </a:r>
            <a:endParaRPr lang="en-US" altLang="zh-CN"/>
          </a:p>
          <a:p>
            <a:pPr lvl="1"/>
            <a:r>
              <a:rPr lang="en-US" altLang="zh-CN"/>
              <a:t>References</a:t>
            </a:r>
            <a:endParaRPr lang="en-US" altLang="zh-CN"/>
          </a:p>
          <a:p>
            <a:pPr lvl="2"/>
            <a:r>
              <a:rPr lang="en-US" altLang="zh-CN"/>
              <a:t>https://mkyong.com/webservices/jax-ws/suncertpathbuilderexception-unable-to-find-valid-certification-path-to-requested-target/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SSL Certificate - Self-Signed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6403340" cy="5037455"/>
          </a:xfrm>
        </p:spPr>
        <p:txBody>
          <a:bodyPr>
            <a:noAutofit/>
          </a:bodyPr>
          <a:p>
            <a:r>
              <a:rPr lang="en-US" altLang="zh-CN" sz="1600"/>
              <a:t>Reference</a:t>
            </a:r>
            <a:endParaRPr lang="en-US" altLang="zh-CN" sz="1600"/>
          </a:p>
          <a:p>
            <a:pPr lvl="1"/>
            <a:r>
              <a:rPr lang="en-US" altLang="zh-CN" sz="1200"/>
              <a:t>https://alvinalexander.com/linux-unix/my-notes-how-configure-https-nginx-ubuntu-16/</a:t>
            </a:r>
            <a:endParaRPr lang="en-US" altLang="zh-CN" sz="1200"/>
          </a:p>
          <a:p>
            <a:pPr lvl="1"/>
            <a:r>
              <a:rPr lang="en-US" altLang="zh-CN" sz="1200"/>
              <a:t>https://www.digitalocean.com/community/tutorials/how-to-create-a-self-signed-ssl-certificate-for-nginx-in-ubuntu-16-04</a:t>
            </a:r>
            <a:endParaRPr lang="en-US" altLang="zh-CN" sz="1200"/>
          </a:p>
          <a:p>
            <a:r>
              <a:rPr lang="en-US" altLang="zh-CN" sz="1600"/>
              <a:t>Concept</a:t>
            </a:r>
            <a:endParaRPr lang="en-US" altLang="zh-CN" sz="1600"/>
          </a:p>
          <a:p>
            <a:pPr lvl="1"/>
            <a:r>
              <a:rPr lang="en-US" altLang="zh-CN" sz="1400"/>
              <a:t>SSL key (private key)</a:t>
            </a:r>
            <a:endParaRPr lang="en-US" altLang="zh-CN" sz="1400"/>
          </a:p>
          <a:p>
            <a:pPr lvl="2"/>
            <a:r>
              <a:rPr lang="en-US" altLang="zh-CN" sz="1200"/>
              <a:t>kept on server</a:t>
            </a:r>
            <a:r>
              <a:rPr lang="zh-CN" altLang="en-US" sz="1200"/>
              <a:t>，</a:t>
            </a:r>
            <a:r>
              <a:rPr lang="en-US" altLang="zh-CN" sz="1200"/>
              <a:t> used to encrypt content sent to client</a:t>
            </a:r>
            <a:endParaRPr lang="en-US" altLang="zh-CN" sz="1200"/>
          </a:p>
          <a:p>
            <a:pPr lvl="1"/>
            <a:r>
              <a:rPr lang="en-US" altLang="zh-CN" sz="1400"/>
              <a:t>SSL certificate (public certificate)</a:t>
            </a:r>
            <a:endParaRPr lang="en-US" altLang="zh-CN" sz="1400"/>
          </a:p>
          <a:p>
            <a:pPr lvl="2"/>
            <a:r>
              <a:rPr lang="en-US" altLang="zh-CN" sz="1200"/>
              <a:t>publicly shared with anyone requesting the content</a:t>
            </a:r>
            <a:r>
              <a:rPr lang="zh-CN" altLang="en-US" sz="1200"/>
              <a:t>，</a:t>
            </a:r>
            <a:r>
              <a:rPr lang="en-US" altLang="zh-CN" sz="1200"/>
              <a:t> used to decrypt content signed by the associated SSL key</a:t>
            </a:r>
            <a:endParaRPr lang="en-US" altLang="zh-CN" sz="1200"/>
          </a:p>
          <a:p>
            <a:r>
              <a:rPr lang="en-US" altLang="zh-CN" sz="1600"/>
              <a:t>Self-signed using openssl</a:t>
            </a:r>
            <a:endParaRPr lang="en-US" altLang="zh-CN" sz="1600"/>
          </a:p>
          <a:p>
            <a:pPr lvl="1"/>
            <a:r>
              <a:rPr lang="en-US" altLang="zh-CN" sz="1400"/>
              <a:t>openssl dhparam -out /etc/ssl/certs/aja-dhparam.pem 2048</a:t>
            </a:r>
            <a:endParaRPr lang="en-US" altLang="zh-CN" sz="1400"/>
          </a:p>
          <a:p>
            <a:pPr lvl="1"/>
            <a:r>
              <a:rPr lang="en-US" altLang="zh-CN" sz="1400"/>
              <a:t>/etc/nginx/snippets/aja-self-signed.conf</a:t>
            </a:r>
            <a:endParaRPr lang="en-US" altLang="zh-CN" sz="1400"/>
          </a:p>
          <a:p>
            <a:pPr lvl="2"/>
            <a:r>
              <a:rPr lang="en-US" altLang="zh-CN" sz="1200"/>
              <a:t>ssl_certificate /etc/ssl/certs/aja-nginx-selfsigned.crt</a:t>
            </a:r>
            <a:r>
              <a:rPr lang="zh-CN" altLang="en-US" sz="1200"/>
              <a:t>；</a:t>
            </a:r>
            <a:endParaRPr lang="zh-CN" altLang="en-US" sz="1200"/>
          </a:p>
          <a:p>
            <a:pPr lvl="2"/>
            <a:r>
              <a:rPr lang="zh-CN" altLang="en-US" sz="1200"/>
              <a:t>ssl_certificate_key /etc/ssl/private/aja-nginx-selfsigned.key;</a:t>
            </a:r>
            <a:endParaRPr lang="zh-CN" altLang="en-US" sz="1200"/>
          </a:p>
          <a:p>
            <a:pPr lvl="1"/>
            <a:r>
              <a:rPr lang="zh-CN" altLang="en-US" sz="1400"/>
              <a:t>/etc/nginx/snippets/aja-ssl-params.conf</a:t>
            </a:r>
            <a:endParaRPr lang="zh-CN" altLang="en-US" sz="1400"/>
          </a:p>
          <a:p>
            <a:pPr lvl="2"/>
            <a:endParaRPr lang="zh-CN" altLang="en-US" sz="1400"/>
          </a:p>
        </p:txBody>
      </p:sp>
      <p:sp>
        <p:nvSpPr>
          <p:cNvPr id="4" name="文本框 3"/>
          <p:cNvSpPr txBox="1"/>
          <p:nvPr/>
        </p:nvSpPr>
        <p:spPr>
          <a:xfrm>
            <a:off x="7369810" y="904240"/>
            <a:ext cx="4495165" cy="3415030"/>
          </a:xfrm>
          <a:prstGeom prst="rect">
            <a:avLst/>
          </a:prstGeom>
          <a:noFill/>
          <a:ln>
            <a:solidFill>
              <a:srgbClr val="FFC000"/>
            </a:solidFill>
            <a:prstDash val="dash"/>
          </a:ln>
        </p:spPr>
        <p:txBody>
          <a:bodyPr wrap="square" rtlCol="0">
            <a:spAutoFit/>
          </a:bodyPr>
          <a:p>
            <a:r>
              <a:rPr lang="en-US" altLang="zh-CN" sz="900"/>
              <a:t># </a:t>
            </a:r>
            <a:r>
              <a:rPr lang="zh-CN" altLang="en-US" sz="900"/>
              <a:t>/etc/nginx/snippets/aja-ssl-params.conf</a:t>
            </a:r>
            <a:endParaRPr lang="zh-CN" altLang="en-US" sz="900"/>
          </a:p>
          <a:p>
            <a:r>
              <a:rPr lang="zh-CN" altLang="en-US" sz="900"/>
              <a:t># from https://cipherli.st/</a:t>
            </a:r>
            <a:endParaRPr lang="zh-CN" altLang="en-US" sz="900"/>
          </a:p>
          <a:p>
            <a:r>
              <a:rPr lang="zh-CN" altLang="en-US" sz="900"/>
              <a:t>    # and https://raymii.org/s/tutorials/Strong_SSL_Security_On_nginx.html</a:t>
            </a:r>
            <a:endParaRPr lang="zh-CN" altLang="en-US" sz="900"/>
          </a:p>
          <a:p>
            <a:endParaRPr lang="zh-CN" altLang="en-US" sz="900"/>
          </a:p>
          <a:p>
            <a:r>
              <a:rPr lang="zh-CN" altLang="en-US" sz="900"/>
              <a:t>    ssl_protocols TLSv1 TLSv1.1 TLSv1.2;</a:t>
            </a:r>
            <a:endParaRPr lang="zh-CN" altLang="en-US" sz="900"/>
          </a:p>
          <a:p>
            <a:r>
              <a:rPr lang="zh-CN" altLang="en-US" sz="900"/>
              <a:t>    ssl_prefer_server_ciphers on;</a:t>
            </a:r>
            <a:endParaRPr lang="zh-CN" altLang="en-US" sz="900"/>
          </a:p>
          <a:p>
            <a:r>
              <a:rPr lang="zh-CN" altLang="en-US" sz="900"/>
              <a:t>    ssl_ciphers "EECDH+AESGCM:EDH+AESGCM:AES256+EECDH:AES256+EDH";</a:t>
            </a:r>
            <a:endParaRPr lang="zh-CN" altLang="en-US" sz="900"/>
          </a:p>
          <a:p>
            <a:r>
              <a:rPr lang="zh-CN" altLang="en-US" sz="900"/>
              <a:t>    ssl_ecdh_curve secp384r1;</a:t>
            </a:r>
            <a:endParaRPr lang="zh-CN" altLang="en-US" sz="900"/>
          </a:p>
          <a:p>
            <a:r>
              <a:rPr lang="zh-CN" altLang="en-US" sz="900"/>
              <a:t>    ssl_session_cache shared:SSL:10m;</a:t>
            </a:r>
            <a:endParaRPr lang="zh-CN" altLang="en-US" sz="900"/>
          </a:p>
          <a:p>
            <a:r>
              <a:rPr lang="zh-CN" altLang="en-US" sz="900"/>
              <a:t>    ssl_session_tickets off;</a:t>
            </a:r>
            <a:endParaRPr lang="zh-CN" altLang="en-US" sz="900"/>
          </a:p>
          <a:p>
            <a:r>
              <a:rPr lang="zh-CN" altLang="en-US" sz="900"/>
              <a:t>    ssl_stapling on;</a:t>
            </a:r>
            <a:endParaRPr lang="zh-CN" altLang="en-US" sz="900"/>
          </a:p>
          <a:p>
            <a:r>
              <a:rPr lang="zh-CN" altLang="en-US" sz="900"/>
              <a:t>    ssl_stapling_verify on;</a:t>
            </a:r>
            <a:endParaRPr lang="zh-CN" altLang="en-US" sz="900"/>
          </a:p>
          <a:p>
            <a:r>
              <a:rPr lang="zh-CN" altLang="en-US" sz="900"/>
              <a:t>    resolver 8.8.8.8 8.8.4.4 valid=300s;</a:t>
            </a:r>
            <a:endParaRPr lang="zh-CN" altLang="en-US" sz="900"/>
          </a:p>
          <a:p>
            <a:r>
              <a:rPr lang="zh-CN" altLang="en-US" sz="900"/>
              <a:t>    resolver_timeout 5s;</a:t>
            </a:r>
            <a:endParaRPr lang="zh-CN" altLang="en-US" sz="900"/>
          </a:p>
          <a:p>
            <a:r>
              <a:rPr lang="zh-CN" altLang="en-US" sz="900"/>
              <a:t>    # Disable preloading HSTS for now.  You can use the commented out header line that includes</a:t>
            </a:r>
            <a:endParaRPr lang="zh-CN" altLang="en-US" sz="900"/>
          </a:p>
          <a:p>
            <a:r>
              <a:rPr lang="zh-CN" altLang="en-US" sz="900"/>
              <a:t>    # the "preload" directive if you understand the implications.</a:t>
            </a:r>
            <a:endParaRPr lang="zh-CN" altLang="en-US" sz="900"/>
          </a:p>
          <a:p>
            <a:r>
              <a:rPr lang="zh-CN" altLang="en-US" sz="900"/>
              <a:t>    #add_header Strict-Transport-Security "max-age=63072000; includeSubdomains; preload";</a:t>
            </a:r>
            <a:endParaRPr lang="zh-CN" altLang="en-US" sz="900"/>
          </a:p>
          <a:p>
            <a:r>
              <a:rPr lang="zh-CN" altLang="en-US" sz="900"/>
              <a:t>    add_header Strict-Transport-Security "max-age=63072000; includeSubdomains";</a:t>
            </a:r>
            <a:endParaRPr lang="zh-CN" altLang="en-US" sz="900"/>
          </a:p>
          <a:p>
            <a:r>
              <a:rPr lang="zh-CN" altLang="en-US" sz="900"/>
              <a:t>    add_header X-Frame-Options DENY;</a:t>
            </a:r>
            <a:endParaRPr lang="zh-CN" altLang="en-US" sz="900"/>
          </a:p>
          <a:p>
            <a:r>
              <a:rPr lang="zh-CN" altLang="en-US" sz="900"/>
              <a:t>    add_header X-Content-Type-Options nosniff;</a:t>
            </a:r>
            <a:endParaRPr lang="zh-CN" altLang="en-US" sz="900"/>
          </a:p>
          <a:p>
            <a:endParaRPr lang="zh-CN" altLang="en-US" sz="900"/>
          </a:p>
          <a:p>
            <a:r>
              <a:rPr lang="zh-CN" altLang="en-US" sz="900"/>
              <a:t>    ssl_dhparam /etc/ssl/certs/aja-dhparam.pem;</a:t>
            </a:r>
            <a:endParaRPr lang="zh-CN" altLang="en-US" sz="900"/>
          </a:p>
        </p:txBody>
      </p:sp>
      <p:sp>
        <p:nvSpPr>
          <p:cNvPr id="5" name="文本框 4"/>
          <p:cNvSpPr txBox="1"/>
          <p:nvPr/>
        </p:nvSpPr>
        <p:spPr>
          <a:xfrm>
            <a:off x="7369810" y="4499610"/>
            <a:ext cx="4495165" cy="2168525"/>
          </a:xfrm>
          <a:prstGeom prst="rect">
            <a:avLst/>
          </a:prstGeom>
          <a:noFill/>
          <a:ln>
            <a:solidFill>
              <a:srgbClr val="FFC000"/>
            </a:solidFill>
            <a:prstDash val="dash"/>
          </a:ln>
        </p:spPr>
        <p:txBody>
          <a:bodyPr wrap="square" rtlCol="0">
            <a:spAutoFit/>
          </a:bodyPr>
          <a:p>
            <a:r>
              <a:rPr sz="900"/>
              <a:t>server {</a:t>
            </a:r>
            <a:endParaRPr sz="900"/>
          </a:p>
          <a:p>
            <a:r>
              <a:rPr sz="900"/>
              <a:t>    #listen 80 default_server;</a:t>
            </a:r>
            <a:endParaRPr sz="900"/>
          </a:p>
          <a:p>
            <a:r>
              <a:rPr sz="900"/>
              <a:t>    #listen [::]:80 default_server;</a:t>
            </a:r>
            <a:endParaRPr sz="900"/>
          </a:p>
          <a:p>
            <a:r>
              <a:rPr sz="900"/>
              <a:t>    #listen 443 ssl http2 default_server;</a:t>
            </a:r>
            <a:endParaRPr sz="900"/>
          </a:p>
          <a:p>
            <a:r>
              <a:rPr sz="900"/>
              <a:t>    #listen [::]:443 ssl http2 default_server;</a:t>
            </a:r>
            <a:endParaRPr sz="900"/>
          </a:p>
          <a:p>
            <a:endParaRPr sz="900"/>
          </a:p>
          <a:p>
            <a:r>
              <a:rPr sz="900"/>
              <a:t>    # these work without "default_server"</a:t>
            </a:r>
            <a:endParaRPr sz="900"/>
          </a:p>
          <a:p>
            <a:r>
              <a:rPr sz="900"/>
              <a:t>    listen 80;</a:t>
            </a:r>
            <a:endParaRPr sz="900"/>
          </a:p>
          <a:p>
            <a:r>
              <a:rPr sz="900"/>
              <a:t>    listen [::]:80;</a:t>
            </a:r>
            <a:endParaRPr sz="900"/>
          </a:p>
          <a:p>
            <a:r>
              <a:rPr sz="900"/>
              <a:t>    listen 443 ssl http2;</a:t>
            </a:r>
            <a:endParaRPr sz="900"/>
          </a:p>
          <a:p>
            <a:r>
              <a:rPr sz="900"/>
              <a:t>    listen [::]:443 ssl http2;</a:t>
            </a:r>
            <a:endParaRPr sz="900"/>
          </a:p>
          <a:p>
            <a:endParaRPr sz="900"/>
          </a:p>
          <a:p>
            <a:r>
              <a:rPr sz="900"/>
              <a:t>    server_name server_domain_or_IP;</a:t>
            </a:r>
            <a:endParaRPr sz="900"/>
          </a:p>
          <a:p>
            <a:r>
              <a:rPr sz="900"/>
              <a:t>    include snippets/aja-self-signed.conf;</a:t>
            </a:r>
            <a:endParaRPr sz="900"/>
          </a:p>
          <a:p>
            <a:r>
              <a:rPr sz="900"/>
              <a:t>    include snippets/aja-ssl-params.conf;</a:t>
            </a:r>
            <a:endParaRPr sz="900"/>
          </a:p>
        </p:txBody>
      </p:sp>
    </p:spTree>
    <p:custDataLst>
      <p:tags r:id="rId1"/>
    </p:custData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SSL Certificate - Self-Signed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016500" cy="4549140"/>
          </a:xfrm>
        </p:spPr>
        <p:txBody>
          <a:bodyPr>
            <a:normAutofit fontScale="80000"/>
          </a:bodyPr>
          <a:p>
            <a:r>
              <a:rPr lang="en-US" altLang="zh-CN"/>
              <a:t>Create</a:t>
            </a:r>
            <a:endParaRPr lang="en-US" altLang="zh-CN"/>
          </a:p>
          <a:p>
            <a:pPr lvl="1"/>
            <a:r>
              <a:rPr lang="en-US" altLang="zh-CN"/>
              <a:t>Nginx</a:t>
            </a:r>
            <a:endParaRPr lang="en-US" altLang="zh-CN"/>
          </a:p>
          <a:p>
            <a:pPr lvl="2"/>
            <a:r>
              <a:rPr lang="en-US" altLang="zh-CN" sz="1800">
                <a:solidFill>
                  <a:srgbClr val="FF0000"/>
                </a:solidFill>
                <a:sym typeface="+mn-ea"/>
              </a:rPr>
              <a:t>openssl req -x509 -nodes -days 3650 -newkey rsa:2048 -keyout /etc/ssl/private/aja-nginx-selfsigned.key -out /etc/ssl/certs/aja-nginx-selfsigned.crt</a:t>
            </a:r>
            <a:endParaRPr lang="en-US" altLang="zh-CN" sz="1800">
              <a:solidFill>
                <a:srgbClr val="FF0000"/>
              </a:solidFill>
            </a:endParaRPr>
          </a:p>
          <a:p>
            <a:pPr lvl="3"/>
            <a:r>
              <a:rPr lang="en-US" altLang="zh-CN" sz="2000">
                <a:sym typeface="+mn-ea"/>
              </a:rPr>
              <a:t>output .key and .crt files for nginx server</a:t>
            </a:r>
            <a:endParaRPr lang="en-US" altLang="zh-CN" sz="2000"/>
          </a:p>
          <a:p>
            <a:pPr lvl="1"/>
            <a:r>
              <a:rPr lang="en-US" altLang="zh-CN"/>
              <a:t>Tomcat</a:t>
            </a:r>
            <a:endParaRPr lang="en-US" altLang="zh-CN"/>
          </a:p>
          <a:p>
            <a:pPr lvl="2"/>
            <a:r>
              <a:rPr lang="en-US" altLang="zh-CN"/>
              <a:t>Generate certificate</a:t>
            </a:r>
            <a:endParaRPr lang="en-US" altLang="zh-CN"/>
          </a:p>
          <a:p>
            <a:pPr lvl="3"/>
            <a:r>
              <a:rPr lang="en-US" altLang="zh-CN"/>
              <a:t>keytool -genkey -keyalg RSA -alias tomcat -keystore selfsigned.jks -validity 365 -keysize 2048</a:t>
            </a:r>
            <a:endParaRPr lang="en-US" altLang="zh-CN" sz="1800"/>
          </a:p>
          <a:p>
            <a:pPr lvl="4"/>
            <a:r>
              <a:rPr lang="en-US" altLang="zh-CN"/>
              <a:t>selfsigned.jks is the key store file</a:t>
            </a:r>
            <a:endParaRPr lang="en-US" altLang="zh-CN"/>
          </a:p>
          <a:p>
            <a:pPr lvl="4"/>
            <a:r>
              <a:rPr lang="en-US" altLang="zh-CN"/>
              <a:t>input domain name as common name</a:t>
            </a:r>
            <a:endParaRPr lang="en-US" altLang="zh-CN"/>
          </a:p>
          <a:p>
            <a:pPr lvl="2"/>
            <a:r>
              <a:rPr lang="en-US" altLang="zh-CN"/>
              <a:t>Verify certificate</a:t>
            </a:r>
            <a:endParaRPr lang="en-US" altLang="zh-CN"/>
          </a:p>
          <a:p>
            <a:pPr lvl="3"/>
            <a:r>
              <a:rPr lang="en-US" altLang="zh-CN"/>
              <a:t>keytool -list -v -keystore selfsigned.jks</a:t>
            </a:r>
            <a:endParaRPr lang="en-US" altLang="zh-CN"/>
          </a:p>
          <a:p>
            <a:pPr lvl="1"/>
            <a:endParaRPr lang="en-US" altLang="zh-CN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259195" y="1211580"/>
            <a:ext cx="5151755" cy="454914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黑体" panose="02010609060101010101" charset="-122"/>
              <a:buChar char="〉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/>
              <a:t>Generate .pfx certificate for Tomcat</a:t>
            </a:r>
            <a:endParaRPr lang="en-US" altLang="zh-CN" sz="2000"/>
          </a:p>
          <a:p>
            <a:pPr lvl="1"/>
            <a:r>
              <a:rPr lang="en-US" altLang="zh-CN" sz="1800">
                <a:sym typeface="+mn-ea"/>
              </a:rPr>
              <a:t>create private key</a:t>
            </a:r>
            <a:endParaRPr lang="en-US" altLang="zh-CN" sz="1800">
              <a:sym typeface="+mn-ea"/>
            </a:endParaRPr>
          </a:p>
          <a:p>
            <a:pPr lvl="2"/>
            <a:r>
              <a:rPr lang="en-US" altLang="zh-CN" sz="1600"/>
              <a:t>openssl genpkey -algorithm RSA -out private.key -aes256</a:t>
            </a:r>
            <a:endParaRPr lang="en-US" altLang="zh-CN" sz="1600"/>
          </a:p>
          <a:p>
            <a:pPr lvl="1"/>
            <a:r>
              <a:rPr lang="en-US" altLang="zh-CN" sz="1800">
                <a:sym typeface="+mn-ea"/>
              </a:rPr>
              <a:t>create cnf file for certificate config</a:t>
            </a:r>
            <a:endParaRPr lang="en-US" altLang="zh-CN" sz="1800">
              <a:sym typeface="+mn-ea"/>
            </a:endParaRPr>
          </a:p>
          <a:p>
            <a:pPr lvl="1"/>
            <a:r>
              <a:rPr lang="en-US" altLang="zh-CN" sz="1800">
                <a:sym typeface="+mn-ea"/>
              </a:rPr>
              <a:t>create certificate sign request</a:t>
            </a:r>
            <a:endParaRPr lang="en-US" altLang="zh-CN" sz="1800">
              <a:sym typeface="+mn-ea"/>
            </a:endParaRPr>
          </a:p>
          <a:p>
            <a:pPr lvl="2"/>
            <a:r>
              <a:rPr lang="en-US" altLang="zh-CN" sz="1600">
                <a:sym typeface="+mn-ea"/>
              </a:rPr>
              <a:t>openssl req -new -key private.key -out server.csr -config cis.cnf</a:t>
            </a:r>
            <a:endParaRPr lang="en-US" altLang="zh-CN" sz="1600">
              <a:sym typeface="+mn-ea"/>
            </a:endParaRPr>
          </a:p>
          <a:p>
            <a:pPr lvl="1"/>
            <a:r>
              <a:rPr lang="en-US" altLang="zh-CN" sz="1800">
                <a:sym typeface="+mn-ea"/>
              </a:rPr>
              <a:t>generate certificate</a:t>
            </a:r>
            <a:endParaRPr lang="en-US" altLang="zh-CN" sz="1800">
              <a:sym typeface="+mn-ea"/>
            </a:endParaRPr>
          </a:p>
          <a:p>
            <a:pPr lvl="2"/>
            <a:r>
              <a:rPr lang="en-US" altLang="zh-CN" sz="1600"/>
              <a:t>openssl x509 -req -days 365 -in server.csr -signkey private.key -out certificate.crt  -extfile cis.cnf -extensions req</a:t>
            </a:r>
            <a:endParaRPr lang="en-US" altLang="zh-CN" sz="1600"/>
          </a:p>
          <a:p>
            <a:pPr lvl="1"/>
            <a:r>
              <a:rPr lang="en-US" altLang="zh-CN" sz="1800"/>
              <a:t>generate .pfx</a:t>
            </a:r>
            <a:endParaRPr lang="en-US" altLang="zh-CN" sz="1800"/>
          </a:p>
          <a:p>
            <a:pPr lvl="2"/>
            <a:r>
              <a:rPr lang="en-US" altLang="zh-CN" sz="1600"/>
              <a:t>openssl pkcs12 -export -out keystore.pfx -inkey private.key -in certificate.crt -name "tomcat"</a:t>
            </a:r>
            <a:endParaRPr lang="en-US" altLang="zh-CN" sz="1600"/>
          </a:p>
          <a:p>
            <a:pPr lvl="1"/>
            <a:endParaRPr lang="en-US" altLang="zh-CN" sz="1600"/>
          </a:p>
        </p:txBody>
      </p:sp>
    </p:spTree>
    <p:custDataLst>
      <p:tags r:id="rId1"/>
    </p:custData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信任自签名证书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4178300" cy="4549140"/>
          </a:xfrm>
        </p:spPr>
        <p:txBody>
          <a:bodyPr/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zh-CN" altLang="en-US"/>
              <a:t>制作签名时要包含正确的域名或</a:t>
            </a:r>
            <a:r>
              <a:rPr lang="en-US" altLang="zh-CN"/>
              <a:t>ip</a:t>
            </a:r>
            <a:r>
              <a:rPr lang="zh-CN" altLang="en-US"/>
              <a:t>地址</a:t>
            </a:r>
            <a:endParaRPr lang="zh-CN" altLang="en-US"/>
          </a:p>
          <a:p>
            <a:pPr lvl="1"/>
            <a:r>
              <a:rPr lang="zh-CN" altLang="en-US"/>
              <a:t>安装证书时，指定存储为</a:t>
            </a:r>
            <a:r>
              <a:rPr lang="en-US" altLang="zh-CN"/>
              <a:t>“</a:t>
            </a:r>
            <a:r>
              <a:rPr lang="zh-CN" altLang="en-US"/>
              <a:t>受信任的根证书颁发机构</a:t>
            </a:r>
            <a:r>
              <a:rPr lang="en-US" altLang="zh-CN"/>
              <a:t>”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4525" y="1102360"/>
            <a:ext cx="6210935" cy="18662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9035" y="2968625"/>
            <a:ext cx="3314700" cy="2737485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3"/>
          <a:stretch>
            <a:fillRect/>
          </a:stretch>
        </p:blipFill>
        <p:spPr>
          <a:xfrm>
            <a:off x="5126355" y="3051175"/>
            <a:ext cx="3662680" cy="38068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SSL Certificate - Let’s Encrypt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714365" cy="4885055"/>
          </a:xfrm>
        </p:spPr>
        <p:txBody>
          <a:bodyPr>
            <a:noAutofit/>
          </a:bodyPr>
          <a:p>
            <a:r>
              <a:rPr lang="en-US" altLang="zh-CN" sz="1800"/>
              <a:t>Reference</a:t>
            </a:r>
            <a:endParaRPr lang="en-US" altLang="zh-CN" sz="1800"/>
          </a:p>
          <a:p>
            <a:pPr lvl="1"/>
            <a:r>
              <a:rPr lang="en-US" altLang="zh-CN" sz="1600"/>
              <a:t>https://letsencrypt.org/</a:t>
            </a:r>
            <a:endParaRPr lang="en-US" altLang="zh-CN" sz="1600"/>
          </a:p>
          <a:p>
            <a:pPr lvl="1"/>
            <a:r>
              <a:rPr lang="en-US" altLang="zh-CN" sz="1600"/>
              <a:t>https://certbot.eff.org/instructions</a:t>
            </a:r>
            <a:endParaRPr lang="en-US" altLang="zh-CN" sz="1600"/>
          </a:p>
          <a:p>
            <a:pPr lvl="1"/>
            <a:r>
              <a:rPr lang="en-US" altLang="zh-CN" sz="1600"/>
              <a:t>https://www.digitalocean.com/community/tutorials/how-to-secure-nginx-with-let-s-encrypt-on-ubuntu-16-04</a:t>
            </a:r>
            <a:endParaRPr lang="en-US" altLang="zh-CN" sz="1600"/>
          </a:p>
          <a:p>
            <a:pPr lvl="1"/>
            <a:r>
              <a:rPr lang="en-US" altLang="zh-CN" sz="1600"/>
              <a:t>https://techsparx.com/software-development/docker/damp/nginx-cron-ssl.html</a:t>
            </a:r>
            <a:endParaRPr lang="en-US" altLang="zh-CN" sz="1600"/>
          </a:p>
          <a:p>
            <a:pPr lvl="1"/>
            <a:r>
              <a:rPr lang="en-US" altLang="zh-CN" sz="1600"/>
              <a:t>https://900913.ru/2017/06/09/kak-dobavit-ssl-na-ubuntu-server-16-04-i-vyshe/</a:t>
            </a:r>
            <a:endParaRPr lang="en-US" altLang="zh-CN" sz="1600"/>
          </a:p>
          <a:p>
            <a:pPr lvl="0"/>
            <a:r>
              <a:rPr lang="en-US" altLang="zh-CN" sz="1800"/>
              <a:t>Intro</a:t>
            </a:r>
            <a:endParaRPr lang="en-US" altLang="zh-CN" sz="1800"/>
          </a:p>
          <a:p>
            <a:pPr lvl="1"/>
            <a:r>
              <a:rPr lang="en-US" altLang="zh-CN" sz="1600"/>
              <a:t>offering free SSL/HTTPS certificates</a:t>
            </a:r>
            <a:endParaRPr lang="en-US" altLang="zh-CN" sz="1600"/>
          </a:p>
          <a:p>
            <a:pPr lvl="1"/>
            <a:r>
              <a:rPr lang="en-US" altLang="zh-CN" sz="1600"/>
              <a:t>The main issue with Letsencrypt is that certificates expire after 90 days.</a:t>
            </a:r>
            <a:endParaRPr lang="en-US" altLang="zh-CN" sz="1600"/>
          </a:p>
          <a:p>
            <a:pPr lvl="1"/>
            <a:r>
              <a:rPr lang="en-US" altLang="zh-CN" sz="1600"/>
              <a:t>Certbot: leading client program for Letsencrypt</a:t>
            </a:r>
            <a:endParaRPr lang="en-US" altLang="zh-CN" sz="1600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617970" y="1191895"/>
            <a:ext cx="5245100" cy="488505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黑体" panose="02010609060101010101" charset="-122"/>
              <a:buChar char="〉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800">
                <a:sym typeface="+mn-ea"/>
              </a:rPr>
              <a:t>Steps</a:t>
            </a:r>
            <a:endParaRPr lang="en-US" altLang="zh-CN" sz="1800"/>
          </a:p>
          <a:p>
            <a:pPr lvl="1"/>
            <a:r>
              <a:rPr lang="en-US" altLang="zh-CN" sz="1600">
                <a:sym typeface="+mn-ea"/>
              </a:rPr>
              <a:t>Install Certbot</a:t>
            </a:r>
            <a:endParaRPr lang="en-US" altLang="zh-CN" sz="1600"/>
          </a:p>
          <a:p>
            <a:pPr lvl="2"/>
            <a:r>
              <a:rPr lang="en-US" altLang="zh-CN" sz="1400">
                <a:sym typeface="+mn-ea"/>
              </a:rPr>
              <a:t>sudo apt install gpg software-properties-common</a:t>
            </a:r>
            <a:endParaRPr lang="en-US" altLang="zh-CN" sz="1400"/>
          </a:p>
          <a:p>
            <a:pPr lvl="2"/>
            <a:r>
              <a:rPr lang="en-US" altLang="zh-CN" sz="1400">
                <a:sym typeface="+mn-ea"/>
              </a:rPr>
              <a:t># sudo add-apt-repository ppa:certbot/certbot</a:t>
            </a:r>
            <a:endParaRPr lang="en-US" altLang="zh-CN" sz="1400"/>
          </a:p>
          <a:p>
            <a:pPr lvl="2"/>
            <a:r>
              <a:rPr lang="en-US" altLang="zh-CN" sz="1400">
                <a:sym typeface="+mn-ea"/>
              </a:rPr>
              <a:t># sudo apt update</a:t>
            </a:r>
            <a:endParaRPr lang="en-US" altLang="zh-CN" sz="1400"/>
          </a:p>
          <a:p>
            <a:pPr lvl="2"/>
            <a:r>
              <a:rPr lang="en-US" altLang="zh-CN" sz="1400">
                <a:sym typeface="+mn-ea"/>
              </a:rPr>
              <a:t>sudo apt-get install python-certbot-nginx</a:t>
            </a:r>
            <a:endParaRPr lang="en-US" altLang="zh-CN" sz="1400"/>
          </a:p>
          <a:p>
            <a:pPr lvl="1"/>
            <a:r>
              <a:rPr lang="en-US" altLang="zh-CN" sz="1600">
                <a:sym typeface="+mn-ea"/>
              </a:rPr>
              <a:t>Generate certificate</a:t>
            </a:r>
            <a:endParaRPr lang="en-US" altLang="zh-CN" sz="1600">
              <a:sym typeface="+mn-ea"/>
            </a:endParaRPr>
          </a:p>
          <a:p>
            <a:pPr lvl="2"/>
            <a:r>
              <a:rPr lang="en-US" altLang="zh-CN" sz="1600">
                <a:sym typeface="+mn-ea"/>
              </a:rPr>
              <a:t>Make sure http://example.com can be accessed correctly</a:t>
            </a:r>
            <a:endParaRPr lang="en-US" altLang="zh-CN" sz="1600">
              <a:sym typeface="+mn-ea"/>
            </a:endParaRPr>
          </a:p>
          <a:p>
            <a:pPr lvl="2"/>
            <a:r>
              <a:rPr lang="en-US" altLang="zh-CN" sz="1600">
                <a:sym typeface="+mn-ea"/>
              </a:rPr>
              <a:t>certbot certonly --nginx</a:t>
            </a:r>
            <a:endParaRPr lang="en-US" altLang="zh-CN" sz="1600">
              <a:sym typeface="+mn-ea"/>
            </a:endParaRPr>
          </a:p>
          <a:p>
            <a:pPr lvl="3"/>
            <a:r>
              <a:rPr lang="en-US" altLang="zh-CN" sz="1600">
                <a:sym typeface="+mn-ea"/>
              </a:rPr>
              <a:t>output dir: /etc/letsencrypt/live/{url}/</a:t>
            </a:r>
            <a:endParaRPr lang="en-US" altLang="zh-CN" sz="1600">
              <a:sym typeface="+mn-ea"/>
            </a:endParaRPr>
          </a:p>
          <a:p>
            <a:pPr lvl="3"/>
            <a:r>
              <a:rPr lang="en-US" altLang="zh-CN" sz="1600">
                <a:sym typeface="+mn-ea"/>
              </a:rPr>
              <a:t>output files: fullchain.pem, privkey.pem</a:t>
            </a:r>
            <a:endParaRPr lang="en-US" altLang="zh-CN" sz="1600">
              <a:sym typeface="+mn-ea"/>
            </a:endParaRPr>
          </a:p>
          <a:p>
            <a:pPr lvl="0"/>
            <a:r>
              <a:rPr lang="en-US" altLang="zh-CN" sz="1800"/>
              <a:t>Docker</a:t>
            </a:r>
            <a:endParaRPr lang="en-US" altLang="zh-CN" sz="1800"/>
          </a:p>
          <a:p>
            <a:pPr lvl="1"/>
            <a:r>
              <a:rPr lang="en-US" altLang="zh-CN" sz="1500"/>
              <a:t>Copy generated fullchain.pem and privkey.pem to nginx folder</a:t>
            </a:r>
            <a:endParaRPr lang="en-US" altLang="zh-CN" sz="1500"/>
          </a:p>
          <a:p>
            <a:pPr lvl="1"/>
            <a:r>
              <a:rPr lang="en-US" altLang="zh-CN" sz="1500"/>
              <a:t>Configure Dockerfile for nginx to copy the two files to /etc/letsencrypt/live/{url}/ folder</a:t>
            </a:r>
            <a:endParaRPr lang="en-US" altLang="zh-CN" sz="1500"/>
          </a:p>
          <a:p>
            <a:pPr lvl="1"/>
            <a:r>
              <a:rPr lang="en-US" altLang="zh-CN" sz="1500"/>
              <a:t>Modify ngix config file to support https</a:t>
            </a:r>
            <a:endParaRPr lang="en-US" altLang="zh-CN" sz="2000"/>
          </a:p>
          <a:p>
            <a:pPr lvl="1"/>
            <a:endParaRPr lang="en-US" altLang="zh-CN" sz="2000"/>
          </a:p>
        </p:txBody>
      </p:sp>
    </p:spTree>
    <p:custDataLst>
      <p:tags r:id="rId1"/>
    </p:custData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Let’s Encrypt for Docker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534660" cy="4549140"/>
          </a:xfrm>
        </p:spPr>
        <p:txBody>
          <a:bodyPr>
            <a:normAutofit lnSpcReduction="10000"/>
          </a:bodyPr>
          <a:p>
            <a:r>
              <a:rPr lang="en-US" altLang="zh-CN" sz="2000"/>
              <a:t>References</a:t>
            </a:r>
            <a:endParaRPr lang="en-US" altLang="zh-CN" sz="2000"/>
          </a:p>
          <a:p>
            <a:pPr lvl="1"/>
            <a:r>
              <a:rPr lang="en-US" altLang="zh-CN" sz="1800"/>
              <a:t>https://www.jianshu.com/p/ea090833f766</a:t>
            </a:r>
            <a:endParaRPr lang="en-US" altLang="zh-CN" sz="1800"/>
          </a:p>
          <a:p>
            <a:pPr lvl="0"/>
            <a:r>
              <a:rPr lang="en-US" altLang="zh-CN" sz="2000"/>
              <a:t>Apply</a:t>
            </a:r>
            <a:endParaRPr lang="en-US" altLang="zh-CN" sz="2000"/>
          </a:p>
          <a:p>
            <a:pPr lvl="1"/>
            <a:r>
              <a:rPr lang="en-US" altLang="zh-CN" sz="1800"/>
              <a:t>mkdir -p /letsencrypt/site</a:t>
            </a:r>
            <a:endParaRPr lang="en-US" altLang="zh-CN" sz="1800"/>
          </a:p>
          <a:p>
            <a:pPr lvl="1"/>
            <a:r>
              <a:rPr lang="en-US" altLang="zh-CN" sz="1800"/>
              <a:t>create “/letsencrypt/docker-compose.yml”</a:t>
            </a:r>
            <a:endParaRPr lang="en-US" altLang="zh-CN" sz="1800"/>
          </a:p>
          <a:p>
            <a:pPr lvl="1"/>
            <a:r>
              <a:rPr lang="en-US" altLang="zh-CN" sz="1800"/>
              <a:t>create “/letsencrypt/nginx.conf”</a:t>
            </a:r>
            <a:endParaRPr lang="en-US" altLang="zh-CN" sz="1800"/>
          </a:p>
          <a:p>
            <a:pPr lvl="1"/>
            <a:r>
              <a:rPr lang="en-US" altLang="zh-CN" sz="1800"/>
              <a:t>cd /letsencrypt &amp;&amp; docker-compose up -d</a:t>
            </a:r>
            <a:endParaRPr lang="en-US" altLang="zh-CN" sz="1800"/>
          </a:p>
          <a:p>
            <a:pPr lvl="1"/>
            <a:r>
              <a:rPr lang="en-US" altLang="zh-CN" sz="1800"/>
              <a:t>run “apply.sh”</a:t>
            </a:r>
            <a:endParaRPr lang="en-US" altLang="zh-CN" sz="1800"/>
          </a:p>
          <a:p>
            <a:pPr lvl="1"/>
            <a:r>
              <a:rPr lang="en-US" altLang="zh-CN" sz="1800"/>
              <a:t>cd /letsencrypt &amp;&amp; docker-compose down</a:t>
            </a:r>
            <a:endParaRPr lang="en-US" altLang="zh-CN" sz="1800"/>
          </a:p>
          <a:p>
            <a:pPr lvl="1"/>
            <a:r>
              <a:rPr lang="en-US" altLang="zh-CN" sz="1800"/>
              <a:t>copy certificate files from /letsencrypt/certbot/etc/letsencrypt/live/</a:t>
            </a:r>
            <a:endParaRPr lang="en-US" altLang="zh-CN" sz="1800"/>
          </a:p>
          <a:p>
            <a:pPr lvl="0"/>
            <a:r>
              <a:rPr lang="en-US" altLang="zh-CN" sz="2160"/>
              <a:t>Renew</a:t>
            </a:r>
            <a:endParaRPr lang="en-US" altLang="zh-CN" sz="2160"/>
          </a:p>
          <a:p>
            <a:pPr lvl="1"/>
            <a:r>
              <a:rPr lang="en-US" altLang="zh-CN" sz="1800"/>
              <a:t>create “/letsencrypt/renew.sh”</a:t>
            </a:r>
            <a:endParaRPr lang="en-US" altLang="zh-CN" sz="1800"/>
          </a:p>
          <a:p>
            <a:pPr lvl="1"/>
            <a:r>
              <a:rPr lang="en-US" altLang="zh-CN" sz="1800"/>
              <a:t>crontab -e</a:t>
            </a:r>
            <a:endParaRPr lang="en-US" altLang="zh-CN" sz="1800"/>
          </a:p>
          <a:p>
            <a:pPr lvl="2"/>
            <a:r>
              <a:rPr lang="en-US" altLang="zh-CN" sz="1620"/>
              <a:t>Add new line: “0 1 * * 0 /letsencrypt/renew.sh”</a:t>
            </a:r>
            <a:endParaRPr lang="en-US" altLang="zh-CN" sz="1620"/>
          </a:p>
        </p:txBody>
      </p:sp>
      <p:sp>
        <p:nvSpPr>
          <p:cNvPr id="4" name="文本框 3"/>
          <p:cNvSpPr txBox="1"/>
          <p:nvPr/>
        </p:nvSpPr>
        <p:spPr>
          <a:xfrm>
            <a:off x="6852920" y="1025525"/>
            <a:ext cx="2555875" cy="301498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 anchor="t">
            <a:spAutoFit/>
          </a:bodyPr>
          <a:p>
            <a:r>
              <a:rPr lang="en-US" altLang="zh-CN" sz="1000">
                <a:solidFill>
                  <a:srgbClr val="FF0000"/>
                </a:solidFill>
                <a:sym typeface="+mn-ea"/>
              </a:rPr>
              <a:t>/letsencrypt/docker-compose.yml</a:t>
            </a:r>
            <a:endParaRPr lang="zh-CN" altLang="en-US" sz="1000">
              <a:solidFill>
                <a:srgbClr val="FF0000"/>
              </a:solidFill>
            </a:endParaRPr>
          </a:p>
          <a:p>
            <a:r>
              <a:rPr lang="zh-CN" altLang="en-US" sz="1000"/>
              <a:t>version: '3.1'</a:t>
            </a:r>
            <a:endParaRPr lang="zh-CN" altLang="en-US" sz="1000"/>
          </a:p>
          <a:p>
            <a:endParaRPr lang="zh-CN" altLang="en-US" sz="1000"/>
          </a:p>
          <a:p>
            <a:r>
              <a:rPr lang="zh-CN" altLang="en-US" sz="1000"/>
              <a:t>services:</a:t>
            </a:r>
            <a:endParaRPr lang="zh-CN" altLang="en-US" sz="1000"/>
          </a:p>
          <a:p>
            <a:r>
              <a:rPr lang="zh-CN" altLang="en-US" sz="1000"/>
              <a:t>  demo-site:</a:t>
            </a:r>
            <a:endParaRPr lang="zh-CN" altLang="en-US" sz="1000"/>
          </a:p>
          <a:p>
            <a:r>
              <a:rPr lang="zh-CN" altLang="en-US" sz="1000"/>
              <a:t>    container_name: 'demo-site'</a:t>
            </a:r>
            <a:endParaRPr lang="zh-CN" altLang="en-US" sz="1000"/>
          </a:p>
          <a:p>
            <a:r>
              <a:rPr lang="zh-CN" altLang="en-US" sz="1000"/>
              <a:t>    image: nginx:alpine</a:t>
            </a:r>
            <a:endParaRPr lang="zh-CN" altLang="en-US" sz="1000"/>
          </a:p>
          <a:p>
            <a:r>
              <a:rPr lang="zh-CN" altLang="en-US" sz="1000"/>
              <a:t>    ports:</a:t>
            </a:r>
            <a:endParaRPr lang="zh-CN" altLang="en-US" sz="1000"/>
          </a:p>
          <a:p>
            <a:r>
              <a:rPr lang="zh-CN" altLang="en-US" sz="1000"/>
              <a:t>      - "80:80"</a:t>
            </a:r>
            <a:endParaRPr lang="zh-CN" altLang="en-US" sz="1000"/>
          </a:p>
          <a:p>
            <a:r>
              <a:rPr lang="zh-CN" altLang="en-US" sz="1000"/>
              <a:t>    volumes:</a:t>
            </a:r>
            <a:endParaRPr lang="zh-CN" altLang="en-US" sz="1000"/>
          </a:p>
          <a:p>
            <a:r>
              <a:rPr lang="zh-CN" altLang="en-US" sz="1000"/>
              <a:t>      - ./nginx.conf:/etc/nginx/conf.d/default.conf</a:t>
            </a:r>
            <a:endParaRPr lang="zh-CN" altLang="en-US" sz="1000"/>
          </a:p>
          <a:p>
            <a:r>
              <a:rPr lang="zh-CN" altLang="en-US" sz="1000"/>
              <a:t>      - ./site:/usr/share/nginx/html</a:t>
            </a:r>
            <a:endParaRPr lang="zh-CN" altLang="en-US" sz="1000"/>
          </a:p>
          <a:p>
            <a:r>
              <a:rPr lang="zh-CN" altLang="en-US" sz="1000"/>
              <a:t>    networks:</a:t>
            </a:r>
            <a:endParaRPr lang="zh-CN" altLang="en-US" sz="1000"/>
          </a:p>
          <a:p>
            <a:r>
              <a:rPr lang="zh-CN" altLang="en-US" sz="1000"/>
              <a:t>      - docker-network</a:t>
            </a:r>
            <a:endParaRPr lang="zh-CN" altLang="en-US" sz="1000"/>
          </a:p>
          <a:p>
            <a:endParaRPr lang="zh-CN" altLang="en-US" sz="1000"/>
          </a:p>
          <a:p>
            <a:r>
              <a:rPr lang="zh-CN" altLang="en-US" sz="1000"/>
              <a:t>networks:</a:t>
            </a:r>
            <a:endParaRPr lang="zh-CN" altLang="en-US" sz="1000"/>
          </a:p>
          <a:p>
            <a:r>
              <a:rPr lang="zh-CN" altLang="en-US" sz="1000"/>
              <a:t>  docker-network:</a:t>
            </a:r>
            <a:endParaRPr lang="zh-CN" altLang="en-US" sz="1000"/>
          </a:p>
          <a:p>
            <a:r>
              <a:rPr lang="zh-CN" altLang="en-US" sz="1000"/>
              <a:t>    driver: bridge</a:t>
            </a:r>
            <a:endParaRPr lang="zh-CN" altLang="en-US" sz="1000"/>
          </a:p>
        </p:txBody>
      </p:sp>
      <p:sp>
        <p:nvSpPr>
          <p:cNvPr id="6" name="文本框 5"/>
          <p:cNvSpPr txBox="1"/>
          <p:nvPr/>
        </p:nvSpPr>
        <p:spPr>
          <a:xfrm>
            <a:off x="9545320" y="1211580"/>
            <a:ext cx="2540000" cy="239966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 anchor="t">
            <a:spAutoFit/>
          </a:bodyPr>
          <a:p>
            <a:r>
              <a:rPr lang="en-US" altLang="zh-CN" sz="1000">
                <a:solidFill>
                  <a:srgbClr val="FF0000"/>
                </a:solidFill>
              </a:rPr>
              <a:t>/letsencrypt/nginx.conf</a:t>
            </a:r>
            <a:endParaRPr lang="zh-CN" altLang="en-US" sz="1000">
              <a:solidFill>
                <a:srgbClr val="FF0000"/>
              </a:solidFill>
            </a:endParaRPr>
          </a:p>
          <a:p>
            <a:r>
              <a:rPr lang="zh-CN" altLang="en-US" sz="1000"/>
              <a:t>server {</a:t>
            </a:r>
            <a:endParaRPr lang="zh-CN" altLang="en-US" sz="1000"/>
          </a:p>
          <a:p>
            <a:r>
              <a:rPr lang="zh-CN" altLang="en-US" sz="1000"/>
              <a:t>    listen 80;</a:t>
            </a:r>
            <a:endParaRPr lang="zh-CN" altLang="en-US" sz="1000"/>
          </a:p>
          <a:p>
            <a:r>
              <a:rPr lang="zh-CN" altLang="en-US" sz="1000"/>
              <a:t>    server_name example.com www.example.com;</a:t>
            </a:r>
            <a:endParaRPr lang="zh-CN" altLang="en-US" sz="1000"/>
          </a:p>
          <a:p>
            <a:endParaRPr lang="zh-CN" altLang="en-US" sz="1000"/>
          </a:p>
          <a:p>
            <a:r>
              <a:rPr lang="zh-CN" altLang="en-US" sz="1000"/>
              <a:t>    location ~ /.well-known/acme-challenge {</a:t>
            </a:r>
            <a:endParaRPr lang="zh-CN" altLang="en-US" sz="1000"/>
          </a:p>
          <a:p>
            <a:r>
              <a:rPr lang="zh-CN" altLang="en-US" sz="1000"/>
              <a:t>        allow all;</a:t>
            </a:r>
            <a:endParaRPr lang="zh-CN" altLang="en-US" sz="1000"/>
          </a:p>
          <a:p>
            <a:r>
              <a:rPr lang="zh-CN" altLang="en-US" sz="1000"/>
              <a:t>        root /usr/share/nginx/html;</a:t>
            </a:r>
            <a:endParaRPr lang="zh-CN" altLang="en-US" sz="1000"/>
          </a:p>
          <a:p>
            <a:r>
              <a:rPr lang="zh-CN" altLang="en-US" sz="1000"/>
              <a:t>    }</a:t>
            </a:r>
            <a:endParaRPr lang="zh-CN" altLang="en-US" sz="1000"/>
          </a:p>
          <a:p>
            <a:endParaRPr lang="zh-CN" altLang="en-US" sz="1000"/>
          </a:p>
          <a:p>
            <a:r>
              <a:rPr lang="zh-CN" altLang="en-US" sz="1000"/>
              <a:t>    root /usr/share/nginx/html;</a:t>
            </a:r>
            <a:endParaRPr lang="zh-CN" altLang="en-US" sz="1000"/>
          </a:p>
          <a:p>
            <a:r>
              <a:rPr lang="zh-CN" altLang="en-US" sz="1000"/>
              <a:t>    index index.html;</a:t>
            </a:r>
            <a:endParaRPr lang="zh-CN" altLang="en-US" sz="1000"/>
          </a:p>
          <a:p>
            <a:r>
              <a:rPr lang="zh-CN" altLang="en-US" sz="1000"/>
              <a:t>}</a:t>
            </a:r>
            <a:endParaRPr lang="zh-CN" altLang="en-US" sz="1000"/>
          </a:p>
        </p:txBody>
      </p:sp>
      <p:sp>
        <p:nvSpPr>
          <p:cNvPr id="7" name="文本框 6"/>
          <p:cNvSpPr txBox="1"/>
          <p:nvPr/>
        </p:nvSpPr>
        <p:spPr>
          <a:xfrm>
            <a:off x="6852920" y="4151630"/>
            <a:ext cx="2555875" cy="239966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 anchor="t">
            <a:spAutoFit/>
          </a:bodyPr>
          <a:p>
            <a:r>
              <a:rPr lang="en-US" altLang="zh-CN" sz="1000">
                <a:solidFill>
                  <a:srgbClr val="FF0000"/>
                </a:solidFill>
              </a:rPr>
              <a:t>apply.sh</a:t>
            </a:r>
            <a:endParaRPr lang="zh-CN" altLang="en-US" sz="1000">
              <a:solidFill>
                <a:srgbClr val="FF0000"/>
              </a:solidFill>
            </a:endParaRPr>
          </a:p>
          <a:p>
            <a:r>
              <a:rPr lang="zh-CN" altLang="en-US" sz="1000"/>
              <a:t>docker run --rm -it \</a:t>
            </a:r>
            <a:endParaRPr lang="zh-CN" altLang="en-US" sz="1000"/>
          </a:p>
          <a:p>
            <a:r>
              <a:rPr lang="zh-CN" altLang="en-US" sz="1000"/>
              <a:t>-v /letsencrypt/certbot/etc/letsencrypt:/etc/letsencrypt \ </a:t>
            </a:r>
            <a:endParaRPr lang="zh-CN" altLang="en-US" sz="1000"/>
          </a:p>
          <a:p>
            <a:r>
              <a:rPr lang="zh-CN" altLang="en-US" sz="1000"/>
              <a:t>-v /letsencrypt/certbot/var/log/letsencrypt:/var/log/letsencrypt \ </a:t>
            </a:r>
            <a:endParaRPr lang="zh-CN" altLang="en-US" sz="1000"/>
          </a:p>
          <a:p>
            <a:r>
              <a:rPr lang="zh-CN" altLang="en-US" sz="1000"/>
              <a:t>-v /letsencrypt/site:/data/letsencrypt \ </a:t>
            </a:r>
            <a:endParaRPr lang="zh-CN" altLang="en-US" sz="1000"/>
          </a:p>
          <a:p>
            <a:r>
              <a:rPr lang="zh-CN" altLang="en-US" sz="1000"/>
              <a:t>certbot/certbot \</a:t>
            </a:r>
            <a:endParaRPr lang="zh-CN" altLang="en-US" sz="1000"/>
          </a:p>
          <a:p>
            <a:r>
              <a:rPr lang="zh-CN" altLang="en-US" sz="1000"/>
              <a:t>certonly --webroot \ </a:t>
            </a:r>
            <a:endParaRPr lang="zh-CN" altLang="en-US" sz="1000"/>
          </a:p>
          <a:p>
            <a:r>
              <a:rPr lang="zh-CN" altLang="en-US" sz="1000"/>
              <a:t>--email youremail@domain.com --agree-tos --no-eff-email \              </a:t>
            </a:r>
            <a:endParaRPr lang="zh-CN" altLang="en-US" sz="1000"/>
          </a:p>
          <a:p>
            <a:r>
              <a:rPr lang="zh-CN" altLang="en-US" sz="1000"/>
              <a:t>--webroot-path=/data/letsencrypt \</a:t>
            </a:r>
            <a:endParaRPr lang="zh-CN" altLang="en-US" sz="1000"/>
          </a:p>
          <a:p>
            <a:r>
              <a:rPr lang="zh-CN" altLang="en-US" sz="1000"/>
              <a:t>-d example.com -d www.example.com</a:t>
            </a:r>
            <a:endParaRPr lang="zh-CN" altLang="en-US" sz="1000"/>
          </a:p>
        </p:txBody>
      </p:sp>
      <p:sp>
        <p:nvSpPr>
          <p:cNvPr id="8" name="文本框 7"/>
          <p:cNvSpPr txBox="1"/>
          <p:nvPr/>
        </p:nvSpPr>
        <p:spPr>
          <a:xfrm>
            <a:off x="9545320" y="3772535"/>
            <a:ext cx="2540000" cy="270700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 anchor="t">
            <a:spAutoFit/>
          </a:bodyPr>
          <a:p>
            <a:r>
              <a:rPr lang="en-US" altLang="zh-CN" sz="1000">
                <a:solidFill>
                  <a:srgbClr val="FF0000"/>
                </a:solidFill>
              </a:rPr>
              <a:t>renew.sh</a:t>
            </a:r>
            <a:endParaRPr lang="zh-CN" altLang="en-US" sz="1000">
              <a:solidFill>
                <a:srgbClr val="FF0000"/>
              </a:solidFill>
            </a:endParaRPr>
          </a:p>
          <a:p>
            <a:r>
              <a:rPr lang="zh-CN" altLang="en-US" sz="1000"/>
              <a:t>#!/bin/bash</a:t>
            </a:r>
            <a:endParaRPr lang="zh-CN" altLang="en-US" sz="1000"/>
          </a:p>
          <a:p>
            <a:r>
              <a:rPr lang="zh-CN" altLang="en-US" sz="1000"/>
              <a:t>docker run -it --rm \</a:t>
            </a:r>
            <a:endParaRPr lang="zh-CN" altLang="en-US" sz="1000"/>
          </a:p>
          <a:p>
            <a:r>
              <a:rPr lang="zh-CN" altLang="en-US" sz="1000"/>
              <a:t>-v /letsencrypt/certbot/etc/letsencrypt:/etc/letsencrypt \</a:t>
            </a:r>
            <a:endParaRPr lang="zh-CN" altLang="en-US" sz="1000"/>
          </a:p>
          <a:p>
            <a:r>
              <a:rPr lang="zh-CN" altLang="en-US" sz="1000"/>
              <a:t>-v /letsencrypt/certbot/var/lib/letsencrypt:/var/lib/letsencrypt \</a:t>
            </a:r>
            <a:endParaRPr lang="zh-CN" altLang="en-US" sz="1000"/>
          </a:p>
          <a:p>
            <a:r>
              <a:rPr lang="zh-CN" altLang="en-US" sz="1000"/>
              <a:t>-v /letsencrypt/certbot/var/log/letsencrypt:/var/log/letsencrypt \</a:t>
            </a:r>
            <a:endParaRPr lang="zh-CN" altLang="en-US" sz="1000"/>
          </a:p>
          <a:p>
            <a:r>
              <a:rPr lang="zh-CN" altLang="en-US" sz="1000"/>
              <a:t>-v /letsencrypt/site:/data/letsencrypt \</a:t>
            </a:r>
            <a:endParaRPr lang="zh-CN" altLang="en-US" sz="1000"/>
          </a:p>
          <a:p>
            <a:r>
              <a:rPr lang="zh-CN" altLang="en-US" sz="1000"/>
              <a:t>certbot/certbot \</a:t>
            </a:r>
            <a:endParaRPr lang="zh-CN" altLang="en-US" sz="1000"/>
          </a:p>
          <a:p>
            <a:r>
              <a:rPr lang="zh-CN" altLang="en-US" sz="1000"/>
              <a:t>renew --webroot -w /data/letsencrypt --quiet &amp;&amp; docker kill --signal=HUP demo-site</a:t>
            </a:r>
            <a:endParaRPr lang="zh-CN" altLang="en-US" sz="1000"/>
          </a:p>
        </p:txBody>
      </p:sp>
    </p:spTree>
    <p:custDataLst>
      <p:tags r:id="rId1"/>
    </p:custData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SSL Certificate - Let’s encrypt for Docker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6428740" cy="4876165"/>
          </a:xfrm>
        </p:spPr>
        <p:txBody>
          <a:bodyPr>
            <a:normAutofit fontScale="60000"/>
          </a:bodyPr>
          <a:p>
            <a:r>
              <a:rPr lang="en-US" altLang="zh-CN" sz="2000"/>
              <a:t>References</a:t>
            </a:r>
            <a:endParaRPr lang="en-US" altLang="zh-CN" sz="2000"/>
          </a:p>
          <a:p>
            <a:pPr lvl="1"/>
            <a:r>
              <a:rPr lang="en-US" altLang="zh-CN" sz="1800"/>
              <a:t>https://www.theparsedweb.com/production-ready-setup-with-nginx-flask-and-postgres/</a:t>
            </a:r>
            <a:endParaRPr lang="en-US" altLang="zh-CN" sz="1800"/>
          </a:p>
          <a:p>
            <a:pPr lvl="1"/>
            <a:r>
              <a:rPr lang="en-US" altLang="zh-CN" sz="1800"/>
              <a:t>https://stackoverflow.com/questions/66638368/how-to-do-auto-renewal-of-tls-certificates-with-certbot</a:t>
            </a:r>
            <a:endParaRPr lang="en-US" altLang="zh-CN" sz="1800"/>
          </a:p>
          <a:p>
            <a:pPr lvl="1"/>
            <a:r>
              <a:rPr lang="en-US" altLang="zh-CN" sz="1800"/>
              <a:t>https://delattreconsulting.com/2020/02/lets-encrypt-ssl-certificate-through-certbot-for-nginx-in-a-docker-environment/</a:t>
            </a:r>
            <a:endParaRPr lang="en-US" altLang="zh-CN" sz="1800"/>
          </a:p>
          <a:p>
            <a:pPr lvl="0"/>
            <a:r>
              <a:rPr lang="en-US" altLang="zh-CN" sz="2000"/>
              <a:t>Install</a:t>
            </a:r>
            <a:endParaRPr lang="en-US" altLang="zh-CN" sz="2000"/>
          </a:p>
          <a:p>
            <a:pPr lvl="1"/>
            <a:r>
              <a:rPr lang="en-US" altLang="zh-CN" sz="1800"/>
              <a:t>Offline</a:t>
            </a:r>
            <a:endParaRPr lang="en-US" altLang="zh-CN" sz="1800"/>
          </a:p>
          <a:p>
            <a:pPr lvl="2"/>
            <a:r>
              <a:rPr lang="en-US" altLang="zh-CN" sz="1620"/>
              <a:t>sudo apt-get install -y certbot</a:t>
            </a:r>
            <a:endParaRPr lang="en-US" altLang="zh-CN" sz="1620"/>
          </a:p>
          <a:p>
            <a:pPr lvl="2"/>
            <a:r>
              <a:rPr lang="en-US" altLang="zh-CN" sz="1620"/>
              <a:t>stop 80 port service</a:t>
            </a:r>
            <a:endParaRPr lang="en-US" altLang="zh-CN" sz="1620"/>
          </a:p>
          <a:p>
            <a:pPr lvl="2"/>
            <a:r>
              <a:rPr lang="en-US" altLang="zh-CN" sz="1620"/>
              <a:t>sudo certbot certonly --standalone --preferred-challenges http -d fishpano.com</a:t>
            </a:r>
            <a:endParaRPr lang="en-US" altLang="zh-CN" sz="1620"/>
          </a:p>
          <a:p>
            <a:pPr lvl="3"/>
            <a:r>
              <a:rPr lang="en-US" altLang="zh-CN" sz="1600"/>
              <a:t>generate certificate and chain: /etc/letsencrypt/live/fishpano.com/fullchain.pem</a:t>
            </a:r>
            <a:endParaRPr lang="en-US" altLang="zh-CN" sz="1600"/>
          </a:p>
          <a:p>
            <a:pPr lvl="3"/>
            <a:r>
              <a:rPr lang="en-US" altLang="zh-CN" sz="1600"/>
              <a:t>generate private key file: /etc/letsencrypt/live/fishpano.com/privkey.pem</a:t>
            </a:r>
            <a:endParaRPr lang="en-US" altLang="zh-CN" sz="1600"/>
          </a:p>
          <a:p>
            <a:pPr lvl="1"/>
            <a:r>
              <a:rPr lang="en-US" altLang="zh-CN" sz="1800"/>
              <a:t>modify docker-compose.yml to map “/etc/letsencrypt” folder and support 443 port</a:t>
            </a:r>
            <a:endParaRPr lang="en-US" altLang="zh-CN" sz="1800"/>
          </a:p>
          <a:p>
            <a:pPr lvl="1"/>
            <a:r>
              <a:rPr lang="en-US" altLang="zh-CN" sz="1800"/>
              <a:t>modify nginx configure file to forward http to https and configure ssl_certificate and ssl_certificate_key</a:t>
            </a:r>
            <a:endParaRPr lang="en-US" altLang="zh-CN" sz="1800"/>
          </a:p>
          <a:p>
            <a:pPr lvl="0"/>
            <a:r>
              <a:rPr lang="en-US" altLang="zh-CN" sz="2160"/>
              <a:t>Renew</a:t>
            </a:r>
            <a:endParaRPr lang="en-US" altLang="zh-CN" sz="2160"/>
          </a:p>
          <a:p>
            <a:pPr lvl="1"/>
            <a:r>
              <a:rPr lang="en-US" altLang="zh-CN" sz="1800"/>
              <a:t>sudo certbot renew</a:t>
            </a:r>
            <a:endParaRPr lang="en-US" altLang="zh-CN" sz="1800"/>
          </a:p>
          <a:p>
            <a:pPr lvl="1"/>
            <a:r>
              <a:rPr lang="en-US" altLang="zh-CN" sz="1800"/>
              <a:t>sudo certbot certonly </a:t>
            </a:r>
            <a:r>
              <a:rPr lang="en-US" altLang="zh-CN" sz="1800">
                <a:sym typeface="+mn-ea"/>
              </a:rPr>
              <a:t> --standalone --preferred-challenges http </a:t>
            </a:r>
            <a:r>
              <a:rPr lang="en-US" altLang="zh-CN" sz="1800"/>
              <a:t>--force-renew -d fishpano.com</a:t>
            </a:r>
            <a:endParaRPr lang="en-US" altLang="zh-CN" sz="1800"/>
          </a:p>
        </p:txBody>
      </p:sp>
      <p:sp>
        <p:nvSpPr>
          <p:cNvPr id="4" name="文本框 3"/>
          <p:cNvSpPr txBox="1"/>
          <p:nvPr/>
        </p:nvSpPr>
        <p:spPr>
          <a:xfrm>
            <a:off x="7631430" y="3096895"/>
            <a:ext cx="3859530" cy="341503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p>
            <a:r>
              <a:rPr lang="zh-CN" altLang="en-US" sz="1200"/>
              <a:t>server {                                                               </a:t>
            </a:r>
            <a:endParaRPr lang="zh-CN" altLang="en-US" sz="1200"/>
          </a:p>
          <a:p>
            <a:r>
              <a:rPr lang="zh-CN" altLang="en-US" sz="1200"/>
              <a:t>    listen 80;                                                         </a:t>
            </a:r>
            <a:endParaRPr lang="zh-CN" altLang="en-US" sz="1200"/>
          </a:p>
          <a:p>
            <a:r>
              <a:rPr lang="zh-CN" altLang="en-US" sz="1200"/>
              <a:t>    listen [::]:80;                                                    </a:t>
            </a:r>
            <a:endParaRPr lang="zh-CN" altLang="en-US" sz="1200"/>
          </a:p>
          <a:p>
            <a:r>
              <a:rPr lang="zh-CN" altLang="en-US" sz="1200"/>
              <a:t>    server_name _;                                                     </a:t>
            </a:r>
            <a:endParaRPr lang="zh-CN" altLang="en-US" sz="1200"/>
          </a:p>
          <a:p>
            <a:r>
              <a:rPr lang="zh-CN" altLang="en-US" sz="1200"/>
              <a:t>    charset utf-8;                                                     </a:t>
            </a:r>
            <a:endParaRPr lang="zh-CN" altLang="en-US" sz="1200"/>
          </a:p>
          <a:p>
            <a:r>
              <a:rPr lang="zh-CN" altLang="en-US" sz="1200"/>
              <a:t>    client_max_body_size 100M;                                         </a:t>
            </a:r>
            <a:endParaRPr lang="zh-CN" altLang="en-US" sz="1200"/>
          </a:p>
          <a:p>
            <a:r>
              <a:rPr lang="zh-CN" altLang="en-US" sz="1200"/>
              <a:t>    return 301 https://$host$request_uri;                              </a:t>
            </a:r>
            <a:endParaRPr lang="zh-CN" altLang="en-US" sz="1200"/>
          </a:p>
          <a:p>
            <a:r>
              <a:rPr lang="zh-CN" altLang="en-US" sz="1200"/>
              <a:t>}                                                                      </a:t>
            </a:r>
            <a:endParaRPr lang="zh-CN" altLang="en-US" sz="1200"/>
          </a:p>
          <a:p>
            <a:r>
              <a:rPr lang="zh-CN" altLang="en-US" sz="1200"/>
              <a:t>                                                                       </a:t>
            </a:r>
            <a:endParaRPr lang="zh-CN" altLang="en-US" sz="1200"/>
          </a:p>
          <a:p>
            <a:r>
              <a:rPr lang="zh-CN" altLang="en-US" sz="1200"/>
              <a:t>server {                                                               </a:t>
            </a:r>
            <a:endParaRPr lang="zh-CN" altLang="en-US" sz="1200"/>
          </a:p>
          <a:p>
            <a:r>
              <a:rPr lang="zh-CN" altLang="en-US" sz="1200"/>
              <a:t>    listen 443 ssl default_server;                                     </a:t>
            </a:r>
            <a:endParaRPr lang="zh-CN" altLang="en-US" sz="1200"/>
          </a:p>
          <a:p>
            <a:r>
              <a:rPr lang="zh-CN" altLang="en-US" sz="1200"/>
              <a:t>                                                                       </a:t>
            </a:r>
            <a:endParaRPr lang="zh-CN" altLang="en-US" sz="1200"/>
          </a:p>
          <a:p>
            <a:r>
              <a:rPr lang="zh-CN" altLang="en-US" sz="1200"/>
              <a:t>    ssl_certificate /etc/letsencrypt/live/fishpano.com/fullchain.pem;  </a:t>
            </a:r>
            <a:endParaRPr lang="zh-CN" altLang="en-US" sz="1200"/>
          </a:p>
          <a:p>
            <a:r>
              <a:rPr lang="zh-CN" altLang="en-US" sz="1200"/>
              <a:t>    ssl_certificate_key /etc/letsencrypt/live/fishpano.com/privkey.pem;</a:t>
            </a:r>
            <a:endParaRPr lang="zh-CN" altLang="en-US" sz="1200"/>
          </a:p>
          <a:p>
            <a:r>
              <a:rPr lang="en-US" altLang="zh-CN" sz="1200"/>
              <a:t>    ...</a:t>
            </a:r>
            <a:endParaRPr lang="en-US" altLang="zh-CN" sz="1200"/>
          </a:p>
          <a:p>
            <a:r>
              <a:rPr lang="en-US" altLang="zh-CN" sz="1200"/>
              <a:t>}</a:t>
            </a:r>
            <a:endParaRPr lang="en-US" altLang="zh-CN" sz="1200"/>
          </a:p>
        </p:txBody>
      </p:sp>
      <p:sp>
        <p:nvSpPr>
          <p:cNvPr id="5" name="文本框 4"/>
          <p:cNvSpPr txBox="1"/>
          <p:nvPr/>
        </p:nvSpPr>
        <p:spPr>
          <a:xfrm>
            <a:off x="7631430" y="1703070"/>
            <a:ext cx="3859530" cy="119888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p>
            <a:r>
              <a:rPr lang="en-US" altLang="zh-CN" sz="1200"/>
              <a:t>    nginx-fishpano:</a:t>
            </a:r>
            <a:endParaRPr lang="en-US" altLang="zh-CN" sz="1200"/>
          </a:p>
          <a:p>
            <a:r>
              <a:rPr lang="en-US" altLang="zh-CN" sz="1200"/>
              <a:t>        ports:</a:t>
            </a:r>
            <a:endParaRPr lang="en-US" altLang="zh-CN" sz="1200"/>
          </a:p>
          <a:p>
            <a:r>
              <a:rPr lang="en-US" altLang="zh-CN" sz="1200"/>
              <a:t>          - "443:443"</a:t>
            </a:r>
            <a:endParaRPr lang="en-US" altLang="zh-CN" sz="1200"/>
          </a:p>
          <a:p>
            <a:r>
              <a:rPr lang="en-US" altLang="zh-CN" sz="1200"/>
              <a:t>          - "80:80"</a:t>
            </a:r>
            <a:endParaRPr lang="en-US" altLang="zh-CN" sz="1200"/>
          </a:p>
          <a:p>
            <a:r>
              <a:rPr lang="en-US" altLang="zh-CN" sz="1200"/>
              <a:t>        volumes:</a:t>
            </a:r>
            <a:endParaRPr lang="en-US" altLang="zh-CN" sz="1200"/>
          </a:p>
          <a:p>
            <a:r>
              <a:rPr lang="en-US" altLang="zh-CN" sz="1200"/>
              <a:t>          - /etc/letsencrypt:/etc/letsencrypt</a:t>
            </a:r>
            <a:endParaRPr lang="en-US" altLang="zh-CN" sz="1200"/>
          </a:p>
        </p:txBody>
      </p:sp>
    </p:spTree>
    <p:custDataLst>
      <p:tags r:id="rId1"/>
    </p:custData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HTTPS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180330" cy="5095875"/>
          </a:xfrm>
        </p:spPr>
        <p:txBody>
          <a:bodyPr>
            <a:normAutofit fontScale="90000" lnSpcReduction="20000"/>
          </a:bodyPr>
          <a:p>
            <a:r>
              <a:rPr lang="en-US" altLang="zh-CN" sz="1600"/>
              <a:t>References</a:t>
            </a:r>
            <a:endParaRPr lang="en-US" altLang="zh-CN" sz="1600"/>
          </a:p>
          <a:p>
            <a:pPr lvl="1"/>
            <a:r>
              <a:rPr lang="en-US" altLang="zh-CN" sz="1400"/>
              <a:t>https://www.cnblogs.com/tomingto/p/11327696.html</a:t>
            </a:r>
            <a:endParaRPr lang="en-US" altLang="zh-CN" sz="1400"/>
          </a:p>
          <a:p>
            <a:pPr lvl="1"/>
            <a:r>
              <a:rPr lang="en-US" altLang="zh-CN" sz="1400"/>
              <a:t>https://help.aliyun.com/document_detail/98576.htm?spm=a2c4g.11186623.2.19.181060e0zo8yDx#concept-omf-lxn-yfb</a:t>
            </a:r>
            <a:endParaRPr lang="en-US" altLang="zh-CN" sz="1400"/>
          </a:p>
          <a:p>
            <a:pPr lvl="1"/>
            <a:r>
              <a:rPr lang="en-US" altLang="zh-CN" sz="1400"/>
              <a:t>https://www.linuxscrew.com/set-up-nginx-https-reverse-proxy-ubuntu</a:t>
            </a:r>
            <a:endParaRPr lang="en-US" altLang="zh-CN" sz="1400"/>
          </a:p>
          <a:p>
            <a:pPr lvl="1"/>
            <a:r>
              <a:rPr lang="en-US" altLang="zh-CN" sz="1400"/>
              <a:t>https://www.digicert.com/kb/util/csr-creation-ssl-installation-tomcat.htm</a:t>
            </a:r>
            <a:endParaRPr lang="en-US" altLang="zh-CN" sz="1400"/>
          </a:p>
          <a:p>
            <a:pPr lvl="0"/>
            <a:r>
              <a:rPr lang="en-US" altLang="zh-CN" sz="1600"/>
              <a:t>Concept</a:t>
            </a:r>
            <a:endParaRPr lang="en-US" altLang="zh-CN" sz="1600"/>
          </a:p>
          <a:p>
            <a:pPr lvl="1"/>
            <a:r>
              <a:rPr lang="en-US" altLang="zh-CN" sz="1400"/>
              <a:t>To enable HTTPS, a certificate from a CA (Certificate Authority) is needed.</a:t>
            </a:r>
            <a:endParaRPr lang="en-US" altLang="zh-CN" sz="1400"/>
          </a:p>
          <a:p>
            <a:pPr lvl="1"/>
            <a:r>
              <a:rPr lang="en-US" altLang="zh-CN" sz="1400"/>
              <a:t>ACME: Automatic Certificate Management Environment</a:t>
            </a:r>
            <a:endParaRPr lang="en-US" altLang="zh-CN" sz="1400"/>
          </a:p>
          <a:p>
            <a:pPr lvl="0"/>
            <a:r>
              <a:rPr lang="en-US" altLang="zh-CN" sz="1600"/>
              <a:t>Tomcat</a:t>
            </a:r>
            <a:endParaRPr lang="en-US" altLang="zh-CN" sz="1600"/>
          </a:p>
          <a:p>
            <a:pPr lvl="1"/>
            <a:r>
              <a:rPr lang="en-US" altLang="zh-CN" sz="1400"/>
              <a:t>pfx</a:t>
            </a:r>
            <a:endParaRPr lang="en-US" altLang="zh-CN" sz="1400"/>
          </a:p>
          <a:p>
            <a:pPr lvl="2"/>
            <a:r>
              <a:rPr lang="en-US" altLang="zh-CN" sz="1260"/>
              <a:t>import certificate</a:t>
            </a:r>
            <a:endParaRPr lang="en-US" altLang="zh-CN" sz="1260"/>
          </a:p>
          <a:p>
            <a:pPr lvl="2"/>
            <a:r>
              <a:rPr lang="en-US" altLang="zh-CN" sz="1260"/>
              <a:t>export certificate in a .pfx format</a:t>
            </a:r>
            <a:endParaRPr lang="en-US" altLang="zh-CN" sz="1260"/>
          </a:p>
          <a:p>
            <a:pPr lvl="2"/>
            <a:r>
              <a:rPr lang="en-US" altLang="zh-CN" sz="1260"/>
              <a:t>configure a SSLconnector</a:t>
            </a:r>
            <a:endParaRPr lang="en-US" altLang="zh-CN" sz="1260"/>
          </a:p>
          <a:p>
            <a:pPr lvl="1"/>
            <a:r>
              <a:rPr lang="en-US" altLang="zh-CN" sz="1400"/>
              <a:t>Generate keystore</a:t>
            </a:r>
            <a:endParaRPr lang="en-US" altLang="zh-CN" sz="1400"/>
          </a:p>
          <a:p>
            <a:pPr lvl="1"/>
            <a:r>
              <a:rPr lang="en-US" altLang="zh-CN" sz="1400"/>
              <a:t>在Tomcat安装目录下新建cert目录，将解压的证书和密码文件拷贝到cert目录下</a:t>
            </a:r>
            <a:endParaRPr lang="en-US" altLang="zh-CN" sz="1400"/>
          </a:p>
          <a:p>
            <a:pPr lvl="1"/>
            <a:r>
              <a:rPr lang="en-US" altLang="zh-CN" sz="1400"/>
              <a:t>Modify conf/server.xml</a:t>
            </a:r>
            <a:endParaRPr lang="en-US" altLang="zh-CN" sz="1400"/>
          </a:p>
          <a:p>
            <a:pPr lvl="0"/>
            <a:r>
              <a:rPr lang="en-US" altLang="zh-CN" sz="1680"/>
              <a:t>Check certificate</a:t>
            </a:r>
            <a:endParaRPr lang="en-US" altLang="zh-CN" sz="1680"/>
          </a:p>
          <a:p>
            <a:pPr lvl="1"/>
            <a:r>
              <a:rPr lang="en-US" altLang="zh-CN" sz="1300" b="1">
                <a:solidFill>
                  <a:srgbClr val="FF0000"/>
                </a:solidFill>
                <a:sym typeface="+mn-ea"/>
              </a:rPr>
              <a:t>openssl s_client -showcerts -connect &lt;hostname&gt;:&lt;port&gt; -prexit</a:t>
            </a:r>
            <a:endParaRPr lang="en-US" altLang="zh-CN" sz="1300" b="1">
              <a:solidFill>
                <a:srgbClr val="FF0000"/>
              </a:solidFill>
            </a:endParaRPr>
          </a:p>
          <a:p>
            <a:pPr lvl="1"/>
            <a:endParaRPr lang="en-US" altLang="zh-CN" sz="1300" b="1">
              <a:solidFill>
                <a:srgbClr val="FF0000"/>
              </a:solidFill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379210" y="1160780"/>
            <a:ext cx="5180330" cy="50958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黑体" panose="02010609060101010101" charset="-122"/>
              <a:buChar char="〉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600"/>
              <a:t>Linux + Nginx</a:t>
            </a:r>
            <a:endParaRPr lang="en-US" altLang="zh-CN" sz="1600"/>
          </a:p>
          <a:p>
            <a:pPr lvl="1"/>
            <a:r>
              <a:rPr lang="en-US" altLang="zh-CN" sz="1400"/>
              <a:t>sudo apt-get install software-properties-common</a:t>
            </a:r>
            <a:endParaRPr lang="en-US" altLang="zh-CN" sz="1400"/>
          </a:p>
          <a:p>
            <a:pPr lvl="1"/>
            <a:r>
              <a:rPr lang="en-US" altLang="zh-CN" sz="1400"/>
              <a:t>sudo add-apt-repository ppa:certbot/certbot</a:t>
            </a:r>
            <a:endParaRPr lang="en-US" altLang="zh-CN" sz="1400"/>
          </a:p>
          <a:p>
            <a:pPr lvl="1"/>
            <a:r>
              <a:rPr lang="en-US" altLang="zh-CN" sz="1400"/>
              <a:t>sudo apt-get update</a:t>
            </a:r>
            <a:endParaRPr lang="en-US" altLang="zh-CN" sz="1400"/>
          </a:p>
          <a:p>
            <a:pPr lvl="1"/>
            <a:r>
              <a:rPr lang="en-US" altLang="zh-CN" sz="1400"/>
              <a:t>sudo apt-get install python-certbot-nginx</a:t>
            </a:r>
            <a:endParaRPr lang="en-US" altLang="zh-CN" sz="1400"/>
          </a:p>
          <a:p>
            <a:pPr lvl="1"/>
            <a:r>
              <a:rPr lang="en-US" altLang="zh-CN" sz="1400"/>
              <a:t>sudo certbot --nginx</a:t>
            </a:r>
            <a:endParaRPr lang="en-US" altLang="zh-CN" sz="1400"/>
          </a:p>
          <a:p>
            <a:pPr lvl="1"/>
            <a:endParaRPr lang="en-US" altLang="zh-CN" sz="14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3530" y="2952750"/>
            <a:ext cx="4906010" cy="346202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Let’s Encrypt on Windows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7753985" cy="5105400"/>
          </a:xfrm>
        </p:spPr>
        <p:txBody>
          <a:bodyPr>
            <a:normAutofit fontScale="70000"/>
          </a:bodyPr>
          <a:p>
            <a:pPr lvl="0"/>
            <a:r>
              <a:rPr lang="en-US" altLang="zh-CN" sz="2400">
                <a:sym typeface="+mn-ea"/>
              </a:rPr>
              <a:t>References</a:t>
            </a:r>
            <a:endParaRPr lang="en-US" altLang="zh-CN" sz="2400"/>
          </a:p>
          <a:p>
            <a:pPr lvl="1"/>
            <a:r>
              <a:rPr lang="en-US" altLang="zh-CN" sz="2400">
                <a:sym typeface="+mn-ea"/>
              </a:rPr>
              <a:t>https://certbot.eff.org/</a:t>
            </a:r>
            <a:endParaRPr lang="en-US" altLang="zh-CN" sz="2400"/>
          </a:p>
          <a:p>
            <a:r>
              <a:rPr lang="en-US" altLang="zh-CN"/>
              <a:t>Steps</a:t>
            </a:r>
            <a:endParaRPr lang="en-US" altLang="zh-CN"/>
          </a:p>
          <a:p>
            <a:pPr lvl="1"/>
            <a:r>
              <a:rPr lang="en-US" altLang="zh-CN"/>
              <a:t>Download certbot installer from </a:t>
            </a:r>
            <a:r>
              <a:rPr lang="en-US" altLang="zh-CN">
                <a:sym typeface="+mn-ea"/>
              </a:rPr>
              <a:t>https://certbot.eff.org/instructions?ws=apache&amp;os=windows</a:t>
            </a:r>
            <a:endParaRPr lang="en-US" altLang="zh-CN">
              <a:sym typeface="+mn-ea"/>
            </a:endParaRPr>
          </a:p>
          <a:p>
            <a:pPr lvl="1"/>
            <a:r>
              <a:rPr lang="en-US" altLang="zh-CN">
                <a:solidFill>
                  <a:srgbClr val="FF0000"/>
                </a:solidFill>
              </a:rPr>
              <a:t>certbot certonly --standalone</a:t>
            </a:r>
            <a:endParaRPr lang="en-US" altLang="zh-CN"/>
          </a:p>
          <a:p>
            <a:pPr lvl="1"/>
            <a:r>
              <a:rPr lang="en-US" altLang="zh-CN"/>
              <a:t>After success</a:t>
            </a:r>
            <a:endParaRPr lang="en-US" altLang="zh-CN"/>
          </a:p>
          <a:p>
            <a:pPr lvl="2"/>
            <a:r>
              <a:rPr lang="en-US" altLang="zh-CN"/>
              <a:t>Successfully received certificate.</a:t>
            </a:r>
            <a:endParaRPr lang="en-US" altLang="zh-CN"/>
          </a:p>
          <a:p>
            <a:pPr lvl="2"/>
            <a:r>
              <a:rPr lang="en-US" altLang="zh-CN"/>
              <a:t>Certificate is saved at: C:\Certbot\live\weifantasy.com\fullchain.pem</a:t>
            </a:r>
            <a:endParaRPr lang="en-US" altLang="zh-CN"/>
          </a:p>
          <a:p>
            <a:pPr lvl="2"/>
            <a:r>
              <a:rPr lang="en-US" altLang="zh-CN"/>
              <a:t>Key is saved at:         C:\Certbot\live\weifantasy.com\privkey.pem</a:t>
            </a:r>
            <a:endParaRPr lang="en-US" altLang="zh-CN"/>
          </a:p>
          <a:p>
            <a:pPr lvl="2"/>
            <a:r>
              <a:rPr lang="en-US" altLang="zh-CN"/>
              <a:t>This certificate expires on 2022-03-20.</a:t>
            </a:r>
            <a:endParaRPr lang="en-US" altLang="zh-CN"/>
          </a:p>
          <a:p>
            <a:pPr lvl="2"/>
            <a:r>
              <a:rPr lang="en-US" altLang="zh-CN"/>
              <a:t>These files will be updated when the certificate renews.</a:t>
            </a:r>
            <a:endParaRPr lang="en-US" altLang="zh-CN"/>
          </a:p>
          <a:p>
            <a:pPr lvl="2"/>
            <a:r>
              <a:rPr lang="en-US" altLang="zh-CN"/>
              <a:t>Certbot has set up a scheduled task to automatically renew this certificate in the background.</a:t>
            </a:r>
            <a:endParaRPr lang="en-US" altLang="zh-CN"/>
          </a:p>
          <a:p>
            <a:pPr lvl="1"/>
            <a:r>
              <a:rPr lang="en-US" altLang="zh-CN"/>
              <a:t>cd C:\Certbot\live\weifantasy.com</a:t>
            </a:r>
            <a:endParaRPr lang="en-US" altLang="zh-CN"/>
          </a:p>
          <a:p>
            <a:pPr lvl="1"/>
            <a:r>
              <a:rPr lang="en-US" altLang="zh-CN"/>
              <a:t>cp cert.pem/chain.pem/privkey.pem $tomcat\conf</a:t>
            </a:r>
            <a:endParaRPr lang="en-US" altLang="zh-CN"/>
          </a:p>
          <a:p>
            <a:pPr lvl="1"/>
            <a:r>
              <a:rPr lang="en-US" altLang="zh-CN"/>
              <a:t>Modify conf/server.xlm</a:t>
            </a:r>
            <a:endParaRPr lang="en-US" altLang="zh-CN"/>
          </a:p>
          <a:p>
            <a:pPr lvl="1"/>
            <a:r>
              <a:rPr lang="en-US" altLang="zh-CN"/>
              <a:t>restart server</a:t>
            </a:r>
            <a:endParaRPr lang="en-US" altLang="zh-CN"/>
          </a:p>
          <a:p>
            <a:pPr lvl="1"/>
            <a:r>
              <a:rPr lang="en-US" altLang="zh-CN"/>
              <a:t>Control Panel -&gt; Internet Options -&gt; Content -&gt; Clear SSL States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8924925" y="389890"/>
            <a:ext cx="2540000" cy="341503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 anchor="t">
            <a:spAutoFit/>
          </a:bodyPr>
          <a:p>
            <a:r>
              <a:rPr lang="en-US" altLang="zh-CN" sz="1200" b="1"/>
              <a:t>conf/server.xml</a:t>
            </a:r>
            <a:endParaRPr lang="en-US" altLang="zh-CN" sz="1200" b="1"/>
          </a:p>
          <a:p>
            <a:endParaRPr lang="en-US" altLang="zh-CN" sz="1200"/>
          </a:p>
          <a:p>
            <a:r>
              <a:rPr lang="zh-CN" altLang="en-US" sz="1200"/>
              <a:t>    &lt;Connector port="8443" protocol="org.apache.coyote.http11.Http11NioProtocol"</a:t>
            </a:r>
            <a:endParaRPr lang="zh-CN" altLang="en-US" sz="1200"/>
          </a:p>
          <a:p>
            <a:r>
              <a:rPr lang="zh-CN" altLang="en-US" sz="1200"/>
              <a:t>               maxThreads="150" SSLEnabled="true"&gt;</a:t>
            </a:r>
            <a:endParaRPr lang="zh-CN" altLang="en-US" sz="1200"/>
          </a:p>
          <a:p>
            <a:r>
              <a:rPr lang="zh-CN" altLang="en-US" sz="1200"/>
              <a:t>        &lt;SSLHostConfig&gt;</a:t>
            </a:r>
            <a:endParaRPr lang="zh-CN" altLang="en-US" sz="1200"/>
          </a:p>
          <a:p>
            <a:r>
              <a:rPr lang="zh-CN" altLang="en-US" sz="1200"/>
              <a:t>            &lt;Certificate certificateFile="conf/cert.pem"</a:t>
            </a:r>
            <a:endParaRPr lang="zh-CN" altLang="en-US" sz="1200"/>
          </a:p>
          <a:p>
            <a:r>
              <a:rPr lang="zh-CN" altLang="en-US" sz="1200"/>
              <a:t>                 certificateKeyFile="conf/privkey.pem"</a:t>
            </a:r>
            <a:endParaRPr lang="zh-CN" altLang="en-US" sz="1200"/>
          </a:p>
          <a:p>
            <a:r>
              <a:rPr lang="zh-CN" altLang="en-US" sz="1200"/>
              <a:t>                 certificateChainFile="conf/chain.pem" /&gt;</a:t>
            </a:r>
            <a:endParaRPr lang="zh-CN" altLang="en-US" sz="1200"/>
          </a:p>
          <a:p>
            <a:r>
              <a:rPr lang="zh-CN" altLang="en-US" sz="1200"/>
              <a:t>        &lt;/SSLHostConfig&gt;</a:t>
            </a:r>
            <a:endParaRPr lang="zh-CN" altLang="en-US" sz="1200"/>
          </a:p>
          <a:p>
            <a:r>
              <a:rPr lang="zh-CN" altLang="en-US" sz="1200"/>
              <a:t>    &lt;/Connector&gt;</a:t>
            </a:r>
            <a:endParaRPr lang="zh-CN" altLang="en-US" sz="12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4925" y="3752215"/>
            <a:ext cx="2330450" cy="30226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Windows Server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Windows Server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266055" cy="5017770"/>
          </a:xfrm>
        </p:spPr>
        <p:txBody>
          <a:bodyPr>
            <a:noAutofit/>
          </a:bodyPr>
          <a:p>
            <a:r>
              <a:rPr lang="zh-CN" altLang="en-US" sz="1600"/>
              <a:t>远程桌面连接</a:t>
            </a:r>
            <a:endParaRPr lang="zh-CN" altLang="en-US" sz="1600"/>
          </a:p>
          <a:p>
            <a:pPr lvl="1"/>
            <a:r>
              <a:rPr lang="zh-CN" altLang="en-US" sz="1400"/>
              <a:t>https://zhuanlan.zhihu.com/p/33490405</a:t>
            </a:r>
            <a:endParaRPr lang="zh-CN" altLang="en-US" sz="1400"/>
          </a:p>
          <a:p>
            <a:pPr lvl="1"/>
            <a:r>
              <a:rPr lang="zh-CN" altLang="en-US" sz="1400"/>
              <a:t>阿里云网页连接登录服务器</a:t>
            </a:r>
            <a:endParaRPr lang="zh-CN" altLang="en-US" sz="1400"/>
          </a:p>
          <a:p>
            <a:pPr lvl="1"/>
            <a:r>
              <a:rPr lang="zh-CN" altLang="en-US" sz="1400"/>
              <a:t>服务器管理</a:t>
            </a:r>
            <a:r>
              <a:rPr lang="en-US" altLang="zh-CN" sz="1400"/>
              <a:t>-</a:t>
            </a:r>
            <a:r>
              <a:rPr lang="zh-CN" altLang="en-US" sz="1400"/>
              <a:t>》本地服务器</a:t>
            </a:r>
            <a:r>
              <a:rPr lang="en-US" altLang="zh-CN" sz="1400"/>
              <a:t>-</a:t>
            </a:r>
            <a:r>
              <a:rPr lang="zh-CN" altLang="en-US" sz="1400"/>
              <a:t>》启用远程管理和远程桌面</a:t>
            </a:r>
            <a:endParaRPr lang="zh-CN" altLang="en-US" sz="1400"/>
          </a:p>
          <a:p>
            <a:pPr lvl="0"/>
            <a:r>
              <a:rPr lang="en-US" altLang="zh-CN" sz="1600"/>
              <a:t>Check port status</a:t>
            </a:r>
            <a:endParaRPr lang="en-US" altLang="zh-CN" sz="1600"/>
          </a:p>
          <a:p>
            <a:pPr lvl="1"/>
            <a:r>
              <a:rPr lang="en-US" altLang="zh-CN" sz="1400"/>
              <a:t>CurrPorts</a:t>
            </a:r>
            <a:endParaRPr lang="en-US" altLang="zh-CN" sz="1400"/>
          </a:p>
          <a:p>
            <a:pPr lvl="2"/>
            <a:r>
              <a:rPr lang="en-US" altLang="zh-CN" sz="1200"/>
              <a:t>http://www.nirsoft.net/utils/cports.html</a:t>
            </a:r>
            <a:endParaRPr lang="en-US" altLang="zh-CN" sz="1200"/>
          </a:p>
          <a:p>
            <a:pPr lvl="0"/>
            <a:r>
              <a:rPr lang="en-US" altLang="zh-CN" sz="1600">
                <a:sym typeface="+mn-ea"/>
              </a:rPr>
              <a:t>Install Exchange Server</a:t>
            </a:r>
            <a:endParaRPr lang="en-US" altLang="zh-CN" sz="1600"/>
          </a:p>
          <a:p>
            <a:pPr lvl="1"/>
            <a:r>
              <a:rPr lang="zh-CN" altLang="en-US" sz="1400">
                <a:sym typeface="+mn-ea"/>
              </a:rPr>
              <a:t>部署</a:t>
            </a:r>
            <a:r>
              <a:rPr lang="en-US" altLang="zh-CN" sz="1400">
                <a:sym typeface="+mn-ea"/>
              </a:rPr>
              <a:t>AD</a:t>
            </a:r>
            <a:endParaRPr lang="en-US" altLang="zh-CN" sz="1400"/>
          </a:p>
          <a:p>
            <a:pPr lvl="2"/>
            <a:r>
              <a:rPr lang="en-US" altLang="zh-CN" sz="1200">
                <a:sym typeface="+mn-ea"/>
              </a:rPr>
              <a:t>https://blog.51cto.com/lumay0526/2046844</a:t>
            </a:r>
            <a:endParaRPr lang="en-US" altLang="zh-CN" sz="1200"/>
          </a:p>
          <a:p>
            <a:pPr lvl="1"/>
            <a:r>
              <a:rPr lang="zh-CN" altLang="en-US" sz="1400">
                <a:sym typeface="+mn-ea"/>
              </a:rPr>
              <a:t>安装</a:t>
            </a:r>
            <a:r>
              <a:rPr lang="en-US" altLang="zh-CN" sz="1400">
                <a:sym typeface="+mn-ea"/>
              </a:rPr>
              <a:t>Exchange Server</a:t>
            </a:r>
            <a:endParaRPr lang="en-US" altLang="zh-CN" sz="1400"/>
          </a:p>
          <a:p>
            <a:pPr lvl="2"/>
            <a:r>
              <a:rPr lang="en-US" altLang="zh-CN" sz="1200">
                <a:sym typeface="+mn-ea"/>
              </a:rPr>
              <a:t>https://blog.csdn.net/weixin_39585471/article/details/81081274</a:t>
            </a:r>
            <a:endParaRPr lang="en-US" altLang="zh-CN" sz="1200"/>
          </a:p>
          <a:p>
            <a:pPr lvl="1"/>
            <a:r>
              <a:rPr lang="en-US" altLang="zh-CN" sz="1400">
                <a:sym typeface="+mn-ea"/>
              </a:rPr>
              <a:t>Post-installation</a:t>
            </a:r>
            <a:endParaRPr lang="en-US" altLang="zh-CN" sz="1400"/>
          </a:p>
          <a:p>
            <a:pPr lvl="2"/>
            <a:r>
              <a:rPr lang="en-US" altLang="zh-CN" sz="1200">
                <a:sym typeface="+mn-ea"/>
              </a:rPr>
              <a:t>https://docs.microsoft.com/en-us/exchange/plan-and-deploy/post-installation-tasks/post-installation-tasks?view=exchserver-2019</a:t>
            </a:r>
            <a:endParaRPr lang="en-US" altLang="zh-CN" sz="1200"/>
          </a:p>
          <a:p>
            <a:pPr lvl="2"/>
            <a:r>
              <a:rPr lang="en-US" altLang="zh-CN" sz="1200">
                <a:sym typeface="+mn-ea"/>
              </a:rPr>
              <a:t>Exchange Management Shell</a:t>
            </a:r>
            <a:endParaRPr lang="en-US" altLang="zh-CN" sz="1200"/>
          </a:p>
          <a:p>
            <a:pPr lvl="2"/>
            <a:r>
              <a:rPr lang="en-US" altLang="zh-CN" sz="1200">
                <a:sym typeface="+mn-ea"/>
              </a:rPr>
              <a:t>Exchange admin center</a:t>
            </a:r>
            <a:endParaRPr lang="en-US" altLang="zh-CN" sz="1200"/>
          </a:p>
          <a:p>
            <a:pPr lvl="3"/>
            <a:r>
              <a:rPr lang="en-US" altLang="zh-CN" sz="1000">
                <a:sym typeface="+mn-ea"/>
              </a:rPr>
              <a:t>https://&lt;ServerFQDN&gt;/ecp</a:t>
            </a:r>
            <a:endParaRPr lang="en-US" altLang="zh-CN" sz="1000">
              <a:sym typeface="+mn-ea"/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319520" y="1245870"/>
            <a:ext cx="5266055" cy="47961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黑体" panose="02010609060101010101" charset="-122"/>
              <a:buChar char="〉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800">
                <a:sym typeface="+mn-ea"/>
              </a:rPr>
              <a:t>SSH</a:t>
            </a:r>
            <a:endParaRPr lang="en-US" altLang="zh-CN" sz="1800"/>
          </a:p>
          <a:p>
            <a:pPr lvl="1"/>
            <a:r>
              <a:rPr lang="en-US" altLang="zh-CN" sz="1600">
                <a:sym typeface="+mn-ea"/>
              </a:rPr>
              <a:t>References</a:t>
            </a:r>
            <a:endParaRPr lang="en-US" altLang="zh-CN" sz="1600"/>
          </a:p>
          <a:p>
            <a:pPr lvl="2"/>
            <a:r>
              <a:rPr lang="en-US" altLang="zh-CN" sz="1400">
                <a:sym typeface="+mn-ea"/>
              </a:rPr>
              <a:t>https://www.hostwinds.com/tutorials/how-to-install-and-configure-openssh-windows-server-2016</a:t>
            </a:r>
            <a:endParaRPr lang="en-US" altLang="zh-CN" sz="1400"/>
          </a:p>
          <a:p>
            <a:pPr lvl="1"/>
            <a:r>
              <a:rPr lang="en-US" altLang="zh-CN" sz="1600">
                <a:sym typeface="+mn-ea"/>
              </a:rPr>
              <a:t>Download and install OpenSSH server</a:t>
            </a:r>
            <a:endParaRPr lang="en-US" altLang="zh-CN" sz="1600"/>
          </a:p>
          <a:p>
            <a:pPr lvl="2"/>
            <a:r>
              <a:rPr lang="en-US" altLang="zh-CN" sz="1400">
                <a:sym typeface="+mn-ea"/>
              </a:rPr>
              <a:t>download from https://github.com/PowerShell/Win32-OpenSSH/releases</a:t>
            </a:r>
            <a:endParaRPr lang="en-US" altLang="zh-CN" sz="1400"/>
          </a:p>
          <a:p>
            <a:pPr lvl="2"/>
            <a:r>
              <a:rPr lang="en-US" altLang="zh-CN" sz="1400">
                <a:sym typeface="+mn-ea"/>
              </a:rPr>
              <a:t>extract to “C:\Program Files\OpenSSH-Win64”</a:t>
            </a:r>
            <a:endParaRPr lang="en-US" altLang="zh-CN" sz="1400"/>
          </a:p>
          <a:p>
            <a:pPr lvl="2"/>
            <a:r>
              <a:rPr lang="en-US" altLang="zh-CN" sz="1400">
                <a:sym typeface="+mn-ea"/>
              </a:rPr>
              <a:t>setx PATH "$env:path;C:\Program Files\OpenSSH-Win64" -m</a:t>
            </a:r>
            <a:endParaRPr lang="en-US" altLang="zh-CN" sz="1400"/>
          </a:p>
          <a:p>
            <a:pPr lvl="2"/>
            <a:r>
              <a:rPr lang="en-US" altLang="zh-CN" sz="1400">
                <a:sym typeface="+mn-ea"/>
              </a:rPr>
              <a:t>cd </a:t>
            </a:r>
            <a:r>
              <a:rPr lang="en-US" altLang="zh-CN" sz="1400">
                <a:sym typeface="+mn-ea"/>
              </a:rPr>
              <a:t>“C:\Program Files\OpenSSH-Win64”</a:t>
            </a:r>
            <a:endParaRPr lang="en-US" altLang="zh-CN" sz="1400"/>
          </a:p>
          <a:p>
            <a:pPr lvl="2"/>
            <a:r>
              <a:rPr lang="en-US" altLang="zh-CN" sz="1400">
                <a:sym typeface="+mn-ea"/>
              </a:rPr>
              <a:t>.\install-sshd.ps1</a:t>
            </a:r>
            <a:endParaRPr lang="en-US" altLang="zh-CN" sz="1400"/>
          </a:p>
          <a:p>
            <a:pPr lvl="2"/>
            <a:r>
              <a:rPr lang="en-US" altLang="zh-CN" sz="1400">
                <a:sym typeface="+mn-ea"/>
              </a:rPr>
              <a:t>Set-Service sshd -StartupType Automatic; Set-Service ssh-agent -StartupType Automatic; Start-Service sshd; Start-Service ssh-agent</a:t>
            </a:r>
            <a:endParaRPr lang="en-US" altLang="zh-CN" sz="1400"/>
          </a:p>
          <a:p>
            <a:pPr lvl="1"/>
            <a:r>
              <a:rPr lang="en-US" altLang="zh-CN" sz="1600">
                <a:sym typeface="+mn-ea"/>
              </a:rPr>
              <a:t>Control Panel-&gt;Windows Firewall-&gt;Advanced Settings-&gt;Inbound Rules-&gt;New Rules</a:t>
            </a:r>
            <a:endParaRPr lang="en-US" altLang="zh-CN" sz="1600"/>
          </a:p>
          <a:p>
            <a:pPr lvl="2"/>
            <a:r>
              <a:rPr lang="en-US" altLang="zh-CN" sz="1400">
                <a:sym typeface="+mn-ea"/>
              </a:rPr>
              <a:t>port 22</a:t>
            </a:r>
            <a:endParaRPr lang="en-US" altLang="zh-CN" sz="1400"/>
          </a:p>
          <a:p>
            <a:pPr lvl="0"/>
            <a:endParaRPr lang="en-US" altLang="zh-CN" sz="140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Wrap Executable as Windows Service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803900" cy="4549140"/>
          </a:xfrm>
        </p:spPr>
        <p:txBody>
          <a:bodyPr/>
          <a:p>
            <a:r>
              <a:rPr lang="en-US" altLang="zh-CN"/>
              <a:t>WinSW</a:t>
            </a:r>
            <a:endParaRPr lang="en-US" altLang="zh-CN"/>
          </a:p>
          <a:p>
            <a:pPr lvl="1"/>
            <a:r>
              <a:rPr lang="en-US" altLang="zh-CN"/>
              <a:t>https://github.com/winsw/winsw</a:t>
            </a:r>
            <a:endParaRPr lang="en-US" altLang="zh-CN"/>
          </a:p>
          <a:p>
            <a:pPr lvl="1"/>
            <a:r>
              <a:rPr lang="en-US" altLang="zh-CN"/>
              <a:t>use WinSW as a global tool</a:t>
            </a:r>
            <a:endParaRPr lang="en-US" altLang="zh-CN"/>
          </a:p>
          <a:p>
            <a:pPr lvl="1"/>
            <a:r>
              <a:rPr lang="en-US" altLang="zh-CN"/>
              <a:t>use WinSW as a bundled tool</a:t>
            </a:r>
            <a:endParaRPr lang="en-US" altLang="zh-CN"/>
          </a:p>
          <a:p>
            <a:pPr lvl="2"/>
            <a:r>
              <a:rPr lang="en-US" altLang="zh-CN"/>
              <a:t>rename WinSW-x64.exe to myapp.exe</a:t>
            </a:r>
            <a:endParaRPr lang="en-US" altLang="zh-CN"/>
          </a:p>
          <a:p>
            <a:pPr lvl="2"/>
            <a:r>
              <a:rPr lang="en-US" altLang="zh-CN"/>
              <a:t>create myapp.xml</a:t>
            </a:r>
            <a:endParaRPr lang="en-US" altLang="zh-CN"/>
          </a:p>
          <a:p>
            <a:pPr lvl="2"/>
            <a:r>
              <a:rPr lang="en-US" altLang="zh-CN"/>
              <a:t>run “myapp.exe install [options]” to install the service.</a:t>
            </a:r>
            <a:endParaRPr lang="en-US" altLang="zh-CN"/>
          </a:p>
          <a:p>
            <a:pPr lvl="2"/>
            <a:r>
              <a:rPr lang="en-US" altLang="zh-CN"/>
              <a:t>run “myapp.exe start” to start the service.</a:t>
            </a:r>
            <a:endParaRPr lang="en-US" altLang="zh-CN"/>
          </a:p>
          <a:p>
            <a:pPr lvl="2"/>
            <a:r>
              <a:rPr lang="en-US" altLang="zh-CN"/>
              <a:t>myapp.exe stop/uninstall/status</a:t>
            </a:r>
            <a:endParaRPr lang="en-US" altLang="zh-CN"/>
          </a:p>
          <a:p>
            <a:pPr lvl="3"/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7196455" y="1569720"/>
            <a:ext cx="4080510" cy="289179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p>
            <a:r>
              <a:rPr lang="zh-CN" altLang="en-US" sz="1400"/>
              <a:t>&lt;service&gt;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  &lt;!-- ID of the service. It should be unique across the Windows system--&gt;</a:t>
            </a:r>
            <a:endParaRPr lang="zh-CN" altLang="en-US" sz="1400"/>
          </a:p>
          <a:p>
            <a:r>
              <a:rPr lang="zh-CN" altLang="en-US" sz="1400"/>
              <a:t>  &lt;id&gt;Solar3D&lt;/id&gt;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  &lt;!-- Path to the executable, which should be started --&gt;</a:t>
            </a:r>
            <a:endParaRPr lang="zh-CN" altLang="en-US" sz="1400"/>
          </a:p>
          <a:p>
            <a:r>
              <a:rPr lang="zh-CN" altLang="en-US" sz="1400"/>
              <a:t>  &lt;!-- CAUTION: Don't put arguments here. Use &lt;arguments&gt; instead. --&gt;</a:t>
            </a:r>
            <a:endParaRPr lang="zh-CN" altLang="en-US" sz="1400"/>
          </a:p>
          <a:p>
            <a:r>
              <a:rPr lang="zh-CN" altLang="en-US" sz="1400"/>
              <a:t>  &lt;executable&gt;nginx.exe&lt;/executable&gt;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&lt;/service&gt;</a:t>
            </a:r>
            <a:endParaRPr lang="zh-CN" altLang="en-US" sz="1400"/>
          </a:p>
        </p:txBody>
      </p:sp>
    </p:spTree>
    <p:custDataLst>
      <p:tags r:id="rId1"/>
    </p:custData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Zabbix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Intro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506085" cy="5029835"/>
          </a:xfrm>
        </p:spPr>
        <p:txBody>
          <a:bodyPr>
            <a:normAutofit lnSpcReduction="10000"/>
          </a:bodyPr>
          <a:p>
            <a:r>
              <a:rPr lang="en-US" altLang="zh-CN" sz="1600"/>
              <a:t>References</a:t>
            </a:r>
            <a:endParaRPr lang="en-US" altLang="zh-CN" sz="1600"/>
          </a:p>
          <a:p>
            <a:pPr lvl="1"/>
            <a:r>
              <a:rPr lang="en-US" altLang="zh-CN" sz="1400"/>
              <a:t>https://www.zabbix.com</a:t>
            </a:r>
            <a:endParaRPr lang="en-US" altLang="zh-CN" sz="1400"/>
          </a:p>
          <a:p>
            <a:pPr lvl="0"/>
            <a:r>
              <a:rPr lang="en-US" altLang="zh-CN" sz="1600"/>
              <a:t>Intro</a:t>
            </a:r>
            <a:endParaRPr lang="en-US" altLang="zh-CN" sz="1600"/>
          </a:p>
          <a:p>
            <a:pPr lvl="1"/>
            <a:r>
              <a:rPr lang="en-US" altLang="zh-CN" sz="1400"/>
              <a:t>Functions</a:t>
            </a:r>
            <a:endParaRPr lang="en-US" altLang="zh-CN" sz="1400"/>
          </a:p>
          <a:p>
            <a:pPr lvl="2"/>
            <a:r>
              <a:rPr lang="en-US" altLang="zh-CN" sz="1200"/>
              <a:t>主机的性能监控、网络设备性能监控、数据库性能监控、FTP 等通用协议监控、多种告警方式、详细的报表图表绘制</a:t>
            </a:r>
            <a:endParaRPr lang="en-US" altLang="zh-CN" sz="1200"/>
          </a:p>
          <a:p>
            <a:pPr lvl="1"/>
            <a:r>
              <a:rPr lang="en-US" altLang="zh-CN" sz="1400"/>
              <a:t>collect data through C/S mode</a:t>
            </a:r>
            <a:endParaRPr lang="en-US" altLang="zh-CN" sz="1400"/>
          </a:p>
          <a:p>
            <a:pPr lvl="1"/>
            <a:r>
              <a:rPr lang="en-US" altLang="zh-CN" sz="1400"/>
              <a:t>configure and display through B/S mode</a:t>
            </a:r>
            <a:endParaRPr lang="en-US" altLang="zh-CN" sz="1400"/>
          </a:p>
          <a:p>
            <a:pPr lvl="0"/>
            <a:r>
              <a:rPr lang="en-US" altLang="zh-CN" sz="1600"/>
              <a:t>Component</a:t>
            </a:r>
            <a:endParaRPr lang="en-US" altLang="zh-CN" sz="1600"/>
          </a:p>
          <a:p>
            <a:pPr lvl="1"/>
            <a:r>
              <a:rPr lang="en-US" altLang="zh-CN" sz="1400"/>
              <a:t>server</a:t>
            </a:r>
            <a:endParaRPr lang="en-US" altLang="zh-CN" sz="1400"/>
          </a:p>
          <a:p>
            <a:pPr lvl="1"/>
            <a:r>
              <a:rPr lang="en-US" altLang="zh-CN" sz="1400"/>
              <a:t>agent: deployed on the target machine to be monitored, responsible for reporting the gathered data from the target to the server</a:t>
            </a:r>
            <a:endParaRPr lang="en-US" altLang="zh-CN" sz="1400"/>
          </a:p>
          <a:p>
            <a:pPr lvl="0"/>
            <a:r>
              <a:rPr lang="en-US" altLang="zh-CN" sz="1600"/>
              <a:t>Support</a:t>
            </a:r>
            <a:endParaRPr lang="en-US" altLang="zh-CN" sz="1600"/>
          </a:p>
          <a:p>
            <a:pPr lvl="1"/>
            <a:r>
              <a:rPr lang="en-US" altLang="zh-CN" sz="1400"/>
              <a:t>MySQL/PostgreSQL support</a:t>
            </a:r>
            <a:endParaRPr lang="en-US" altLang="zh-CN" sz="1400"/>
          </a:p>
          <a:p>
            <a:pPr lvl="1"/>
            <a:r>
              <a:rPr lang="en-US" altLang="zh-CN" sz="1400"/>
              <a:t>Apache2/Nginx support</a:t>
            </a:r>
            <a:endParaRPr lang="en-US" altLang="zh-CN" sz="1400"/>
          </a:p>
          <a:p>
            <a:pPr lvl="0"/>
            <a:r>
              <a:rPr lang="en-US" altLang="zh-CN" sz="1600"/>
              <a:t>Install</a:t>
            </a:r>
            <a:endParaRPr lang="en-US" altLang="zh-CN" sz="1600"/>
          </a:p>
          <a:p>
            <a:pPr lvl="1"/>
            <a:r>
              <a:rPr lang="en-US" altLang="zh-CN" sz="1400"/>
              <a:t>apt-get install mysql-server mysql-client mlocate</a:t>
            </a:r>
            <a:endParaRPr lang="en-US" altLang="zh-CN" sz="1400"/>
          </a:p>
          <a:p>
            <a:pPr lvl="1"/>
            <a:r>
              <a:rPr lang="en-US" altLang="zh-CN" sz="1400"/>
              <a:t>sudo apt-get install zabbix-server-mysql zabbix-frontend-php zabbix-agent</a:t>
            </a:r>
            <a:endParaRPr lang="en-US" altLang="zh-CN" sz="1400"/>
          </a:p>
        </p:txBody>
      </p:sp>
      <p:pic>
        <p:nvPicPr>
          <p:cNvPr id="103" name="图片 102"/>
          <p:cNvPicPr/>
          <p:nvPr/>
        </p:nvPicPr>
        <p:blipFill>
          <a:blip r:embed="rId1"/>
          <a:stretch>
            <a:fillRect/>
          </a:stretch>
        </p:blipFill>
        <p:spPr>
          <a:xfrm>
            <a:off x="6344285" y="1341755"/>
            <a:ext cx="5569585" cy="348678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"/>
    </p:custData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Install (docker-compose)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https://programming.vip/docs/zabbix-installation-and-deployment-in-docker.html</a:t>
            </a:r>
            <a:endParaRPr lang="en-US" altLang="zh-CN"/>
          </a:p>
          <a:p>
            <a:pPr lvl="1"/>
            <a:r>
              <a:rPr lang="en-US" altLang="zh-CN"/>
              <a:t>https://fabianlee.org/2019/10/06/zabbix-using-docker-compose-to-install-and-upgrade-zabbix/</a:t>
            </a:r>
            <a:endParaRPr lang="en-US" altLang="zh-CN"/>
          </a:p>
          <a:p>
            <a:pPr lvl="0"/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AWS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Set Up</a:t>
            </a:r>
            <a:endParaRPr lang="en-US" altLang="zh-CN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211580"/>
            <a:ext cx="6742430" cy="5454650"/>
          </a:xfrm>
        </p:spPr>
        <p:txBody>
          <a:bodyPr>
            <a:normAutofit fontScale="80000"/>
          </a:bodyPr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https://blog.csdn.net/m0_37263637/article/details/91045566</a:t>
            </a:r>
            <a:endParaRPr lang="en-US" altLang="zh-CN"/>
          </a:p>
          <a:p>
            <a:pPr lvl="0"/>
            <a:r>
              <a:rPr lang="en-US" altLang="zh-CN"/>
              <a:t>Steps</a:t>
            </a:r>
            <a:endParaRPr lang="en-US" altLang="zh-CN"/>
          </a:p>
          <a:p>
            <a:pPr lvl="1"/>
            <a:r>
              <a:rPr lang="en-US" altLang="zh-CN"/>
              <a:t>download .pem file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create private key pair for a user (sparks) and download .pem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ssh-keygen -y -f sparks.pem	// generate public key and save</a:t>
            </a:r>
            <a:endParaRPr lang="en-US" altLang="zh-CN"/>
          </a:p>
          <a:p>
            <a:pPr lvl="1"/>
            <a:r>
              <a:rPr lang="en-US" altLang="zh-CN"/>
              <a:t>ssh -i fishpano-jp.pem ubuntu@ec2-35-88-91-217.us-west-2.compute.amazonaws.com</a:t>
            </a:r>
            <a:endParaRPr lang="en-US" altLang="zh-CN"/>
          </a:p>
          <a:p>
            <a:pPr lvl="1"/>
            <a:r>
              <a:rPr lang="en-US" altLang="zh-CN"/>
              <a:t>sudo add user sparks</a:t>
            </a:r>
            <a:endParaRPr lang="en-US" altLang="zh-CN"/>
          </a:p>
          <a:p>
            <a:pPr lvl="1"/>
            <a:r>
              <a:rPr lang="en-US" altLang="zh-CN"/>
              <a:t>sudo vim /etc/sudoers	// add sparks as sudoer</a:t>
            </a:r>
            <a:endParaRPr lang="en-US" altLang="zh-CN"/>
          </a:p>
          <a:p>
            <a:pPr lvl="1"/>
            <a:r>
              <a:rPr lang="en-US" altLang="zh-CN"/>
              <a:t>sudo su sparks</a:t>
            </a:r>
            <a:endParaRPr lang="en-US" altLang="zh-CN"/>
          </a:p>
          <a:p>
            <a:pPr lvl="1"/>
            <a:r>
              <a:rPr lang="en-US" altLang="zh-CN"/>
              <a:t>mkdir ~/.ssh</a:t>
            </a:r>
            <a:endParaRPr lang="en-US" altLang="zh-CN"/>
          </a:p>
          <a:p>
            <a:pPr lvl="1"/>
            <a:r>
              <a:rPr lang="en-US" altLang="zh-CN"/>
              <a:t>vim ~/.ssh/authorized_keys	// paste public key for sparks into and save</a:t>
            </a:r>
            <a:endParaRPr lang="en-US" altLang="zh-CN"/>
          </a:p>
          <a:p>
            <a:pPr lvl="1"/>
            <a:r>
              <a:rPr lang="en-US" altLang="zh-CN"/>
              <a:t>ssh -i sparks.pem sparks@35.88.91.217	// ssh with new user</a:t>
            </a:r>
            <a:endParaRPr lang="en-US" altLang="zh-CN"/>
          </a:p>
          <a:p>
            <a:pPr lvl="1"/>
            <a:r>
              <a:rPr lang="en-US" altLang="zh-CN"/>
              <a:t>rsync -ahvz -e "ssh -i ../sparks.pem" --progress ../src/*.py $user_name@$host_name:$www_root</a:t>
            </a:r>
            <a:endParaRPr lang="en-US" altLang="zh-CN"/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7401560" y="914400"/>
            <a:ext cx="4610100" cy="291211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"/>
    </p:custData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BaaS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zh-CN"/>
              <a:t>Backend As A Service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Introduction</a:t>
            </a:r>
            <a:endParaRPr lang="en-US" altLang="zh-CN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References</a:t>
            </a:r>
            <a:endParaRPr lang="en-US" altLang="zh-CN"/>
          </a:p>
          <a:p>
            <a:pPr lvl="1"/>
            <a:endParaRPr lang="en-US" altLang="zh-CN"/>
          </a:p>
          <a:p>
            <a:pPr lvl="0"/>
            <a:r>
              <a:rPr lang="en-US" altLang="zh-CN"/>
              <a:t>Firebase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Firebase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182235" cy="4975225"/>
          </a:xfrm>
        </p:spPr>
        <p:txBody>
          <a:bodyPr>
            <a:normAutofit fontScale="60000"/>
          </a:bodyPr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https://www.jianshu.com/p/b71f5d3b7c8c</a:t>
            </a:r>
            <a:endParaRPr lang="en-US" altLang="zh-CN">
              <a:sym typeface="+mn-ea"/>
            </a:endParaRPr>
          </a:p>
          <a:p>
            <a:pPr lvl="0"/>
            <a:r>
              <a:rPr lang="en-US" altLang="zh-CN" sz="2400">
                <a:sym typeface="+mn-ea"/>
              </a:rPr>
              <a:t>Functions</a:t>
            </a:r>
            <a:endParaRPr lang="en-US" altLang="zh-CN" sz="2400">
              <a:sym typeface="+mn-ea"/>
            </a:endParaRPr>
          </a:p>
          <a:p>
            <a:pPr lvl="1"/>
            <a:r>
              <a:rPr lang="en-US" altLang="zh-CN" sz="2000">
                <a:sym typeface="+mn-ea"/>
              </a:rPr>
              <a:t>Analytics</a:t>
            </a:r>
            <a:endParaRPr lang="en-US" altLang="zh-CN" sz="2000">
              <a:sym typeface="+mn-ea"/>
            </a:endParaRPr>
          </a:p>
          <a:p>
            <a:pPr lvl="1"/>
            <a:r>
              <a:rPr lang="en-US" altLang="zh-CN" sz="2000">
                <a:sym typeface="+mn-ea"/>
              </a:rPr>
              <a:t>FCM (Firebase Cloud Messaging) </a:t>
            </a:r>
            <a:r>
              <a:rPr lang="zh-CN" altLang="en-US" sz="2000">
                <a:sym typeface="+mn-ea"/>
              </a:rPr>
              <a:t>跨平台消息服务</a:t>
            </a:r>
            <a:endParaRPr lang="zh-CN" altLang="en-US" sz="2000">
              <a:sym typeface="+mn-ea"/>
            </a:endParaRPr>
          </a:p>
          <a:p>
            <a:pPr lvl="2"/>
            <a:r>
              <a:rPr lang="zh-CN" altLang="en-US" sz="1800">
                <a:sym typeface="+mn-ea"/>
              </a:rPr>
              <a:t>https://www.jianshu.com/p/b50f5aee4403</a:t>
            </a:r>
            <a:endParaRPr lang="zh-CN" altLang="en-US" sz="1800">
              <a:sym typeface="+mn-ea"/>
            </a:endParaRPr>
          </a:p>
          <a:p>
            <a:pPr lvl="1"/>
            <a:r>
              <a:rPr lang="en-US" altLang="zh-CN" sz="2000">
                <a:sym typeface="+mn-ea"/>
              </a:rPr>
              <a:t>Authentication</a:t>
            </a:r>
            <a:endParaRPr lang="en-US" altLang="zh-CN" sz="2000">
              <a:sym typeface="+mn-ea"/>
            </a:endParaRPr>
          </a:p>
          <a:p>
            <a:pPr lvl="2"/>
            <a:r>
              <a:rPr lang="zh-CN" altLang="en-US">
                <a:sym typeface="+mn-ea"/>
              </a:rPr>
              <a:t>支持</a:t>
            </a:r>
            <a:r>
              <a:rPr lang="en-US" altLang="zh-CN">
                <a:sym typeface="+mn-ea"/>
              </a:rPr>
              <a:t>email, Facebook, Twitter, Github, Google sign-in</a:t>
            </a:r>
            <a:endParaRPr lang="en-US" altLang="zh-CN">
              <a:sym typeface="+mn-ea"/>
            </a:endParaRPr>
          </a:p>
          <a:p>
            <a:pPr lvl="1"/>
            <a:r>
              <a:rPr lang="en-US" altLang="zh-CN" sz="2000">
                <a:sym typeface="+mn-ea"/>
              </a:rPr>
              <a:t>Realtime DB</a:t>
            </a:r>
            <a:endParaRPr lang="en-US" altLang="zh-CN" sz="2000">
              <a:sym typeface="+mn-ea"/>
            </a:endParaRPr>
          </a:p>
          <a:p>
            <a:pPr lvl="2"/>
            <a:r>
              <a:rPr lang="en-US" altLang="zh-CN" sz="1800">
                <a:sym typeface="+mn-ea"/>
              </a:rPr>
              <a:t>NoSQL, json, offline usage</a:t>
            </a:r>
            <a:endParaRPr lang="en-US" altLang="zh-CN" sz="1800">
              <a:sym typeface="+mn-ea"/>
            </a:endParaRPr>
          </a:p>
          <a:p>
            <a:pPr lvl="1"/>
            <a:r>
              <a:rPr lang="en-US" altLang="zh-CN" sz="2000">
                <a:sym typeface="+mn-ea"/>
              </a:rPr>
              <a:t>Storage</a:t>
            </a:r>
            <a:endParaRPr lang="en-US" altLang="zh-CN" sz="2000">
              <a:sym typeface="+mn-ea"/>
            </a:endParaRPr>
          </a:p>
          <a:p>
            <a:pPr lvl="1"/>
            <a:r>
              <a:rPr lang="en-US" altLang="zh-CN" sz="2000">
                <a:sym typeface="+mn-ea"/>
              </a:rPr>
              <a:t>Hosting</a:t>
            </a:r>
            <a:endParaRPr lang="en-US" altLang="zh-CN" sz="2000">
              <a:sym typeface="+mn-ea"/>
            </a:endParaRPr>
          </a:p>
          <a:p>
            <a:pPr lvl="1"/>
            <a:r>
              <a:rPr lang="en-US" altLang="zh-CN" sz="2000">
                <a:sym typeface="+mn-ea"/>
              </a:rPr>
              <a:t>Remote Config</a:t>
            </a:r>
            <a:endParaRPr lang="en-US" altLang="zh-CN" sz="2000">
              <a:sym typeface="+mn-ea"/>
            </a:endParaRPr>
          </a:p>
          <a:p>
            <a:pPr lvl="1"/>
            <a:r>
              <a:rPr lang="en-US" altLang="zh-CN">
                <a:sym typeface="+mn-ea"/>
              </a:rPr>
              <a:t>Test Lab</a:t>
            </a:r>
            <a:endParaRPr lang="en-US" altLang="zh-CN">
              <a:sym typeface="+mn-ea"/>
            </a:endParaRPr>
          </a:p>
          <a:p>
            <a:pPr lvl="1"/>
            <a:r>
              <a:rPr lang="en-US" altLang="zh-CN">
                <a:sym typeface="+mn-ea"/>
              </a:rPr>
              <a:t>Crash Reporting</a:t>
            </a:r>
            <a:endParaRPr lang="en-US" altLang="zh-CN">
              <a:sym typeface="+mn-ea"/>
            </a:endParaRPr>
          </a:p>
          <a:p>
            <a:pPr lvl="1"/>
            <a:r>
              <a:rPr lang="en-US" altLang="zh-CN" sz="2000">
                <a:sym typeface="+mn-ea"/>
              </a:rPr>
              <a:t>Notifications</a:t>
            </a:r>
            <a:endParaRPr lang="en-US" altLang="zh-CN" sz="2000">
              <a:sym typeface="+mn-ea"/>
            </a:endParaRPr>
          </a:p>
          <a:p>
            <a:pPr lvl="1"/>
            <a:r>
              <a:rPr lang="en-US" altLang="zh-CN" sz="2000">
                <a:sym typeface="+mn-ea"/>
              </a:rPr>
              <a:t>App Indexing</a:t>
            </a:r>
            <a:endParaRPr lang="en-US" altLang="zh-CN" sz="2000">
              <a:sym typeface="+mn-ea"/>
            </a:endParaRPr>
          </a:p>
          <a:p>
            <a:pPr lvl="1"/>
            <a:r>
              <a:rPr lang="en-US" altLang="zh-CN" sz="2000">
                <a:sym typeface="+mn-ea"/>
              </a:rPr>
              <a:t>Dynamic Links</a:t>
            </a:r>
            <a:endParaRPr lang="en-US" altLang="zh-CN" sz="2000">
              <a:sym typeface="+mn-ea"/>
            </a:endParaRPr>
          </a:p>
          <a:p>
            <a:pPr lvl="1"/>
            <a:r>
              <a:rPr lang="en-US" altLang="zh-CN" sz="2000">
                <a:sym typeface="+mn-ea"/>
              </a:rPr>
              <a:t>Invites</a:t>
            </a:r>
            <a:endParaRPr lang="en-US" altLang="zh-CN" sz="2000">
              <a:sym typeface="+mn-ea"/>
            </a:endParaRPr>
          </a:p>
          <a:p>
            <a:pPr lvl="1"/>
            <a:r>
              <a:rPr lang="en-US" altLang="zh-CN" sz="2000">
                <a:sym typeface="+mn-ea"/>
              </a:rPr>
              <a:t>AdWords, AdMob</a:t>
            </a:r>
            <a:endParaRPr lang="en-US" altLang="zh-CN" sz="2000">
              <a:sym typeface="+mn-ea"/>
            </a:endParaRPr>
          </a:p>
          <a:p>
            <a:pPr lvl="1"/>
            <a:endParaRPr lang="en-US" altLang="zh-CN">
              <a:sym typeface="+mn-ea"/>
            </a:endParaRPr>
          </a:p>
          <a:p>
            <a:pPr lvl="0"/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API Testing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Intro</a:t>
            </a:r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855595" y="1233805"/>
            <a:ext cx="7214235" cy="476631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Locust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7231380" cy="5045710"/>
          </a:xfrm>
        </p:spPr>
        <p:txBody>
          <a:bodyPr>
            <a:normAutofit fontScale="70000"/>
          </a:bodyPr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https://docs.locust.io/en/stable/index.html</a:t>
            </a:r>
            <a:endParaRPr lang="en-US" altLang="zh-CN"/>
          </a:p>
          <a:p>
            <a:pPr lvl="1"/>
            <a:r>
              <a:rPr lang="en-US" altLang="zh-CN"/>
              <a:t>https://locust.io/</a:t>
            </a:r>
            <a:endParaRPr lang="en-US" altLang="zh-CN"/>
          </a:p>
          <a:p>
            <a:r>
              <a:rPr lang="en-US" altLang="zh-CN"/>
              <a:t>Usage</a:t>
            </a:r>
            <a:endParaRPr lang="en-US" altLang="zh-CN"/>
          </a:p>
          <a:p>
            <a:pPr lvl="1"/>
            <a:r>
              <a:rPr lang="en-US" altLang="zh-CN"/>
              <a:t>pip install gevent==20.9.0</a:t>
            </a:r>
            <a:endParaRPr lang="en-US" altLang="zh-CN"/>
          </a:p>
          <a:p>
            <a:pPr lvl="1"/>
            <a:r>
              <a:rPr lang="en-US" altLang="zh-CN"/>
              <a:t>pip install locust==2.8.6</a:t>
            </a:r>
            <a:endParaRPr lang="en-US" altLang="zh-CN"/>
          </a:p>
          <a:p>
            <a:pPr lvl="1"/>
            <a:r>
              <a:rPr lang="en-US" altLang="zh-CN"/>
              <a:t>locust -V</a:t>
            </a:r>
            <a:endParaRPr lang="en-US" altLang="zh-CN"/>
          </a:p>
          <a:p>
            <a:pPr lvl="1"/>
            <a:r>
              <a:rPr lang="en-US" altLang="zh-CN"/>
              <a:t>locust --headless --users 10 --spawn-rate 1 -H http://your-server.com</a:t>
            </a:r>
            <a:endParaRPr lang="en-US" altLang="zh-CN"/>
          </a:p>
          <a:p>
            <a:pPr lvl="2"/>
            <a:r>
              <a:rPr lang="en-US" altLang="zh-CN" sz="1800"/>
              <a:t>-c: </a:t>
            </a:r>
            <a:r>
              <a:rPr lang="zh-CN" altLang="en-US" sz="1800"/>
              <a:t>并发用户数</a:t>
            </a:r>
            <a:endParaRPr lang="zh-CN" altLang="en-US" sz="1800"/>
          </a:p>
          <a:p>
            <a:pPr lvl="2"/>
            <a:r>
              <a:rPr lang="en-US" altLang="zh-CN" sz="1800"/>
              <a:t>-r: </a:t>
            </a:r>
            <a:r>
              <a:rPr lang="zh-CN" altLang="en-US" sz="1800"/>
              <a:t>启动虚拟用户的速率</a:t>
            </a:r>
            <a:endParaRPr lang="en-US" altLang="zh-CN"/>
          </a:p>
          <a:p>
            <a:pPr lvl="0"/>
            <a:r>
              <a:rPr lang="en-US" altLang="zh-CN"/>
              <a:t>Result</a:t>
            </a:r>
            <a:endParaRPr lang="en-US" altLang="zh-CN"/>
          </a:p>
          <a:p>
            <a:pPr lvl="1"/>
            <a:r>
              <a:rPr lang="en-US" altLang="zh-CN"/>
              <a:t>rps	// requests per second</a:t>
            </a:r>
            <a:endParaRPr lang="en-US" altLang="zh-CN"/>
          </a:p>
          <a:p>
            <a:pPr lvl="1"/>
            <a:r>
              <a:rPr lang="en-US" altLang="zh-CN"/>
              <a:t>fails	// percentage of failed requests</a:t>
            </a:r>
            <a:endParaRPr lang="en-US" altLang="zh-CN"/>
          </a:p>
          <a:p>
            <a:pPr lvl="0"/>
            <a:r>
              <a:rPr lang="en-US" altLang="zh-CN"/>
              <a:t>locustfile</a:t>
            </a:r>
            <a:endParaRPr lang="en-US" altLang="zh-CN"/>
          </a:p>
          <a:p>
            <a:pPr lvl="1"/>
            <a:r>
              <a:rPr lang="en-US" altLang="zh-CN"/>
              <a:t>locust -f locustfile</a:t>
            </a:r>
            <a:endParaRPr lang="en-US" altLang="zh-CN"/>
          </a:p>
          <a:p>
            <a:pPr lvl="1"/>
            <a:r>
              <a:rPr lang="en-US" altLang="zh-CN"/>
              <a:t>HttpUser class</a:t>
            </a:r>
            <a:endParaRPr lang="en-US" altLang="zh-CN"/>
          </a:p>
          <a:p>
            <a:pPr lvl="2"/>
            <a:r>
              <a:rPr lang="en-US" altLang="zh-CN"/>
              <a:t>client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182880"/>
            <a:ext cx="2552065" cy="303593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390890" y="3218815"/>
            <a:ext cx="3326765" cy="341503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p>
            <a:r>
              <a:rPr lang="zh-CN" altLang="en-US" sz="1200"/>
              <a:t>from locust import HttpUser, between, task</a:t>
            </a:r>
            <a:endParaRPr lang="zh-CN" altLang="en-US" sz="1200"/>
          </a:p>
          <a:p>
            <a:endParaRPr lang="zh-CN" altLang="en-US" sz="1200"/>
          </a:p>
          <a:p>
            <a:r>
              <a:rPr lang="zh-CN" altLang="en-US" sz="1200"/>
              <a:t>class WebsiteUser(HttpUser):</a:t>
            </a:r>
            <a:endParaRPr lang="zh-CN" altLang="en-US" sz="1200"/>
          </a:p>
          <a:p>
            <a:r>
              <a:rPr lang="zh-CN" altLang="en-US" sz="1200"/>
              <a:t>    wait_time = between(5, 15)</a:t>
            </a:r>
            <a:endParaRPr lang="zh-CN" altLang="en-US" sz="1200"/>
          </a:p>
          <a:p>
            <a:r>
              <a:rPr lang="zh-CN" altLang="en-US" sz="1200"/>
              <a:t>    def on_start(self):</a:t>
            </a:r>
            <a:endParaRPr lang="zh-CN" altLang="en-US" sz="1200"/>
          </a:p>
          <a:p>
            <a:r>
              <a:rPr lang="zh-CN" altLang="en-US" sz="1200"/>
              <a:t>        self.client.post("/login", {</a:t>
            </a:r>
            <a:endParaRPr lang="zh-CN" altLang="en-US" sz="1200"/>
          </a:p>
          <a:p>
            <a:r>
              <a:rPr lang="zh-CN" altLang="en-US" sz="1200"/>
              <a:t>            "username": "test_user",</a:t>
            </a:r>
            <a:endParaRPr lang="zh-CN" altLang="en-US" sz="1200"/>
          </a:p>
          <a:p>
            <a:r>
              <a:rPr lang="zh-CN" altLang="en-US" sz="1200"/>
              <a:t>            "password": ""</a:t>
            </a:r>
            <a:endParaRPr lang="zh-CN" altLang="en-US" sz="1200"/>
          </a:p>
          <a:p>
            <a:r>
              <a:rPr lang="zh-CN" altLang="en-US" sz="1200"/>
              <a:t>        })</a:t>
            </a:r>
            <a:endParaRPr lang="zh-CN" altLang="en-US" sz="1200"/>
          </a:p>
          <a:p>
            <a:r>
              <a:rPr lang="zh-CN" altLang="en-US" sz="1200"/>
              <a:t>    </a:t>
            </a:r>
            <a:endParaRPr lang="zh-CN" altLang="en-US" sz="1200"/>
          </a:p>
          <a:p>
            <a:r>
              <a:rPr lang="zh-CN" altLang="en-US" sz="1200"/>
              <a:t>    @task</a:t>
            </a:r>
            <a:endParaRPr lang="zh-CN" altLang="en-US" sz="1200"/>
          </a:p>
          <a:p>
            <a:r>
              <a:rPr lang="zh-CN" altLang="en-US" sz="1200"/>
              <a:t>    def index(self):</a:t>
            </a:r>
            <a:endParaRPr lang="zh-CN" altLang="en-US" sz="1200"/>
          </a:p>
          <a:p>
            <a:r>
              <a:rPr lang="zh-CN" altLang="en-US" sz="1200"/>
              <a:t>        self.client.get("/")</a:t>
            </a:r>
            <a:endParaRPr lang="zh-CN" altLang="en-US" sz="1200"/>
          </a:p>
          <a:p>
            <a:r>
              <a:rPr lang="zh-CN" altLang="en-US" sz="1200"/>
              <a:t>        self.client.get("/static/assets.js")</a:t>
            </a:r>
            <a:endParaRPr lang="zh-CN" altLang="en-US" sz="1200"/>
          </a:p>
          <a:p>
            <a:r>
              <a:rPr lang="zh-CN" altLang="en-US" sz="1200"/>
              <a:t>        </a:t>
            </a:r>
            <a:endParaRPr lang="zh-CN" altLang="en-US" sz="1200"/>
          </a:p>
          <a:p>
            <a:r>
              <a:rPr lang="zh-CN" altLang="en-US" sz="1200"/>
              <a:t>    @task</a:t>
            </a:r>
            <a:endParaRPr lang="zh-CN" altLang="en-US" sz="1200"/>
          </a:p>
          <a:p>
            <a:r>
              <a:rPr lang="zh-CN" altLang="en-US" sz="1200"/>
              <a:t>    def about(self):</a:t>
            </a:r>
            <a:endParaRPr lang="zh-CN" altLang="en-US" sz="1200"/>
          </a:p>
          <a:p>
            <a:r>
              <a:rPr lang="zh-CN" altLang="en-US" sz="1200"/>
              <a:t>        self.client.get("/about/")</a:t>
            </a:r>
            <a:endParaRPr lang="zh-CN" altLang="en-US" sz="1200"/>
          </a:p>
        </p:txBody>
      </p:sp>
    </p:spTree>
    <p:custDataLst>
      <p:tags r:id="rId2"/>
    </p:custData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Locust - 2</a:t>
            </a: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055" y="1036955"/>
            <a:ext cx="10295890" cy="531558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CMS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Lin CMS</a:t>
            </a:r>
            <a:endParaRPr lang="en-US" altLang="zh-CN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211580"/>
            <a:ext cx="5467985" cy="4549140"/>
          </a:xfrm>
        </p:spPr>
        <p:txBody>
          <a:bodyPr>
            <a:normAutofit lnSpcReduction="10000"/>
          </a:bodyPr>
          <a:p>
            <a:r>
              <a:rPr lang="zh-CN" altLang="en-US"/>
              <a:t>https://github.com/TaleLin/lin-cms-flask</a:t>
            </a:r>
            <a:endParaRPr lang="zh-CN" altLang="en-US"/>
          </a:p>
          <a:p>
            <a:pPr lvl="1"/>
            <a:r>
              <a:rPr lang="en-US" altLang="zh-CN"/>
              <a:t>MIT</a:t>
            </a:r>
            <a:endParaRPr lang="en-US" altLang="zh-CN"/>
          </a:p>
          <a:p>
            <a:pPr lvl="1"/>
            <a:r>
              <a:rPr lang="zh-CN" altLang="en-US"/>
              <a:t>前后端分离</a:t>
            </a:r>
            <a:endParaRPr lang="zh-CN" altLang="en-US"/>
          </a:p>
          <a:p>
            <a:pPr lvl="1"/>
            <a:r>
              <a:rPr lang="zh-CN" altLang="en-US"/>
              <a:t>功能</a:t>
            </a:r>
            <a:endParaRPr lang="zh-CN" altLang="en-US"/>
          </a:p>
          <a:p>
            <a:pPr lvl="2"/>
            <a:r>
              <a:rPr lang="zh-CN" altLang="en-US"/>
              <a:t>内置了 CMS 中最为常见的需求：用户管理、权限管理、日志系统等</a:t>
            </a:r>
            <a:endParaRPr lang="zh-CN" altLang="en-US"/>
          </a:p>
          <a:p>
            <a:pPr lvl="1"/>
            <a:r>
              <a:rPr lang="zh-CN" altLang="en-US"/>
              <a:t>实现</a:t>
            </a:r>
            <a:endParaRPr lang="zh-CN" altLang="en-US"/>
          </a:p>
          <a:p>
            <a:pPr lvl="2"/>
            <a:r>
              <a:rPr lang="zh-CN" altLang="en-US"/>
              <a:t>后端：</a:t>
            </a:r>
            <a:r>
              <a:rPr lang="en-US" altLang="zh-CN"/>
              <a:t>flask</a:t>
            </a:r>
            <a:endParaRPr lang="en-US" altLang="zh-CN"/>
          </a:p>
          <a:p>
            <a:pPr lvl="2"/>
            <a:r>
              <a:rPr lang="zh-CN" altLang="en-US"/>
              <a:t>前端：</a:t>
            </a:r>
            <a:r>
              <a:rPr lang="en-US" altLang="zh-CN"/>
              <a:t>vue3</a:t>
            </a:r>
            <a:r>
              <a:rPr lang="zh-CN" altLang="en-US"/>
              <a:t>，</a:t>
            </a:r>
            <a:r>
              <a:rPr lang="en-US" altLang="zh-CN"/>
              <a:t>element plus</a:t>
            </a:r>
            <a:endParaRPr lang="en-US" altLang="zh-CN"/>
          </a:p>
          <a:p>
            <a:pPr lvl="0"/>
            <a:r>
              <a:rPr lang="zh-CN" altLang="en-US"/>
              <a:t>后端</a:t>
            </a:r>
            <a:endParaRPr lang="zh-CN" altLang="en-US"/>
          </a:p>
          <a:p>
            <a:pPr lvl="1"/>
            <a:r>
              <a:rPr lang="zh-CN" altLang="en-US"/>
              <a:t>git clone https://github.com/TaleLin/lin-cms-flask.git starter</a:t>
            </a:r>
            <a:endParaRPr lang="zh-CN" altLang="en-US"/>
          </a:p>
          <a:p>
            <a:pPr lvl="1"/>
            <a:r>
              <a:rPr lang="zh-CN" altLang="en-US"/>
              <a:t>pip install -r requirements-dev.txt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Docker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Tomcat</a:t>
            </a:r>
            <a:endParaRPr lang="en-US" altLang="zh-CN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211580"/>
            <a:ext cx="7153910" cy="4549140"/>
          </a:xfrm>
        </p:spPr>
        <p:txBody>
          <a:bodyPr>
            <a:normAutofit/>
          </a:bodyPr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https://blog.lukaspradel.com/dockerizing-a-tomcat-postgresql-java-web-application/</a:t>
            </a:r>
            <a:endParaRPr lang="en-US" altLang="zh-CN"/>
          </a:p>
          <a:p>
            <a:pPr lvl="1"/>
            <a:r>
              <a:rPr lang="en-US" altLang="zh-CN"/>
              <a:t>https://javatodev.com/docker-compose-spring-boot-postgresql/</a:t>
            </a:r>
            <a:endParaRPr lang="en-US" altLang="zh-CN"/>
          </a:p>
          <a:p>
            <a:pPr lvl="1"/>
            <a:r>
              <a:rPr lang="en-US" altLang="zh-CN"/>
              <a:t>https://github.com/bezkoder/docker-compose-spring-boot-postgres</a:t>
            </a:r>
            <a:endParaRPr lang="en-US" altLang="zh-CN"/>
          </a:p>
          <a:p>
            <a:pPr lvl="1"/>
            <a:r>
              <a:rPr lang="en-US" altLang="zh-CN"/>
              <a:t>https://juejin.cn/post/7176899356585361466</a:t>
            </a:r>
            <a:endParaRPr lang="en-US" altLang="zh-CN"/>
          </a:p>
          <a:p>
            <a:r>
              <a:rPr lang="en-US" altLang="zh-CN"/>
              <a:t>Dockerfile</a:t>
            </a:r>
            <a:endParaRPr lang="en-US" altLang="zh-CN"/>
          </a:p>
          <a:p>
            <a:pPr lvl="1"/>
            <a:r>
              <a:rPr lang="en-US" altLang="zh-CN"/>
              <a:t>FROM tomcat</a:t>
            </a:r>
            <a:endParaRPr lang="en-US" altLang="zh-CN"/>
          </a:p>
          <a:p>
            <a:pPr lvl="1"/>
            <a:r>
              <a:rPr lang="en-US" altLang="zh-CN"/>
              <a:t>COPY ROOT.war /usr/local/tomcat/webapps/</a:t>
            </a:r>
            <a:endParaRPr lang="en-US" altLang="zh-CN"/>
          </a:p>
          <a:p>
            <a:pPr lvl="0"/>
            <a:r>
              <a:rPr lang="en-US" altLang="zh-CN"/>
              <a:t>Docker compose</a:t>
            </a:r>
            <a:endParaRPr lang="en-US" altLang="zh-CN"/>
          </a:p>
          <a:p>
            <a:pPr lvl="1"/>
            <a:r>
              <a:rPr lang="en-US" altLang="zh-CN"/>
              <a:t>web, db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Statistics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Matomo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4354195" cy="5324475"/>
          </a:xfrm>
        </p:spPr>
        <p:txBody>
          <a:bodyPr>
            <a:noAutofit/>
          </a:bodyPr>
          <a:p>
            <a:r>
              <a:rPr lang="en-US" altLang="zh-CN" sz="1000"/>
              <a:t>References</a:t>
            </a:r>
            <a:endParaRPr lang="en-US" altLang="zh-CN" sz="1000"/>
          </a:p>
          <a:p>
            <a:pPr lvl="1"/>
            <a:r>
              <a:rPr lang="en-US" altLang="zh-CN" sz="900"/>
              <a:t>https://github.com/matomo-org/matomo</a:t>
            </a:r>
            <a:endParaRPr lang="en-US" altLang="zh-CN" sz="900"/>
          </a:p>
          <a:p>
            <a:pPr lvl="1"/>
            <a:r>
              <a:rPr lang="en-US" altLang="zh-CN" sz="900"/>
              <a:t>https://zhuanlan.zhihu.com/p/32849835104</a:t>
            </a:r>
            <a:endParaRPr lang="en-US" altLang="zh-CN" sz="900"/>
          </a:p>
          <a:p>
            <a:pPr lvl="0"/>
            <a:r>
              <a:rPr lang="en-US" altLang="zh-CN" sz="1000"/>
              <a:t>Steps</a:t>
            </a:r>
            <a:endParaRPr lang="en-US" altLang="zh-CN" sz="1000"/>
          </a:p>
          <a:p>
            <a:pPr lvl="1"/>
            <a:r>
              <a:rPr lang="en-US" altLang="zh-CN" sz="900"/>
              <a:t>start service using docker-compose.yml from https://github.com/matomo-org/docker/blob/master/.examples/nginx/compose.yml</a:t>
            </a:r>
            <a:endParaRPr lang="en-US" altLang="zh-CN" sz="900"/>
          </a:p>
          <a:p>
            <a:pPr lvl="1"/>
            <a:r>
              <a:rPr lang="en-US" altLang="zh-CN" sz="900"/>
              <a:t>open page at http://server:8080</a:t>
            </a:r>
            <a:endParaRPr lang="en-US" altLang="zh-CN" sz="900"/>
          </a:p>
          <a:p>
            <a:pPr lvl="1"/>
            <a:r>
              <a:rPr lang="en-US" altLang="zh-CN" sz="900"/>
              <a:t>change settings in web page</a:t>
            </a:r>
            <a:endParaRPr lang="en-US" altLang="zh-CN" sz="900"/>
          </a:p>
          <a:p>
            <a:pPr lvl="0"/>
            <a:r>
              <a:rPr lang="en-US" altLang="zh-CN" sz="1200"/>
              <a:t>Intro</a:t>
            </a:r>
            <a:endParaRPr lang="en-US" altLang="zh-CN" sz="1200"/>
          </a:p>
          <a:p>
            <a:pPr lvl="1"/>
            <a:r>
              <a:rPr lang="en-US" altLang="zh-CN" sz="900"/>
              <a:t>web/config/config.ini.php</a:t>
            </a:r>
            <a:endParaRPr lang="en-US" altLang="zh-CN" sz="900"/>
          </a:p>
          <a:p>
            <a:pPr lvl="1"/>
            <a:r>
              <a:rPr lang="en-US" altLang="zh-CN" sz="900"/>
              <a:t>Electron</a:t>
            </a:r>
            <a:endParaRPr lang="en-US" altLang="zh-CN" sz="900"/>
          </a:p>
          <a:p>
            <a:pPr lvl="2"/>
            <a:r>
              <a:rPr lang="en-US" altLang="zh-CN" sz="800"/>
              <a:t>_paq.push(['enableFileTracking']);</a:t>
            </a:r>
            <a:endParaRPr lang="en-US" altLang="zh-CN" sz="800"/>
          </a:p>
          <a:p>
            <a:pPr lvl="2"/>
            <a:r>
              <a:rPr lang="en-US" altLang="zh-CN" sz="800"/>
              <a:t>_paq.push(['disableCookies']);</a:t>
            </a:r>
            <a:endParaRPr lang="en-US" altLang="zh-CN" sz="800"/>
          </a:p>
          <a:p>
            <a:pPr lvl="1"/>
            <a:r>
              <a:rPr lang="en-US" altLang="zh-CN" sz="900"/>
              <a:t> read/write cookies to track visitors</a:t>
            </a:r>
            <a:endParaRPr lang="en-US" altLang="zh-CN" sz="900"/>
          </a:p>
          <a:p>
            <a:pPr lvl="0"/>
            <a:r>
              <a:rPr lang="en-US" altLang="zh-CN" sz="1200"/>
              <a:t>Usage</a:t>
            </a:r>
            <a:endParaRPr lang="en-US" altLang="zh-CN" sz="1200"/>
          </a:p>
          <a:p>
            <a:pPr lvl="1"/>
            <a:r>
              <a:rPr lang="en-US" altLang="zh-CN" sz="900"/>
              <a:t>matomo-tracker</a:t>
            </a:r>
            <a:endParaRPr lang="en-US" altLang="zh-CN" sz="900"/>
          </a:p>
          <a:p>
            <a:pPr lvl="2"/>
            <a:r>
              <a:rPr lang="en-US" altLang="zh-CN" sz="800"/>
              <a:t>npm i matomo-tracker</a:t>
            </a:r>
            <a:endParaRPr lang="en-US" altLang="zh-CN" sz="800"/>
          </a:p>
          <a:p>
            <a:pPr lvl="2"/>
            <a:r>
              <a:rPr lang="en-US" altLang="zh-CN" sz="800"/>
              <a:t>const MatomoTracker = require('matomo-tracker')</a:t>
            </a:r>
            <a:endParaRPr lang="en-US" altLang="zh-CN" sz="800"/>
          </a:p>
          <a:p>
            <a:pPr lvl="2"/>
            <a:r>
              <a:rPr lang="en-US" altLang="zh-CN" sz="800"/>
              <a:t>const tracker = new MatomoTracker(1, 'http://101.35.115.17:6680/matomo.php')</a:t>
            </a:r>
            <a:endParaRPr lang="en-US" altLang="zh-CN" sz="800"/>
          </a:p>
          <a:p>
            <a:pPr lvl="2"/>
            <a:r>
              <a:rPr lang="en-US" altLang="zh-CN" sz="800"/>
              <a:t>tracker.track({url: 'app://main-window', action_name: 'Main Window Loaded'})</a:t>
            </a:r>
            <a:endParaRPr lang="en-US" altLang="zh-CN" sz="800"/>
          </a:p>
          <a:p>
            <a:pPr lvl="1"/>
            <a:r>
              <a:rPr lang="en-US" altLang="zh-CN" sz="900"/>
              <a:t>Track page view</a:t>
            </a:r>
            <a:endParaRPr lang="en-US" altLang="zh-CN" sz="900"/>
          </a:p>
          <a:p>
            <a:pPr lvl="2"/>
            <a:r>
              <a:rPr lang="en-US" altLang="zh-CN" sz="800"/>
              <a:t>_paq.push(['trackPageView', document.title])</a:t>
            </a:r>
            <a:endParaRPr lang="en-US" altLang="zh-CN" sz="800"/>
          </a:p>
          <a:p>
            <a:pPr lvl="1"/>
            <a:r>
              <a:rPr lang="en-US" altLang="zh-CN" sz="900"/>
              <a:t>Track user event</a:t>
            </a:r>
            <a:endParaRPr lang="en-US" altLang="zh-CN" sz="900"/>
          </a:p>
          <a:p>
            <a:pPr lvl="2"/>
            <a:r>
              <a:rPr lang="en-US" altLang="zh-CN" sz="800"/>
              <a:t>_paq.push(['trackEvent', 'Category', 'Action', 'Name', 'Value'])</a:t>
            </a:r>
            <a:endParaRPr lang="en-US" altLang="zh-CN" sz="900"/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9928860" y="245110"/>
            <a:ext cx="1690370" cy="3183890"/>
          </a:xfrm>
          <a:prstGeom prst="rect">
            <a:avLst/>
          </a:prstGeom>
        </p:spPr>
      </p:pic>
      <p:sp>
        <p:nvSpPr>
          <p:cNvPr id="4" name="内容占位符 2"/>
          <p:cNvSpPr>
            <a:spLocks noGrp="1"/>
          </p:cNvSpPr>
          <p:nvPr/>
        </p:nvSpPr>
        <p:spPr>
          <a:xfrm>
            <a:off x="5383530" y="1211580"/>
            <a:ext cx="4354195" cy="53244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黑体" panose="02010609060101010101" charset="-122"/>
              <a:buChar char="〉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200"/>
              <a:t>Docker</a:t>
            </a:r>
            <a:endParaRPr lang="en-US" altLang="zh-CN" sz="1200"/>
          </a:p>
          <a:p>
            <a:pPr lvl="1"/>
            <a:r>
              <a:rPr lang="en-US" altLang="zh-CN" sz="900"/>
              <a:t>sudo docker logs matomo-cron</a:t>
            </a:r>
            <a:endParaRPr lang="en-US" altLang="zh-CN" sz="900"/>
          </a:p>
          <a:p>
            <a:pPr lvl="1"/>
            <a:r>
              <a:rPr lang="en-US" altLang="zh-CN" sz="900"/>
              <a:t>sudo docker exec matomo-cron php /var/www/html/console core:archive --url=http://your-matomo-domain.com</a:t>
            </a:r>
            <a:endParaRPr lang="en-US" altLang="zh-CN" sz="900"/>
          </a:p>
          <a:p>
            <a:pPr lvl="1"/>
            <a:r>
              <a:rPr lang="en-US" altLang="zh-CN" sz="900"/>
              <a:t>sudo docker exec -it matomo_db mysql -u matomo -p matomo</a:t>
            </a:r>
            <a:endParaRPr lang="en-US" altLang="zh-CN" sz="900"/>
          </a:p>
        </p:txBody>
      </p:sp>
    </p:spTree>
    <p:custDataLst>
      <p:tags r:id="rId2"/>
    </p:custData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Security</a:t>
            </a:r>
            <a:endParaRPr lang="en-US" altLang="zh-CN"/>
          </a:p>
        </p:txBody>
      </p:sp>
      <p:sp>
        <p:nvSpPr>
          <p:cNvPr id="7" name="文本占位符 6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Overview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ZAP (Zad Attack Proxy)</a:t>
            </a:r>
            <a:endParaRPr lang="en-US" altLang="zh-CN"/>
          </a:p>
          <a:p>
            <a:pPr lvl="1"/>
            <a:r>
              <a:rPr lang="en-US" altLang="zh-CN"/>
              <a:t>https://www.zaproxy.org/</a:t>
            </a:r>
            <a:endParaRPr lang="en-US" altLang="zh-CN"/>
          </a:p>
          <a:p>
            <a:pPr lvl="1"/>
            <a:r>
              <a:rPr lang="en-US" altLang="zh-CN"/>
              <a:t>desktop app, free and open source</a:t>
            </a:r>
            <a:endParaRPr lang="en-US" altLang="zh-CN"/>
          </a:p>
          <a:p>
            <a:pPr lvl="1"/>
            <a:r>
              <a:rPr lang="en-US" altLang="zh-CN"/>
              <a:t>most widely used web app scanner</a:t>
            </a:r>
            <a:endParaRPr lang="en-US" altLang="zh-CN"/>
          </a:p>
          <a:p>
            <a:pPr lvl="1"/>
            <a:r>
              <a:rPr lang="en-US" altLang="zh-CN"/>
              <a:t>export pdf/html reports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160402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160402"/>
</p:tagLst>
</file>

<file path=ppt/tags/tag3.xml><?xml version="1.0" encoding="utf-8"?>
<p:tagLst xmlns:p="http://schemas.openxmlformats.org/presentationml/2006/main">
  <p:tag name="KSO_WM_TEMPLATE_THUMBS_INDEX" val="1、9、12、16、19、20、24、27、28"/>
  <p:tag name="KSO_WM_TEMPLATE_CATEGORY" val="custom"/>
  <p:tag name="KSO_WM_TEMPLATE_INDEX" val="160402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02"/>
  <p:tag name="KSO_WM_UNIT_TYPE" val="a"/>
  <p:tag name="KSO_WM_UNIT_INDEX" val="1"/>
  <p:tag name="KSO_WM_UNIT_ID" val="custom160402_1*a*1"/>
  <p:tag name="KSO_WM_UNIT_CLEAR" val="1"/>
  <p:tag name="KSO_WM_UNIT_LAYERLEVEL" val="1"/>
  <p:tag name="KSO_WM_UNIT_VALUE" val="19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02"/>
  <p:tag name="KSO_WM_UNIT_TYPE" val="b"/>
  <p:tag name="KSO_WM_UNIT_INDEX" val="1"/>
  <p:tag name="KSO_WM_UNIT_ID" val="custom160402_1*b*1"/>
  <p:tag name="KSO_WM_UNIT_CLEAR" val="1"/>
  <p:tag name="KSO_WM_UNIT_LAYERLEVEL" val="1"/>
  <p:tag name="KSO_WM_UNIT_VALUE" val="35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6.xml><?xml version="1.0" encoding="utf-8"?>
<p:tagLst xmlns:p="http://schemas.openxmlformats.org/presentationml/2006/main">
  <p:tag name="KSO_WM_TEMPLATE_CATEGORY" val="custom"/>
  <p:tag name="KSO_WM_TEMPLATE_INDEX" val="160402"/>
  <p:tag name="KSO_WM_TAG_VERSION" val="1.0"/>
  <p:tag name="KSO_WM_SLIDE_ID" val="custom160402_1"/>
  <p:tag name="KSO_WM_SLIDE_INDEX" val="1"/>
  <p:tag name="KSO_WM_SLIDE_ITEM_CNT" val="2"/>
  <p:tag name="KSO_WM_SLIDE_LAYOUT" val="a_b"/>
  <p:tag name="KSO_WM_SLIDE_LAYOUT_CNT" val="1_1"/>
  <p:tag name="KSO_WM_SLIDE_TYPE" val="title"/>
  <p:tag name="KSO_WM_TEMPLATE_THUMBS_INDEX" val="1、9、12、16、19、20、24、27、28"/>
  <p:tag name="KSO_WM_BEAUTIFY_FLAG" val="#wm#"/>
  <p:tag name="KSO_WM_SPECIAL_SOURCE" val="bdnull"/>
</p:tagLst>
</file>

<file path=ppt/tags/tag7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8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9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10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1.xml><?xml version="1.0" encoding="utf-8"?>
<p:tagLst xmlns:p="http://schemas.openxmlformats.org/presentationml/2006/main">
  <p:tag name="TABLE_ENDDRAG_ORIGIN_RECT" val="835*355"/>
  <p:tag name="TABLE_ENDDRAG_RECT" val="58*103*835*355"/>
</p:tagLst>
</file>

<file path=ppt/tags/tag12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resource_record_key" val="{&quot;13&quot;:[4563123],&quot;65&quot;:[160402]}"/>
</p:tagLst>
</file>

<file path=ppt/tags/tag13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02"/>
  <p:tag name="KSO_WM_UNIT_TYPE" val="a"/>
  <p:tag name="KSO_WM_UNIT_INDEX" val="1"/>
  <p:tag name="KSO_WM_UNIT_ID" val="custom160402_2*a*1"/>
  <p:tag name="KSO_WM_UNIT_CLEAR" val="1"/>
  <p:tag name="KSO_WM_UNIT_LAYERLEVEL" val="1"/>
  <p:tag name="KSO_WM_UNIT_VALUE" val="20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1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02"/>
  <p:tag name="KSO_WM_UNIT_TYPE" val="f"/>
  <p:tag name="KSO_WM_UNIT_INDEX" val="1"/>
  <p:tag name="KSO_WM_UNIT_ID" val="custom160402_2*f*1"/>
  <p:tag name="KSO_WM_UNIT_CLEAR" val="1"/>
  <p:tag name="KSO_WM_UNIT_LAYERLEVEL" val="1"/>
  <p:tag name="KSO_WM_UNIT_VALUE" val="198"/>
  <p:tag name="KSO_WM_UNIT_HIGHLIGHT" val="0"/>
  <p:tag name="KSO_WM_UNIT_COMPATIBLE" val="0"/>
  <p:tag name="KSO_WM_UNIT_PRESET_TEXT_INDEX" val="5"/>
  <p:tag name="KSO_WM_UNIT_PRESET_TEXT_LEN" val="232"/>
</p:tagLst>
</file>

<file path=ppt/tags/tag16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TAG_VERSION" val="1.0"/>
  <p:tag name="KSO_WM_SLIDE_ID" val="custom160402_2"/>
  <p:tag name="KSO_WM_SLIDE_INDEX" val="2"/>
  <p:tag name="KSO_WM_SLIDE_ITEM_CNT" val="1"/>
  <p:tag name="KSO_WM_SLIDE_LAYOUT" val="a_f"/>
  <p:tag name="KSO_WM_SLIDE_LAYOUT_CNT" val="1_1"/>
  <p:tag name="KSO_WM_SLIDE_TYPE" val="text"/>
  <p:tag name="KSO_WM_SLIDE_POSITION" val="66*95"/>
  <p:tag name="KSO_WM_SLIDE_SIZE" val="828*358"/>
  <p:tag name="KSO_WM_SPECIAL_SOURCE" val="bdnull"/>
</p:tagLst>
</file>

<file path=ppt/tags/tag17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18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19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20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21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22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23.xml><?xml version="1.0" encoding="utf-8"?>
<p:tagLst xmlns:p="http://schemas.openxmlformats.org/presentationml/2006/main">
  <p:tag name="KSO_WM_UNIT_TABLE_BEAUTIFY" val="smartTable{7f2bddbb-6e2b-4333-bd1a-4db34413a3a7}"/>
</p:tagLst>
</file>

<file path=ppt/tags/tag24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2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02"/>
  <p:tag name="KSO_WM_UNIT_TYPE" val="a"/>
  <p:tag name="KSO_WM_UNIT_INDEX" val="1"/>
  <p:tag name="KSO_WM_UNIT_ID" val="custom160402_2*a*1"/>
  <p:tag name="KSO_WM_UNIT_CLEAR" val="1"/>
  <p:tag name="KSO_WM_UNIT_LAYERLEVEL" val="1"/>
  <p:tag name="KSO_WM_UNIT_VALUE" val="20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26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02"/>
  <p:tag name="KSO_WM_UNIT_TYPE" val="f"/>
  <p:tag name="KSO_WM_UNIT_INDEX" val="1"/>
  <p:tag name="KSO_WM_UNIT_ID" val="custom160402_2*f*1"/>
  <p:tag name="KSO_WM_UNIT_CLEAR" val="1"/>
  <p:tag name="KSO_WM_UNIT_LAYERLEVEL" val="1"/>
  <p:tag name="KSO_WM_UNIT_VALUE" val="198"/>
  <p:tag name="KSO_WM_UNIT_HIGHLIGHT" val="0"/>
  <p:tag name="KSO_WM_UNIT_COMPATIBLE" val="0"/>
  <p:tag name="KSO_WM_UNIT_PRESET_TEXT_INDEX" val="5"/>
  <p:tag name="KSO_WM_UNIT_PRESET_TEXT_LEN" val="232"/>
</p:tagLst>
</file>

<file path=ppt/tags/tag27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TAG_VERSION" val="1.0"/>
  <p:tag name="KSO_WM_SLIDE_ID" val="custom160402_2"/>
  <p:tag name="KSO_WM_SLIDE_INDEX" val="2"/>
  <p:tag name="KSO_WM_SLIDE_ITEM_CNT" val="1"/>
  <p:tag name="KSO_WM_SLIDE_LAYOUT" val="a_f"/>
  <p:tag name="KSO_WM_SLIDE_LAYOUT_CNT" val="1_1"/>
  <p:tag name="KSO_WM_SLIDE_TYPE" val="text"/>
  <p:tag name="KSO_WM_SLIDE_POSITION" val="66*95"/>
  <p:tag name="KSO_WM_SLIDE_SIZE" val="828*358"/>
  <p:tag name="KSO_WM_SPECIAL_SOURCE" val="bdnull"/>
</p:tagLst>
</file>

<file path=ppt/tags/tag28.xml><?xml version="1.0" encoding="utf-8"?>
<p:tagLst xmlns:p="http://schemas.openxmlformats.org/presentationml/2006/main">
  <p:tag name="KSO_WM_UNIT_TABLE_BEAUTIFY" val="smartTable{690034af-4a4d-4275-b375-4df7cb54ca97}"/>
</p:tagLst>
</file>

<file path=ppt/tags/tag29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30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31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32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33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34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35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36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37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38.xml><?xml version="1.0" encoding="utf-8"?>
<p:tagLst xmlns:p="http://schemas.openxmlformats.org/presentationml/2006/main">
  <p:tag name="TABLE_ENDDRAG_ORIGIN_RECT" val="482*164"/>
  <p:tag name="TABLE_ENDDRAG_RECT" val="450*105*482*164"/>
</p:tagLst>
</file>

<file path=ppt/tags/tag39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40.xml><?xml version="1.0" encoding="utf-8"?>
<p:tagLst xmlns:p="http://schemas.openxmlformats.org/presentationml/2006/main">
  <p:tag name="KSO_WM_UNIT_PLACING_PICTURE_USER_VIEWPORT" val="{&quot;height&quot;:6720,&quot;width&quot;:8292}"/>
</p:tagLst>
</file>

<file path=ppt/tags/tag41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42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43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44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45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46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47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48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49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50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51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52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53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54.xml><?xml version="1.0" encoding="utf-8"?>
<p:tagLst xmlns:p="http://schemas.openxmlformats.org/presentationml/2006/main">
  <p:tag name="TABLE_ENDDRAG_ORIGIN_RECT" val="633*270"/>
  <p:tag name="TABLE_ENDDRAG_RECT" val="27*95*633*270"/>
</p:tagLst>
</file>

<file path=ppt/tags/tag55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56.xml><?xml version="1.0" encoding="utf-8"?>
<p:tagLst xmlns:p="http://schemas.openxmlformats.org/presentationml/2006/main">
  <p:tag name="TABLE_ENDDRAG_ORIGIN_RECT" val="871*191"/>
  <p:tag name="TABLE_ENDDRAG_RECT" val="66*99*871*191"/>
</p:tagLst>
</file>

<file path=ppt/tags/tag57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58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59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60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61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62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80.xml><?xml version="1.0" encoding="utf-8"?>
<p:tagLst xmlns:p="http://schemas.openxmlformats.org/presentationml/2006/main">
  <p:tag name="KSO_WM_UNIT_PLACING_PICTURE_USER_VIEWPORT" val="{&quot;height&quot;:6120,&quot;width&quot;:9264}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88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91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92.xml><?xml version="1.0" encoding="utf-8"?>
<p:tagLst xmlns:p="http://schemas.openxmlformats.org/presentationml/2006/main">
  <p:tag name="KSO_DOCER_TEMPLATE_OPEN_ONCE_MARK" val="1"/>
  <p:tag name="COMMONDATA" val="eyJoZGlkIjoiYjRhZjQ5NWVmZmQxNmM3NmNkNDYxNWRmNzNmMjA1ZDAifQ=="/>
  <p:tag name="KSO_WPP_MARK_KEY" val="409d257b-de08-4ad9-871a-703355bca735"/>
  <p:tag name="commondata" val="eyJoZGlkIjoiYjk5ODM0YmMxOWJiYWQyNDU4MGIzYWRmYTA0ZmI5NDcifQ=="/>
  <p:tag name="resource_record_key" val="{&quot;13&quot;:[4563123],&quot;65&quot;:[160402]}"/>
</p:tagLst>
</file>

<file path=ppt/theme/theme1.xml><?xml version="1.0" encoding="utf-8"?>
<a:theme xmlns:a="http://schemas.openxmlformats.org/drawingml/2006/main" name="1_A000120140530A02PPBG">
  <a:themeElements>
    <a:clrScheme name="160114.114">
      <a:dk1>
        <a:srgbClr val="47494B"/>
      </a:dk1>
      <a:lt1>
        <a:srgbClr val="FFFFFF"/>
      </a:lt1>
      <a:dk2>
        <a:srgbClr val="454749"/>
      </a:dk2>
      <a:lt2>
        <a:srgbClr val="FFFFFF"/>
      </a:lt2>
      <a:accent1>
        <a:srgbClr val="358CC1"/>
      </a:accent1>
      <a:accent2>
        <a:srgbClr val="2D9C9F"/>
      </a:accent2>
      <a:accent3>
        <a:srgbClr val="A4C37B"/>
      </a:accent3>
      <a:accent4>
        <a:srgbClr val="9D9394"/>
      </a:accent4>
      <a:accent5>
        <a:srgbClr val="84ADE4"/>
      </a:accent5>
      <a:accent6>
        <a:srgbClr val="FFC000"/>
      </a:accent6>
      <a:hlink>
        <a:srgbClr val="00B0F0"/>
      </a:hlink>
      <a:folHlink>
        <a:srgbClr val="AFB2B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32996</Words>
  <Application>WPS 演示</Application>
  <PresentationFormat>宽屏</PresentationFormat>
  <Paragraphs>1467</Paragraphs>
  <Slides>74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74</vt:i4>
      </vt:variant>
    </vt:vector>
  </HeadingPairs>
  <TitlesOfParts>
    <vt:vector size="83" baseType="lpstr">
      <vt:lpstr>Arial</vt:lpstr>
      <vt:lpstr>宋体</vt:lpstr>
      <vt:lpstr>Wingdings</vt:lpstr>
      <vt:lpstr>黑体</vt:lpstr>
      <vt:lpstr>微软雅黑</vt:lpstr>
      <vt:lpstr>Arial Unicode MS</vt:lpstr>
      <vt:lpstr>Calibri</vt:lpstr>
      <vt:lpstr>Wingdings</vt:lpstr>
      <vt:lpstr>1_A000120140530A02PPBG</vt:lpstr>
      <vt:lpstr>Web Server</vt:lpstr>
      <vt:lpstr>Change History</vt:lpstr>
      <vt:lpstr>Contents</vt:lpstr>
      <vt:lpstr>General</vt:lpstr>
      <vt:lpstr>公有云、私有云、本地化部署</vt:lpstr>
      <vt:lpstr>腾讯云 配置及价格</vt:lpstr>
      <vt:lpstr>云硬盘</vt:lpstr>
      <vt:lpstr>CentOS</vt:lpstr>
      <vt:lpstr>Ubuntu</vt:lpstr>
      <vt:lpstr>SQL Server</vt:lpstr>
      <vt:lpstr>SSH</vt:lpstr>
      <vt:lpstr>Windows Server - HTTPS</vt:lpstr>
      <vt:lpstr>Web Server Architecture</vt:lpstr>
      <vt:lpstr>Nginx</vt:lpstr>
      <vt:lpstr>Nginx Configuration</vt:lpstr>
      <vt:lpstr>Apache</vt:lpstr>
      <vt:lpstr>Monitoring</vt:lpstr>
      <vt:lpstr>Operation &amp; Maintenance Tools</vt:lpstr>
      <vt:lpstr>SAR</vt:lpstr>
      <vt:lpstr>阿里云域名+腾讯云服务器</vt:lpstr>
      <vt:lpstr>CDN</vt:lpstr>
      <vt:lpstr>Set Up VPN</vt:lpstr>
      <vt:lpstr>Set Up VPN 2</vt:lpstr>
      <vt:lpstr>Firewall</vt:lpstr>
      <vt:lpstr>Gunicorn</vt:lpstr>
      <vt:lpstr>Redis</vt:lpstr>
      <vt:lpstr>Replace Server</vt:lpstr>
      <vt:lpstr>微服务</vt:lpstr>
      <vt:lpstr>FTP Concept</vt:lpstr>
      <vt:lpstr>FTP Server</vt:lpstr>
      <vt:lpstr>FTP Server 2</vt:lpstr>
      <vt:lpstr>VNC</vt:lpstr>
      <vt:lpstr>Disk &amp; Partition</vt:lpstr>
      <vt:lpstr>GPU Server</vt:lpstr>
      <vt:lpstr>Log Rotate</vt:lpstr>
      <vt:lpstr>Move to New Server</vt:lpstr>
      <vt:lpstr>Q&amp;A</vt:lpstr>
      <vt:lpstr>SSL &amp; Certificate</vt:lpstr>
      <vt:lpstr>Certificate Overview</vt:lpstr>
      <vt:lpstr>OpenSSL</vt:lpstr>
      <vt:lpstr>Certificate Conversion</vt:lpstr>
      <vt:lpstr>Certificate in Java</vt:lpstr>
      <vt:lpstr>Certificate FAQ</vt:lpstr>
      <vt:lpstr>SSL Certificate - Self-Signed</vt:lpstr>
      <vt:lpstr>SSL Certificate - Self-Signed</vt:lpstr>
      <vt:lpstr>信任自签名证书</vt:lpstr>
      <vt:lpstr>SSL Certificate - Let’s Encrypt</vt:lpstr>
      <vt:lpstr>Let’s Encrypt for Docker</vt:lpstr>
      <vt:lpstr>SSL Certificate - Let’s encrypt for Docker</vt:lpstr>
      <vt:lpstr>HTTPS</vt:lpstr>
      <vt:lpstr>Let’s Encrypt on Windows</vt:lpstr>
      <vt:lpstr>Windows Server</vt:lpstr>
      <vt:lpstr>Windows Server</vt:lpstr>
      <vt:lpstr>Wrap Executable as Windows Service</vt:lpstr>
      <vt:lpstr>Zabbix</vt:lpstr>
      <vt:lpstr>Intro</vt:lpstr>
      <vt:lpstr>Install (docker-compose)</vt:lpstr>
      <vt:lpstr>AWS</vt:lpstr>
      <vt:lpstr>Set Up</vt:lpstr>
      <vt:lpstr>BaaS</vt:lpstr>
      <vt:lpstr>Introduction</vt:lpstr>
      <vt:lpstr>Firebase</vt:lpstr>
      <vt:lpstr>API Testing</vt:lpstr>
      <vt:lpstr>Intro</vt:lpstr>
      <vt:lpstr>Locust</vt:lpstr>
      <vt:lpstr>Locust - 2</vt:lpstr>
      <vt:lpstr>CMS</vt:lpstr>
      <vt:lpstr>Lin CMS</vt:lpstr>
      <vt:lpstr>Docker</vt:lpstr>
      <vt:lpstr>Tomcat</vt:lpstr>
      <vt:lpstr>Statistics</vt:lpstr>
      <vt:lpstr>Matomo</vt:lpstr>
      <vt:lpstr>Security</vt:lpstr>
      <vt:lpstr>Overview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VhuanTech</cp:lastModifiedBy>
  <cp:revision>1054</cp:revision>
  <dcterms:created xsi:type="dcterms:W3CDTF">2015-05-05T08:02:00Z</dcterms:created>
  <dcterms:modified xsi:type="dcterms:W3CDTF">2026-05-22T04:14:30Z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7AF9578DCC4545EAB0A23B587832ABC8</vt:lpwstr>
  </property>
</Properties>
</file>