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9"/>
  </p:handoutMasterIdLst>
  <p:sldIdLst>
    <p:sldId id="256" r:id="rId3"/>
    <p:sldId id="263" r:id="rId5"/>
    <p:sldId id="257" r:id="rId6"/>
    <p:sldId id="312" r:id="rId7"/>
    <p:sldId id="258" r:id="rId8"/>
    <p:sldId id="260" r:id="rId9"/>
    <p:sldId id="296" r:id="rId10"/>
    <p:sldId id="259" r:id="rId11"/>
    <p:sldId id="282" r:id="rId12"/>
    <p:sldId id="262" r:id="rId13"/>
    <p:sldId id="264" r:id="rId14"/>
    <p:sldId id="272" r:id="rId15"/>
    <p:sldId id="275" r:id="rId16"/>
    <p:sldId id="271" r:id="rId17"/>
    <p:sldId id="278" r:id="rId18"/>
    <p:sldId id="281" r:id="rId19"/>
    <p:sldId id="270" r:id="rId20"/>
    <p:sldId id="332" r:id="rId21"/>
    <p:sldId id="385" r:id="rId22"/>
    <p:sldId id="377" r:id="rId23"/>
    <p:sldId id="279" r:id="rId24"/>
    <p:sldId id="293" r:id="rId25"/>
    <p:sldId id="336" r:id="rId26"/>
    <p:sldId id="372" r:id="rId27"/>
    <p:sldId id="374" r:id="rId28"/>
    <p:sldId id="395" r:id="rId29"/>
    <p:sldId id="471" r:id="rId30"/>
    <p:sldId id="517" r:id="rId31"/>
    <p:sldId id="518" r:id="rId32"/>
    <p:sldId id="331" r:id="rId33"/>
    <p:sldId id="376" r:id="rId34"/>
    <p:sldId id="519" r:id="rId35"/>
    <p:sldId id="453" r:id="rId36"/>
    <p:sldId id="430" r:id="rId37"/>
    <p:sldId id="431" r:id="rId38"/>
    <p:sldId id="432" r:id="rId39"/>
    <p:sldId id="492" r:id="rId40"/>
    <p:sldId id="433" r:id="rId41"/>
    <p:sldId id="443" r:id="rId42"/>
    <p:sldId id="398" r:id="rId43"/>
    <p:sldId id="399" r:id="rId44"/>
    <p:sldId id="400" r:id="rId45"/>
    <p:sldId id="401" r:id="rId46"/>
    <p:sldId id="406" r:id="rId47"/>
    <p:sldId id="402" r:id="rId48"/>
    <p:sldId id="405" r:id="rId49"/>
    <p:sldId id="403" r:id="rId50"/>
    <p:sldId id="404" r:id="rId51"/>
    <p:sldId id="507" r:id="rId52"/>
    <p:sldId id="511" r:id="rId53"/>
    <p:sldId id="516" r:id="rId54"/>
    <p:sldId id="468" r:id="rId55"/>
    <p:sldId id="470" r:id="rId56"/>
    <p:sldId id="469" r:id="rId57"/>
    <p:sldId id="515" r:id="rId58"/>
  </p:sldIdLst>
  <p:sldSz cx="12192000" cy="6858000"/>
  <p:notesSz cx="6858000" cy="9144000"/>
  <p:custDataLst>
    <p:tags r:id="rId6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DCDC"/>
    <a:srgbClr val="F0F0F0"/>
    <a:srgbClr val="E6E6E6"/>
    <a:srgbClr val="C8C8C8"/>
    <a:srgbClr val="FFFFFF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654" y="54"/>
      </p:cViewPr>
      <p:guideLst>
        <p:guide orient="horz" pos="2196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3" Type="http://schemas.openxmlformats.org/officeDocument/2006/relationships/tags" Target="tags/tag68.xml"/><Relationship Id="rId62" Type="http://schemas.openxmlformats.org/officeDocument/2006/relationships/tableStyles" Target="tableStyles.xml"/><Relationship Id="rId61" Type="http://schemas.openxmlformats.org/officeDocument/2006/relationships/viewProps" Target="viewProps.xml"/><Relationship Id="rId60" Type="http://schemas.openxmlformats.org/officeDocument/2006/relationships/presProps" Target="presProps.xml"/><Relationship Id="rId6" Type="http://schemas.openxmlformats.org/officeDocument/2006/relationships/slide" Target="slides/slide3.xml"/><Relationship Id="rId59" Type="http://schemas.openxmlformats.org/officeDocument/2006/relationships/handoutMaster" Target="handoutMasters/handoutMaster1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1AC49D05-6128-4D0D-A32A-06A5E73B386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5849F42C-2DAE-424C-A4B8-3140182C3E9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6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4599881"/>
            <a:ext cx="9144000" cy="682643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299335"/>
            <a:ext cx="9144000" cy="376237"/>
          </a:xfrm>
        </p:spPr>
        <p:txBody>
          <a:bodyPr anchor="ctr" anchorCtr="0"/>
          <a:lstStyle>
            <a:lvl1pPr marL="0" indent="0" algn="ctr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 smtClean="0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031219"/>
            <a:ext cx="10515600" cy="1551646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accent1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95320" y="3697371"/>
            <a:ext cx="8401360" cy="896937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grpSp>
        <p:nvGrpSpPr>
          <p:cNvPr id="7" name="组合 6"/>
          <p:cNvGrpSpPr/>
          <p:nvPr/>
        </p:nvGrpSpPr>
        <p:grpSpPr>
          <a:xfrm>
            <a:off x="1625237" y="3582865"/>
            <a:ext cx="8941526" cy="102651"/>
            <a:chOff x="3914775" y="2524125"/>
            <a:chExt cx="2428875" cy="57150"/>
          </a:xfrm>
        </p:grpSpPr>
        <p:sp>
          <p:nvSpPr>
            <p:cNvPr id="8" name="矩形 7"/>
            <p:cNvSpPr/>
            <p:nvPr/>
          </p:nvSpPr>
          <p:spPr>
            <a:xfrm>
              <a:off x="3914775" y="2524125"/>
              <a:ext cx="809625" cy="571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4724400" y="2524125"/>
              <a:ext cx="809625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5534025" y="2524125"/>
              <a:ext cx="809625" cy="5715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7498"/>
            <a:ext cx="10515600" cy="772299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1459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1969819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1459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969819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33134" y="2522178"/>
            <a:ext cx="5309839" cy="1226171"/>
          </a:xfrm>
        </p:spPr>
        <p:txBody>
          <a:bodyPr>
            <a:normAutofit/>
          </a:bodyPr>
          <a:lstStyle>
            <a:lvl1pPr algn="ctr">
              <a:defRPr sz="7200" b="0"/>
            </a:lvl1pPr>
          </a:lstStyle>
          <a:p>
            <a:r>
              <a:rPr lang="zh-CN" altLang="en-US" dirty="0" smtClean="0"/>
              <a:t>编辑标题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6" name="空心弧 5"/>
          <p:cNvSpPr/>
          <p:nvPr/>
        </p:nvSpPr>
        <p:spPr bwMode="auto">
          <a:xfrm rot="7086271">
            <a:off x="7390896" y="2034751"/>
            <a:ext cx="2201026" cy="2201026"/>
          </a:xfrm>
          <a:prstGeom prst="blockArc">
            <a:avLst>
              <a:gd name="adj1" fmla="val 5502533"/>
              <a:gd name="adj2" fmla="val 1980318"/>
              <a:gd name="adj3" fmla="val 1053"/>
            </a:avLst>
          </a:prstGeom>
          <a:solidFill>
            <a:schemeClr val="accent1"/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 eaLnBrk="1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</a:endParaRPr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3748670" y="3778700"/>
            <a:ext cx="3878765" cy="845746"/>
          </a:xfrm>
        </p:spPr>
        <p:txBody>
          <a:bodyPr anchor="ctr" anchorCtr="0">
            <a:normAutofit/>
          </a:bodyPr>
          <a:lstStyle>
            <a:lvl1pPr marL="0" indent="0" algn="dist">
              <a:buNone/>
              <a:defRPr>
                <a:solidFill>
                  <a:schemeClr val="accent2"/>
                </a:solidFill>
              </a:defRPr>
            </a:lvl1pPr>
          </a:lstStyle>
          <a:p>
            <a:pPr lvl="0"/>
            <a:r>
              <a:rPr lang="zh-CN" altLang="en-US" dirty="0" smtClean="0"/>
              <a:t>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994" y="245327"/>
            <a:ext cx="10514012" cy="719795"/>
          </a:xfrm>
        </p:spPr>
        <p:txBody>
          <a:bodyPr anchor="ctr" anchorCtr="0">
            <a:normAutofit/>
          </a:bodyPr>
          <a:lstStyle>
            <a:lvl1pPr>
              <a:defRPr sz="36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101020" y="1257090"/>
            <a:ext cx="3878116" cy="44523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122" y="1257090"/>
            <a:ext cx="5597912" cy="4452336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7600" y="408675"/>
            <a:ext cx="10516800" cy="581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2F5ED-D19D-4097-92A9-D6092B3D6E6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AEAA2-D029-4D23-B6D5-DE004B8B3ED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tags" Target="../tags/tag3.xml"/><Relationship Id="rId13" Type="http://schemas.openxmlformats.org/officeDocument/2006/relationships/tags" Target="../tags/tag2.xml"/><Relationship Id="rId12" Type="http://schemas.openxmlformats.org/officeDocument/2006/relationships/tags" Target="../tags/tag1.xml"/><Relationship Id="rId11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838200" y="182881"/>
            <a:ext cx="10515600" cy="7315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838200" y="1211581"/>
            <a:ext cx="10515600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Font typeface="黑体" panose="02010609060101010101" pitchFamily="49" charset="-122"/>
        <a:buChar char="〉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9.xml"/><Relationship Id="rId2" Type="http://schemas.openxmlformats.org/officeDocument/2006/relationships/image" Target="../media/image3.png"/><Relationship Id="rId1" Type="http://schemas.openxmlformats.org/officeDocument/2006/relationships/tags" Target="../tags/tag18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21.xml"/><Relationship Id="rId2" Type="http://schemas.openxmlformats.org/officeDocument/2006/relationships/image" Target="../media/image4.png"/><Relationship Id="rId1" Type="http://schemas.openxmlformats.org/officeDocument/2006/relationships/tags" Target="../tags/tag2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4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5.xml"/><Relationship Id="rId1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8.xml"/><Relationship Id="rId1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4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0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3.xml"/><Relationship Id="rId1" Type="http://schemas.openxmlformats.org/officeDocument/2006/relationships/tags" Target="../tags/tag52.xml"/></Relationships>
</file>

<file path=ppt/slides/_rels/slide4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8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0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6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</a:pPr>
            <a:r>
              <a:rPr lang="en-US" altLang="zh-CN" sz="4000" smtClean="0"/>
              <a:t>Flask Notes</a:t>
            </a:r>
            <a:endParaRPr lang="en-US" altLang="zh-CN" sz="4000" smtClean="0"/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524000" y="5375535"/>
            <a:ext cx="9144000" cy="376237"/>
          </a:xfrm>
        </p:spPr>
        <p:txBody>
          <a:bodyPr>
            <a:noAutofit/>
          </a:bodyPr>
          <a:p>
            <a:pPr marL="0" indent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</a:pPr>
            <a:r>
              <a:rPr lang="en-US" altLang="zh-CN" sz="1600" smtClean="0"/>
              <a:t>Sparks Lu</a:t>
            </a:r>
            <a:endParaRPr lang="en-US" altLang="zh-CN" sz="1600" smtClean="0"/>
          </a:p>
          <a:p>
            <a:pPr marL="0" indent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</a:pPr>
            <a:r>
              <a:rPr lang="en-US" altLang="zh-CN" sz="1600" smtClean="0"/>
              <a:t>Last updated: 12/16/2021</a:t>
            </a:r>
            <a:endParaRPr lang="en-US" altLang="zh-CN" sz="1600" smtClean="0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Intro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515600" cy="4903470"/>
          </a:xfrm>
        </p:spPr>
        <p:txBody>
          <a:bodyPr>
            <a:normAutofit fontScale="7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https://flask.palletsprojects.com/en/1.1.x/quickstart/</a:t>
            </a:r>
            <a:endParaRPr lang="en-US" altLang="zh-CN"/>
          </a:p>
          <a:p>
            <a:pPr lvl="1"/>
            <a:r>
              <a:rPr lang="en-US" altLang="zh-CN"/>
              <a:t>http://www.patricksoftwareblog.com/all-posts/</a:t>
            </a:r>
            <a:endParaRPr lang="en-US" altLang="zh-CN"/>
          </a:p>
          <a:p>
            <a:pPr lvl="1"/>
            <a:r>
              <a:rPr lang="en-US" altLang="zh-CN"/>
              <a:t>https://www.digitalocean.com/community/tutorials/how-to-structure-large-flask-applications</a:t>
            </a:r>
            <a:endParaRPr lang="en-US" altLang="zh-CN"/>
          </a:p>
          <a:p>
            <a:pPr lvl="1"/>
            <a:r>
              <a:rPr lang="en-US" altLang="zh-CN"/>
              <a:t>https://github.com/qzq1111/flask-restful-example</a:t>
            </a:r>
            <a:endParaRPr lang="en-US" altLang="zh-CN"/>
          </a:p>
          <a:p>
            <a:pPr lvl="0"/>
            <a:r>
              <a:rPr lang="en-US" altLang="zh-CN"/>
              <a:t>Tutorials, Modules</a:t>
            </a:r>
            <a:endParaRPr lang="en-US" altLang="zh-CN"/>
          </a:p>
          <a:p>
            <a:pPr lvl="1"/>
            <a:r>
              <a:rPr lang="en-US" altLang="zh-CN"/>
              <a:t>https://github.com/miguelgrinberg/flasky</a:t>
            </a:r>
            <a:endParaRPr lang="en-US" altLang="zh-CN"/>
          </a:p>
          <a:p>
            <a:pPr lvl="1"/>
            <a:r>
              <a:rPr lang="en-US" altLang="zh-CN"/>
              <a:t>https://github.com/flask-admin/flask-admin</a:t>
            </a:r>
            <a:endParaRPr lang="en-US" altLang="zh-CN"/>
          </a:p>
          <a:p>
            <a:pPr lvl="1"/>
            <a:r>
              <a:rPr lang="en-US" altLang="zh-CN"/>
              <a:t>https://github.com/maxcountryman/flask-login</a:t>
            </a:r>
            <a:endParaRPr lang="en-US" altLang="zh-CN"/>
          </a:p>
          <a:p>
            <a:pPr lvl="1"/>
            <a:r>
              <a:rPr lang="en-US" altLang="zh-CN"/>
              <a:t>https://github.com/hack4impact/flask-base</a:t>
            </a:r>
            <a:endParaRPr lang="en-US" altLang="zh-CN"/>
          </a:p>
          <a:p>
            <a:pPr lvl="1"/>
            <a:r>
              <a:rPr lang="en-US" altLang="zh-CN"/>
              <a:t>https://github.com/alectrocute/flaskSaaS</a:t>
            </a:r>
            <a:endParaRPr lang="en-US" altLang="zh-CN"/>
          </a:p>
          <a:p>
            <a:pPr lvl="1"/>
            <a:r>
              <a:rPr lang="en-US" altLang="zh-CN"/>
              <a:t>https://github.com/christabor/flask_jsondash</a:t>
            </a:r>
            <a:endParaRPr lang="en-US" altLang="zh-CN"/>
          </a:p>
          <a:p>
            <a:pPr lvl="1"/>
            <a:r>
              <a:rPr lang="en-US" altLang="zh-CN"/>
              <a:t>https://github.com/tiangolo/uwsgi-nginx-flask-docker</a:t>
            </a:r>
            <a:endParaRPr lang="en-US" altLang="zh-CN"/>
          </a:p>
          <a:p>
            <a:pPr lvl="1"/>
            <a:r>
              <a:rPr lang="en-US" altLang="zh-CN"/>
              <a:t>https://github.com/gtalarico/flask-vuejs-template</a:t>
            </a:r>
            <a:endParaRPr lang="en-US" altLang="zh-CN"/>
          </a:p>
          <a:p>
            <a:r>
              <a:rPr lang="en-US" altLang="zh-CN"/>
              <a:t>Micro-framework for developing web applications</a:t>
            </a:r>
            <a:endParaRPr lang="en-US" altLang="zh-CN"/>
          </a:p>
          <a:p>
            <a:pPr lvl="1"/>
            <a:r>
              <a:rPr lang="en-US" altLang="zh-CN"/>
              <a:t>written in python</a:t>
            </a:r>
            <a:endParaRPr lang="en-US" altLang="zh-CN"/>
          </a:p>
          <a:p>
            <a:pPr lvl="1"/>
            <a:r>
              <a:rPr lang="en-US" altLang="zh-CN"/>
              <a:t>based on the Werkzeug and Jinja2 template engine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Basic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7927975" cy="4549140"/>
          </a:xfrm>
        </p:spPr>
        <p:txBody>
          <a:bodyPr>
            <a:normAutofit lnSpcReduction="20000"/>
          </a:bodyPr>
          <a:p>
            <a:r>
              <a:rPr lang="en-US" altLang="zh-CN">
                <a:sym typeface="+mn-ea"/>
              </a:rPr>
              <a:t>pip install flask flask-cors python-dotenv</a:t>
            </a:r>
            <a:endParaRPr lang="en-US" altLang="zh-CN">
              <a:sym typeface="+mn-ea"/>
            </a:endParaRPr>
          </a:p>
          <a:p>
            <a:r>
              <a:rPr lang="en-US" altLang="zh-CN"/>
              <a:t>Run</a:t>
            </a:r>
            <a:endParaRPr lang="en-US" altLang="zh-CN"/>
          </a:p>
          <a:p>
            <a:pPr lvl="1"/>
            <a:r>
              <a:rPr lang="en-US" altLang="zh-CN"/>
              <a:t>export FLASK_APP=hello.py</a:t>
            </a:r>
            <a:endParaRPr lang="en-US" altLang="zh-CN"/>
          </a:p>
          <a:p>
            <a:pPr lvl="2"/>
            <a:r>
              <a:rPr lang="en-US" altLang="zh-CN"/>
              <a:t>After install python-dotenv, this can be written in .flaskenv of project top folder</a:t>
            </a:r>
            <a:endParaRPr lang="en-US" altLang="zh-CN"/>
          </a:p>
          <a:p>
            <a:pPr lvl="1"/>
            <a:r>
              <a:rPr lang="en-US" altLang="zh-CN"/>
              <a:t>flask run</a:t>
            </a:r>
            <a:endParaRPr lang="en-US" altLang="zh-CN"/>
          </a:p>
          <a:p>
            <a:pPr lvl="1"/>
            <a:r>
              <a:rPr lang="en-US" altLang="zh-CN"/>
              <a:t>flask run --host=0.0.0.0	// Visible by all IP, serve only one request at a time</a:t>
            </a:r>
            <a:endParaRPr lang="en-US" altLang="zh-CN"/>
          </a:p>
          <a:p>
            <a:pPr lvl="0"/>
            <a:r>
              <a:rPr lang="en-US" altLang="zh-CN"/>
              <a:t>URL</a:t>
            </a:r>
            <a:endParaRPr lang="en-US" altLang="zh-CN"/>
          </a:p>
          <a:p>
            <a:pPr lvl="1"/>
            <a:r>
              <a:rPr lang="en-US" altLang="zh-CN"/>
              <a:t>redirect(url_for('login'))</a:t>
            </a:r>
            <a:endParaRPr lang="en-US" altLang="zh-CN"/>
          </a:p>
          <a:p>
            <a:pPr lvl="1"/>
            <a:r>
              <a:rPr lang="en-US" altLang="zh-CN"/>
              <a:t>abort(401)</a:t>
            </a:r>
            <a:endParaRPr lang="en-US" altLang="zh-CN"/>
          </a:p>
          <a:p>
            <a:pPr lvl="1"/>
            <a:r>
              <a:rPr lang="en-US" altLang="zh-CN"/>
              <a:t>@app.route('/')</a:t>
            </a:r>
            <a:endParaRPr lang="en-US" altLang="zh-CN"/>
          </a:p>
          <a:p>
            <a:pPr lvl="1"/>
            <a:r>
              <a:rPr lang="en-US" altLang="zh-CN"/>
              <a:t>@app.route('/user/{user_id}')</a:t>
            </a:r>
            <a:endParaRPr lang="en-US" altLang="zh-CN"/>
          </a:p>
          <a:p>
            <a:pPr lvl="1"/>
            <a:r>
              <a:rPr lang="en-US" altLang="zh-CN"/>
              <a:t>@app.errorhandler(404)</a:t>
            </a:r>
            <a:endParaRPr lang="en-US" altLang="zh-CN"/>
          </a:p>
          <a:p>
            <a:pPr lvl="1"/>
            <a:r>
              <a:rPr lang="en-US" altLang="zh-CN"/>
              <a:t>app.url_map	// List all routes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8849360" y="1211580"/>
            <a:ext cx="2894330" cy="1753235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from flask import Flask</a:t>
            </a:r>
            <a:endParaRPr lang="zh-CN" altLang="en-US"/>
          </a:p>
          <a:p>
            <a:r>
              <a:rPr lang="zh-CN" altLang="en-US"/>
              <a:t>app = Flask(__name__)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@app.route('/')</a:t>
            </a:r>
            <a:endParaRPr lang="zh-CN" altLang="en-US"/>
          </a:p>
          <a:p>
            <a:r>
              <a:rPr lang="zh-CN" altLang="en-US"/>
              <a:t>def hello_world():</a:t>
            </a:r>
            <a:endParaRPr lang="zh-CN" altLang="en-US"/>
          </a:p>
          <a:p>
            <a:r>
              <a:rPr lang="zh-CN" altLang="en-US"/>
              <a:t>    return 'Hello, World!'</a:t>
            </a:r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7106285" y="3941445"/>
            <a:ext cx="3154045" cy="96583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Python Scripts</a:t>
            </a:r>
            <a:endParaRPr lang="en-US" altLang="zh-CN"/>
          </a:p>
        </p:txBody>
      </p:sp>
      <p:sp>
        <p:nvSpPr>
          <p:cNvPr id="6" name="圆角矩形 5"/>
          <p:cNvSpPr/>
          <p:nvPr/>
        </p:nvSpPr>
        <p:spPr>
          <a:xfrm>
            <a:off x="7091045" y="5253990"/>
            <a:ext cx="3154045" cy="96583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Templates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App Configuration</a:t>
            </a:r>
            <a:endParaRPr lang="en-US" altLang="zh-CN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655320" y="1295400"/>
          <a:ext cx="10925175" cy="356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6490"/>
                <a:gridCol w="2997835"/>
                <a:gridCol w="2745740"/>
                <a:gridCol w="2785110"/>
              </a:tblGrid>
              <a:tr h="407670">
                <a:tc>
                  <a:txBody>
                    <a:bodyPr/>
                    <a:p>
                      <a:pPr>
                        <a:buNone/>
                      </a:pPr>
                      <a:endParaRPr lang="zh-CN" altLang="en-US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candidate values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default value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Note</a:t>
                      </a:r>
                      <a:endParaRPr lang="en-US" altLang="zh-CN"/>
                    </a:p>
                  </a:txBody>
                  <a:tcPr/>
                </a:tc>
              </a:tr>
              <a:tr h="40767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/>
                        <a:t>ENV</a:t>
                      </a:r>
                      <a:endParaRPr lang="en-US" altLang="zh-CN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'production', 'development'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'production'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119253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/>
                        <a:t>DEBUG</a:t>
                      </a:r>
                      <a:endParaRPr lang="en-US" altLang="zh-CN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True, False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False when ENV=='production'</a:t>
                      </a:r>
                      <a:endParaRPr lang="en-US" altLang="zh-CN"/>
                    </a:p>
                    <a:p>
                      <a:pPr>
                        <a:buNone/>
                      </a:pPr>
                      <a:r>
                        <a:rPr lang="en-US" altLang="zh-CN"/>
                        <a:t>True when ENV=='development'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6426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/>
                        <a:t>SECRET_KEY</a:t>
                      </a:r>
                      <a:endParaRPr lang="en-US" altLang="zh-CN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Used for signing the session cookie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None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91757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1"/>
                        <a:t>PERMANENT_SESSION_LIFETIME</a:t>
                      </a:r>
                      <a:endParaRPr lang="zh-CN" altLang="en-US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datetime.timedelta or int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31 days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Take effect if session.permanant is True </a:t>
                      </a:r>
                      <a:r>
                        <a:rPr lang="zh-CN" altLang="en-US" sz="1800">
                          <a:sym typeface="+mn-ea"/>
                        </a:rPr>
                        <a:t>（</a:t>
                      </a:r>
                      <a:r>
                        <a:rPr lang="en-US" altLang="zh-CN" sz="1800">
                          <a:sym typeface="+mn-ea"/>
                        </a:rPr>
                        <a:t>default false)</a:t>
                      </a:r>
                      <a:endParaRPr lang="en-US" altLang="zh-CN" sz="1800">
                        <a:sym typeface="+mn-ea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Request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213475" cy="5342890"/>
          </a:xfrm>
        </p:spPr>
        <p:txBody>
          <a:bodyPr>
            <a:noAutofit/>
          </a:bodyPr>
          <a:p>
            <a:r>
              <a:rPr lang="en-US" altLang="zh-CN" sz="1600"/>
              <a:t>Request</a:t>
            </a:r>
            <a:endParaRPr lang="en-US" altLang="zh-CN" sz="1600"/>
          </a:p>
          <a:p>
            <a:pPr lvl="1"/>
            <a:r>
              <a:rPr lang="en-US" altLang="zh-CN" sz="1400"/>
              <a:t>from flask import request</a:t>
            </a:r>
            <a:endParaRPr lang="en-US" altLang="zh-CN" sz="1400"/>
          </a:p>
          <a:p>
            <a:pPr lvl="1"/>
            <a:r>
              <a:rPr lang="en-US" altLang="zh-CN" sz="1400"/>
              <a:t>request.method</a:t>
            </a:r>
            <a:endParaRPr lang="en-US" altLang="zh-CN" sz="1400"/>
          </a:p>
          <a:p>
            <a:pPr lvl="1"/>
            <a:r>
              <a:rPr lang="en-US" altLang="zh-CN" sz="1400"/>
              <a:t>request.path</a:t>
            </a:r>
            <a:endParaRPr lang="en-US" altLang="zh-CN" sz="1400"/>
          </a:p>
          <a:p>
            <a:pPr lvl="1"/>
            <a:r>
              <a:rPr lang="en-US" altLang="zh-CN" sz="1400"/>
              <a:t>request.headers</a:t>
            </a:r>
            <a:endParaRPr lang="en-US" altLang="zh-CN" sz="1400"/>
          </a:p>
          <a:p>
            <a:pPr lvl="2"/>
            <a:r>
              <a:rPr lang="en-US" altLang="zh-CN" sz="1260"/>
              <a:t>request.headers.get('User-Agent')</a:t>
            </a:r>
            <a:endParaRPr lang="en-US" altLang="zh-CN" sz="1260"/>
          </a:p>
          <a:p>
            <a:pPr lvl="1"/>
            <a:r>
              <a:rPr lang="en-US" altLang="zh-CN" sz="1400"/>
              <a:t>GET: request.args.get('username')</a:t>
            </a:r>
            <a:endParaRPr lang="en-US" altLang="zh-CN" sz="1400"/>
          </a:p>
          <a:p>
            <a:pPr lvl="1"/>
            <a:r>
              <a:rPr lang="en-US" altLang="zh-CN" sz="1400"/>
              <a:t>POST:</a:t>
            </a:r>
            <a:endParaRPr lang="en-US" altLang="zh-CN" sz="1400"/>
          </a:p>
          <a:p>
            <a:pPr lvl="2"/>
            <a:r>
              <a:rPr lang="en-US" altLang="zh-CN" sz="1200"/>
              <a:t>request.form.get('username'),	// multipart/form-data</a:t>
            </a:r>
            <a:endParaRPr lang="en-US" altLang="zh-CN" sz="1200"/>
          </a:p>
          <a:p>
            <a:pPr lvl="2"/>
            <a:r>
              <a:rPr lang="en-US" altLang="zh-CN" sz="1200"/>
              <a:t>request.files</a:t>
            </a:r>
            <a:endParaRPr lang="en-US" altLang="zh-CN" sz="1200"/>
          </a:p>
          <a:p>
            <a:pPr lvl="2"/>
            <a:r>
              <a:rPr lang="en-US" altLang="zh-CN" sz="1200"/>
              <a:t>jobj = request.get_json()	// applicaiton/json</a:t>
            </a:r>
            <a:endParaRPr lang="en-US" altLang="zh-CN" sz="1200"/>
          </a:p>
          <a:p>
            <a:pPr lvl="0"/>
            <a:r>
              <a:rPr lang="en-US" altLang="zh-CN" sz="1600"/>
              <a:t>Upload</a:t>
            </a:r>
            <a:endParaRPr lang="en-US" altLang="zh-CN" sz="1600"/>
          </a:p>
          <a:p>
            <a:pPr lvl="1"/>
            <a:r>
              <a:rPr lang="en-US" altLang="zh-CN" sz="1400"/>
              <a:t>f = request.files['the_file']</a:t>
            </a:r>
            <a:endParaRPr lang="en-US" altLang="zh-CN" sz="1400"/>
          </a:p>
          <a:p>
            <a:pPr lvl="1"/>
            <a:r>
              <a:rPr lang="en-US" altLang="zh-CN" sz="1400"/>
              <a:t>f.save('/tmp' + f.filename)</a:t>
            </a:r>
            <a:endParaRPr lang="en-US" altLang="zh-CN" sz="1400"/>
          </a:p>
          <a:p>
            <a:pPr lvl="0"/>
            <a:r>
              <a:rPr lang="en-US" altLang="zh-CN" sz="1600"/>
              <a:t>Cookie</a:t>
            </a:r>
            <a:endParaRPr lang="en-US" altLang="zh-CN" sz="1600"/>
          </a:p>
          <a:p>
            <a:pPr lvl="1"/>
            <a:r>
              <a:rPr lang="en-US" altLang="zh-CN" sz="1400"/>
              <a:t>request.cookies.get('username')</a:t>
            </a:r>
            <a:endParaRPr lang="en-US" altLang="zh-CN" sz="1400"/>
          </a:p>
          <a:p>
            <a:pPr lvl="1"/>
            <a:r>
              <a:rPr lang="en-US" altLang="zh-CN" sz="1400"/>
              <a:t>resp = make_response(render_template(...))</a:t>
            </a:r>
            <a:endParaRPr lang="en-US" altLang="zh-CN" sz="1400"/>
          </a:p>
          <a:p>
            <a:pPr lvl="1"/>
            <a:r>
              <a:rPr lang="en-US" altLang="zh-CN" sz="1400"/>
              <a:t>resp.set_cookie('username', 'un1')</a:t>
            </a:r>
            <a:endParaRPr lang="en-US" altLang="zh-CN" sz="1400"/>
          </a:p>
        </p:txBody>
      </p:sp>
      <p:sp>
        <p:nvSpPr>
          <p:cNvPr id="4" name="文本框 3"/>
          <p:cNvSpPr txBox="1"/>
          <p:nvPr/>
        </p:nvSpPr>
        <p:spPr>
          <a:xfrm>
            <a:off x="7139940" y="1211580"/>
            <a:ext cx="4603750" cy="1753235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p>
            <a:r>
              <a:rPr lang="zh-CN" altLang="en-US" sz="1200"/>
              <a:t>from flask import </a:t>
            </a:r>
            <a:r>
              <a:rPr lang="en-US" altLang="zh-CN" sz="1200"/>
              <a:t>Flask, request</a:t>
            </a:r>
            <a:endParaRPr lang="zh-CN" altLang="en-US" sz="1200"/>
          </a:p>
          <a:p>
            <a:r>
              <a:rPr lang="zh-CN" altLang="en-US" sz="1200"/>
              <a:t>app = Flask(__name__)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@app.route('/'</a:t>
            </a:r>
            <a:r>
              <a:rPr lang="en-US" altLang="zh-CN" sz="1200"/>
              <a:t>, methods=['GET', 'POST']</a:t>
            </a:r>
            <a:r>
              <a:rPr lang="zh-CN" altLang="en-US" sz="1200"/>
              <a:t>)</a:t>
            </a:r>
            <a:endParaRPr lang="zh-CN" altLang="en-US" sz="1200"/>
          </a:p>
          <a:p>
            <a:r>
              <a:rPr lang="zh-CN" altLang="en-US" sz="1200"/>
              <a:t>def hello_world():</a:t>
            </a:r>
            <a:endParaRPr lang="zh-CN" altLang="en-US" sz="1200"/>
          </a:p>
          <a:p>
            <a:r>
              <a:rPr lang="zh-CN" altLang="en-US" sz="1200"/>
              <a:t>    </a:t>
            </a:r>
            <a:r>
              <a:rPr lang="en-US" altLang="zh-CN" sz="1200"/>
              <a:t>if request.method == 'GET':</a:t>
            </a:r>
            <a:endParaRPr lang="en-US" altLang="zh-CN" sz="1200"/>
          </a:p>
          <a:p>
            <a:r>
              <a:rPr lang="zh-CN" altLang="en-US" sz="1200"/>
              <a:t>        </a:t>
            </a:r>
            <a:r>
              <a:rPr lang="en-US" altLang="zh-CN" sz="1200"/>
              <a:t>func1()</a:t>
            </a:r>
            <a:endParaRPr lang="en-US" altLang="zh-CN" sz="1200"/>
          </a:p>
          <a:p>
            <a:r>
              <a:rPr lang="en-US" altLang="zh-CN" sz="1200"/>
              <a:t>    elif request.method == 'POST':</a:t>
            </a:r>
            <a:endParaRPr lang="en-US" altLang="zh-CN" sz="1200"/>
          </a:p>
          <a:p>
            <a:r>
              <a:rPr lang="en-US" altLang="zh-CN" sz="1200"/>
              <a:t>        func2()</a:t>
            </a:r>
            <a:endParaRPr lang="en-US" altLang="zh-CN" sz="1200"/>
          </a:p>
        </p:txBody>
      </p:sp>
      <p:graphicFrame>
        <p:nvGraphicFramePr>
          <p:cNvPr id="6" name="表格 5"/>
          <p:cNvGraphicFramePr/>
          <p:nvPr>
            <p:custDataLst>
              <p:tags r:id="rId1"/>
            </p:custDataLst>
          </p:nvPr>
        </p:nvGraphicFramePr>
        <p:xfrm>
          <a:off x="6474460" y="3204845"/>
          <a:ext cx="5518785" cy="2851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7725"/>
                <a:gridCol w="2632710"/>
                <a:gridCol w="2038350"/>
              </a:tblGrid>
              <a:tr h="420370">
                <a:tc>
                  <a:txBody>
                    <a:bodyPr/>
                    <a:p>
                      <a:pPr algn="ctr">
                        <a:lnSpc>
                          <a:spcPct val="90000"/>
                        </a:lnSpc>
                        <a:buNone/>
                      </a:pPr>
                      <a:r>
                        <a:rPr lang="en-US" altLang="zh-CN" sz="1200"/>
                        <a:t>Request property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lnSpc>
                          <a:spcPct val="90000"/>
                        </a:lnSpc>
                        <a:buNone/>
                      </a:pPr>
                      <a:r>
                        <a:rPr lang="en-US" altLang="zh-CN" sz="1200"/>
                        <a:t>Note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lnSpc>
                          <a:spcPct val="90000"/>
                        </a:lnSpc>
                        <a:buNone/>
                      </a:pPr>
                      <a:r>
                        <a:rPr lang="en-US" altLang="zh-CN" sz="1200"/>
                        <a:t>Example</a:t>
                      </a:r>
                      <a:endParaRPr lang="en-US" altLang="zh-CN" sz="1200"/>
                    </a:p>
                  </a:txBody>
                  <a:tcPr anchor="ctr" anchorCtr="0"/>
                </a:tc>
              </a:tr>
              <a:tr h="584835">
                <a:tc>
                  <a:txBody>
                    <a:bodyPr/>
                    <a:p>
                      <a:pPr algn="ctr">
                        <a:lnSpc>
                          <a:spcPct val="90000"/>
                        </a:lnSpc>
                        <a:buNone/>
                      </a:pPr>
                      <a:r>
                        <a:rPr lang="en-US" altLang="zh-CN" sz="1200"/>
                        <a:t>url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lang="zh-CN" altLang="en-US" sz="1200"/>
                        <a:t>The full request URL with the scheme, host, root path, path, and query string.</a:t>
                      </a:r>
                      <a:endParaRPr lang="zh-CN" altLang="en-US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lang="en-US" altLang="zh-CN" sz="1200"/>
                        <a:t>http://fishpano.com/app/user/detail?id=1</a:t>
                      </a:r>
                      <a:endParaRPr lang="en-US" altLang="zh-CN" sz="1200"/>
                    </a:p>
                  </a:txBody>
                  <a:tcPr anchor="ctr" anchorCtr="0"/>
                </a:tc>
              </a:tr>
              <a:tr h="420370">
                <a:tc>
                  <a:txBody>
                    <a:bodyPr/>
                    <a:p>
                      <a:pPr algn="ctr">
                        <a:lnSpc>
                          <a:spcPct val="90000"/>
                        </a:lnSpc>
                        <a:buNone/>
                      </a:pPr>
                      <a:r>
                        <a:rPr lang="en-US" altLang="zh-CN" sz="1200"/>
                        <a:t>base_url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lang="en-US" altLang="zh-CN" sz="1200"/>
                        <a:t>url without the query string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http://fishpano.com/app/user/detail</a:t>
                      </a:r>
                      <a:endParaRPr lang="zh-CN" altLang="en-US" sz="1200"/>
                    </a:p>
                  </a:txBody>
                  <a:tcPr anchor="ctr" anchorCtr="0"/>
                </a:tc>
              </a:tr>
              <a:tr h="420370">
                <a:tc>
                  <a:txBody>
                    <a:bodyPr/>
                    <a:p>
                      <a:pPr algn="ctr">
                        <a:lnSpc>
                          <a:spcPct val="90000"/>
                        </a:lnSpc>
                        <a:buNone/>
                      </a:pPr>
                      <a:r>
                        <a:rPr lang="en-US" altLang="zh-CN" sz="1200"/>
                        <a:t>root_url (url_root)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lang="zh-CN" altLang="en-US" sz="1200"/>
                        <a:t>The request URL scheme, host, and root path</a:t>
                      </a:r>
                      <a:endParaRPr lang="zh-CN" altLang="en-US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lang="en-US" altLang="zh-CN" sz="1200"/>
                        <a:t>http://fishpano.com/app/</a:t>
                      </a:r>
                      <a:endParaRPr lang="en-US" altLang="zh-CN" sz="1200"/>
                    </a:p>
                  </a:txBody>
                  <a:tcPr anchor="ctr" anchorCtr="0"/>
                </a:tc>
              </a:tr>
              <a:tr h="584835">
                <a:tc>
                  <a:txBody>
                    <a:bodyPr/>
                    <a:p>
                      <a:pPr algn="ctr">
                        <a:lnSpc>
                          <a:spcPct val="90000"/>
                        </a:lnSpc>
                        <a:buNone/>
                      </a:pPr>
                      <a:r>
                        <a:rPr lang="en-US" altLang="zh-CN" sz="1200"/>
                        <a:t>host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lang="zh-CN" altLang="en-US" sz="1200"/>
                        <a:t>The host name the request was made to, including the port if it’s non-standard.</a:t>
                      </a:r>
                      <a:endParaRPr lang="zh-CN" altLang="en-US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lang="en-US" altLang="zh-CN" sz="1200"/>
                        <a:t>fishpano.com:8080</a:t>
                      </a:r>
                      <a:endParaRPr lang="en-US" altLang="zh-CN" sz="1200"/>
                    </a:p>
                  </a:txBody>
                  <a:tcPr anchor="ctr" anchorCtr="0"/>
                </a:tc>
              </a:tr>
              <a:tr h="420370">
                <a:tc>
                  <a:txBody>
                    <a:bodyPr/>
                    <a:p>
                      <a:pPr algn="ctr">
                        <a:lnSpc>
                          <a:spcPct val="90000"/>
                        </a:lnSpc>
                        <a:buNone/>
                      </a:pPr>
                      <a:r>
                        <a:rPr lang="en-US" altLang="zh-CN" sz="1200"/>
                        <a:t>host_url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lang="en-US" altLang="zh-CN" sz="1200"/>
                        <a:t>The request URL scheme and host only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http://fishpano.com</a:t>
                      </a:r>
                      <a:endParaRPr lang="en-US" altLang="zh-CN" sz="1200"/>
                    </a:p>
                  </a:txBody>
                  <a:tcPr anchor="ctr" anchorCtr="0"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Response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Response format</a:t>
            </a:r>
            <a:endParaRPr lang="en-US" altLang="zh-CN"/>
          </a:p>
          <a:p>
            <a:pPr lvl="1"/>
            <a:r>
              <a:rPr lang="en-US" altLang="zh-CN"/>
              <a:t>response, status, headers</a:t>
            </a:r>
            <a:endParaRPr lang="en-US" altLang="zh-CN"/>
          </a:p>
          <a:p>
            <a:pPr lvl="1"/>
            <a:r>
              <a:rPr lang="en-US" altLang="zh-CN"/>
              <a:t>resp = make_response(response, status)</a:t>
            </a:r>
            <a:endParaRPr lang="en-US" altLang="zh-CN"/>
          </a:p>
          <a:p>
            <a:pPr lvl="1"/>
            <a:r>
              <a:rPr lang="en-US" altLang="zh-CN"/>
              <a:t>resp.headers['AAA'] = 'value'</a:t>
            </a:r>
            <a:endParaRPr lang="en-US" altLang="zh-CN"/>
          </a:p>
          <a:p>
            <a:pPr lvl="0"/>
            <a:r>
              <a:rPr lang="en-US" altLang="zh-CN"/>
              <a:t>URL encoding</a:t>
            </a:r>
            <a:endParaRPr lang="en-US" altLang="zh-CN"/>
          </a:p>
          <a:p>
            <a:pPr lvl="1"/>
            <a:r>
              <a:rPr lang="en-US" altLang="zh-CN"/>
              <a:t>import urllib.parse</a:t>
            </a:r>
            <a:endParaRPr lang="en-US" altLang="zh-CN"/>
          </a:p>
          <a:p>
            <a:pPr lvl="1"/>
            <a:r>
              <a:rPr lang="en-US" altLang="zh-CN"/>
              <a:t>urllib.parse.quote('query_str')</a:t>
            </a:r>
            <a:endParaRPr lang="en-US" altLang="zh-CN"/>
          </a:p>
          <a:p>
            <a:pPr lvl="1"/>
            <a:r>
              <a:rPr lang="en-US" altLang="zh-CN"/>
              <a:t>urllib.parse.urlencode({'p1': 'v1', 'p2': 'v2'})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Session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lvl="0"/>
            <a:r>
              <a:rPr lang="en-US" altLang="zh-CN" sz="2400">
                <a:sym typeface="+mn-ea"/>
              </a:rPr>
              <a:t>Session</a:t>
            </a:r>
            <a:endParaRPr lang="en-US" altLang="zh-CN" sz="24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implemented on top of cookie, signs the cookies cryptographically</a:t>
            </a:r>
            <a:endParaRPr lang="en-US" altLang="zh-CN" sz="2000"/>
          </a:p>
          <a:p>
            <a:pPr lvl="1"/>
            <a:r>
              <a:rPr lang="en-US" altLang="zh-CN">
                <a:sym typeface="+mn-ea"/>
              </a:rPr>
              <a:t>app.secret_key = 'AAA'</a:t>
            </a:r>
            <a:endParaRPr lang="en-US" altLang="zh-CN"/>
          </a:p>
          <a:p>
            <a:pPr lvl="1"/>
            <a:r>
              <a:rPr lang="en-US" altLang="zh-CN" sz="2000">
                <a:sym typeface="+mn-ea"/>
              </a:rPr>
              <a:t>session['username'] = 'aaa'</a:t>
            </a:r>
            <a:endParaRPr lang="en-US" altLang="zh-CN" sz="2000"/>
          </a:p>
          <a:p>
            <a:pPr lvl="1"/>
            <a:r>
              <a:rPr lang="en-US" altLang="zh-CN" sz="2000">
                <a:sym typeface="+mn-ea"/>
              </a:rPr>
              <a:t>session.pop('username', None)</a:t>
            </a:r>
            <a:endParaRPr lang="en-US" altLang="zh-CN" sz="2000"/>
          </a:p>
          <a:p>
            <a:pPr lvl="1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Render Template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lvl="0"/>
            <a:r>
              <a:rPr lang="en-US" altLang="zh-CN" sz="2400">
                <a:sym typeface="+mn-ea"/>
              </a:rPr>
              <a:t>Render template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from flask import render_template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render_template('hello.html', name=name)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templates/hello.html</a:t>
            </a:r>
            <a:endParaRPr lang="en-US" altLang="zh-CN" sz="2400">
              <a:sym typeface="+mn-ea"/>
            </a:endParaRPr>
          </a:p>
          <a:p>
            <a:pPr lvl="0"/>
            <a:r>
              <a:rPr lang="en-US" altLang="zh-CN">
                <a:sym typeface="+mn-ea"/>
              </a:rPr>
              <a:t>Grammar in template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{{ var }}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{% if var %}, {% else %}, {% endif %}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{% for var in set %}, {% endfor %}</a:t>
            </a:r>
            <a:endParaRPr lang="en-US" altLang="zh-CN" sz="2000">
              <a:sym typeface="+mn-ea"/>
            </a:endParaRPr>
          </a:p>
          <a:p>
            <a:pPr lvl="0"/>
            <a:r>
              <a:rPr lang="en-US" altLang="zh-CN" sz="2400">
                <a:sym typeface="+mn-ea"/>
              </a:rPr>
              <a:t>Template inheritance</a:t>
            </a:r>
            <a:endParaRPr lang="en-US" altLang="zh-CN" sz="24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{% block bname %}{% endblock %}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{% extends 'base.html' %}</a:t>
            </a:r>
            <a:endParaRPr lang="en-US" altLang="zh-CN" sz="2400"/>
          </a:p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Misc Functions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717540" cy="4549140"/>
          </a:xfrm>
        </p:spPr>
        <p:txBody>
          <a:bodyPr/>
          <a:p>
            <a:r>
              <a:rPr lang="en-US" altLang="zh-CN"/>
              <a:t>url_for(endpoint, **values)</a:t>
            </a:r>
            <a:endParaRPr lang="en-US" altLang="zh-CN"/>
          </a:p>
          <a:p>
            <a:pPr lvl="1"/>
            <a:r>
              <a:rPr lang="en-US" altLang="zh-CN"/>
              <a:t>url_for('login', next='/')</a:t>
            </a:r>
            <a:endParaRPr lang="en-US" altLang="zh-CN"/>
          </a:p>
          <a:p>
            <a:pPr lvl="0"/>
            <a:r>
              <a:rPr lang="en-US" altLang="zh-CN"/>
              <a:t>logging</a:t>
            </a:r>
            <a:endParaRPr lang="en-US" altLang="zh-CN"/>
          </a:p>
          <a:p>
            <a:pPr lvl="1"/>
            <a:r>
              <a:rPr lang="en-US" altLang="zh-CN"/>
              <a:t>app.logger.debug()/.info()/.error()</a:t>
            </a:r>
            <a:endParaRPr lang="en-US" altLang="zh-CN"/>
          </a:p>
          <a:p>
            <a:pPr lvl="1"/>
            <a:r>
              <a:rPr lang="en-US" altLang="zh-CN"/>
              <a:t>Configure logging before creating the application object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6675120" y="1120775"/>
            <a:ext cx="5320030" cy="35998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from logging.config import dictConfig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dictConfig({</a:t>
            </a:r>
            <a:endParaRPr lang="zh-CN" altLang="en-US" sz="1200"/>
          </a:p>
          <a:p>
            <a:r>
              <a:rPr lang="zh-CN" altLang="en-US" sz="1200"/>
              <a:t>    'version': 1,</a:t>
            </a:r>
            <a:endParaRPr lang="zh-CN" altLang="en-US" sz="1200"/>
          </a:p>
          <a:p>
            <a:r>
              <a:rPr lang="zh-CN" altLang="en-US" sz="1200"/>
              <a:t>    'formatters': {'default': {</a:t>
            </a:r>
            <a:endParaRPr lang="zh-CN" altLang="en-US" sz="1200"/>
          </a:p>
          <a:p>
            <a:r>
              <a:rPr lang="zh-CN" altLang="en-US" sz="1200"/>
              <a:t>        'format': '[%(asctime)s] %(levelname)s in %(module)s: %(message)s',</a:t>
            </a:r>
            <a:endParaRPr lang="zh-CN" altLang="en-US" sz="1200"/>
          </a:p>
          <a:p>
            <a:r>
              <a:rPr lang="zh-CN" altLang="en-US" sz="1200"/>
              <a:t>    }},</a:t>
            </a:r>
            <a:endParaRPr lang="zh-CN" altLang="en-US" sz="1200"/>
          </a:p>
          <a:p>
            <a:r>
              <a:rPr lang="zh-CN" altLang="en-US" sz="1200"/>
              <a:t>    'handlers': {'wsgi': {</a:t>
            </a:r>
            <a:endParaRPr lang="zh-CN" altLang="en-US" sz="1200"/>
          </a:p>
          <a:p>
            <a:r>
              <a:rPr lang="zh-CN" altLang="en-US" sz="1200"/>
              <a:t>        'class': 'logging.StreamHandler',</a:t>
            </a:r>
            <a:endParaRPr lang="zh-CN" altLang="en-US" sz="1200"/>
          </a:p>
          <a:p>
            <a:r>
              <a:rPr lang="zh-CN" altLang="en-US" sz="1200"/>
              <a:t>        'stream': 'ext://flask.logging.wsgi_errors_stream',</a:t>
            </a:r>
            <a:endParaRPr lang="zh-CN" altLang="en-US" sz="1200"/>
          </a:p>
          <a:p>
            <a:r>
              <a:rPr lang="zh-CN" altLang="en-US" sz="1200"/>
              <a:t>        'formatter': 'default'</a:t>
            </a:r>
            <a:endParaRPr lang="zh-CN" altLang="en-US" sz="1200"/>
          </a:p>
          <a:p>
            <a:r>
              <a:rPr lang="zh-CN" altLang="en-US" sz="1200"/>
              <a:t>    }},</a:t>
            </a:r>
            <a:endParaRPr lang="zh-CN" altLang="en-US" sz="1200"/>
          </a:p>
          <a:p>
            <a:r>
              <a:rPr lang="zh-CN" altLang="en-US" sz="1200"/>
              <a:t>    'root': {</a:t>
            </a:r>
            <a:endParaRPr lang="zh-CN" altLang="en-US" sz="1200"/>
          </a:p>
          <a:p>
            <a:r>
              <a:rPr lang="zh-CN" altLang="en-US" sz="1200"/>
              <a:t>        'level': 'INFO',</a:t>
            </a:r>
            <a:endParaRPr lang="zh-CN" altLang="en-US" sz="1200"/>
          </a:p>
          <a:p>
            <a:r>
              <a:rPr lang="zh-CN" altLang="en-US" sz="1200"/>
              <a:t>        'handlers': ['wsgi']</a:t>
            </a:r>
            <a:endParaRPr lang="zh-CN" altLang="en-US" sz="1200"/>
          </a:p>
          <a:p>
            <a:r>
              <a:rPr lang="zh-CN" altLang="en-US" sz="1200"/>
              <a:t>    }</a:t>
            </a:r>
            <a:endParaRPr lang="zh-CN" altLang="en-US" sz="1200"/>
          </a:p>
          <a:p>
            <a:r>
              <a:rPr lang="zh-CN" altLang="en-US" sz="1200"/>
              <a:t>})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app = Flask(__name__)</a:t>
            </a:r>
            <a:endParaRPr lang="zh-CN" altLang="en-US" sz="1200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Web Forms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pip install flask-wtf</a:t>
            </a:r>
            <a:endParaRPr lang="en-US" altLang="zh-CN"/>
          </a:p>
          <a:p>
            <a:r>
              <a:rPr lang="en-US" altLang="zh-CN"/>
              <a:t>Usage</a:t>
            </a:r>
            <a:endParaRPr lang="en-US" altLang="zh-CN"/>
          </a:p>
          <a:p>
            <a:pPr lvl="1"/>
            <a:r>
              <a:rPr lang="en-US" altLang="zh-CN"/>
              <a:t>from flask-wtf import FlaskForm</a:t>
            </a:r>
            <a:endParaRPr lang="en-US" altLang="zh-CN"/>
          </a:p>
          <a:p>
            <a:pPr lvl="1"/>
            <a:r>
              <a:rPr lang="en-US" altLang="zh-CN"/>
              <a:t>from wtforms import StringField, PasswordField, BooleanField, SubmitField</a:t>
            </a:r>
            <a:endParaRPr lang="en-US" altLang="zh-CN"/>
          </a:p>
          <a:p>
            <a:pPr lvl="1"/>
            <a:r>
              <a:rPr lang="en-US" altLang="zh-CN"/>
              <a:t>from wtforms.validators import DataRequired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Deploy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607560" cy="5147945"/>
          </a:xfrm>
        </p:spPr>
        <p:txBody>
          <a:bodyPr>
            <a:normAutofit fontScale="70000"/>
          </a:bodyPr>
          <a:p>
            <a:r>
              <a:rPr lang="en-US" altLang="zh-CN"/>
              <a:t>Prepare Env</a:t>
            </a:r>
            <a:endParaRPr lang="en-US" altLang="zh-CN"/>
          </a:p>
          <a:p>
            <a:pPr lvl="1"/>
            <a:r>
              <a:rPr lang="en-US" altLang="zh-CN"/>
              <a:t>sudo apt-get update</a:t>
            </a:r>
            <a:endParaRPr lang="en-US" altLang="zh-CN"/>
          </a:p>
          <a:p>
            <a:pPr lvl="1"/>
            <a:r>
              <a:rPr lang="en-US" altLang="zh-CN"/>
              <a:t>sudo apt-get install python3-pip python3-dev nginx</a:t>
            </a:r>
            <a:endParaRPr lang="en-US" altLang="zh-CN"/>
          </a:p>
          <a:p>
            <a:pPr lvl="1"/>
            <a:r>
              <a:rPr lang="en-US" altLang="zh-CN"/>
              <a:t>sudo pip3 install virtualenv</a:t>
            </a:r>
            <a:endParaRPr lang="en-US" altLang="zh-CN"/>
          </a:p>
          <a:p>
            <a:pPr lvl="1"/>
            <a:r>
              <a:rPr lang="en-US" altLang="zh-CN"/>
              <a:t>virtualenv myprojectenv</a:t>
            </a:r>
            <a:endParaRPr lang="en-US" altLang="zh-CN"/>
          </a:p>
          <a:p>
            <a:pPr lvl="1"/>
            <a:r>
              <a:rPr lang="en-US" altLang="zh-CN"/>
              <a:t>source myprojectenv/bin/activate</a:t>
            </a:r>
            <a:endParaRPr lang="en-US" altLang="zh-CN"/>
          </a:p>
          <a:p>
            <a:pPr lvl="1"/>
            <a:r>
              <a:rPr lang="en-US" altLang="zh-CN"/>
              <a:t>pip install uwsgi flask</a:t>
            </a:r>
            <a:endParaRPr lang="en-US" altLang="zh-CN"/>
          </a:p>
          <a:p>
            <a:pPr lvl="1"/>
            <a:r>
              <a:rPr lang="en-US" altLang="zh-CN"/>
              <a:t>sudo ufw allow 5000</a:t>
            </a:r>
            <a:endParaRPr lang="en-US" altLang="zh-CN"/>
          </a:p>
          <a:p>
            <a:pPr lvl="0"/>
            <a:r>
              <a:rPr lang="en-US" altLang="zh-CN"/>
              <a:t>Gunicorn</a:t>
            </a:r>
            <a:endParaRPr lang="en-US" altLang="zh-CN"/>
          </a:p>
          <a:p>
            <a:pPr lvl="1"/>
            <a:r>
              <a:rPr lang="en-US" altLang="zh-CN" sz="2000"/>
              <a:t>Python WSGI HTTP server for Unix</a:t>
            </a:r>
            <a:endParaRPr lang="en-US" altLang="zh-CN" sz="2000"/>
          </a:p>
          <a:p>
            <a:pPr lvl="1"/>
            <a:r>
              <a:rPr lang="en-US" altLang="zh-CN" sz="2000"/>
              <a:t>gunicorn</a:t>
            </a:r>
            <a:endParaRPr lang="en-US" altLang="zh-CN" sz="2000"/>
          </a:p>
          <a:p>
            <a:pPr lvl="2"/>
            <a:r>
              <a:rPr lang="en-US" altLang="zh-CN" sz="1800"/>
              <a:t>-w {workers}	# workers, 2*num_cores + 1</a:t>
            </a:r>
            <a:endParaRPr lang="en-US" altLang="zh-CN" sz="1800"/>
          </a:p>
          <a:p>
            <a:pPr lvl="2"/>
            <a:r>
              <a:rPr lang="en-US" altLang="zh-CN" sz="1800"/>
              <a:t>-b {server_socket}	# bind</a:t>
            </a:r>
            <a:endParaRPr lang="en-US" altLang="zh-CN" sz="1800"/>
          </a:p>
          <a:p>
            <a:pPr lvl="0"/>
            <a:r>
              <a:rPr lang="en-US" altLang="zh-CN" sz="2400"/>
              <a:t>Refer</a:t>
            </a:r>
            <a:endParaRPr lang="en-US" altLang="zh-CN" sz="2400"/>
          </a:p>
          <a:p>
            <a:pPr lvl="1"/>
            <a:r>
              <a:rPr lang="en-US" altLang="zh-CN"/>
              <a:t>http://www.patricksoftwareblog.com/how-to-configure-nginx-for-a-flask-web-application/</a:t>
            </a:r>
            <a:endParaRPr lang="en-US" altLang="zh-CN"/>
          </a:p>
          <a:p>
            <a:pPr lvl="1"/>
            <a:endParaRPr lang="en-US" altLang="zh-CN"/>
          </a:p>
        </p:txBody>
      </p:sp>
      <p:pic>
        <p:nvPicPr>
          <p:cNvPr id="5" name="图片 4" descr="NGINX-in-Production-Environment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5445760" y="1285240"/>
            <a:ext cx="6487795" cy="447548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Deploy (Docker)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896610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https://ianlondon.github.io/blog/deploy-flask-docker-nginx/</a:t>
            </a:r>
            <a:endParaRPr lang="en-US" altLang="zh-CN"/>
          </a:p>
          <a:p>
            <a:pPr lvl="0"/>
            <a:r>
              <a:rPr lang="en-US" altLang="zh-CN"/>
              <a:t>Dockerfile</a:t>
            </a:r>
            <a:endParaRPr lang="en-US" altLang="zh-CN"/>
          </a:p>
          <a:p>
            <a:pPr lvl="1"/>
            <a:r>
              <a:rPr lang="en-US" altLang="zh-CN"/>
              <a:t>FROM tiangolo/uwsgi-nginx-flask:python3.6</a:t>
            </a:r>
            <a:endParaRPr lang="en-US" altLang="zh-CN"/>
          </a:p>
          <a:p>
            <a:pPr lvl="1"/>
            <a:r>
              <a:rPr lang="en-US" altLang="zh-CN"/>
              <a:t>COPY ./app /app</a:t>
            </a:r>
            <a:endParaRPr lang="en-US" altLang="zh-CN"/>
          </a:p>
          <a:p>
            <a:pPr lvl="0"/>
            <a:r>
              <a:rPr lang="en-US" altLang="zh-CN" sz="2400"/>
              <a:t>Build and Run Docker image</a:t>
            </a:r>
            <a:endParaRPr lang="en-US" altLang="zh-CN" sz="2400"/>
          </a:p>
          <a:p>
            <a:pPr lvl="1"/>
            <a:r>
              <a:rPr lang="en-US" altLang="zh-CN" sz="2000"/>
              <a:t>go to flask project root folder</a:t>
            </a:r>
            <a:endParaRPr lang="en-US" altLang="zh-CN" sz="2000"/>
          </a:p>
          <a:p>
            <a:pPr lvl="1"/>
            <a:r>
              <a:rPr lang="en-US" altLang="zh-CN" sz="2000"/>
              <a:t>docker build -t flask_proj1 .</a:t>
            </a:r>
            <a:endParaRPr lang="en-US" altLang="zh-CN"/>
          </a:p>
          <a:p>
            <a:pPr lvl="1"/>
            <a:r>
              <a:rPr lang="en-US" altLang="zh-CN"/>
              <a:t>docker run -p 80:80 -t flask_proj1</a:t>
            </a:r>
            <a:endParaRPr lang="en-US" altLang="zh-CN"/>
          </a:p>
        </p:txBody>
      </p:sp>
      <p:pic>
        <p:nvPicPr>
          <p:cNvPr id="4" name="图片 3" descr="Docker-Application-Architecture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734810" y="803910"/>
            <a:ext cx="5457190" cy="273177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 altLang="zh-CN"/>
              <a:t>Deploy (Docker 2)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122670" cy="4549140"/>
          </a:xfrm>
        </p:spPr>
        <p:txBody>
          <a:bodyPr>
            <a:normAutofit lnSpcReduction="1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http://www.patricksoftwareblog.com/how-to-use-docker-and-docker-compose-to-create-a-flask-application/</a:t>
            </a:r>
            <a:endParaRPr lang="en-US" altLang="zh-CN">
              <a:sym typeface="+mn-ea"/>
            </a:endParaRPr>
          </a:p>
          <a:p>
            <a:pPr lvl="0"/>
            <a:r>
              <a:rPr lang="en-US" altLang="zh-CN"/>
              <a:t>Config</a:t>
            </a:r>
            <a:endParaRPr lang="en-US" altLang="zh-CN"/>
          </a:p>
          <a:p>
            <a:pPr lvl="1"/>
            <a:r>
              <a:rPr lang="en-US" altLang="zh-CN" sz="2000"/>
              <a:t>docker-compose.yml</a:t>
            </a:r>
            <a:endParaRPr lang="en-US" altLang="zh-CN" sz="2000"/>
          </a:p>
          <a:p>
            <a:pPr lvl="1"/>
            <a:r>
              <a:rPr lang="en-US" altLang="zh-CN"/>
              <a:t>Dockerfile</a:t>
            </a:r>
            <a:endParaRPr lang="en-US" altLang="zh-CN"/>
          </a:p>
          <a:p>
            <a:pPr lvl="0"/>
            <a:r>
              <a:rPr lang="en-US" altLang="zh-CN"/>
              <a:t>Build container</a:t>
            </a:r>
            <a:endParaRPr lang="en-US" altLang="zh-CN"/>
          </a:p>
          <a:p>
            <a:pPr lvl="1"/>
            <a:r>
              <a:rPr lang="en-US" altLang="zh-CN"/>
              <a:t>sudo docker-compose build</a:t>
            </a:r>
            <a:endParaRPr lang="en-US" altLang="zh-CN"/>
          </a:p>
          <a:p>
            <a:pPr lvl="0"/>
            <a:r>
              <a:rPr lang="en-US" altLang="zh-CN"/>
              <a:t>Run container</a:t>
            </a:r>
            <a:endParaRPr lang="en-US" altLang="zh-CN"/>
          </a:p>
          <a:p>
            <a:pPr lvl="1"/>
            <a:r>
              <a:rPr lang="en-US" altLang="zh-CN"/>
              <a:t>sudo docker-compose up -d</a:t>
            </a:r>
            <a:endParaRPr lang="en-US" altLang="zh-CN"/>
          </a:p>
        </p:txBody>
      </p:sp>
      <p:pic>
        <p:nvPicPr>
          <p:cNvPr id="4" name="图片 3" descr="nginx_flask_postgres_diagram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9585" y="1721485"/>
            <a:ext cx="5274310" cy="31877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Static Files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Basic</a:t>
            </a:r>
            <a:endParaRPr lang="en-US" altLang="zh-CN"/>
          </a:p>
          <a:p>
            <a:pPr lvl="1"/>
            <a:r>
              <a:rPr lang="en-US" altLang="zh-CN"/>
              <a:t>Url starts with '/static/'</a:t>
            </a:r>
            <a:endParaRPr lang="en-US" altLang="zh-CN"/>
          </a:p>
          <a:p>
            <a:pPr lvl="1"/>
            <a:r>
              <a:rPr lang="en-US" altLang="zh-CN"/>
              <a:t>Files should be in 'static/' folder in Flask APP's root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Media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https://www.iandevlin.com/blog/2012/09/html5/html5-media-and-data-uri/</a:t>
            </a:r>
            <a:endParaRPr lang="en-US" altLang="zh-CN"/>
          </a:p>
          <a:p>
            <a:pPr lvl="1"/>
            <a:r>
              <a:rPr lang="en-US" altLang="zh-CN"/>
              <a:t>https://blog.miguelgrinberg.com/post/video-streaming-with-flask/page/5?source=post_page---------------------------</a:t>
            </a:r>
            <a:endParaRPr lang="en-US" altLang="zh-CN"/>
          </a:p>
          <a:p>
            <a:pPr lvl="1"/>
            <a:r>
              <a:rPr lang="en-US" altLang="zh-CN"/>
              <a:t>https://blog.miguelgrinberg.com/post/flask-video-streaming-revisited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Redis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161915" cy="4549140"/>
          </a:xfrm>
        </p:spPr>
        <p:txBody>
          <a:bodyPr/>
          <a:p>
            <a:pPr lvl="0"/>
            <a:r>
              <a:rPr lang="en-US" altLang="zh-CN" sz="1800">
                <a:sym typeface="+mn-ea"/>
              </a:rPr>
              <a:t>References</a:t>
            </a:r>
            <a:endParaRPr lang="en-US" altLang="zh-CN" sz="1800">
              <a:sym typeface="+mn-ea"/>
            </a:endParaRPr>
          </a:p>
          <a:p>
            <a:pPr lvl="1"/>
            <a:r>
              <a:rPr lang="en-US" altLang="zh-CN" sz="1600">
                <a:sym typeface="+mn-ea"/>
              </a:rPr>
              <a:t>https://redis.io/docs/ui/cli/</a:t>
            </a:r>
            <a:endParaRPr lang="en-US" altLang="zh-CN" sz="1600">
              <a:sym typeface="+mn-ea"/>
            </a:endParaRPr>
          </a:p>
          <a:p>
            <a:pPr lvl="0"/>
            <a:r>
              <a:rPr lang="en-US" altLang="zh-CN" sz="1800">
                <a:sym typeface="+mn-ea"/>
              </a:rPr>
              <a:t>Intro</a:t>
            </a:r>
            <a:endParaRPr lang="en-US" altLang="zh-CN" sz="1800">
              <a:sym typeface="+mn-ea"/>
            </a:endParaRPr>
          </a:p>
          <a:p>
            <a:pPr lvl="1"/>
            <a:r>
              <a:rPr lang="en-US" altLang="zh-CN" sz="1600">
                <a:sym typeface="+mn-ea"/>
              </a:rPr>
              <a:t>In-memory key-value pair DB</a:t>
            </a:r>
            <a:endParaRPr lang="en-US" altLang="zh-CN" sz="1600"/>
          </a:p>
          <a:p>
            <a:pPr lvl="1"/>
            <a:r>
              <a:rPr lang="en-US" altLang="zh-CN" sz="1600">
                <a:sym typeface="+mn-ea"/>
              </a:rPr>
              <a:t>Commonly used for caching, transient data storage, and as holding area for data during analysis</a:t>
            </a:r>
            <a:endParaRPr lang="en-US" altLang="zh-CN" sz="1600"/>
          </a:p>
          <a:p>
            <a:pPr lvl="0"/>
            <a:r>
              <a:rPr lang="en-US" altLang="zh-CN" sz="1800">
                <a:sym typeface="+mn-ea"/>
              </a:rPr>
              <a:t>Install</a:t>
            </a:r>
            <a:endParaRPr lang="en-US" altLang="zh-CN" sz="1800"/>
          </a:p>
          <a:p>
            <a:pPr lvl="1"/>
            <a:r>
              <a:rPr lang="en-US" altLang="zh-CN" sz="1800">
                <a:sym typeface="+mn-ea"/>
              </a:rPr>
              <a:t>sudo apt install redis-server</a:t>
            </a:r>
            <a:endParaRPr lang="en-US" altLang="zh-CN" sz="1800"/>
          </a:p>
          <a:p>
            <a:pPr lvl="1"/>
            <a:r>
              <a:rPr lang="en-US" altLang="zh-CN" sz="1800">
                <a:sym typeface="+mn-ea"/>
              </a:rPr>
              <a:t>nohup redis-server &amp;</a:t>
            </a:r>
            <a:endParaRPr lang="en-US" altLang="zh-CN" sz="1800"/>
          </a:p>
          <a:p>
            <a:r>
              <a:rPr lang="en-US" altLang="zh-CN" sz="1600"/>
              <a:t>Usage</a:t>
            </a:r>
            <a:endParaRPr lang="en-US" altLang="zh-CN" sz="1600"/>
          </a:p>
          <a:p>
            <a:pPr lvl="1"/>
            <a:r>
              <a:rPr lang="en-US" altLang="zh-CN" sz="1400"/>
              <a:t>import redis</a:t>
            </a:r>
            <a:endParaRPr lang="en-US" altLang="zh-CN" sz="1400"/>
          </a:p>
          <a:p>
            <a:pPr lvl="1"/>
            <a:r>
              <a:rPr lang="en-US" altLang="zh-CN" sz="1400"/>
              <a:t>r = redis.StrictRedis(ip, port, db=1)</a:t>
            </a:r>
            <a:endParaRPr lang="en-US" altLang="zh-CN" sz="1400"/>
          </a:p>
          <a:p>
            <a:pPr lvl="1"/>
            <a:r>
              <a:rPr lang="en-US" altLang="zh-CN" sz="1400"/>
              <a:t>r.hset(name, key, value)</a:t>
            </a:r>
            <a:endParaRPr lang="en-US" altLang="zh-CN" sz="1400"/>
          </a:p>
          <a:p>
            <a:pPr lvl="1"/>
            <a:r>
              <a:rPr lang="en-US" altLang="zh-CN" sz="1400"/>
              <a:t>r.hget(name, key)</a:t>
            </a:r>
            <a:endParaRPr lang="en-US" altLang="zh-CN" sz="1400"/>
          </a:p>
          <a:p>
            <a:pPr lvl="2"/>
            <a:endParaRPr lang="en-US" altLang="zh-CN" sz="1400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385560" y="1211580"/>
            <a:ext cx="5217795" cy="454914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800">
                <a:sym typeface="+mn-ea"/>
              </a:rPr>
              <a:t>Redis-cli</a:t>
            </a:r>
            <a:endParaRPr lang="en-US" altLang="zh-CN" sz="1800"/>
          </a:p>
          <a:p>
            <a:pPr lvl="1"/>
            <a:r>
              <a:rPr lang="en-US" altLang="zh-CN" sz="1800">
                <a:sym typeface="+mn-ea"/>
              </a:rPr>
              <a:t>redis-cli ping</a:t>
            </a:r>
            <a:endParaRPr lang="en-US" altLang="zh-CN" sz="1800"/>
          </a:p>
          <a:p>
            <a:pPr lvl="1"/>
            <a:r>
              <a:rPr lang="en-US" altLang="zh-CN" sz="1800">
                <a:sym typeface="+mn-ea"/>
              </a:rPr>
              <a:t>redis-cli -h localhost -p 6379 PING</a:t>
            </a:r>
            <a:endParaRPr lang="en-US" altLang="zh-CN" sz="1800">
              <a:sym typeface="+mn-ea"/>
            </a:endParaRPr>
          </a:p>
          <a:p>
            <a:pPr lvl="1"/>
            <a:r>
              <a:rPr lang="en-US" altLang="zh-CN" sz="1800">
                <a:sym typeface="+mn-ea"/>
              </a:rPr>
              <a:t>redis-cli --stat	// continuous stat</a:t>
            </a:r>
            <a:endParaRPr lang="en-US" altLang="zh-CN" sz="1800">
              <a:sym typeface="+mn-ea"/>
            </a:endParaRPr>
          </a:p>
          <a:p>
            <a:pPr lvl="1"/>
            <a:r>
              <a:rPr lang="en-US" altLang="zh-CN" sz="1800">
                <a:sym typeface="+mn-ea"/>
              </a:rPr>
              <a:t>redis-cli --bigkeys</a:t>
            </a:r>
            <a:endParaRPr lang="en-US" altLang="zh-CN" sz="1800">
              <a:sym typeface="+mn-ea"/>
            </a:endParaRPr>
          </a:p>
          <a:p>
            <a:pPr lvl="1"/>
            <a:r>
              <a:rPr lang="en-US" altLang="zh-CN" sz="1800">
                <a:sym typeface="+mn-ea"/>
              </a:rPr>
              <a:t>redis-cli --scan</a:t>
            </a:r>
            <a:endParaRPr lang="en-US" altLang="zh-CN" sz="1800">
              <a:sym typeface="+mn-ea"/>
            </a:endParaRPr>
          </a:p>
          <a:p>
            <a:pPr lvl="1"/>
            <a:r>
              <a:rPr lang="en-US" altLang="zh-CN" sz="1800">
                <a:sym typeface="+mn-ea"/>
              </a:rPr>
              <a:t>redis-cli monitor</a:t>
            </a:r>
            <a:endParaRPr lang="en-US" altLang="zh-CN" sz="1800">
              <a:sym typeface="+mn-ea"/>
            </a:endParaRPr>
          </a:p>
          <a:p>
            <a:pPr lvl="1"/>
            <a:r>
              <a:rPr lang="en-US" altLang="zh-CN" sz="1800">
                <a:sym typeface="+mn-ea"/>
              </a:rPr>
              <a:t>redis-cli --latency</a:t>
            </a:r>
            <a:endParaRPr lang="en-US" altLang="zh-CN" sz="1800">
              <a:sym typeface="+mn-ea"/>
            </a:endParaRPr>
          </a:p>
          <a:p>
            <a:pPr lvl="1"/>
            <a:r>
              <a:rPr lang="en-US" altLang="zh-CN" sz="1800"/>
              <a:t>redis-cli --rdb /tmp/dump.rdb  </a:t>
            </a:r>
            <a:r>
              <a:rPr lang="en-US" altLang="zh-CN" sz="1800">
                <a:sym typeface="+mn-ea"/>
              </a:rPr>
              <a:t>// dump</a:t>
            </a:r>
            <a:endParaRPr lang="en-US" altLang="zh-CN" sz="1800"/>
          </a:p>
          <a:p>
            <a:pPr lvl="1"/>
            <a:r>
              <a:rPr lang="en-US" altLang="zh-CN" sz="1800">
                <a:sym typeface="+mn-ea"/>
              </a:rPr>
              <a:t>redis-cli</a:t>
            </a:r>
            <a:endParaRPr lang="en-US" altLang="zh-CN" sz="1800"/>
          </a:p>
          <a:p>
            <a:pPr lvl="2"/>
            <a:r>
              <a:rPr lang="en-US" altLang="zh-CN">
                <a:sym typeface="+mn-ea"/>
              </a:rPr>
              <a:t>ping</a:t>
            </a:r>
            <a:endParaRPr lang="en-US" altLang="zh-CN">
              <a:sym typeface="+mn-ea"/>
            </a:endParaRPr>
          </a:p>
          <a:p>
            <a:pPr lvl="2"/>
            <a:r>
              <a:rPr lang="en-US" altLang="zh-CN">
                <a:sym typeface="+mn-ea"/>
              </a:rPr>
              <a:t>info server</a:t>
            </a:r>
            <a:endParaRPr lang="en-US" altLang="zh-CN"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Session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Client-side</a:t>
            </a:r>
            <a:endParaRPr lang="en-US" altLang="zh-CN"/>
          </a:p>
          <a:p>
            <a:r>
              <a:rPr lang="en-US" altLang="zh-CN"/>
              <a:t>Server-side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Blueprint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Aim</a:t>
            </a:r>
            <a:endParaRPr lang="en-US" altLang="zh-CN"/>
          </a:p>
          <a:p>
            <a:pPr lvl="1"/>
            <a:r>
              <a:rPr lang="en-US" altLang="zh-CN"/>
              <a:t>Support modules</a:t>
            </a:r>
            <a:endParaRPr lang="en-US" altLang="zh-CN"/>
          </a:p>
          <a:p>
            <a:pPr lvl="0"/>
            <a:r>
              <a:rPr lang="en-US" altLang="zh-CN"/>
              <a:t>How to use</a:t>
            </a:r>
            <a:endParaRPr lang="en-US" altLang="zh-CN"/>
          </a:p>
          <a:p>
            <a:pPr lvl="1"/>
            <a:r>
              <a:rPr lang="en-US" altLang="zh-CN"/>
              <a:t>Declare blueprint in module</a:t>
            </a:r>
            <a:endParaRPr lang="en-US" altLang="zh-CN"/>
          </a:p>
          <a:p>
            <a:pPr lvl="2"/>
            <a:r>
              <a:rPr lang="en-US" altLang="zh-CN"/>
              <a:t>from flask import Blueprint</a:t>
            </a:r>
            <a:endParaRPr lang="en-US" altLang="zh-CN"/>
          </a:p>
          <a:p>
            <a:pPr lvl="2"/>
            <a:r>
              <a:rPr lang="en-US" altLang="zh-CN"/>
              <a:t>module = Blueprint('module', __name__)</a:t>
            </a:r>
            <a:endParaRPr lang="en-US" altLang="zh-CN"/>
          </a:p>
          <a:p>
            <a:pPr lvl="2"/>
            <a:r>
              <a:rPr lang="en-US" altLang="zh-CN"/>
              <a:t>@module.route('...')</a:t>
            </a:r>
            <a:endParaRPr lang="en-US" altLang="zh-CN"/>
          </a:p>
          <a:p>
            <a:pPr lvl="1"/>
            <a:r>
              <a:rPr lang="en-US" altLang="zh-CN"/>
              <a:t>Register blueprint</a:t>
            </a:r>
            <a:endParaRPr lang="en-US" altLang="zh-CN"/>
          </a:p>
          <a:p>
            <a:pPr lvl="2"/>
            <a:r>
              <a:rPr lang="en-US" altLang="zh-CN"/>
              <a:t>from module import module</a:t>
            </a:r>
            <a:endParaRPr lang="en-US" altLang="zh-CN"/>
          </a:p>
          <a:p>
            <a:pPr lvl="2"/>
            <a:r>
              <a:rPr lang="en-US" altLang="zh-CN"/>
              <a:t>app.register_blueprint(module)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Cli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https://flask.palletsprojects.com/en/2.0.x/cli</a:t>
            </a:r>
            <a:endParaRPr lang="en-US" altLang="zh-CN"/>
          </a:p>
          <a:p>
            <a:pPr lvl="0"/>
            <a:r>
              <a:rPr lang="en-US" altLang="zh-CN"/>
              <a:t>Steps</a:t>
            </a:r>
            <a:endParaRPr lang="en-US" altLang="zh-CN"/>
          </a:p>
          <a:p>
            <a:pPr lvl="1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Cache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565140" cy="4549140"/>
          </a:xfrm>
        </p:spPr>
        <p:txBody>
          <a:bodyPr>
            <a:noAutofit/>
          </a:bodyPr>
          <a:p>
            <a:r>
              <a:rPr lang="en-US" altLang="zh-CN" sz="1600"/>
              <a:t>References</a:t>
            </a:r>
            <a:endParaRPr lang="en-US" altLang="zh-CN" sz="1600"/>
          </a:p>
          <a:p>
            <a:pPr lvl="1"/>
            <a:r>
              <a:rPr lang="en-US" altLang="zh-CN" sz="1400"/>
              <a:t>https://flask-caching.readthedocs.io/en/latest/</a:t>
            </a:r>
            <a:endParaRPr lang="en-US" altLang="zh-CN" sz="1400"/>
          </a:p>
          <a:p>
            <a:pPr lvl="1"/>
            <a:r>
              <a:rPr lang="en-US" altLang="zh-CN" sz="1400"/>
              <a:t>https://www.educba.com/flask-cache/</a:t>
            </a:r>
            <a:endParaRPr lang="en-US" altLang="zh-CN" sz="1400"/>
          </a:p>
          <a:p>
            <a:pPr lvl="0"/>
            <a:r>
              <a:rPr lang="en-US" altLang="zh-CN" sz="1600"/>
              <a:t>Usage</a:t>
            </a:r>
            <a:endParaRPr lang="en-US" altLang="zh-CN" sz="1600"/>
          </a:p>
          <a:p>
            <a:pPr lvl="1"/>
            <a:r>
              <a:rPr lang="en-US" altLang="zh-CN" sz="1400"/>
              <a:t>pip install Flask-Caching</a:t>
            </a:r>
            <a:endParaRPr lang="en-US" altLang="zh-CN" sz="1400"/>
          </a:p>
          <a:p>
            <a:pPr lvl="1"/>
            <a:r>
              <a:rPr lang="en-US" altLang="zh-CN" sz="1400"/>
              <a:t>Init</a:t>
            </a:r>
            <a:endParaRPr lang="en-US" altLang="zh-CN" sz="1400"/>
          </a:p>
          <a:p>
            <a:pPr lvl="2"/>
            <a:r>
              <a:rPr lang="en-US" altLang="zh-CN" sz="1200"/>
              <a:t>from flask_caching import Cache</a:t>
            </a:r>
            <a:endParaRPr lang="en-US" altLang="zh-CN" sz="1200"/>
          </a:p>
          <a:p>
            <a:pPr lvl="2"/>
            <a:r>
              <a:rPr lang="en-US" altLang="zh-CN" sz="1200"/>
              <a:t>cache = Cache(config={'CACHE_TYPE': 'SimpleCache'})</a:t>
            </a:r>
            <a:endParaRPr lang="en-US" altLang="zh-CN" sz="1200"/>
          </a:p>
          <a:p>
            <a:pPr lvl="2"/>
            <a:r>
              <a:rPr lang="en-US" altLang="zh-CN" sz="1200"/>
              <a:t>app = Flask(__name__)</a:t>
            </a:r>
            <a:endParaRPr lang="en-US" altLang="zh-CN" sz="1200"/>
          </a:p>
          <a:p>
            <a:pPr lvl="2"/>
            <a:r>
              <a:rPr lang="en-US" altLang="zh-CN" sz="1200"/>
              <a:t>cache.init_app(app)</a:t>
            </a:r>
            <a:endParaRPr lang="en-US" altLang="zh-CN" sz="1200"/>
          </a:p>
          <a:p>
            <a:pPr lvl="1"/>
            <a:r>
              <a:rPr lang="en-US" altLang="zh-CN" sz="1400"/>
              <a:t>Cached()</a:t>
            </a:r>
            <a:endParaRPr lang="en-US" altLang="zh-CN" sz="1400"/>
          </a:p>
          <a:p>
            <a:pPr lvl="2"/>
            <a:r>
              <a:rPr lang="en-US" altLang="zh-CN" sz="1200"/>
              <a:t>@app.route("/")</a:t>
            </a:r>
            <a:endParaRPr lang="en-US" altLang="zh-CN" sz="1200"/>
          </a:p>
          <a:p>
            <a:pPr lvl="2"/>
            <a:r>
              <a:rPr lang="en-US" altLang="zh-CN" sz="1200"/>
              <a:t>@cache.cached(timeout=50)	// 50 seconds</a:t>
            </a:r>
            <a:endParaRPr lang="en-US" altLang="zh-CN" sz="1200"/>
          </a:p>
          <a:p>
            <a:pPr lvl="2"/>
            <a:r>
              <a:rPr lang="en-US" altLang="zh-CN" sz="1200"/>
              <a:t>def index():</a:t>
            </a:r>
            <a:endParaRPr lang="en-US" altLang="zh-CN" sz="1200"/>
          </a:p>
          <a:p>
            <a:pPr lvl="2"/>
            <a:r>
              <a:rPr lang="en-US" altLang="zh-CN" sz="1200"/>
              <a:t>    return render_template('index.html')</a:t>
            </a:r>
            <a:endParaRPr lang="en-US" altLang="zh-CN" sz="1200"/>
          </a:p>
          <a:p>
            <a:pPr lvl="2"/>
            <a:r>
              <a:rPr lang="en-US" altLang="zh-CN" sz="1200"/>
              <a:t> use request.path by default for the cache_key</a:t>
            </a:r>
            <a:endParaRPr lang="en-US" altLang="zh-CN" sz="1200"/>
          </a:p>
          <a:p>
            <a:pPr lvl="1"/>
            <a:r>
              <a:rPr lang="en-US" altLang="zh-CN" sz="1555"/>
              <a:t>Memoize()</a:t>
            </a:r>
            <a:endParaRPr lang="en-US" altLang="zh-CN" sz="1555"/>
          </a:p>
          <a:p>
            <a:pPr lvl="2"/>
            <a:r>
              <a:rPr lang="en-US" altLang="zh-CN" sz="1200"/>
              <a:t>class Person(db.Model):</a:t>
            </a:r>
            <a:endParaRPr lang="en-US" altLang="zh-CN" sz="1200"/>
          </a:p>
          <a:p>
            <a:pPr lvl="2"/>
            <a:r>
              <a:rPr lang="en-US" altLang="zh-CN" sz="1200"/>
              <a:t>    @cache.memoize(50)</a:t>
            </a:r>
            <a:endParaRPr lang="en-US" altLang="zh-CN" sz="1200"/>
          </a:p>
          <a:p>
            <a:pPr lvl="2"/>
            <a:r>
              <a:rPr lang="en-US" altLang="zh-CN" sz="1200"/>
              <a:t>    def has_membership(self, role_id):</a:t>
            </a:r>
            <a:endParaRPr lang="en-US" altLang="zh-CN" sz="1200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396355" y="1211580"/>
            <a:ext cx="5565140" cy="45491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zh-CN" sz="1400"/>
              <a:t>Cache data</a:t>
            </a:r>
            <a:endParaRPr lang="en-US" altLang="zh-CN" sz="1400"/>
          </a:p>
          <a:p>
            <a:pPr lvl="2"/>
            <a:r>
              <a:rPr lang="en-US" altLang="zh-CN" sz="1400"/>
              <a:t>cache.set("foo", foo)</a:t>
            </a:r>
            <a:endParaRPr lang="en-US" altLang="zh-CN" sz="1400"/>
          </a:p>
          <a:p>
            <a:pPr lvl="2"/>
            <a:r>
              <a:rPr lang="en-US" altLang="zh-CN" sz="1400"/>
              <a:t>bar = cache.get("foo")</a:t>
            </a:r>
            <a:endParaRPr lang="en-US" altLang="zh-CN" sz="1400"/>
          </a:p>
          <a:p>
            <a:pPr lvl="1"/>
            <a:r>
              <a:rPr lang="en-US" altLang="zh-CN" sz="1400"/>
              <a:t>Delete</a:t>
            </a:r>
            <a:endParaRPr lang="en-US" altLang="zh-CN" sz="1400"/>
          </a:p>
          <a:p>
            <a:pPr lvl="2"/>
            <a:r>
              <a:rPr lang="en-US" altLang="zh-CN" sz="1200"/>
              <a:t>cache.delete_memoized(user_has_membership)</a:t>
            </a:r>
            <a:endParaRPr lang="en-US" altLang="zh-CN" sz="1200"/>
          </a:p>
          <a:p>
            <a:pPr lvl="1"/>
            <a:r>
              <a:rPr lang="en-US" altLang="zh-CN" sz="1200"/>
              <a:t>Clear</a:t>
            </a:r>
            <a:endParaRPr lang="en-US" altLang="zh-CN" sz="1200"/>
          </a:p>
          <a:p>
            <a:pPr lvl="2"/>
            <a:r>
              <a:rPr lang="en-US" altLang="zh-CN" sz="1200"/>
              <a:t>with app.app_context():</a:t>
            </a:r>
            <a:endParaRPr lang="en-US" altLang="zh-CN" sz="1200"/>
          </a:p>
          <a:p>
            <a:pPr lvl="2"/>
            <a:r>
              <a:rPr lang="en-US" altLang="zh-CN" sz="1200"/>
              <a:t>        cache.clear()</a:t>
            </a:r>
            <a:endParaRPr lang="en-US" altLang="zh-CN" sz="1200"/>
          </a:p>
          <a:p>
            <a:pPr lvl="1"/>
            <a:r>
              <a:rPr lang="en-US" altLang="zh-CN" sz="1400"/>
              <a:t>Cache type</a:t>
            </a:r>
            <a:endParaRPr lang="en-US" altLang="zh-CN" sz="1400"/>
          </a:p>
          <a:p>
            <a:pPr lvl="2"/>
            <a:r>
              <a:rPr lang="en-US" altLang="zh-CN" sz="1200"/>
              <a:t>NullCache</a:t>
            </a:r>
            <a:endParaRPr lang="en-US" altLang="zh-CN" sz="1200"/>
          </a:p>
          <a:p>
            <a:pPr lvl="2"/>
            <a:r>
              <a:rPr lang="en-US" altLang="zh-CN" sz="1200"/>
              <a:t>SimpleCache</a:t>
            </a:r>
            <a:endParaRPr lang="en-US" altLang="zh-CN" sz="1200"/>
          </a:p>
          <a:p>
            <a:pPr lvl="3"/>
            <a:r>
              <a:rPr lang="en-US" altLang="zh-CN" sz="1200"/>
              <a:t>not really thread safe</a:t>
            </a:r>
            <a:endParaRPr lang="en-US" altLang="zh-CN" sz="1200"/>
          </a:p>
          <a:p>
            <a:pPr lvl="2"/>
            <a:r>
              <a:rPr lang="en-US" altLang="zh-CN" sz="1200"/>
              <a:t>FileSystemCache</a:t>
            </a:r>
            <a:endParaRPr lang="en-US" altLang="zh-CN" sz="1200"/>
          </a:p>
          <a:p>
            <a:pPr lvl="2"/>
            <a:r>
              <a:rPr lang="en-US" altLang="zh-CN" sz="1200"/>
              <a:t>RedisCache</a:t>
            </a:r>
            <a:endParaRPr lang="en-US" altLang="zh-CN" sz="1200"/>
          </a:p>
          <a:p>
            <a:pPr lvl="3"/>
            <a:r>
              <a:rPr lang="en-US" altLang="zh-CN" sz="1200"/>
              <a:t>CACHE_REDIS_HOST</a:t>
            </a:r>
            <a:endParaRPr lang="en-US" altLang="zh-CN" sz="1200"/>
          </a:p>
          <a:p>
            <a:pPr lvl="3"/>
            <a:r>
              <a:rPr lang="en-US" altLang="zh-CN" sz="1200"/>
              <a:t>CACHE_REDIS_PORT</a:t>
            </a:r>
            <a:endParaRPr lang="en-US" altLang="zh-CN" sz="1200"/>
          </a:p>
          <a:p>
            <a:pPr lvl="0"/>
            <a:r>
              <a:rPr lang="en-US" altLang="zh-CN" sz="1800"/>
              <a:t>Advantages</a:t>
            </a:r>
            <a:endParaRPr lang="en-US" altLang="zh-CN" sz="1800"/>
          </a:p>
          <a:p>
            <a:pPr lvl="1"/>
            <a:r>
              <a:rPr lang="en-US" altLang="zh-CN" sz="1400"/>
              <a:t>Caching helps in speeding up the process of loading in web development so that the response time in a web application can be reduced.</a:t>
            </a:r>
            <a:endParaRPr lang="en-US" altLang="zh-CN" sz="1400"/>
          </a:p>
        </p:txBody>
      </p:sp>
    </p:spTree>
    <p:custDataLst>
      <p:tags r:id="rId1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Login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Aliyun-SMS</a:t>
            </a:r>
            <a:endParaRPr lang="en-US" altLang="zh-CN"/>
          </a:p>
          <a:p>
            <a:pPr lvl="1"/>
            <a:r>
              <a:rPr lang="en-US" altLang="zh-CN"/>
              <a:t>Access-key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Wechat Pay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pip install Flask-WXPay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Upload Files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Upload multiple files</a:t>
            </a:r>
            <a:endParaRPr lang="en-US" altLang="zh-CN"/>
          </a:p>
          <a:p>
            <a:pPr lvl="1"/>
            <a:r>
              <a:rPr lang="en-US" altLang="zh-CN"/>
              <a:t>files = request.files.getlist("images")</a:t>
            </a:r>
            <a:endParaRPr lang="en-US" altLang="zh-CN"/>
          </a:p>
          <a:p>
            <a:pPr marL="457200" lvl="1" indent="0">
              <a:buNone/>
            </a:pPr>
            <a:r>
              <a:rPr lang="en-US" altLang="zh-CN"/>
              <a:t>&lt;form method="POST" enctype="multipart/form-data" action="/upload"&gt;</a:t>
            </a:r>
            <a:endParaRPr lang="en-US" altLang="zh-CN"/>
          </a:p>
          <a:p>
            <a:pPr marL="457200" lvl="1" indent="0">
              <a:buNone/>
            </a:pPr>
            <a:r>
              <a:rPr lang="en-US" altLang="zh-CN"/>
              <a:t>  &lt;input type="file" name="file[]" multiple=""&gt;</a:t>
            </a:r>
            <a:endParaRPr lang="en-US" altLang="zh-CN"/>
          </a:p>
          <a:p>
            <a:pPr marL="457200" lvl="1" indent="0">
              <a:buNone/>
            </a:pPr>
            <a:r>
              <a:rPr lang="en-US" altLang="zh-CN"/>
              <a:t>  &lt;input type="submit" value="add"&gt;</a:t>
            </a:r>
            <a:endParaRPr lang="en-US" altLang="zh-CN"/>
          </a:p>
          <a:p>
            <a:pPr marL="457200" lvl="1" indent="0">
              <a:buNone/>
            </a:pPr>
            <a:r>
              <a:rPr lang="en-US" altLang="zh-CN"/>
              <a:t>&lt;/form&gt;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CORS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7279640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https://flask-cors.readthedocs.io/en/latest/</a:t>
            </a:r>
            <a:endParaRPr lang="en-US" altLang="zh-CN"/>
          </a:p>
          <a:p>
            <a:pPr lvl="0"/>
            <a:r>
              <a:rPr lang="en-US" altLang="zh-CN"/>
              <a:t>Flask-CORS</a:t>
            </a:r>
            <a:endParaRPr lang="en-US" altLang="zh-CN"/>
          </a:p>
          <a:p>
            <a:pPr lvl="1"/>
            <a:r>
              <a:rPr lang="en-US" altLang="zh-CN"/>
              <a:t>pip install -U flask-cors</a:t>
            </a:r>
            <a:endParaRPr lang="en-US" altLang="zh-CN"/>
          </a:p>
          <a:p>
            <a:pPr lvl="1"/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8393430" y="1433195"/>
            <a:ext cx="3064510" cy="313817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from flask import Flask</a:t>
            </a:r>
            <a:endParaRPr lang="zh-CN" altLang="en-US"/>
          </a:p>
          <a:p>
            <a:r>
              <a:rPr lang="zh-CN" altLang="en-US"/>
              <a:t>from flask_cors import CORS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app = Flask(__name__)</a:t>
            </a:r>
            <a:endParaRPr lang="zh-CN" altLang="en-US"/>
          </a:p>
          <a:p>
            <a:r>
              <a:rPr lang="zh-CN" altLang="en-US"/>
              <a:t>CORS(app)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@app.route("/")</a:t>
            </a:r>
            <a:endParaRPr lang="zh-CN" altLang="en-US"/>
          </a:p>
          <a:p>
            <a:r>
              <a:rPr lang="zh-CN" altLang="en-US"/>
              <a:t>def helloWorld():</a:t>
            </a:r>
            <a:endParaRPr lang="zh-CN" altLang="en-US"/>
          </a:p>
          <a:p>
            <a:r>
              <a:rPr lang="zh-CN" altLang="en-US"/>
              <a:t>  return "Hello, cross-origin-world!"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Full Text Search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https://blog.miguelgrinberg.com/post/the-flask-mega-tutorial-part-xvi-full-text-search</a:t>
            </a:r>
            <a:endParaRPr lang="en-US" altLang="zh-CN"/>
          </a:p>
          <a:p>
            <a:pPr lvl="0"/>
            <a:r>
              <a:rPr lang="en-US" altLang="zh-CN"/>
              <a:t>Elasticsearch</a:t>
            </a:r>
            <a:endParaRPr lang="en-US" altLang="zh-CN"/>
          </a:p>
          <a:p>
            <a:pPr lvl="1"/>
            <a:r>
              <a:rPr lang="en-US" altLang="zh-CN"/>
              <a:t>Install elasticsearch</a:t>
            </a:r>
            <a:endParaRPr lang="en-US" altLang="zh-CN"/>
          </a:p>
          <a:p>
            <a:pPr lvl="2"/>
            <a:r>
              <a:rPr lang="en-US" altLang="zh-CN"/>
              <a:t>curl -fsSL https://artifacts.elastic.co/GPG-KEY-elasticsearch | sudo apt-key add -</a:t>
            </a:r>
            <a:endParaRPr lang="en-US" altLang="zh-CN"/>
          </a:p>
          <a:p>
            <a:pPr lvl="2"/>
            <a:r>
              <a:rPr lang="en-US" altLang="zh-CN"/>
              <a:t>echo "deb https://artifacts.elastic.co/packages/7.x/apt stable main" | sudo tee -a /etc/apt/sources.list.d/elastic-7.x.list</a:t>
            </a:r>
            <a:endParaRPr lang="en-US" altLang="zh-CN"/>
          </a:p>
          <a:p>
            <a:pPr lvl="2"/>
            <a:r>
              <a:rPr lang="en-US" altLang="zh-CN"/>
              <a:t>sudo apt update</a:t>
            </a:r>
            <a:endParaRPr lang="en-US" altLang="zh-CN"/>
          </a:p>
          <a:p>
            <a:pPr lvl="2"/>
            <a:r>
              <a:rPr lang="en-US" altLang="zh-CN"/>
              <a:t>sudo apt install elasticsearch</a:t>
            </a:r>
            <a:endParaRPr lang="en-US" altLang="zh-CN"/>
          </a:p>
          <a:p>
            <a:pPr lvl="1"/>
            <a:r>
              <a:rPr lang="en-US" altLang="zh-CN"/>
              <a:t>/etc/elasticsearch/elasticsearch.yml</a:t>
            </a:r>
            <a:endParaRPr lang="en-US" altLang="zh-CN" sz="2000"/>
          </a:p>
          <a:p>
            <a:pPr lvl="1"/>
            <a:r>
              <a:rPr lang="en-US" altLang="zh-CN" sz="2000"/>
              <a:t>Start elasticsearch service</a:t>
            </a:r>
            <a:endParaRPr lang="en-US" altLang="zh-CN" sz="2000"/>
          </a:p>
          <a:p>
            <a:pPr lvl="2"/>
            <a:r>
              <a:rPr lang="en-US" altLang="zh-CN"/>
              <a:t>sudo service elasticsearch start</a:t>
            </a:r>
            <a:endParaRPr lang="en-US" altLang="zh-CN"/>
          </a:p>
          <a:p>
            <a:pPr lvl="2"/>
            <a:r>
              <a:rPr lang="en-US" altLang="zh-CN" sz="1800"/>
              <a:t>http://localhost:9200/</a:t>
            </a:r>
            <a:endParaRPr lang="en-US" altLang="zh-CN" sz="1800"/>
          </a:p>
          <a:p>
            <a:pPr lvl="1"/>
            <a:r>
              <a:rPr lang="en-US" altLang="zh-CN"/>
              <a:t>pip install elasticsearch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Scheduler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871845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https://www.techcoil.com/blog/how-to-create-an-interval-task-that-runs-periodically-within-your-python-3-flask-application-with-flask-apscheduler/</a:t>
            </a:r>
            <a:endParaRPr lang="en-US" altLang="zh-CN"/>
          </a:p>
          <a:p>
            <a:r>
              <a:rPr lang="en-US" altLang="zh-CN"/>
              <a:t>Steps</a:t>
            </a:r>
            <a:endParaRPr lang="en-US" altLang="zh-CN"/>
          </a:p>
          <a:p>
            <a:pPr lvl="1"/>
            <a:r>
              <a:rPr lang="en-US" altLang="zh-CN"/>
              <a:t>pip install Flask-APScheduler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7395210" y="1221740"/>
            <a:ext cx="4113530" cy="415417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zh-CN" altLang="en-US" sz="1200"/>
              <a:t>from flask import Flask</a:t>
            </a:r>
            <a:endParaRPr lang="zh-CN" altLang="en-US" sz="1200"/>
          </a:p>
          <a:p>
            <a:r>
              <a:rPr lang="zh-CN" altLang="en-US" sz="1200"/>
              <a:t>from flask_apscheduler import APScheduler</a:t>
            </a:r>
            <a:endParaRPr lang="zh-CN" altLang="en-US" sz="1200"/>
          </a:p>
          <a:p>
            <a:r>
              <a:rPr lang="zh-CN" altLang="en-US" sz="1200"/>
              <a:t> </a:t>
            </a:r>
            <a:endParaRPr lang="zh-CN" altLang="en-US" sz="1200"/>
          </a:p>
          <a:p>
            <a:r>
              <a:rPr lang="zh-CN" altLang="en-US" sz="1200"/>
              <a:t>import multiprocessing</a:t>
            </a:r>
            <a:endParaRPr lang="zh-CN" altLang="en-US" sz="1200"/>
          </a:p>
          <a:p>
            <a:r>
              <a:rPr lang="zh-CN" altLang="en-US" sz="1200"/>
              <a:t>import random</a:t>
            </a:r>
            <a:endParaRPr lang="zh-CN" altLang="en-US" sz="1200"/>
          </a:p>
          <a:p>
            <a:r>
              <a:rPr lang="zh-CN" altLang="en-US" sz="1200"/>
              <a:t> </a:t>
            </a:r>
            <a:endParaRPr lang="zh-CN" altLang="en-US" sz="1200"/>
          </a:p>
          <a:p>
            <a:r>
              <a:rPr lang="zh-CN" altLang="en-US" sz="1200"/>
              <a:t>app = Flask(__name__)</a:t>
            </a:r>
            <a:endParaRPr lang="zh-CN" altLang="en-US" sz="1200"/>
          </a:p>
          <a:p>
            <a:r>
              <a:rPr lang="zh-CN" altLang="en-US" sz="1200"/>
              <a:t>scheduler = APScheduler()</a:t>
            </a:r>
            <a:endParaRPr lang="zh-CN" altLang="en-US" sz="1200"/>
          </a:p>
          <a:p>
            <a:r>
              <a:rPr lang="zh-CN" altLang="en-US" sz="1200"/>
              <a:t>scheduler.init_app(app)</a:t>
            </a:r>
            <a:endParaRPr lang="zh-CN" altLang="en-US" sz="1200"/>
          </a:p>
          <a:p>
            <a:r>
              <a:rPr lang="zh-CN" altLang="en-US" sz="1200"/>
              <a:t>scheduler.start()</a:t>
            </a:r>
            <a:endParaRPr lang="zh-CN" altLang="en-US" sz="1200"/>
          </a:p>
          <a:p>
            <a:r>
              <a:rPr lang="zh-CN" altLang="en-US" sz="1200"/>
              <a:t> </a:t>
            </a:r>
            <a:endParaRPr lang="zh-CN" altLang="en-US" sz="1200"/>
          </a:p>
          <a:p>
            <a:r>
              <a:rPr lang="zh-CN" altLang="en-US" sz="1200"/>
              <a:t>INTERVAL_TASK_ID = 'interval-task-id'</a:t>
            </a:r>
            <a:endParaRPr lang="zh-CN" altLang="en-US" sz="1200"/>
          </a:p>
          <a:p>
            <a:r>
              <a:rPr lang="zh-CN" altLang="en-US" sz="1200"/>
              <a:t> </a:t>
            </a:r>
            <a:endParaRPr lang="zh-CN" altLang="en-US" sz="1200"/>
          </a:p>
          <a:p>
            <a:r>
              <a:rPr lang="zh-CN" altLang="en-US" sz="1200"/>
              <a:t>simulated_room_temperature = multiprocessing.Value('d', 29)</a:t>
            </a:r>
            <a:endParaRPr lang="zh-CN" altLang="en-US" sz="1200"/>
          </a:p>
          <a:p>
            <a:r>
              <a:rPr lang="zh-CN" altLang="en-US" sz="1200"/>
              <a:t> </a:t>
            </a:r>
            <a:endParaRPr lang="zh-CN" altLang="en-US" sz="1200"/>
          </a:p>
          <a:p>
            <a:r>
              <a:rPr lang="zh-CN" altLang="en-US" sz="1200"/>
              <a:t>def interval_task():</a:t>
            </a:r>
            <a:endParaRPr lang="zh-CN" altLang="en-US" sz="1200"/>
          </a:p>
          <a:p>
            <a:r>
              <a:rPr lang="zh-CN" altLang="en-US" sz="1200"/>
              <a:t>    simulated_room_temperature.value = random.uniform(19, 31)</a:t>
            </a:r>
            <a:endParaRPr lang="zh-CN" altLang="en-US" sz="1200"/>
          </a:p>
          <a:p>
            <a:r>
              <a:rPr lang="zh-CN" altLang="en-US" sz="1200"/>
              <a:t> </a:t>
            </a:r>
            <a:endParaRPr lang="zh-CN" altLang="en-US" sz="1200"/>
          </a:p>
          <a:p>
            <a:r>
              <a:rPr lang="zh-CN" altLang="en-US" sz="1200"/>
              <a:t>scheduler.add_job(id=INTERVAL_TASK_ID, func=interval_task, trigger='interval', seconds=2</a:t>
            </a:r>
            <a:endParaRPr lang="zh-CN" altLang="en-US" sz="1200"/>
          </a:p>
        </p:txBody>
      </p:sp>
    </p:spTree>
    <p:custDataLst>
      <p:tags r:id="rId1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Flask Cli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159500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https://flask.palletsprojects.com/en/2.2.x/cli/</a:t>
            </a:r>
            <a:endParaRPr lang="en-US" altLang="zh-CN"/>
          </a:p>
          <a:p>
            <a:pPr lvl="0"/>
            <a:r>
              <a:rPr lang="en-US" altLang="zh-CN" sz="2400"/>
              <a:t>Docker</a:t>
            </a:r>
            <a:endParaRPr lang="en-US" altLang="zh-CN" sz="2400"/>
          </a:p>
          <a:p>
            <a:pPr lvl="1"/>
            <a:r>
              <a:rPr lang="en-US" altLang="zh-CN"/>
              <a:t>sudo docker compose exec flask python manage.py create_db</a:t>
            </a:r>
            <a:endParaRPr lang="en-US" altLang="zh-CN"/>
          </a:p>
          <a:p>
            <a:pPr lvl="0"/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7230745" y="1291590"/>
            <a:ext cx="4476750" cy="313817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import click</a:t>
            </a:r>
            <a:endParaRPr lang="zh-CN" altLang="en-US"/>
          </a:p>
          <a:p>
            <a:r>
              <a:rPr lang="zh-CN" altLang="en-US"/>
              <a:t>from flask import Flask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app = Flask(__name__)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@app.cli.command("create-user")</a:t>
            </a:r>
            <a:endParaRPr lang="zh-CN" altLang="en-US"/>
          </a:p>
          <a:p>
            <a:r>
              <a:rPr lang="zh-CN" altLang="en-US"/>
              <a:t>@click.argument("name")</a:t>
            </a:r>
            <a:endParaRPr lang="zh-CN" altLang="en-US"/>
          </a:p>
          <a:p>
            <a:r>
              <a:rPr lang="zh-CN" altLang="en-US"/>
              <a:t>def create_user(name):</a:t>
            </a:r>
            <a:endParaRPr lang="zh-CN" altLang="en-US"/>
          </a:p>
          <a:p>
            <a:r>
              <a:rPr lang="zh-CN" altLang="en-US"/>
              <a:t>    ...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// run: </a:t>
            </a:r>
            <a:r>
              <a:rPr lang="zh-CN" altLang="en-US"/>
              <a:t>flask create-user admin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Mail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659755" cy="4549140"/>
          </a:xfrm>
        </p:spPr>
        <p:txBody>
          <a:bodyPr/>
          <a:p>
            <a:r>
              <a:rPr lang="en-US" altLang="zh-CN"/>
              <a:t>Intro</a:t>
            </a:r>
            <a:endParaRPr lang="en-US" altLang="zh-CN"/>
          </a:p>
          <a:p>
            <a:pPr lvl="1"/>
            <a:r>
              <a:rPr lang="en-US" altLang="zh-CN"/>
              <a:t>pip install Flask-Mail</a:t>
            </a:r>
            <a:endParaRPr lang="en-US" altLang="zh-CN"/>
          </a:p>
          <a:p>
            <a:r>
              <a:rPr lang="en-US" altLang="zh-CN"/>
              <a:t>Usage</a:t>
            </a:r>
            <a:endParaRPr lang="en-US" altLang="zh-CN"/>
          </a:p>
          <a:p>
            <a:pPr lvl="1"/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6535420" y="183515"/>
            <a:ext cx="5440680" cy="641159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noAutofit/>
          </a:bodyPr>
          <a:p>
            <a:r>
              <a:rPr lang="en-US" altLang="zh-CN" sz="1200"/>
              <a:t>from flask import Flask, render_template, request</a:t>
            </a:r>
            <a:endParaRPr lang="en-US" altLang="zh-CN" sz="1200"/>
          </a:p>
          <a:p>
            <a:r>
              <a:rPr lang="en-US" altLang="zh-CN" sz="1200"/>
              <a:t>from flask_mail import Mail, Message</a:t>
            </a:r>
            <a:endParaRPr lang="en-US" altLang="zh-CN" sz="1200"/>
          </a:p>
          <a:p>
            <a:endParaRPr lang="en-US" altLang="zh-CN" sz="1200"/>
          </a:p>
          <a:p>
            <a:r>
              <a:rPr lang="en-US" altLang="zh-CN" sz="1200"/>
              <a:t>app = Flask(__name__)</a:t>
            </a:r>
            <a:endParaRPr lang="en-US" altLang="zh-CN" sz="1200"/>
          </a:p>
          <a:p>
            <a:endParaRPr lang="en-US" altLang="zh-CN" sz="1200"/>
          </a:p>
          <a:p>
            <a:r>
              <a:rPr lang="en-US" altLang="zh-CN" sz="1200"/>
              <a:t># Configuration for Flask-Mail</a:t>
            </a:r>
            <a:endParaRPr lang="en-US" altLang="zh-CN" sz="1200"/>
          </a:p>
          <a:p>
            <a:r>
              <a:rPr lang="en-US" altLang="zh-CN" sz="1200"/>
              <a:t>app.config['MAIL_SERVER'] = 'smtp.example.com'  # Replace with your mail server</a:t>
            </a:r>
            <a:endParaRPr lang="en-US" altLang="zh-CN" sz="1200"/>
          </a:p>
          <a:p>
            <a:r>
              <a:rPr lang="en-US" altLang="zh-CN" sz="1200"/>
              <a:t>app.config['MAIL_PORT'] = 587  # Or the appropriate port for your server</a:t>
            </a:r>
            <a:endParaRPr lang="en-US" altLang="zh-CN" sz="1200"/>
          </a:p>
          <a:p>
            <a:r>
              <a:rPr lang="en-US" altLang="zh-CN" sz="1200"/>
              <a:t>app.config['MAIL_USE_TLS'] = True</a:t>
            </a:r>
            <a:endParaRPr lang="en-US" altLang="zh-CN" sz="1200"/>
          </a:p>
          <a:p>
            <a:r>
              <a:rPr lang="en-US" altLang="zh-CN" sz="1200"/>
              <a:t>app.config['MAIL_USERNAME'] = 'your-email@example.com'  # Your email address</a:t>
            </a:r>
            <a:endParaRPr lang="en-US" altLang="zh-CN" sz="1200"/>
          </a:p>
          <a:p>
            <a:r>
              <a:rPr lang="en-US" altLang="zh-CN" sz="1200"/>
              <a:t>app.config['MAIL_PASSWORD'] = 'your-password'  # Your email password or app-specific password</a:t>
            </a:r>
            <a:endParaRPr lang="en-US" altLang="zh-CN" sz="1200"/>
          </a:p>
          <a:p>
            <a:r>
              <a:rPr lang="en-US" altLang="zh-CN" sz="1200"/>
              <a:t>app.config['MAIL_DEFAULT_SENDER'] = 'your-email@example.com'  # Default sender</a:t>
            </a:r>
            <a:endParaRPr lang="en-US" altLang="zh-CN" sz="1200"/>
          </a:p>
          <a:p>
            <a:endParaRPr lang="en-US" altLang="zh-CN" sz="1200"/>
          </a:p>
          <a:p>
            <a:r>
              <a:rPr lang="en-US" altLang="zh-CN" sz="1200"/>
              <a:t>mail = Mail(app)</a:t>
            </a:r>
            <a:endParaRPr lang="en-US" altLang="zh-CN" sz="1200"/>
          </a:p>
          <a:p>
            <a:endParaRPr lang="en-US" altLang="zh-CN" sz="1200"/>
          </a:p>
          <a:p>
            <a:r>
              <a:rPr lang="en-US" altLang="zh-CN" sz="1200"/>
              <a:t>@app.route('/send-mail', methods=['POST'])</a:t>
            </a:r>
            <a:endParaRPr lang="en-US" altLang="zh-CN" sz="1200"/>
          </a:p>
          <a:p>
            <a:r>
              <a:rPr lang="en-US" altLang="zh-CN" sz="1200"/>
              <a:t>def send_mail():</a:t>
            </a:r>
            <a:endParaRPr lang="en-US" altLang="zh-CN" sz="1200"/>
          </a:p>
          <a:p>
            <a:r>
              <a:rPr lang="en-US" altLang="zh-CN" sz="1200"/>
              <a:t>    recipient = request.form.get('recipient')</a:t>
            </a:r>
            <a:endParaRPr lang="en-US" altLang="zh-CN" sz="1200"/>
          </a:p>
          <a:p>
            <a:r>
              <a:rPr lang="en-US" altLang="zh-CN" sz="1200"/>
              <a:t>    subject = request.form.get('subject')</a:t>
            </a:r>
            <a:endParaRPr lang="en-US" altLang="zh-CN" sz="1200"/>
          </a:p>
          <a:p>
            <a:r>
              <a:rPr lang="en-US" altLang="zh-CN" sz="1200"/>
              <a:t>    body = request.form.get('body')</a:t>
            </a:r>
            <a:endParaRPr lang="en-US" altLang="zh-CN" sz="1200"/>
          </a:p>
          <a:p>
            <a:endParaRPr lang="en-US" altLang="zh-CN" sz="1200"/>
          </a:p>
          <a:p>
            <a:r>
              <a:rPr lang="en-US" altLang="zh-CN" sz="1200"/>
              <a:t>    msg = Message(subject, recipients=[recipient])</a:t>
            </a:r>
            <a:endParaRPr lang="en-US" altLang="zh-CN" sz="1200"/>
          </a:p>
          <a:p>
            <a:r>
              <a:rPr lang="en-US" altLang="zh-CN" sz="1200"/>
              <a:t>    msg.body = body</a:t>
            </a:r>
            <a:endParaRPr lang="en-US" altLang="zh-CN" sz="1200"/>
          </a:p>
          <a:p>
            <a:endParaRPr lang="en-US" altLang="zh-CN" sz="1200"/>
          </a:p>
          <a:p>
            <a:r>
              <a:rPr lang="en-US" altLang="zh-CN" sz="1200"/>
              <a:t>    try:</a:t>
            </a:r>
            <a:endParaRPr lang="en-US" altLang="zh-CN" sz="1200"/>
          </a:p>
          <a:p>
            <a:r>
              <a:rPr lang="en-US" altLang="zh-CN" sz="1200"/>
              <a:t>        mail.send(msg)</a:t>
            </a:r>
            <a:endParaRPr lang="en-US" altLang="zh-CN" sz="1200"/>
          </a:p>
          <a:p>
            <a:r>
              <a:rPr lang="en-US" altLang="zh-CN" sz="1200"/>
              <a:t>        return "Email sent successfully!"</a:t>
            </a:r>
            <a:endParaRPr lang="en-US" altLang="zh-CN" sz="1200"/>
          </a:p>
          <a:p>
            <a:r>
              <a:rPr lang="en-US" altLang="zh-CN" sz="1200"/>
              <a:t>    except Exception as e:</a:t>
            </a:r>
            <a:endParaRPr lang="en-US" altLang="zh-CN" sz="1200"/>
          </a:p>
          <a:p>
            <a:r>
              <a:rPr lang="en-US" altLang="zh-CN" sz="1200"/>
              <a:t>        return str(e)</a:t>
            </a:r>
            <a:endParaRPr lang="en-US" altLang="zh-CN" sz="1200"/>
          </a:p>
          <a:p>
            <a:endParaRPr lang="en-US" altLang="zh-CN" sz="1200"/>
          </a:p>
          <a:p>
            <a:r>
              <a:rPr lang="en-US" altLang="zh-CN" sz="1200"/>
              <a:t>if __name__ == '__main__':</a:t>
            </a:r>
            <a:endParaRPr lang="en-US" altLang="zh-CN" sz="1200"/>
          </a:p>
          <a:p>
            <a:r>
              <a:rPr lang="en-US" altLang="zh-CN" sz="1200"/>
              <a:t>    app.run(debug=True)</a:t>
            </a:r>
            <a:endParaRPr lang="en-US" altLang="zh-CN" sz="1200"/>
          </a:p>
        </p:txBody>
      </p:sp>
    </p:spTree>
    <p:custDataLst>
      <p:tags r:id="rId1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Password Handling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257800" cy="4549140"/>
          </a:xfrm>
        </p:spPr>
        <p:txBody>
          <a:bodyPr/>
          <a:p>
            <a:r>
              <a:rPr lang="en-US" altLang="zh-CN"/>
              <a:t>Intro</a:t>
            </a:r>
            <a:endParaRPr lang="en-US" altLang="zh-CN"/>
          </a:p>
          <a:p>
            <a:pPr lvl="1"/>
            <a:r>
              <a:rPr lang="en-US" altLang="zh-CN"/>
              <a:t>Using bcrypt to generate hash for password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6564630" y="914400"/>
            <a:ext cx="5220335" cy="56927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import bcrypt</a:t>
            </a:r>
            <a:endParaRPr lang="en-US" altLang="zh-CN" sz="1400"/>
          </a:p>
          <a:p>
            <a:endParaRPr lang="en-US" altLang="zh-CN" sz="1400"/>
          </a:p>
          <a:p>
            <a:r>
              <a:rPr lang="en-US" altLang="zh-CN" sz="1400"/>
              <a:t># Hash a password</a:t>
            </a:r>
            <a:endParaRPr lang="en-US" altLang="zh-CN" sz="1400"/>
          </a:p>
          <a:p>
            <a:r>
              <a:rPr lang="en-US" altLang="zh-CN" sz="1400"/>
              <a:t>def hash_password(password: str) -&gt; bytes:</a:t>
            </a:r>
            <a:endParaRPr lang="en-US" altLang="zh-CN" sz="1400"/>
          </a:p>
          <a:p>
            <a:r>
              <a:rPr lang="en-US" altLang="zh-CN" sz="1400"/>
              <a:t>    # Generate a salt and hash the password</a:t>
            </a:r>
            <a:endParaRPr lang="en-US" altLang="zh-CN" sz="1400"/>
          </a:p>
          <a:p>
            <a:r>
              <a:rPr lang="en-US" altLang="zh-CN" sz="1400"/>
              <a:t>    salt = bcrypt.gensalt()  # Automatically generates a secure salt</a:t>
            </a:r>
            <a:endParaRPr lang="en-US" altLang="zh-CN" sz="1400"/>
          </a:p>
          <a:p>
            <a:r>
              <a:rPr lang="en-US" altLang="zh-CN" sz="1400"/>
              <a:t>    hashed_password = bcrypt.hashpw(password.encode('utf-8'), salt)</a:t>
            </a:r>
            <a:endParaRPr lang="en-US" altLang="zh-CN" sz="1400"/>
          </a:p>
          <a:p>
            <a:r>
              <a:rPr lang="en-US" altLang="zh-CN" sz="1400"/>
              <a:t>    return hashed_password</a:t>
            </a:r>
            <a:endParaRPr lang="en-US" altLang="zh-CN" sz="1400"/>
          </a:p>
          <a:p>
            <a:endParaRPr lang="en-US" altLang="zh-CN" sz="1400"/>
          </a:p>
          <a:p>
            <a:r>
              <a:rPr lang="en-US" altLang="zh-CN" sz="1400"/>
              <a:t># Verify a password</a:t>
            </a:r>
            <a:endParaRPr lang="en-US" altLang="zh-CN" sz="1400"/>
          </a:p>
          <a:p>
            <a:r>
              <a:rPr lang="en-US" altLang="zh-CN" sz="1400"/>
              <a:t>def verify_password(stored_hash: bytes, input_password: str) -&gt; bool:</a:t>
            </a:r>
            <a:endParaRPr lang="en-US" altLang="zh-CN" sz="1400"/>
          </a:p>
          <a:p>
            <a:r>
              <a:rPr lang="en-US" altLang="zh-CN" sz="1400"/>
              <a:t>    # Compare the input password with the stored hash</a:t>
            </a:r>
            <a:endParaRPr lang="en-US" altLang="zh-CN" sz="1400"/>
          </a:p>
          <a:p>
            <a:r>
              <a:rPr lang="en-US" altLang="zh-CN" sz="1400"/>
              <a:t>    return bcrypt.checkpw(input_password.encode('utf-8'), stored_hash)</a:t>
            </a:r>
            <a:endParaRPr lang="en-US" altLang="zh-CN" sz="1400"/>
          </a:p>
          <a:p>
            <a:endParaRPr lang="en-US" altLang="zh-CN" sz="1400"/>
          </a:p>
          <a:p>
            <a:r>
              <a:rPr lang="en-US" altLang="zh-CN" sz="1400"/>
              <a:t># Example usage</a:t>
            </a:r>
            <a:endParaRPr lang="en-US" altLang="zh-CN" sz="1400"/>
          </a:p>
          <a:p>
            <a:r>
              <a:rPr lang="en-US" altLang="zh-CN" sz="1400"/>
              <a:t>password = "my_secure_password"</a:t>
            </a:r>
            <a:endParaRPr lang="en-US" altLang="zh-CN" sz="1400"/>
          </a:p>
          <a:p>
            <a:r>
              <a:rPr lang="en-US" altLang="zh-CN" sz="1400"/>
              <a:t>hashed = hash_password(password)</a:t>
            </a:r>
            <a:endParaRPr lang="en-US" altLang="zh-CN" sz="1400"/>
          </a:p>
          <a:p>
            <a:r>
              <a:rPr lang="en-US" altLang="zh-CN" sz="1400"/>
              <a:t>print("Hashed Password:", hashed)</a:t>
            </a:r>
            <a:endParaRPr lang="en-US" altLang="zh-CN" sz="1400"/>
          </a:p>
          <a:p>
            <a:endParaRPr lang="en-US" altLang="zh-CN" sz="1400"/>
          </a:p>
          <a:p>
            <a:r>
              <a:rPr lang="en-US" altLang="zh-CN" sz="1400"/>
              <a:t># Verify the password</a:t>
            </a:r>
            <a:endParaRPr lang="en-US" altLang="zh-CN" sz="1400"/>
          </a:p>
          <a:p>
            <a:r>
              <a:rPr lang="en-US" altLang="zh-CN" sz="1400"/>
              <a:t>is_valid = verify_password(hashed, "my_secure_password")</a:t>
            </a:r>
            <a:endParaRPr lang="en-US" altLang="zh-CN" sz="1400"/>
          </a:p>
          <a:p>
            <a:r>
              <a:rPr lang="en-US" altLang="zh-CN" sz="1400"/>
              <a:t>print("Password Valid:", is_valid)</a:t>
            </a:r>
            <a:endParaRPr lang="en-US" altLang="zh-CN" sz="1400"/>
          </a:p>
        </p:txBody>
      </p:sp>
    </p:spTree>
    <p:custDataLst>
      <p:tags r:id="rId1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Others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257800" cy="4549140"/>
          </a:xfrm>
        </p:spPr>
        <p:txBody>
          <a:bodyPr/>
          <a:p>
            <a:r>
              <a:rPr lang="en-US" altLang="zh-CN"/>
              <a:t>Access objects</a:t>
            </a:r>
            <a:endParaRPr lang="en-US" altLang="zh-CN"/>
          </a:p>
          <a:p>
            <a:pPr lvl="1"/>
            <a:r>
              <a:rPr lang="en-US" altLang="zh-CN"/>
              <a:t>from flask import current_app as app</a:t>
            </a:r>
            <a:endParaRPr lang="en-US" altLang="zh-CN"/>
          </a:p>
          <a:p>
            <a:pPr lvl="1"/>
            <a:r>
              <a:rPr lang="en-US" altLang="zh-CN"/>
              <a:t>with app.app_context():</a:t>
            </a:r>
            <a:endParaRPr lang="en-US" altLang="zh-CN"/>
          </a:p>
          <a:p>
            <a:pPr lvl="2"/>
            <a:r>
              <a:rPr lang="en-US" altLang="zh-CN"/>
              <a:t>// codes using app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7339965" y="1138555"/>
            <a:ext cx="4128770" cy="258445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en-US" altLang="zh-CN"/>
              <a:t># List all endpoints</a:t>
            </a:r>
            <a:endParaRPr lang="en-US" altLang="zh-CN"/>
          </a:p>
          <a:p>
            <a:r>
              <a:rPr lang="en-US" altLang="zh-CN"/>
              <a:t>with app.app_context():</a:t>
            </a:r>
            <a:endParaRPr lang="en-US" altLang="zh-CN"/>
          </a:p>
          <a:p>
            <a:r>
              <a:rPr lang="en-US" altLang="zh-CN"/>
              <a:t>    print("Listing all endpoints:")</a:t>
            </a:r>
            <a:endParaRPr lang="en-US" altLang="zh-CN"/>
          </a:p>
          <a:p>
            <a:r>
              <a:rPr lang="en-US" altLang="zh-CN"/>
              <a:t>    for rule in app.url_map.iter_rules():</a:t>
            </a:r>
            <a:endParaRPr lang="en-US" altLang="zh-CN"/>
          </a:p>
          <a:p>
            <a:r>
              <a:rPr lang="en-US" altLang="zh-CN"/>
              <a:t>        print(f"Endpoint: {rule.endpoint}")</a:t>
            </a:r>
            <a:endParaRPr lang="en-US" altLang="zh-CN"/>
          </a:p>
          <a:p>
            <a:r>
              <a:rPr lang="en-US" altLang="zh-CN"/>
              <a:t>        print(f"Methods: {', '.join(rule.methods)}")</a:t>
            </a:r>
            <a:endParaRPr lang="en-US" altLang="zh-CN"/>
          </a:p>
          <a:p>
            <a:r>
              <a:rPr lang="en-US" altLang="zh-CN"/>
              <a:t>        print(f"Route: {rule.rule}")</a:t>
            </a:r>
            <a:endParaRPr lang="en-US" altLang="zh-CN"/>
          </a:p>
          <a:p>
            <a:r>
              <a:rPr lang="en-US" altLang="zh-CN"/>
              <a:t>        print("-" * 40)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Performance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https://www.nginx.com/blog/maximizing-python-performance-with-nginx-parti-web-serving-and-caching/</a:t>
            </a:r>
            <a:endParaRPr lang="en-US" altLang="zh-CN"/>
          </a:p>
          <a:p>
            <a:pPr lvl="1"/>
            <a:r>
              <a:rPr lang="en-US" altLang="zh-CN"/>
              <a:t>https://tghw.com/blog/microcaching-for-a-faster-site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Hooks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@app.before_request</a:t>
            </a:r>
            <a:endParaRPr lang="en-US" altLang="zh-CN"/>
          </a:p>
          <a:p>
            <a:pPr lvl="1"/>
            <a:r>
              <a:rPr lang="en-US" altLang="zh-CN"/>
              <a:t>Executed before handing request</a:t>
            </a:r>
            <a:endParaRPr lang="en-US" altLang="zh-CN"/>
          </a:p>
          <a:p>
            <a:pPr lvl="0"/>
            <a:r>
              <a:rPr lang="en-US" altLang="zh-CN"/>
              <a:t>@app.after_request</a:t>
            </a:r>
            <a:endParaRPr lang="en-US" altLang="zh-CN"/>
          </a:p>
          <a:p>
            <a:pPr lvl="1"/>
            <a:r>
              <a:rPr lang="en-US" altLang="zh-CN"/>
              <a:t>Executed before response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FAQ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wsgi error</a:t>
            </a:r>
            <a:endParaRPr lang="en-US" altLang="zh-CN"/>
          </a:p>
          <a:p>
            <a:pPr lvl="1"/>
            <a:r>
              <a:rPr lang="en-US" altLang="zh-CN"/>
              <a:t>Add “--preload” option to gunicorn command</a:t>
            </a:r>
            <a:endParaRPr lang="en-US" altLang="zh-CN"/>
          </a:p>
          <a:p>
            <a:pPr lvl="2"/>
            <a:r>
              <a:rPr lang="en-US" altLang="zh-CN"/>
              <a:t>more error message can output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Task Queue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en-US" altLang="zh-CN"/>
              <a:t>celery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Celery - Intro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800215" cy="5018405"/>
          </a:xfrm>
        </p:spPr>
        <p:txBody>
          <a:bodyPr>
            <a:noAutofit/>
          </a:bodyPr>
          <a:p>
            <a:r>
              <a:rPr lang="en-US" altLang="zh-CN" sz="1600"/>
              <a:t>Reference</a:t>
            </a:r>
            <a:endParaRPr lang="en-US" altLang="zh-CN" sz="1600"/>
          </a:p>
          <a:p>
            <a:pPr lvl="1"/>
            <a:r>
              <a:rPr lang="en-US" altLang="zh-CN" sz="1400" b="1">
                <a:sym typeface="+mn-ea"/>
              </a:rPr>
              <a:t>https://blog.miguelgrinberg.com/post/using-celery-with-flask</a:t>
            </a:r>
            <a:endParaRPr lang="en-US" altLang="zh-CN" sz="1400" b="1">
              <a:sym typeface="+mn-ea"/>
            </a:endParaRPr>
          </a:p>
          <a:p>
            <a:pPr lvl="1"/>
            <a:r>
              <a:rPr lang="en-US" altLang="zh-CN" sz="1400" b="1"/>
              <a:t>https://testdriven.io/blog/flask-and-celery/</a:t>
            </a:r>
            <a:endParaRPr lang="en-US" altLang="zh-CN" sz="1400" b="1"/>
          </a:p>
          <a:p>
            <a:pPr lvl="1"/>
            <a:r>
              <a:rPr lang="en-US" altLang="zh-CN" sz="1400" b="1"/>
              <a:t>https://flask.palletsprojects.com/en/2.2.x/patterns/celery/</a:t>
            </a:r>
            <a:endParaRPr lang="en-US" altLang="zh-CN" sz="1400" b="1"/>
          </a:p>
          <a:p>
            <a:pPr lvl="1"/>
            <a:r>
              <a:rPr lang="en-US" altLang="zh-CN" sz="1400"/>
              <a:t>https://docs.celeryq.dev/en/latest/</a:t>
            </a:r>
            <a:endParaRPr lang="en-US" altLang="zh-CN" sz="1400"/>
          </a:p>
          <a:p>
            <a:pPr lvl="1"/>
            <a:r>
              <a:rPr lang="en-US" altLang="zh-CN" sz="1400"/>
              <a:t>https://medium.com/@frassetto.stefano/flask-celery-howto-d106958a15fe</a:t>
            </a:r>
            <a:endParaRPr lang="en-US" altLang="zh-CN" sz="1400"/>
          </a:p>
          <a:p>
            <a:r>
              <a:rPr lang="en-US" altLang="zh-CN" sz="1600"/>
              <a:t>Intro</a:t>
            </a:r>
            <a:endParaRPr lang="en-US" altLang="zh-CN" sz="1600"/>
          </a:p>
          <a:p>
            <a:pPr lvl="1"/>
            <a:r>
              <a:rPr lang="en-US" altLang="zh-CN" sz="1400" b="1"/>
              <a:t>A powerful task queue</a:t>
            </a:r>
            <a:endParaRPr lang="en-US" altLang="zh-CN" sz="1400" b="1"/>
          </a:p>
          <a:p>
            <a:pPr lvl="1"/>
            <a:r>
              <a:rPr lang="en-US" altLang="zh-CN" sz="1400"/>
              <a:t>pip install celery</a:t>
            </a:r>
            <a:endParaRPr lang="en-US" altLang="zh-CN" sz="1400"/>
          </a:p>
          <a:p>
            <a:pPr lvl="1"/>
            <a:r>
              <a:rPr lang="en-US" altLang="zh-CN" sz="1400"/>
              <a:t>https://flask.palletsprojects.com/en/1.1.x/patterns/celery/</a:t>
            </a:r>
            <a:endParaRPr lang="en-US" altLang="zh-CN" sz="1400"/>
          </a:p>
          <a:p>
            <a:pPr lvl="1"/>
            <a:r>
              <a:rPr lang="en-US" altLang="zh-CN" sz="1400"/>
              <a:t>Depends a message queue broker service (redis)</a:t>
            </a:r>
            <a:endParaRPr lang="en-US" altLang="zh-CN" sz="1400"/>
          </a:p>
          <a:p>
            <a:pPr lvl="1"/>
            <a:r>
              <a:rPr lang="en-US" altLang="zh-CN" sz="1400"/>
              <a:t>A celery worker process needs to run to receive and execute the task</a:t>
            </a:r>
            <a:endParaRPr lang="en-US" altLang="zh-CN" sz="1400"/>
          </a:p>
          <a:p>
            <a:pPr lvl="0"/>
            <a:r>
              <a:rPr lang="en-US" altLang="zh-CN" sz="1600"/>
              <a:t>Usage</a:t>
            </a:r>
            <a:endParaRPr lang="en-US" altLang="zh-CN" sz="1600"/>
          </a:p>
          <a:p>
            <a:pPr lvl="1"/>
            <a:r>
              <a:rPr lang="en-US" altLang="zh-CN" sz="1400"/>
              <a:t>Celery(name, backend='url_backend' broker='url_broker')</a:t>
            </a:r>
            <a:endParaRPr lang="en-US" altLang="zh-CN" sz="1400"/>
          </a:p>
          <a:p>
            <a:pPr lvl="2"/>
            <a:r>
              <a:rPr lang="en-US" altLang="zh-CN" sz="1200"/>
              <a:t>result backend</a:t>
            </a:r>
            <a:endParaRPr lang="en-US" altLang="zh-CN" sz="1200"/>
          </a:p>
          <a:p>
            <a:pPr lvl="1"/>
            <a:r>
              <a:rPr lang="en-US" altLang="zh-CN" sz="1400"/>
              <a:t>create celery object along with app, before blueprint register</a:t>
            </a:r>
            <a:endParaRPr lang="en-US" altLang="zh-CN" sz="1400"/>
          </a:p>
          <a:p>
            <a:pPr lvl="1"/>
            <a:r>
              <a:rPr lang="en-US" altLang="zh-CN" sz="1400"/>
              <a:t>write celery.task function (must be json serializable)</a:t>
            </a:r>
            <a:endParaRPr lang="en-US" altLang="zh-CN" sz="1400"/>
          </a:p>
        </p:txBody>
      </p:sp>
      <p:sp>
        <p:nvSpPr>
          <p:cNvPr id="4" name="圆角矩形 3"/>
          <p:cNvSpPr/>
          <p:nvPr/>
        </p:nvSpPr>
        <p:spPr>
          <a:xfrm>
            <a:off x="7830820" y="1121410"/>
            <a:ext cx="1109345" cy="239903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Celery Worker Server</a:t>
            </a:r>
            <a:endParaRPr lang="en-US" altLang="zh-CN"/>
          </a:p>
        </p:txBody>
      </p:sp>
      <p:sp>
        <p:nvSpPr>
          <p:cNvPr id="5" name="圆角矩形 4"/>
          <p:cNvSpPr/>
          <p:nvPr/>
        </p:nvSpPr>
        <p:spPr>
          <a:xfrm>
            <a:off x="9240520" y="1121410"/>
            <a:ext cx="1109345" cy="239903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Broker Service</a:t>
            </a:r>
            <a:endParaRPr lang="en-US" altLang="zh-CN"/>
          </a:p>
          <a:p>
            <a:pPr algn="ctr"/>
            <a:r>
              <a:rPr lang="en-US" altLang="zh-CN"/>
              <a:t>(redis)</a:t>
            </a:r>
            <a:endParaRPr lang="en-US" altLang="zh-CN"/>
          </a:p>
        </p:txBody>
      </p:sp>
      <p:sp>
        <p:nvSpPr>
          <p:cNvPr id="6" name="圆角矩形 5"/>
          <p:cNvSpPr/>
          <p:nvPr/>
        </p:nvSpPr>
        <p:spPr>
          <a:xfrm>
            <a:off x="10636250" y="1121410"/>
            <a:ext cx="1109345" cy="239903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Celery Client</a:t>
            </a:r>
            <a:endParaRPr lang="en-US" altLang="zh-CN"/>
          </a:p>
        </p:txBody>
      </p:sp>
      <p:sp>
        <p:nvSpPr>
          <p:cNvPr id="7" name="左右箭头 6"/>
          <p:cNvSpPr/>
          <p:nvPr/>
        </p:nvSpPr>
        <p:spPr>
          <a:xfrm>
            <a:off x="8957310" y="2268220"/>
            <a:ext cx="286385" cy="182880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左右箭头 7"/>
          <p:cNvSpPr/>
          <p:nvPr/>
        </p:nvSpPr>
        <p:spPr>
          <a:xfrm>
            <a:off x="10349865" y="2286635"/>
            <a:ext cx="286385" cy="182880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7254875" y="3727450"/>
            <a:ext cx="4653915" cy="28613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p>
            <a:r>
              <a:rPr lang="zh-CN" altLang="en-US" sz="1200"/>
              <a:t>from celery import Celery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def make_celery(app):</a:t>
            </a:r>
            <a:endParaRPr lang="zh-CN" altLang="en-US" sz="1200"/>
          </a:p>
          <a:p>
            <a:r>
              <a:rPr lang="zh-CN" altLang="en-US" sz="1200"/>
              <a:t>    celery = Celery(app.import_name, backend=app.config['CELERY_RESULT_BACKEND'],</a:t>
            </a:r>
            <a:endParaRPr lang="zh-CN" altLang="en-US" sz="1200"/>
          </a:p>
          <a:p>
            <a:r>
              <a:rPr lang="zh-CN" altLang="en-US" sz="1200"/>
              <a:t>                    broker=app.config['CELERY_BROKER_URL'])</a:t>
            </a:r>
            <a:endParaRPr lang="zh-CN" altLang="en-US" sz="1200"/>
          </a:p>
          <a:p>
            <a:r>
              <a:rPr lang="zh-CN" altLang="en-US" sz="1200"/>
              <a:t>    celery.conf.update(app.config)</a:t>
            </a:r>
            <a:endParaRPr lang="zh-CN" altLang="en-US" sz="1200"/>
          </a:p>
          <a:p>
            <a:r>
              <a:rPr lang="zh-CN" altLang="en-US" sz="1200"/>
              <a:t>    TaskBase = celery.Task</a:t>
            </a:r>
            <a:endParaRPr lang="zh-CN" altLang="en-US" sz="1200"/>
          </a:p>
          <a:p>
            <a:r>
              <a:rPr lang="zh-CN" altLang="en-US" sz="1200"/>
              <a:t>    class ContextTask(TaskBase):</a:t>
            </a:r>
            <a:endParaRPr lang="zh-CN" altLang="en-US" sz="1200"/>
          </a:p>
          <a:p>
            <a:r>
              <a:rPr lang="zh-CN" altLang="en-US" sz="1200"/>
              <a:t>        abstract = True</a:t>
            </a:r>
            <a:endParaRPr lang="zh-CN" altLang="en-US" sz="1200"/>
          </a:p>
          <a:p>
            <a:r>
              <a:rPr lang="zh-CN" altLang="en-US" sz="1200"/>
              <a:t>        def __call__(self, *args, **kwargs):</a:t>
            </a:r>
            <a:endParaRPr lang="zh-CN" altLang="en-US" sz="1200"/>
          </a:p>
          <a:p>
            <a:r>
              <a:rPr lang="zh-CN" altLang="en-US" sz="1200"/>
              <a:t>            with app.app_context():</a:t>
            </a:r>
            <a:endParaRPr lang="zh-CN" altLang="en-US" sz="1200"/>
          </a:p>
          <a:p>
            <a:r>
              <a:rPr lang="zh-CN" altLang="en-US" sz="1200"/>
              <a:t>                return TaskBase.__call__(self, *args, **kwargs)</a:t>
            </a:r>
            <a:endParaRPr lang="zh-CN" altLang="en-US" sz="1200"/>
          </a:p>
          <a:p>
            <a:r>
              <a:rPr lang="zh-CN" altLang="en-US" sz="1200"/>
              <a:t>    celery.Task = ContextTask</a:t>
            </a:r>
            <a:endParaRPr lang="zh-CN" altLang="en-US" sz="1200"/>
          </a:p>
          <a:p>
            <a:r>
              <a:rPr lang="zh-CN" altLang="en-US" sz="1200"/>
              <a:t>    return celery</a:t>
            </a:r>
            <a:endParaRPr lang="zh-CN" altLang="en-US" sz="1200"/>
          </a:p>
        </p:txBody>
      </p:sp>
    </p:spTree>
    <p:custDataLst>
      <p:tags r:id="rId1"/>
    </p:custData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Celery - Concept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505450" cy="4549140"/>
          </a:xfrm>
        </p:spPr>
        <p:txBody>
          <a:bodyPr>
            <a:normAutofit fontScale="70000"/>
          </a:bodyPr>
          <a:p>
            <a:r>
              <a:rPr lang="en-US" altLang="zh-CN"/>
              <a:t>Workers</a:t>
            </a:r>
            <a:endParaRPr lang="en-US" altLang="zh-CN"/>
          </a:p>
          <a:p>
            <a:pPr lvl="1"/>
            <a:r>
              <a:rPr lang="en-US" altLang="zh-CN" sz="2000"/>
              <a:t>background jobs</a:t>
            </a:r>
            <a:endParaRPr lang="en-US" altLang="zh-CN" sz="2000"/>
          </a:p>
          <a:p>
            <a:pPr lvl="0"/>
            <a:r>
              <a:rPr lang="en-US" altLang="zh-CN" sz="2400"/>
              <a:t>Message broker</a:t>
            </a:r>
            <a:endParaRPr lang="en-US" altLang="zh-CN" sz="2400"/>
          </a:p>
          <a:p>
            <a:pPr lvl="1"/>
            <a:r>
              <a:rPr lang="en-US" altLang="zh-CN"/>
              <a:t>The client communicates with the the workers through a message queue, such as Redis</a:t>
            </a:r>
            <a:endParaRPr lang="en-US" altLang="zh-CN"/>
          </a:p>
          <a:p>
            <a:r>
              <a:rPr lang="en-US" altLang="zh-CN"/>
              <a:t>States</a:t>
            </a:r>
            <a:endParaRPr lang="en-US" altLang="zh-CN"/>
          </a:p>
          <a:p>
            <a:pPr lvl="1"/>
            <a:r>
              <a:rPr lang="en-US" altLang="zh-CN"/>
              <a:t>PENDING (waiting for execution or unknown task id)</a:t>
            </a:r>
            <a:endParaRPr lang="en-US" altLang="zh-CN"/>
          </a:p>
          <a:p>
            <a:pPr lvl="1"/>
            <a:r>
              <a:rPr lang="en-US" altLang="zh-CN"/>
              <a:t>STARTED (task has been started)</a:t>
            </a:r>
            <a:endParaRPr lang="en-US" altLang="zh-CN"/>
          </a:p>
          <a:p>
            <a:pPr lvl="1"/>
            <a:r>
              <a:rPr lang="en-US" altLang="zh-CN"/>
              <a:t>SUCCESS (task executed successfully)</a:t>
            </a:r>
            <a:endParaRPr lang="en-US" altLang="zh-CN"/>
          </a:p>
          <a:p>
            <a:pPr lvl="1"/>
            <a:r>
              <a:rPr lang="en-US" altLang="zh-CN"/>
              <a:t>FAILURE (task execution resulted in exception)</a:t>
            </a:r>
            <a:endParaRPr lang="en-US" altLang="zh-CN"/>
          </a:p>
          <a:p>
            <a:pPr lvl="1"/>
            <a:r>
              <a:rPr lang="en-US" altLang="zh-CN"/>
              <a:t>RETRY (task is being retried)</a:t>
            </a:r>
            <a:endParaRPr lang="en-US" altLang="zh-CN"/>
          </a:p>
          <a:p>
            <a:pPr lvl="1"/>
            <a:r>
              <a:rPr lang="en-US" altLang="zh-CN"/>
              <a:t>REVOKED (task has been revoked)</a:t>
            </a:r>
            <a:endParaRPr lang="en-US" altLang="zh-CN"/>
          </a:p>
          <a:p>
            <a:pPr lvl="0"/>
            <a:r>
              <a:rPr lang="en-US" altLang="zh-CN"/>
              <a:t>state, info</a:t>
            </a:r>
            <a:endParaRPr lang="en-US" altLang="zh-CN"/>
          </a:p>
          <a:p>
            <a:pPr lvl="0"/>
            <a:r>
              <a:rPr lang="en-US" altLang="zh-CN"/>
              <a:t>update_state</a:t>
            </a:r>
            <a:endParaRPr lang="en-US" altLang="zh-CN"/>
          </a:p>
          <a:p>
            <a:pPr lvl="1"/>
            <a:r>
              <a:rPr lang="en-US" altLang="zh-CN"/>
              <a:t>self.update_state(state='PROGRESS', meta={'done': i, 'total': n})</a:t>
            </a:r>
            <a:endParaRPr lang="en-US" altLang="zh-CN"/>
          </a:p>
          <a:p>
            <a:pPr lvl="0"/>
            <a:endParaRPr lang="en-US" altLang="zh-CN"/>
          </a:p>
        </p:txBody>
      </p:sp>
      <p:pic>
        <p:nvPicPr>
          <p:cNvPr id="100" name="图片 99"/>
          <p:cNvPicPr/>
          <p:nvPr/>
        </p:nvPicPr>
        <p:blipFill>
          <a:blip r:embed="rId1"/>
          <a:stretch>
            <a:fillRect/>
          </a:stretch>
        </p:blipFill>
        <p:spPr>
          <a:xfrm>
            <a:off x="6497638" y="1211580"/>
            <a:ext cx="5057775" cy="4305300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2"/>
    </p:custData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Celery CLI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0000" lnSpcReduction="10000"/>
          </a:bodyPr>
          <a:p>
            <a:pPr lvl="0"/>
            <a:r>
              <a:rPr lang="en-US" altLang="zh-CN" sz="2400">
                <a:sym typeface="+mn-ea"/>
              </a:rPr>
              <a:t>References</a:t>
            </a:r>
            <a:endParaRPr lang="en-US" altLang="zh-CN" sz="24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https://docs.celeryq.dev/en/stable/reference/cli.html</a:t>
            </a:r>
            <a:endParaRPr lang="en-US" altLang="zh-CN" sz="2000">
              <a:sym typeface="+mn-ea"/>
            </a:endParaRPr>
          </a:p>
          <a:p>
            <a:pPr lvl="0"/>
            <a:r>
              <a:rPr lang="en-US" altLang="zh-CN" sz="2400">
                <a:sym typeface="+mn-ea"/>
              </a:rPr>
              <a:t>Run celery</a:t>
            </a:r>
            <a:endParaRPr lang="en-US" altLang="zh-CN" sz="2400"/>
          </a:p>
          <a:p>
            <a:pPr lvl="1"/>
            <a:r>
              <a:rPr lang="en-US" altLang="zh-CN">
                <a:sym typeface="+mn-ea"/>
              </a:rPr>
              <a:t>celery </a:t>
            </a:r>
            <a:r>
              <a:rPr lang="en-US" altLang="zh-CN" b="1">
                <a:sym typeface="+mn-ea"/>
              </a:rPr>
              <a:t>worker </a:t>
            </a:r>
            <a:r>
              <a:rPr lang="en-US" altLang="zh-CN">
                <a:sym typeface="+mn-ea"/>
              </a:rPr>
              <a:t>-A app.celery --loglevel=info -P threads</a:t>
            </a:r>
            <a:endParaRPr lang="en-US" altLang="zh-CN"/>
          </a:p>
          <a:p>
            <a:pPr lvl="2"/>
            <a:r>
              <a:rPr lang="en-US" altLang="zh-CN">
                <a:sym typeface="+mn-ea"/>
              </a:rPr>
              <a:t>-A &lt;name&gt;: app name</a:t>
            </a:r>
            <a:endParaRPr lang="en-US" altLang="zh-CN">
              <a:sym typeface="+mn-ea"/>
            </a:endParaRPr>
          </a:p>
          <a:p>
            <a:pPr lvl="2"/>
            <a:r>
              <a:rPr lang="en-US" altLang="zh-CN">
                <a:sym typeface="+mn-ea"/>
              </a:rPr>
              <a:t>-P --pool &lt;pool&gt;: pool implementation</a:t>
            </a:r>
            <a:endParaRPr lang="en-US" altLang="zh-CN">
              <a:sym typeface="+mn-ea"/>
            </a:endParaRPr>
          </a:p>
          <a:p>
            <a:pPr lvl="3"/>
            <a:r>
              <a:rPr lang="en-US" altLang="zh-CN" sz="1600">
                <a:sym typeface="+mn-ea"/>
              </a:rPr>
              <a:t>options: prefork|eventlet|gevent|solo|processes|threads</a:t>
            </a:r>
            <a:endParaRPr lang="en-US" altLang="zh-CN" sz="1600">
              <a:sym typeface="+mn-ea"/>
            </a:endParaRPr>
          </a:p>
          <a:p>
            <a:pPr lvl="3"/>
            <a:r>
              <a:rPr lang="en-US" altLang="zh-CN" sz="1600">
                <a:sym typeface="+mn-ea"/>
              </a:rPr>
              <a:t>threads: allow to spawn child processes</a:t>
            </a:r>
            <a:endParaRPr lang="en-US" altLang="zh-CN" sz="1600"/>
          </a:p>
          <a:p>
            <a:pPr lvl="2"/>
            <a:r>
              <a:rPr lang="en-US" altLang="zh-CN">
                <a:sym typeface="+mn-ea"/>
              </a:rPr>
              <a:t>-c --concurrency &lt;concurrency&gt;</a:t>
            </a:r>
            <a:endParaRPr lang="en-US" altLang="zh-CN">
              <a:sym typeface="+mn-ea"/>
            </a:endParaRPr>
          </a:p>
          <a:p>
            <a:pPr lvl="3"/>
            <a:r>
              <a:rPr lang="en-US" altLang="zh-CN" sz="1600">
                <a:sym typeface="+mn-ea"/>
              </a:rPr>
              <a:t>Number of child processes processing the queue. The default is the number of CPUs available on your system.</a:t>
            </a:r>
            <a:endParaRPr lang="en-US" altLang="zh-CN" sz="1600">
              <a:sym typeface="+mn-ea"/>
            </a:endParaRPr>
          </a:p>
          <a:p>
            <a:pPr lvl="2"/>
            <a:r>
              <a:rPr lang="en-US" altLang="zh-CN"/>
              <a:t>--time-limit &lt;time_limit&gt;</a:t>
            </a:r>
            <a:endParaRPr lang="en-US" altLang="zh-CN">
              <a:sym typeface="+mn-ea"/>
            </a:endParaRPr>
          </a:p>
          <a:p>
            <a:pPr lvl="3"/>
            <a:r>
              <a:rPr lang="en-US" altLang="zh-CN" sz="1600"/>
              <a:t>Enables a hard time limit (in seconds int/float) for tasks</a:t>
            </a:r>
            <a:endParaRPr lang="en-US" altLang="zh-CN" sz="1600"/>
          </a:p>
          <a:p>
            <a:pPr lvl="2"/>
            <a:r>
              <a:rPr lang="en-US" altLang="zh-CN"/>
              <a:t>--max-tasks-per-child &lt;max_tasks_per_child&gt;</a:t>
            </a:r>
            <a:endParaRPr lang="en-US" altLang="zh-CN"/>
          </a:p>
          <a:p>
            <a:pPr lvl="3"/>
            <a:r>
              <a:rPr lang="en-US" altLang="zh-CN" sz="1600"/>
              <a:t>Maximum number of tasks a pool worker can execute before it’s terminated and replaced by a new worker.</a:t>
            </a:r>
            <a:endParaRPr lang="en-US" altLang="zh-CN" sz="1600"/>
          </a:p>
          <a:p>
            <a:pPr lvl="2"/>
            <a:r>
              <a:rPr lang="en-US" altLang="zh-CN"/>
              <a:t>--max-memory-per-child &lt;max_memory_per_child&gt;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celery </a:t>
            </a:r>
            <a:r>
              <a:rPr lang="en-US" altLang="zh-CN" b="1">
                <a:sym typeface="+mn-ea"/>
              </a:rPr>
              <a:t>status</a:t>
            </a:r>
            <a:endParaRPr lang="en-US" altLang="zh-CN" b="1"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Celery - Impl 2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958965" cy="4549140"/>
          </a:xfrm>
        </p:spPr>
        <p:txBody>
          <a:bodyPr>
            <a:normAutofit fontScale="70000"/>
          </a:bodyPr>
          <a:p>
            <a:r>
              <a:rPr lang="en-US" altLang="zh-CN"/>
              <a:t>Commands</a:t>
            </a:r>
            <a:endParaRPr lang="en-US" altLang="zh-CN"/>
          </a:p>
          <a:p>
            <a:pPr lvl="1"/>
            <a:r>
              <a:rPr lang="en-US" altLang="zh-CN"/>
              <a:t>celery -A app.celery inspect active</a:t>
            </a:r>
            <a:endParaRPr lang="en-US" altLang="zh-CN"/>
          </a:p>
          <a:p>
            <a:pPr lvl="1"/>
            <a:r>
              <a:rPr lang="en-US" altLang="zh-CN"/>
              <a:t>celery -A app.celery status</a:t>
            </a:r>
            <a:endParaRPr lang="en-US" altLang="zh-CN"/>
          </a:p>
          <a:p>
            <a:pPr lvl="0"/>
            <a:r>
              <a:rPr lang="en-US" altLang="zh-CN"/>
              <a:t>Decorators</a:t>
            </a:r>
            <a:endParaRPr lang="en-US" altLang="zh-CN"/>
          </a:p>
          <a:p>
            <a:pPr lvl="1"/>
            <a:r>
              <a:rPr lang="en-US" altLang="zh-CN"/>
              <a:t>@app.task(bind=True, name=’task_name’)</a:t>
            </a:r>
            <a:endParaRPr lang="en-US" altLang="zh-CN"/>
          </a:p>
          <a:p>
            <a:pPr lvl="2"/>
            <a:r>
              <a:rPr lang="en-US" altLang="zh-CN" sz="1800"/>
              <a:t>bind: the first argument to the task will always be the task instance (self)</a:t>
            </a:r>
            <a:endParaRPr lang="en-US" altLang="zh-CN"/>
          </a:p>
          <a:p>
            <a:pPr lvl="1"/>
            <a:r>
              <a:rPr lang="en-US" altLang="zh-CN"/>
              <a:t>@shared_task</a:t>
            </a:r>
            <a:endParaRPr lang="en-US" altLang="zh-CN"/>
          </a:p>
          <a:p>
            <a:pPr lvl="0"/>
            <a:r>
              <a:rPr lang="en-US" altLang="zh-CN"/>
              <a:t>Task inheritance</a:t>
            </a:r>
            <a:endParaRPr lang="en-US" altLang="zh-CN"/>
          </a:p>
          <a:p>
            <a:pPr lvl="0"/>
            <a:r>
              <a:rPr lang="en-US" altLang="zh-CN"/>
              <a:t>Logging</a:t>
            </a:r>
            <a:endParaRPr lang="en-US" altLang="zh-CN"/>
          </a:p>
          <a:p>
            <a:pPr lvl="1"/>
            <a:r>
              <a:rPr lang="en-US" altLang="zh-CN"/>
              <a:t>from celery.utils.log import get_task_logger</a:t>
            </a:r>
            <a:endParaRPr lang="en-US" altLang="zh-CN"/>
          </a:p>
          <a:p>
            <a:pPr lvl="1"/>
            <a:r>
              <a:rPr lang="en-US" altLang="zh-CN"/>
              <a:t>logger = get_task_logger(__name__)</a:t>
            </a:r>
            <a:endParaRPr lang="en-US" altLang="zh-CN"/>
          </a:p>
          <a:p>
            <a:pPr lvl="0"/>
            <a:r>
              <a:rPr lang="en-US" altLang="zh-CN"/>
              <a:t>Built-in states</a:t>
            </a:r>
            <a:endParaRPr lang="en-US" altLang="zh-CN"/>
          </a:p>
          <a:p>
            <a:pPr lvl="1"/>
            <a:r>
              <a:rPr lang="en-US" altLang="zh-CN"/>
              <a:t>PENDING STARTED SUCCESS FAILURE RETRY REVOKED  </a:t>
            </a:r>
            <a:endParaRPr lang="en-US" altLang="zh-CN"/>
          </a:p>
          <a:p>
            <a:pPr lvl="0"/>
            <a:r>
              <a:rPr lang="en-US" altLang="zh-CN"/>
              <a:t>Class based task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8156575" y="1144905"/>
            <a:ext cx="3402965" cy="48615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zh-CN" altLang="en-US" sz="1000"/>
              <a:t>from celery import Task</a:t>
            </a:r>
            <a:endParaRPr lang="zh-CN" altLang="en-US" sz="1000"/>
          </a:p>
          <a:p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class MyTask(Task):</a:t>
            </a:r>
            <a:endParaRPr lang="zh-CN" altLang="en-US" sz="1000"/>
          </a:p>
          <a:p>
            <a:r>
              <a:rPr lang="zh-CN" altLang="en-US" sz="1000"/>
              <a:t>    ignore_result = True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    def run(self, source, *args, **kwargs):</a:t>
            </a:r>
            <a:endParaRPr lang="zh-CN" altLang="en-US" sz="1000"/>
          </a:p>
          <a:p>
            <a:r>
              <a:rPr lang="zh-CN" altLang="en-US" sz="1000"/>
              <a:t>        self.source = source</a:t>
            </a:r>
            <a:endParaRPr lang="zh-CN" altLang="en-US" sz="1000"/>
          </a:p>
          <a:p>
            <a:r>
              <a:rPr lang="zh-CN" altLang="en-US" sz="1000"/>
              <a:t>        data = self.collect_data()</a:t>
            </a:r>
            <a:endParaRPr lang="zh-CN" altLang="en-US" sz="1000"/>
          </a:p>
          <a:p>
            <a:r>
              <a:rPr lang="zh-CN" altLang="en-US" sz="1000"/>
              <a:t>        self.generate_file(data)</a:t>
            </a:r>
            <a:endParaRPr lang="zh-CN" altLang="en-US" sz="1000"/>
          </a:p>
          <a:p>
            <a:r>
              <a:rPr lang="zh-CN" altLang="en-US" sz="1000"/>
              <a:t>    </a:t>
            </a:r>
            <a:endParaRPr lang="zh-CN" altLang="en-US" sz="1000"/>
          </a:p>
          <a:p>
            <a:r>
              <a:rPr lang="zh-CN" altLang="en-US" sz="1000"/>
              <a:t> </a:t>
            </a:r>
            <a:r>
              <a:rPr lang="en-US" altLang="zh-CN" sz="1000"/>
              <a:t>   </a:t>
            </a:r>
            <a:r>
              <a:rPr lang="zh-CN" altLang="en-US" sz="1000"/>
              <a:t># Wrap the celery app within the Flask context</a:t>
            </a:r>
            <a:endParaRPr lang="zh-CN" altLang="en-US" sz="1000"/>
          </a:p>
          <a:p>
            <a:r>
              <a:rPr lang="zh-CN" altLang="en-US" sz="1000"/>
              <a:t>    def bind(self, app):</a:t>
            </a:r>
            <a:endParaRPr lang="zh-CN" altLang="en-US" sz="1000"/>
          </a:p>
          <a:p>
            <a:r>
              <a:rPr lang="zh-CN" altLang="en-US" sz="1000"/>
              <a:t>        return super(self.__class__, self).bind(celery_app)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@app.task</a:t>
            </a:r>
            <a:endParaRPr lang="zh-CN" altLang="en-US" sz="1000"/>
          </a:p>
          <a:p>
            <a:r>
              <a:rPr lang="zh-CN" altLang="en-US" sz="1000"/>
              <a:t>def my_task(source):</a:t>
            </a:r>
            <a:endParaRPr lang="zh-CN" altLang="en-US" sz="1000"/>
          </a:p>
          <a:p>
            <a:r>
              <a:rPr lang="zh-CN" altLang="en-US" sz="1000"/>
              <a:t>    MyTask().run(source)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# Run on Celery worker now</a:t>
            </a:r>
            <a:endParaRPr lang="zh-CN" altLang="en-US" sz="1000"/>
          </a:p>
          <a:p>
            <a:r>
              <a:rPr lang="en-US" altLang="zh-CN" sz="1000"/>
              <a:t>result = my_</a:t>
            </a:r>
            <a:r>
              <a:rPr lang="zh-CN" altLang="en-US" sz="1000"/>
              <a:t>task.delay(123)</a:t>
            </a:r>
            <a:endParaRPr lang="zh-CN" altLang="en-US" sz="1000"/>
          </a:p>
          <a:p>
            <a:r>
              <a:rPr lang="zh-CN" altLang="en-US" sz="1000"/>
              <a:t># Run on Celery worker at a sepcfic time </a:t>
            </a:r>
            <a:endParaRPr lang="zh-CN" altLang="en-US" sz="1000"/>
          </a:p>
          <a:p>
            <a:r>
              <a:rPr lang="en-US" altLang="zh-CN" sz="1000"/>
              <a:t>result = </a:t>
            </a:r>
            <a:r>
              <a:rPr lang="en-US" altLang="zh-CN" sz="1000">
                <a:sym typeface="+mn-ea"/>
              </a:rPr>
              <a:t>my_</a:t>
            </a:r>
            <a:r>
              <a:rPr lang="zh-CN" altLang="en-US" sz="1000"/>
              <a:t>task.apply_async(args=[123], eta=datetime(2015, 6, 5, 12, 30, 22))</a:t>
            </a:r>
            <a:endParaRPr lang="zh-CN" altLang="en-US" sz="1000"/>
          </a:p>
          <a:p>
            <a:r>
              <a:rPr lang="zh-CN" altLang="en-US" sz="1000"/>
              <a:t># Run task directly, No celery worker</a:t>
            </a:r>
            <a:endParaRPr lang="zh-CN" altLang="en-US" sz="1000"/>
          </a:p>
          <a:p>
            <a:r>
              <a:rPr lang="en-US" altLang="zh-CN" sz="1000"/>
              <a:t>result = </a:t>
            </a:r>
            <a:r>
              <a:rPr lang="en-US" altLang="zh-CN" sz="1000">
                <a:sym typeface="+mn-ea"/>
              </a:rPr>
              <a:t>my_</a:t>
            </a:r>
            <a:r>
              <a:rPr lang="zh-CN" altLang="en-US" sz="1000"/>
              <a:t>task.run(123)</a:t>
            </a:r>
            <a:endParaRPr lang="zh-CN" altLang="en-US" sz="1000"/>
          </a:p>
          <a:p>
            <a:r>
              <a:rPr lang="en-US" altLang="zh-CN" sz="1000"/>
              <a:t>result = </a:t>
            </a:r>
            <a:r>
              <a:rPr lang="en-US" altLang="zh-CN" sz="1000">
                <a:sym typeface="+mn-ea"/>
              </a:rPr>
              <a:t>my_</a:t>
            </a:r>
            <a:r>
              <a:rPr lang="zh-CN" altLang="en-US" sz="1000"/>
              <a:t>task(123)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from celery.result import AsyncResult</a:t>
            </a:r>
            <a:endParaRPr lang="zh-CN" altLang="en-US" sz="1000"/>
          </a:p>
          <a:p>
            <a:r>
              <a:rPr lang="en-US" altLang="zh-CN" sz="1000"/>
              <a:t># query task status</a:t>
            </a:r>
            <a:endParaRPr lang="zh-CN" altLang="en-US" sz="1000"/>
          </a:p>
          <a:p>
            <a:r>
              <a:rPr lang="zh-CN" altLang="en-US" sz="1000"/>
              <a:t>result = </a:t>
            </a:r>
            <a:r>
              <a:rPr lang="en-US" altLang="zh-CN" sz="1000"/>
              <a:t>my_task.</a:t>
            </a:r>
            <a:r>
              <a:rPr lang="zh-CN" altLang="en-US" sz="1000"/>
              <a:t>AsyncResult(</a:t>
            </a:r>
            <a:r>
              <a:rPr lang="en-US" altLang="zh-CN" sz="1000"/>
              <a:t>result.</a:t>
            </a:r>
            <a:r>
              <a:rPr lang="zh-CN" altLang="en-US" sz="1000"/>
              <a:t>id)</a:t>
            </a:r>
            <a:endParaRPr lang="zh-CN" altLang="en-US" sz="1000"/>
          </a:p>
        </p:txBody>
      </p:sp>
    </p:spTree>
    <p:custDataLst>
      <p:tags r:id="rId1"/>
    </p:custData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Celery - Monitoring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812030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https://docs.celeryq.dev/en/latest/userguide/monitoring.html</a:t>
            </a:r>
            <a:endParaRPr lang="en-US" altLang="zh-CN"/>
          </a:p>
          <a:p>
            <a:pPr lvl="0"/>
            <a:r>
              <a:rPr lang="en-US" altLang="zh-CN"/>
              <a:t>Flower</a:t>
            </a:r>
            <a:endParaRPr lang="en-US" altLang="zh-CN"/>
          </a:p>
          <a:p>
            <a:pPr lvl="1"/>
            <a:r>
              <a:rPr lang="en-US" altLang="zh-CN"/>
              <a:t>web-based monitoring</a:t>
            </a:r>
            <a:endParaRPr lang="en-US" altLang="zh-CN"/>
          </a:p>
          <a:p>
            <a:pPr lvl="1"/>
            <a:r>
              <a:rPr lang="en-US" altLang="zh-CN"/>
              <a:t>pip install flower</a:t>
            </a:r>
            <a:endParaRPr lang="en-US" altLang="zh-CN"/>
          </a:p>
          <a:p>
            <a:pPr lvl="0"/>
            <a:r>
              <a:rPr lang="en-US" altLang="zh-CN"/>
              <a:t>celery -A {proj} events</a:t>
            </a:r>
            <a:endParaRPr lang="en-US" altLang="zh-CN"/>
          </a:p>
          <a:p>
            <a:pPr lvl="0"/>
            <a:r>
              <a:rPr lang="en-US" altLang="zh-CN"/>
              <a:t>For Redis broker</a:t>
            </a:r>
            <a:endParaRPr lang="en-US" altLang="zh-CN"/>
          </a:p>
          <a:p>
            <a:pPr lvl="1"/>
            <a:r>
              <a:rPr lang="en-US" altLang="zh-CN"/>
              <a:t>redis-cli -h HOST -p PORT -n DATABASE_NUMBER keys \*</a:t>
            </a:r>
            <a:endParaRPr lang="en-US" altLang="zh-CN"/>
          </a:p>
          <a:p>
            <a:pPr lvl="0"/>
            <a:r>
              <a:rPr lang="en-US" altLang="zh-CN"/>
              <a:t>Event</a:t>
            </a:r>
            <a:endParaRPr lang="en-US" altLang="zh-CN"/>
          </a:p>
        </p:txBody>
      </p:sp>
      <p:pic>
        <p:nvPicPr>
          <p:cNvPr id="101" name="图片 100"/>
          <p:cNvPicPr/>
          <p:nvPr/>
        </p:nvPicPr>
        <p:blipFill>
          <a:blip r:embed="rId1"/>
          <a:stretch>
            <a:fillRect/>
          </a:stretch>
        </p:blipFill>
        <p:spPr>
          <a:xfrm>
            <a:off x="6144260" y="1211580"/>
            <a:ext cx="5477510" cy="4724400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2"/>
    </p:custData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DB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en-US" altLang="zh-CN"/>
              <a:t>flask-sqlalchemy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 altLang="zh-CN">
                <a:sym typeface="+mn-ea"/>
              </a:rPr>
              <a:t>Overview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808345" cy="2985135"/>
          </a:xfrm>
        </p:spPr>
        <p:txBody>
          <a:bodyPr>
            <a:noAutofit/>
          </a:bodyPr>
          <a:p>
            <a:r>
              <a:rPr lang="en-US" altLang="zh-CN" sz="1800">
                <a:sym typeface="+mn-ea"/>
              </a:rPr>
              <a:t>References</a:t>
            </a:r>
            <a:endParaRPr lang="en-US" altLang="zh-CN" sz="1800">
              <a:sym typeface="+mn-ea"/>
            </a:endParaRPr>
          </a:p>
          <a:p>
            <a:pPr lvl="1"/>
            <a:r>
              <a:rPr lang="en-US" altLang="zh-CN" sz="1600">
                <a:sym typeface="+mn-ea"/>
              </a:rPr>
              <a:t>https://flask-sqlalchemy.palletsprojects.com/en/2.x/</a:t>
            </a:r>
            <a:endParaRPr lang="en-US" altLang="zh-CN" sz="1600">
              <a:sym typeface="+mn-ea"/>
            </a:endParaRPr>
          </a:p>
          <a:p>
            <a:pPr lvl="1"/>
            <a:r>
              <a:rPr lang="en-US" altLang="zh-CN" sz="1600">
                <a:sym typeface="+mn-ea"/>
              </a:rPr>
              <a:t>https://docs.sqlalchemy.org/en/14/faq</a:t>
            </a:r>
            <a:endParaRPr lang="en-US" altLang="zh-CN" sz="1600">
              <a:sym typeface="+mn-ea"/>
            </a:endParaRPr>
          </a:p>
          <a:p>
            <a:pPr lvl="1"/>
            <a:r>
              <a:rPr lang="en-US" altLang="zh-CN" sz="1600">
                <a:sym typeface="+mn-ea"/>
              </a:rPr>
              <a:t>https://www.codedisciples.in/flask-sqlalchemy-queries.html</a:t>
            </a:r>
            <a:endParaRPr lang="en-US" altLang="zh-CN" sz="1600">
              <a:sym typeface="+mn-ea"/>
            </a:endParaRPr>
          </a:p>
          <a:p>
            <a:pPr lvl="0"/>
            <a:r>
              <a:rPr lang="en-US" altLang="zh-CN" sz="1800">
                <a:sym typeface="+mn-ea"/>
              </a:rPr>
              <a:t>Intro</a:t>
            </a:r>
            <a:endParaRPr lang="en-US" altLang="zh-CN" sz="1800"/>
          </a:p>
          <a:p>
            <a:pPr lvl="1"/>
            <a:r>
              <a:rPr lang="en-US" altLang="zh-CN" sz="1600">
                <a:sym typeface="+mn-ea"/>
              </a:rPr>
              <a:t>DB toolkit and ORM(Object-Relational Mapper) implementation written in Python</a:t>
            </a:r>
            <a:endParaRPr lang="en-US" altLang="zh-CN" sz="1600">
              <a:sym typeface="+mn-ea"/>
            </a:endParaRPr>
          </a:p>
          <a:p>
            <a:pPr lvl="1"/>
            <a:r>
              <a:rPr lang="en-US" altLang="zh-CN" sz="1600"/>
              <a:t>It provides an extra layer on top of SQL which allows us to use Databases and Tables just like Python Class Objects. We just have to create a Class Object and SQLAlchemy will take care of the rest!</a:t>
            </a:r>
            <a:endParaRPr lang="en-US" altLang="zh-CN" sz="1600"/>
          </a:p>
          <a:p>
            <a:pPr lvl="0"/>
            <a:r>
              <a:rPr lang="en-US" altLang="zh-CN" sz="1800">
                <a:sym typeface="+mn-ea"/>
              </a:rPr>
              <a:t>Install</a:t>
            </a:r>
            <a:endParaRPr lang="en-US" altLang="zh-CN" sz="1800"/>
          </a:p>
          <a:p>
            <a:pPr lvl="1"/>
            <a:r>
              <a:rPr lang="en-US" altLang="zh-CN" sz="1600">
                <a:sym typeface="+mn-ea"/>
              </a:rPr>
              <a:t>pip install flask-sqlalchemy</a:t>
            </a:r>
            <a:endParaRPr lang="en-US" altLang="zh-CN" sz="1600"/>
          </a:p>
          <a:p>
            <a:endParaRPr lang="en-US" altLang="zh-CN" sz="1600"/>
          </a:p>
        </p:txBody>
      </p:sp>
      <p:sp>
        <p:nvSpPr>
          <p:cNvPr id="4" name="流程图: 可选过程 3"/>
          <p:cNvSpPr/>
          <p:nvPr/>
        </p:nvSpPr>
        <p:spPr>
          <a:xfrm>
            <a:off x="7601585" y="1942465"/>
            <a:ext cx="2385695" cy="82105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SQLAlchemy</a:t>
            </a:r>
            <a:endParaRPr lang="en-US" altLang="zh-CN"/>
          </a:p>
        </p:txBody>
      </p:sp>
      <p:sp>
        <p:nvSpPr>
          <p:cNvPr id="5" name="流程图: 可选过程 4"/>
          <p:cNvSpPr/>
          <p:nvPr/>
        </p:nvSpPr>
        <p:spPr>
          <a:xfrm>
            <a:off x="6646545" y="3375660"/>
            <a:ext cx="2385695" cy="82105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SignallingSession</a:t>
            </a:r>
            <a:endParaRPr lang="en-US" altLang="zh-CN"/>
          </a:p>
        </p:txBody>
      </p:sp>
      <p:sp>
        <p:nvSpPr>
          <p:cNvPr id="6" name="流程图: 可选过程 5"/>
          <p:cNvSpPr/>
          <p:nvPr/>
        </p:nvSpPr>
        <p:spPr>
          <a:xfrm>
            <a:off x="9427210" y="3375660"/>
            <a:ext cx="2385695" cy="82105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Model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Init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7045325" cy="5409565"/>
          </a:xfrm>
        </p:spPr>
        <p:txBody>
          <a:bodyPr>
            <a:normAutofit lnSpcReduction="20000"/>
          </a:bodyPr>
          <a:p>
            <a:pPr lvl="0" fontAlgn="auto">
              <a:lnSpc>
                <a:spcPct val="100000"/>
              </a:lnSpc>
            </a:pPr>
            <a:r>
              <a:rPr lang="en-US" altLang="zh-CN"/>
              <a:t>Init</a:t>
            </a:r>
            <a:endParaRPr lang="en-US" altLang="zh-CN"/>
          </a:p>
          <a:p>
            <a:pPr lvl="1" fontAlgn="auto">
              <a:lnSpc>
                <a:spcPct val="100000"/>
              </a:lnSpc>
            </a:pPr>
            <a:r>
              <a:rPr lang="en-US" altLang="zh-CN">
                <a:sym typeface="+mn-ea"/>
              </a:rPr>
              <a:t>from flask_sqlalchemy import SQLAlchemy</a:t>
            </a:r>
            <a:endParaRPr lang="en-US" altLang="zh-CN">
              <a:sym typeface="+mn-ea"/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>
                <a:sym typeface="+mn-ea"/>
              </a:rPr>
              <a:t>app = Flask(__name__)</a:t>
            </a:r>
            <a:endParaRPr lang="en-US" altLang="zh-CN">
              <a:sym typeface="+mn-ea"/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>
                <a:sym typeface="+mn-ea"/>
              </a:rPr>
              <a:t>app.config['SQLALCHEMY_DATABASE_URI'] = 'sqlite:///users.sqlite3'</a:t>
            </a:r>
            <a:endParaRPr lang="en-US" altLang="zh-CN">
              <a:sym typeface="+mn-ea"/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>
                <a:sym typeface="+mn-ea"/>
              </a:rPr>
              <a:t>db = SQLAlchemy(app)	// create db object</a:t>
            </a:r>
            <a:endParaRPr lang="en-US" altLang="zh-CN">
              <a:sym typeface="+mn-ea"/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>
                <a:sym typeface="+mn-ea"/>
              </a:rPr>
              <a:t>db.create_all()	// create all tables</a:t>
            </a:r>
            <a:endParaRPr lang="en-US" altLang="zh-CN">
              <a:sym typeface="+mn-ea"/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>
                <a:sym typeface="+mn-ea"/>
              </a:rPr>
              <a:t>class MyModel(db.Model)</a:t>
            </a:r>
            <a:endParaRPr lang="en-US" altLang="zh-CN">
              <a:sym typeface="+mn-ea"/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>
                <a:sym typeface="+mn-ea"/>
              </a:rPr>
              <a:t>db.Column(...)</a:t>
            </a:r>
            <a:endParaRPr lang="en-US" altLang="zh-CN">
              <a:sym typeface="+mn-ea"/>
            </a:endParaRPr>
          </a:p>
          <a:p>
            <a:pPr lvl="2" fontAlgn="auto">
              <a:lnSpc>
                <a:spcPct val="100000"/>
              </a:lnSpc>
            </a:pPr>
            <a:r>
              <a:rPr lang="en-US" altLang="zh-CN" sz="1800">
                <a:sym typeface="+mn-ea"/>
              </a:rPr>
              <a:t>unique=True/False</a:t>
            </a:r>
            <a:endParaRPr lang="en-US" altLang="zh-CN" sz="1800">
              <a:sym typeface="+mn-ea"/>
            </a:endParaRPr>
          </a:p>
          <a:p>
            <a:pPr lvl="2" fontAlgn="auto">
              <a:lnSpc>
                <a:spcPct val="100000"/>
              </a:lnSpc>
            </a:pPr>
            <a:r>
              <a:rPr lang="en-US" altLang="zh-CN" sz="1800">
                <a:sym typeface="+mn-ea"/>
              </a:rPr>
              <a:t>default=value</a:t>
            </a:r>
            <a:endParaRPr lang="en-US" altLang="zh-CN" sz="1800">
              <a:sym typeface="+mn-ea"/>
            </a:endParaRPr>
          </a:p>
          <a:p>
            <a:pPr lvl="2" fontAlgn="auto">
              <a:lnSpc>
                <a:spcPct val="100000"/>
              </a:lnSpc>
            </a:pPr>
            <a:r>
              <a:rPr lang="en-US" altLang="zh-CN" sz="1800">
                <a:sym typeface="+mn-ea"/>
              </a:rPr>
              <a:t>nullable=True/False</a:t>
            </a:r>
            <a:endParaRPr lang="en-US" altLang="zh-CN" sz="1800">
              <a:sym typeface="+mn-ea"/>
            </a:endParaRPr>
          </a:p>
          <a:p>
            <a:pPr lvl="2" fontAlgn="auto">
              <a:lnSpc>
                <a:spcPct val="100000"/>
              </a:lnSpc>
            </a:pPr>
            <a:r>
              <a:rPr lang="en-US" altLang="zh-CN"/>
              <a:t>primary_key=True/False</a:t>
            </a:r>
            <a:endParaRPr lang="en-US" altLang="zh-CN"/>
          </a:p>
          <a:p>
            <a:pPr lvl="2" fontAlgn="auto">
              <a:lnSpc>
                <a:spcPct val="100000"/>
              </a:lnSpc>
            </a:pPr>
            <a:r>
              <a:rPr lang="en-US" altLang="zh-CN"/>
              <a:t>db.ForeignKey('table.field_name')</a:t>
            </a:r>
            <a:endParaRPr lang="en-US" altLang="zh-CN"/>
          </a:p>
          <a:p>
            <a:pPr lvl="2" fontAlgn="auto">
              <a:lnSpc>
                <a:spcPct val="100000"/>
              </a:lnSpc>
            </a:pPr>
            <a:r>
              <a:rPr lang="en-US" altLang="zh-CN"/>
              <a:t>db.relationship(...)</a:t>
            </a:r>
            <a:endParaRPr lang="en-US" altLang="zh-CN"/>
          </a:p>
        </p:txBody>
      </p:sp>
      <p:sp>
        <p:nvSpPr>
          <p:cNvPr id="4" name="流程图: 过程 3"/>
          <p:cNvSpPr/>
          <p:nvPr/>
        </p:nvSpPr>
        <p:spPr>
          <a:xfrm>
            <a:off x="8747760" y="1400810"/>
            <a:ext cx="2606040" cy="63055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Create SQLAlchemy object</a:t>
            </a:r>
            <a:endParaRPr lang="en-US" altLang="zh-CN" sz="1400"/>
          </a:p>
          <a:p>
            <a:pPr algn="ctr"/>
            <a:r>
              <a:rPr lang="en-US" altLang="zh-CN" sz="1400"/>
              <a:t>db = SQLAlchemy()</a:t>
            </a:r>
            <a:endParaRPr lang="en-US" altLang="zh-CN" sz="1400"/>
          </a:p>
        </p:txBody>
      </p:sp>
      <p:sp>
        <p:nvSpPr>
          <p:cNvPr id="6" name="流程图: 过程 5"/>
          <p:cNvSpPr/>
          <p:nvPr/>
        </p:nvSpPr>
        <p:spPr>
          <a:xfrm>
            <a:off x="8747760" y="2359660"/>
            <a:ext cx="2606040" cy="63055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Config DB URI</a:t>
            </a:r>
            <a:endParaRPr lang="en-US" altLang="zh-CN" sz="1400"/>
          </a:p>
          <a:p>
            <a:pPr algn="ctr"/>
            <a:r>
              <a:rPr lang="en-US" altLang="zh-CN" sz="1400">
                <a:sym typeface="+mn-ea"/>
              </a:rPr>
              <a:t>app.config['SQLALCHEMY_DATABASE_URI'] = ‘xxx’</a:t>
            </a:r>
            <a:endParaRPr lang="en-US" altLang="zh-CN" sz="1400"/>
          </a:p>
        </p:txBody>
      </p:sp>
      <p:sp>
        <p:nvSpPr>
          <p:cNvPr id="7" name="流程图: 过程 6"/>
          <p:cNvSpPr/>
          <p:nvPr/>
        </p:nvSpPr>
        <p:spPr>
          <a:xfrm>
            <a:off x="8747760" y="3302000"/>
            <a:ext cx="2606040" cy="63055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Connect DB with app</a:t>
            </a:r>
            <a:endParaRPr lang="en-US" altLang="zh-CN" sz="1400"/>
          </a:p>
          <a:p>
            <a:pPr algn="ctr"/>
            <a:r>
              <a:rPr lang="en-US" altLang="zh-CN" sz="1400"/>
              <a:t>db.init_app(app)</a:t>
            </a:r>
            <a:endParaRPr lang="en-US" altLang="zh-CN" sz="1400"/>
          </a:p>
        </p:txBody>
      </p:sp>
    </p:spTree>
    <p:custDataLst>
      <p:tags r:id="rId1"/>
    </p:custData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Add/Delete/Update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37845" y="1211580"/>
            <a:ext cx="11428730" cy="5292725"/>
          </a:xfrm>
        </p:spPr>
        <p:txBody>
          <a:bodyPr>
            <a:normAutofit lnSpcReduction="20000"/>
          </a:bodyPr>
          <a:p>
            <a:pPr algn="l">
              <a:buClrTx/>
              <a:buSzTx/>
            </a:pPr>
            <a:r>
              <a:rPr lang="en-US" altLang="zh-CN" sz="1600">
                <a:sym typeface="+mn-ea"/>
              </a:rPr>
              <a:t>Class mapping</a:t>
            </a:r>
            <a:endParaRPr lang="en-US" altLang="zh-CN" sz="1600"/>
          </a:p>
          <a:p>
            <a:pPr lvl="1" algn="l">
              <a:buClrTx/>
              <a:buSzTx/>
            </a:pPr>
            <a:r>
              <a:rPr lang="en-US" altLang="zh-CN" sz="1600">
                <a:sym typeface="+mn-ea"/>
              </a:rPr>
              <a:t>__tablename__ = 'tn'</a:t>
            </a:r>
            <a:endParaRPr lang="en-US" altLang="zh-CN" sz="1600">
              <a:sym typeface="+mn-ea"/>
            </a:endParaRPr>
          </a:p>
          <a:p>
            <a:pPr lvl="0" algn="l">
              <a:buClrTx/>
              <a:buSzTx/>
            </a:pPr>
            <a:r>
              <a:rPr lang="en-US" altLang="zh-CN" sz="1600">
                <a:sym typeface="+mn-ea"/>
              </a:rPr>
              <a:t>Add record</a:t>
            </a:r>
            <a:endParaRPr lang="en-US" altLang="zh-CN" sz="1600"/>
          </a:p>
          <a:p>
            <a:pPr lvl="1"/>
            <a:r>
              <a:rPr lang="en-US" altLang="zh-CN" sz="1400">
                <a:sym typeface="+mn-ea"/>
              </a:rPr>
              <a:t>db.session.add(obj)</a:t>
            </a:r>
            <a:endParaRPr lang="en-US" altLang="zh-CN" sz="1400">
              <a:sym typeface="+mn-ea"/>
            </a:endParaRPr>
          </a:p>
          <a:p>
            <a:pPr lvl="1"/>
            <a:r>
              <a:rPr lang="en-US" altLang="zh-CN" sz="1400">
                <a:sym typeface="+mn-ea"/>
              </a:rPr>
              <a:t>db.session.add_all([fld1, fld2, fld3])</a:t>
            </a:r>
            <a:endParaRPr lang="en-US" altLang="zh-CN" sz="1400">
              <a:sym typeface="+mn-ea"/>
            </a:endParaRPr>
          </a:p>
          <a:p>
            <a:pPr lvl="1"/>
            <a:r>
              <a:rPr lang="en-US" altLang="zh-CN" sz="1400">
                <a:sym typeface="+mn-ea"/>
              </a:rPr>
              <a:t>db.session.commit()</a:t>
            </a:r>
            <a:endParaRPr lang="en-US" altLang="zh-CN" sz="1400">
              <a:sym typeface="+mn-ea"/>
            </a:endParaRPr>
          </a:p>
          <a:p>
            <a:pPr lvl="0"/>
            <a:r>
              <a:rPr lang="en-US" altLang="zh-CN" sz="1600">
                <a:sym typeface="+mn-ea"/>
              </a:rPr>
              <a:t>Delete record</a:t>
            </a:r>
            <a:endParaRPr lang="en-US" altLang="zh-CN" sz="1600">
              <a:sym typeface="+mn-ea"/>
            </a:endParaRPr>
          </a:p>
          <a:p>
            <a:pPr lvl="1"/>
            <a:r>
              <a:rPr lang="en-US" altLang="zh-CN" sz="1400">
                <a:sym typeface="+mn-ea"/>
              </a:rPr>
              <a:t>db.session.delete(obj)</a:t>
            </a:r>
            <a:endParaRPr lang="en-US" altLang="zh-CN" sz="1400">
              <a:sym typeface="+mn-ea"/>
            </a:endParaRPr>
          </a:p>
          <a:p>
            <a:pPr lvl="1"/>
            <a:r>
              <a:rPr lang="en-US" altLang="zh-CN" sz="1400">
                <a:sym typeface="+mn-ea"/>
              </a:rPr>
              <a:t>db.session.commit()</a:t>
            </a:r>
            <a:endParaRPr lang="en-US" altLang="zh-CN" sz="1400">
              <a:sym typeface="+mn-ea"/>
            </a:endParaRPr>
          </a:p>
          <a:p>
            <a:pPr lvl="1"/>
            <a:r>
              <a:rPr lang="en-US" altLang="zh-CN" sz="1400">
                <a:sym typeface="+mn-ea"/>
              </a:rPr>
              <a:t>MyModel.query.delete()	// delete all records in table</a:t>
            </a:r>
            <a:endParaRPr lang="en-US" altLang="zh-CN" sz="1400">
              <a:sym typeface="+mn-ea"/>
            </a:endParaRPr>
          </a:p>
          <a:p>
            <a:pPr lvl="0"/>
            <a:r>
              <a:rPr lang="en-US" altLang="zh-CN" sz="1600">
                <a:sym typeface="+mn-ea"/>
              </a:rPr>
              <a:t>Update record</a:t>
            </a:r>
            <a:endParaRPr lang="en-US" altLang="zh-CN" sz="1600">
              <a:sym typeface="+mn-ea"/>
            </a:endParaRPr>
          </a:p>
          <a:p>
            <a:pPr lvl="1"/>
            <a:r>
              <a:rPr lang="en-US" altLang="zh-CN" sz="1400">
                <a:sym typeface="+mn-ea"/>
              </a:rPr>
              <a:t>db.session.flush()</a:t>
            </a:r>
            <a:endParaRPr lang="en-US" altLang="zh-CN" sz="1400">
              <a:sym typeface="+mn-ea"/>
            </a:endParaRPr>
          </a:p>
          <a:p>
            <a:pPr lvl="1"/>
            <a:r>
              <a:rPr lang="en-US" altLang="zh-CN" sz="1400">
                <a:sym typeface="+mn-ea"/>
              </a:rPr>
              <a:t>db.session.commit()</a:t>
            </a:r>
            <a:endParaRPr lang="en-US" altLang="zh-CN" sz="1400">
              <a:sym typeface="+mn-ea"/>
            </a:endParaRPr>
          </a:p>
        </p:txBody>
      </p:sp>
      <p:graphicFrame>
        <p:nvGraphicFramePr>
          <p:cNvPr id="5" name="表格 4"/>
          <p:cNvGraphicFramePr/>
          <p:nvPr>
            <p:custDataLst>
              <p:tags r:id="rId1"/>
            </p:custDataLst>
          </p:nvPr>
        </p:nvGraphicFramePr>
        <p:xfrm>
          <a:off x="7036435" y="1381125"/>
          <a:ext cx="39852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0970"/>
                <a:gridCol w="2574290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type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explanation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Integer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String(size)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Text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Unicode text</a:t>
                      </a:r>
                      <a:endParaRPr lang="en-US" altLang="zh-CN" sz="1400"/>
                    </a:p>
                  </a:txBody>
                  <a:tcPr/>
                </a:tc>
              </a:tr>
              <a:tr h="3175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DateTime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expressed as Python datetime object</a:t>
                      </a:r>
                      <a:endParaRPr lang="en-US" altLang="zh-CN" sz="14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Float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Boolean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PickleType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pickled Python object</a:t>
                      </a:r>
                      <a:endParaRPr lang="en-US" altLang="zh-CN" sz="14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LargeBinary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arbitrary binay data</a:t>
                      </a:r>
                      <a:endParaRPr lang="en-US" altLang="zh-CN" sz="14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Query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128895" cy="4549140"/>
          </a:xfrm>
        </p:spPr>
        <p:txBody>
          <a:bodyPr/>
          <a:p>
            <a:pPr lvl="0"/>
            <a:r>
              <a:rPr lang="en-US" altLang="zh-CN" sz="1400">
                <a:sym typeface="+mn-ea"/>
              </a:rPr>
              <a:t>Query</a:t>
            </a:r>
            <a:endParaRPr lang="en-US" altLang="zh-CN" sz="1400"/>
          </a:p>
          <a:p>
            <a:pPr lvl="1"/>
            <a:r>
              <a:rPr lang="en-US" altLang="zh-CN" sz="1200">
                <a:sym typeface="+mn-ea"/>
              </a:rPr>
              <a:t>MyModel.query.all()</a:t>
            </a:r>
            <a:endParaRPr lang="en-US" altLang="zh-CN" sz="1200">
              <a:sym typeface="+mn-ea"/>
            </a:endParaRPr>
          </a:p>
          <a:p>
            <a:pPr lvl="1"/>
            <a:r>
              <a:rPr lang="en-US" altLang="zh-CN" sz="1200">
                <a:sym typeface="+mn-ea"/>
              </a:rPr>
              <a:t>obj_list = MyModel.query.filter_by(field='value').all()</a:t>
            </a:r>
            <a:endParaRPr lang="en-US" altLang="zh-CN" sz="1200">
              <a:sym typeface="+mn-ea"/>
            </a:endParaRPr>
          </a:p>
          <a:p>
            <a:pPr lvl="1"/>
            <a:r>
              <a:rPr lang="en-US" altLang="zh-CN" sz="1200">
                <a:sym typeface="+mn-ea"/>
              </a:rPr>
              <a:t>obj = MyModel.query.filter_by(filed='value').first()</a:t>
            </a:r>
            <a:endParaRPr lang="en-US" altLang="zh-CN" sz="1200">
              <a:sym typeface="+mn-ea"/>
            </a:endParaRPr>
          </a:p>
          <a:p>
            <a:pPr lvl="1"/>
            <a:r>
              <a:rPr lang="en-US" altLang="zh-CN" sz="1200">
                <a:sym typeface="+mn-ea"/>
              </a:rPr>
              <a:t>obj_list = MyModel.query.filter(MyModel.field1=='value', MyModel.field2&gt;value2, MyModel.field3.in_((value1, value2)))</a:t>
            </a:r>
            <a:endParaRPr lang="en-US" altLang="zh-CN" sz="1200">
              <a:sym typeface="+mn-ea"/>
            </a:endParaRPr>
          </a:p>
          <a:p>
            <a:pPr lvl="1"/>
            <a:r>
              <a:rPr lang="en-US" altLang="zh-CN" sz="1200">
                <a:sym typeface="+mn-ea"/>
              </a:rPr>
              <a:t>obj_list = MyModel.query.filter(or_(MyMode.field1=='value', MyModel.field2&gt;value2))</a:t>
            </a:r>
            <a:endParaRPr lang="en-US" altLang="zh-CN" sz="1200"/>
          </a:p>
          <a:p>
            <a:pPr lvl="1"/>
            <a:r>
              <a:rPr lang="en-US" altLang="zh-CN" sz="1200">
                <a:sym typeface="+mn-ea"/>
              </a:rPr>
              <a:t>obj_list = MyModel.query.order_by(MyModel.field).all()</a:t>
            </a:r>
            <a:endParaRPr lang="en-US" altLang="zh-CN" sz="1200">
              <a:sym typeface="+mn-ea"/>
            </a:endParaRPr>
          </a:p>
          <a:p>
            <a:pPr lvl="1"/>
            <a:r>
              <a:rPr lang="en-US" altLang="zh-CN" sz="1200">
                <a:sym typeface="+mn-ea"/>
              </a:rPr>
              <a:t>obj = MyModel.query.get(1) // query by primary key</a:t>
            </a:r>
            <a:endParaRPr lang="en-US" altLang="zh-CN" sz="1200">
              <a:sym typeface="+mn-ea"/>
            </a:endParaRPr>
          </a:p>
          <a:p>
            <a:pPr lvl="1"/>
            <a:r>
              <a:rPr lang="en-US" altLang="zh-CN" sz="1200">
                <a:sym typeface="+mn-ea"/>
              </a:rPr>
              <a:t>obj = MyModel.query.all()</a:t>
            </a:r>
            <a:endParaRPr lang="en-US" altLang="zh-CN" sz="1200"/>
          </a:p>
          <a:p>
            <a:pPr algn="l">
              <a:buClrTx/>
              <a:buSzTx/>
            </a:pPr>
            <a:r>
              <a:rPr lang="en-US" altLang="zh-CN" sz="1400">
                <a:sym typeface="+mn-ea"/>
              </a:rPr>
              <a:t>Inner join</a:t>
            </a:r>
            <a:endParaRPr lang="en-US" altLang="zh-CN" sz="1400">
              <a:sym typeface="+mn-ea"/>
            </a:endParaRPr>
          </a:p>
          <a:p>
            <a:pPr lvl="1" algn="l">
              <a:buClrTx/>
              <a:buSzTx/>
            </a:pPr>
            <a:r>
              <a:rPr lang="en-US" altLang="zh-CN" sz="1200">
                <a:sym typeface="+mn-ea"/>
              </a:rPr>
              <a:t>db.session.query(Folder, File)</a:t>
            </a:r>
            <a:endParaRPr lang="en-US" altLang="zh-CN" sz="1200">
              <a:sym typeface="+mn-ea"/>
            </a:endParaRPr>
          </a:p>
          <a:p>
            <a:pPr lvl="1" algn="l">
              <a:buClrTx/>
              <a:buSzTx/>
            </a:pPr>
            <a:r>
              <a:rPr lang="en-US" altLang="zh-CN" sz="1200">
                <a:sym typeface="+mn-ea"/>
              </a:rPr>
              <a:t>    .join(File, Folder.id == File.folder_id)</a:t>
            </a:r>
            <a:endParaRPr lang="en-US" altLang="zh-CN" sz="1200">
              <a:sym typeface="+mn-ea"/>
            </a:endParaRPr>
          </a:p>
          <a:p>
            <a:pPr lvl="1" algn="l">
              <a:buClrTx/>
              <a:buSzTx/>
            </a:pPr>
            <a:r>
              <a:rPr lang="en-US" altLang="zh-CN" sz="1200">
                <a:sym typeface="+mn-ea"/>
              </a:rPr>
              <a:t>    .all()</a:t>
            </a:r>
            <a:endParaRPr lang="en-US" altLang="zh-CN" sz="1200">
              <a:sym typeface="+mn-ea"/>
            </a:endParaRPr>
          </a:p>
          <a:p>
            <a:pPr lvl="0" algn="l">
              <a:buClrTx/>
              <a:buSzTx/>
            </a:pPr>
            <a:r>
              <a:rPr lang="en-US" altLang="zh-CN" sz="1400">
                <a:sym typeface="+mn-ea"/>
              </a:rPr>
              <a:t>Outer join</a:t>
            </a:r>
            <a:endParaRPr lang="en-US" altLang="zh-CN" sz="1400">
              <a:sym typeface="+mn-ea"/>
            </a:endParaRPr>
          </a:p>
          <a:p>
            <a:pPr lvl="1" algn="l">
              <a:buClrTx/>
              <a:buSzTx/>
            </a:pPr>
            <a:r>
              <a:rPr lang="en-US" altLang="zh-CN" sz="1200">
                <a:sym typeface="+mn-ea"/>
              </a:rPr>
              <a:t>db.session.query(Folder, File)</a:t>
            </a:r>
            <a:endParaRPr lang="en-US" altLang="zh-CN" sz="1200">
              <a:sym typeface="+mn-ea"/>
            </a:endParaRPr>
          </a:p>
          <a:p>
            <a:pPr lvl="1" algn="l">
              <a:buClrTx/>
              <a:buSzTx/>
            </a:pPr>
            <a:r>
              <a:rPr lang="en-US" altLang="zh-CN" sz="1200">
                <a:sym typeface="+mn-ea"/>
              </a:rPr>
              <a:t>    .outerjoin(File, Folder.id == File.folder_id)</a:t>
            </a:r>
            <a:endParaRPr lang="en-US" altLang="zh-CN" sz="1200">
              <a:sym typeface="+mn-ea"/>
            </a:endParaRPr>
          </a:p>
          <a:p>
            <a:pPr lvl="1" algn="l">
              <a:buClrTx/>
              <a:buSzTx/>
            </a:pPr>
            <a:r>
              <a:rPr lang="en-US" altLang="zh-CN" sz="1200">
                <a:sym typeface="+mn-ea"/>
              </a:rPr>
              <a:t>    .all()</a:t>
            </a:r>
            <a:endParaRPr lang="en-US" altLang="zh-CN" sz="1200">
              <a:sym typeface="+mn-ea"/>
            </a:endParaRPr>
          </a:p>
        </p:txBody>
      </p:sp>
      <p:graphicFrame>
        <p:nvGraphicFramePr>
          <p:cNvPr id="5" name="表格 4"/>
          <p:cNvGraphicFramePr/>
          <p:nvPr>
            <p:custDataLst>
              <p:tags r:id="rId1"/>
            </p:custDataLst>
          </p:nvPr>
        </p:nvGraphicFramePr>
        <p:xfrm>
          <a:off x="6096000" y="1211580"/>
          <a:ext cx="5813425" cy="2466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45"/>
                <a:gridCol w="4640580"/>
              </a:tblGrid>
              <a:tr h="3048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/>
                        <a:t>Function</a:t>
                      </a:r>
                      <a:endParaRPr lang="en-US" altLang="zh-CN" sz="14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/>
                        <a:t>Explanation</a:t>
                      </a:r>
                      <a:endParaRPr lang="en-US" altLang="zh-CN" sz="1400"/>
                    </a:p>
                  </a:txBody>
                  <a:tcPr anchor="ctr" anchorCtr="0"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filter()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把过滤器添加到原查询上，返回一个新查询</a:t>
                      </a:r>
                      <a:endParaRPr lang="zh-CN" altLang="en-US" sz="14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filter_by()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把等值过滤器添加到原查询上，返回一个新查询</a:t>
                      </a:r>
                      <a:endParaRPr lang="zh-CN" altLang="en-US" sz="1400"/>
                    </a:p>
                  </a:txBody>
                  <a:tcPr/>
                </a:tc>
              </a:tr>
              <a:tr h="5181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limit()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使用指定的值限制原查询返回的结果数量，返回一个新查询</a:t>
                      </a:r>
                      <a:endParaRPr lang="zh-CN" altLang="en-US" sz="14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offset()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偏移原查询返回的结果，返回一个新查询</a:t>
                      </a:r>
                      <a:endParaRPr lang="zh-CN" altLang="en-US" sz="1400"/>
                    </a:p>
                  </a:txBody>
                  <a:tcPr/>
                </a:tc>
              </a:tr>
              <a:tr h="3644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order_by()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根据指定条件对原查询结果进行排序，返回一个新查询</a:t>
                      </a:r>
                      <a:endParaRPr lang="zh-CN" altLang="en-US" sz="1400"/>
                    </a:p>
                  </a:txBody>
                  <a:tcPr/>
                </a:tc>
              </a:tr>
              <a:tr h="3644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group_by()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根据指定条件对原查询结果进行分组，返回一个新查询</a:t>
                      </a:r>
                      <a:endParaRPr lang="zh-CN" altLang="en-US" sz="140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表格 6"/>
          <p:cNvGraphicFramePr/>
          <p:nvPr>
            <p:custDataLst>
              <p:tags r:id="rId2"/>
            </p:custDataLst>
          </p:nvPr>
        </p:nvGraphicFramePr>
        <p:xfrm>
          <a:off x="6096000" y="3937635"/>
          <a:ext cx="5814060" cy="23609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2535"/>
                <a:gridCol w="4581525"/>
              </a:tblGrid>
              <a:tr h="3048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/>
                        <a:t>Function</a:t>
                      </a:r>
                      <a:endParaRPr lang="en-US" altLang="zh-CN" sz="14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/>
                        <a:t>Explanation</a:t>
                      </a:r>
                      <a:endParaRPr lang="en-US" altLang="zh-CN" sz="1400"/>
                    </a:p>
                  </a:txBody>
                  <a:tcPr anchor="ctr" anchorCtr="0"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all()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以列表形式返回查询的所有结果</a:t>
                      </a:r>
                      <a:endParaRPr lang="zh-CN" altLang="en-US" sz="1400"/>
                    </a:p>
                  </a:txBody>
                  <a:tcPr/>
                </a:tc>
              </a:tr>
              <a:tr h="3092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first()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返回查询的第一个结果，如果没有结果，则返回None</a:t>
                      </a:r>
                      <a:endParaRPr lang="zh-CN" altLang="en-US" sz="1400"/>
                    </a:p>
                  </a:txBody>
                  <a:tcPr/>
                </a:tc>
              </a:tr>
              <a:tr h="5181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get()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返回指定主键对应的行，如果没有对应的行，则返回None</a:t>
                      </a:r>
                      <a:endParaRPr lang="zh-CN" altLang="en-US" sz="14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count()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返回查询结果的数量</a:t>
                      </a:r>
                      <a:endParaRPr lang="zh-CN" altLang="en-US" sz="1400"/>
                    </a:p>
                  </a:txBody>
                  <a:tcPr/>
                </a:tc>
              </a:tr>
              <a:tr h="3092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paginate()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返回一个Paginate对象，它包含指定范围内的结果</a:t>
                      </a:r>
                      <a:endParaRPr lang="zh-CN" altLang="en-US" sz="1400"/>
                    </a:p>
                  </a:txBody>
                  <a:tcPr/>
                </a:tc>
              </a:tr>
              <a:tr h="309880">
                <a:tc>
                  <a:txBody>
                    <a:bodyPr/>
                    <a:p>
                      <a:pPr>
                        <a:buNone/>
                      </a:pP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Pitfalls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en-US" altLang="zh-CN"/>
              <a:t>func</a:t>
            </a:r>
            <a:endParaRPr lang="en-US" altLang="zh-CN"/>
          </a:p>
          <a:p>
            <a:pPr lvl="1"/>
            <a:r>
              <a:rPr lang="en-US" altLang="zh-CN"/>
              <a:t>from sqlalchemy import func</a:t>
            </a:r>
            <a:endParaRPr lang="en-US" altLang="zh-CN" sz="2000"/>
          </a:p>
          <a:p>
            <a:pPr lvl="1"/>
            <a:r>
              <a:rPr lang="en-US" altLang="zh-CN"/>
              <a:t>session.query(func.max(table_name.column_name)).first()</a:t>
            </a:r>
            <a:endParaRPr lang="en-US" altLang="zh-CN"/>
          </a:p>
          <a:p>
            <a:r>
              <a:rPr lang="en-US" altLang="zh-CN"/>
              <a:t>Pitfalls</a:t>
            </a:r>
            <a:endParaRPr lang="en-US" altLang="zh-CN"/>
          </a:p>
          <a:p>
            <a:pPr lvl="1"/>
            <a:r>
              <a:rPr lang="en-US" altLang="zh-CN"/>
              <a:t>Avoid calling commit too many times</a:t>
            </a:r>
            <a:endParaRPr lang="en-US" altLang="zh-CN"/>
          </a:p>
          <a:p>
            <a:pPr lvl="2"/>
            <a:r>
              <a:rPr lang="en-US" altLang="zh-CN"/>
              <a:t>called once near the end of a router handler</a:t>
            </a:r>
            <a:endParaRPr lang="en-US" altLang="zh-CN"/>
          </a:p>
          <a:p>
            <a:pPr lvl="1"/>
            <a:r>
              <a:rPr lang="en-US" altLang="zh-CN"/>
              <a:t>gunicorn</a:t>
            </a:r>
            <a:endParaRPr lang="en-US" altLang="zh-CN"/>
          </a:p>
          <a:p>
            <a:pPr lvl="2"/>
            <a:r>
              <a:rPr lang="en-US" altLang="zh-CN">
                <a:solidFill>
                  <a:srgbClr val="FF0000"/>
                </a:solidFill>
              </a:rPr>
              <a:t>--preload MUST NOT be used</a:t>
            </a:r>
            <a:endParaRPr lang="en-US" altLang="zh-CN">
              <a:solidFill>
                <a:srgbClr val="FF0000"/>
              </a:solidFill>
            </a:endParaRPr>
          </a:p>
          <a:p>
            <a:pPr lvl="3"/>
            <a:r>
              <a:rPr lang="en-US" altLang="zh-CN"/>
              <a:t>uwsgi (or gunicorn) starts, multiple workers are forked from the first process.</a:t>
            </a:r>
            <a:endParaRPr lang="en-US" altLang="zh-CN"/>
          </a:p>
          <a:p>
            <a:pPr lvl="3"/>
            <a:r>
              <a:rPr lang="en-US" altLang="zh-CN"/>
              <a:t>If preload is set: If there is a request in the first process when it starts, then this opens a database connection and the connection is forked to the next process. But in the database, of course, no new connection is opened and a broken connection occurs.</a:t>
            </a:r>
            <a:endParaRPr lang="en-US" altLang="zh-CN"/>
          </a:p>
          <a:p>
            <a:pPr lvl="3"/>
            <a:r>
              <a:rPr lang="en-US" altLang="zh-CN"/>
              <a:t>If preload is not set: workers do not fork, but run themselves and open their normal connections themselves</a:t>
            </a:r>
            <a:endParaRPr lang="en-US" altLang="zh-CN"/>
          </a:p>
          <a:p>
            <a:pPr lvl="2"/>
            <a:r>
              <a:rPr lang="en-US" altLang="zh-CN"/>
              <a:t>https://github.com/psycopg/psycopg2/issues/281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SQLite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>
                <a:sym typeface="+mn-ea"/>
              </a:rPr>
              <a:t>sudo apt install sqlite3</a:t>
            </a:r>
            <a:endParaRPr lang="en-US" altLang="zh-CN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>
                <a:sym typeface="+mn-ea"/>
              </a:rPr>
              <a:t>sqlite3</a:t>
            </a:r>
            <a:endParaRPr lang="en-US" altLang="zh-CN" sz="240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sz="2400">
                <a:sym typeface="+mn-ea"/>
              </a:rPr>
              <a:t>.help</a:t>
            </a:r>
            <a:endParaRPr lang="en-US" altLang="zh-CN" sz="240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sz="2400">
                <a:sym typeface="+mn-ea"/>
              </a:rPr>
              <a:t>.open {db_filename}</a:t>
            </a:r>
            <a:endParaRPr lang="en-US" altLang="zh-CN" sz="240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sz="2400">
                <a:sym typeface="+mn-ea"/>
              </a:rPr>
              <a:t>.tables</a:t>
            </a:r>
            <a:endParaRPr lang="en-US" altLang="zh-CN" sz="240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sz="2400">
                <a:sym typeface="+mn-ea"/>
              </a:rPr>
              <a:t>select * from {table_name};</a:t>
            </a:r>
            <a:endParaRPr lang="en-US" altLang="zh-CN" sz="240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sz="2400">
                <a:sym typeface="+mn-ea"/>
              </a:rPr>
              <a:t>.quit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Postgresql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03325"/>
            <a:ext cx="6304280" cy="5033010"/>
          </a:xfrm>
        </p:spPr>
        <p:txBody>
          <a:bodyPr/>
          <a:p>
            <a:r>
              <a:rPr lang="en-US" altLang="zh-CN" sz="1800"/>
              <a:t>Prepare environment</a:t>
            </a:r>
            <a:endParaRPr lang="en-US" altLang="zh-CN" sz="1800"/>
          </a:p>
          <a:p>
            <a:pPr lvl="1"/>
            <a:r>
              <a:rPr lang="en-US" altLang="zh-CN" sz="1600"/>
              <a:t>Install packages</a:t>
            </a:r>
            <a:endParaRPr lang="en-US" altLang="zh-CN" sz="1600"/>
          </a:p>
          <a:p>
            <a:pPr lvl="2"/>
            <a:r>
              <a:rPr lang="en-US" altLang="zh-CN" sz="1400"/>
              <a:t>sudo apt-get install postgresql postgresql-contrib libpq-dev</a:t>
            </a:r>
            <a:endParaRPr lang="en-US" altLang="zh-CN" sz="1400"/>
          </a:p>
          <a:p>
            <a:pPr lvl="2"/>
            <a:r>
              <a:rPr lang="en-US" altLang="zh-CN" sz="1400"/>
              <a:t>pip install psycopg2 Flask-SQLAlchemy Flask-Migrate</a:t>
            </a:r>
            <a:endParaRPr lang="en-US" altLang="zh-CN" sz="1400"/>
          </a:p>
          <a:p>
            <a:pPr lvl="1"/>
            <a:r>
              <a:rPr lang="en-US" altLang="zh-CN" sz="1600"/>
              <a:t>Start</a:t>
            </a:r>
            <a:endParaRPr lang="en-US" altLang="zh-CN" sz="1600"/>
          </a:p>
          <a:p>
            <a:pPr lvl="2"/>
            <a:r>
              <a:rPr lang="en-US" altLang="zh-CN" sz="1400"/>
              <a:t>sudo service postgresql restart</a:t>
            </a:r>
            <a:endParaRPr lang="en-US" altLang="zh-CN" sz="1400"/>
          </a:p>
          <a:p>
            <a:pPr lvl="0"/>
            <a:r>
              <a:rPr lang="en-US" altLang="zh-CN" sz="1800"/>
              <a:t>Steps</a:t>
            </a:r>
            <a:endParaRPr lang="en-US" altLang="zh-CN" sz="1800"/>
          </a:p>
          <a:p>
            <a:pPr lvl="1"/>
            <a:r>
              <a:rPr lang="en-US" altLang="zh-CN" sz="1600"/>
              <a:t>Configure DB URI</a:t>
            </a:r>
            <a:endParaRPr lang="en-US" altLang="zh-CN" sz="1600"/>
          </a:p>
          <a:p>
            <a:pPr lvl="2"/>
            <a:r>
              <a:rPr lang="en-US" altLang="zh-CN" sz="1400"/>
              <a:t>app.config['SQLALCHEMY_DATABASE_URI'] = 'postgresql://DB_USER:PASSWORD@HOST/DATABASE'</a:t>
            </a:r>
            <a:endParaRPr lang="en-US" altLang="zh-CN" sz="1400"/>
          </a:p>
          <a:p>
            <a:pPr lvl="1"/>
            <a:r>
              <a:rPr lang="en-US" altLang="zh-CN" sz="1600"/>
              <a:t>python manage.py db init</a:t>
            </a:r>
            <a:endParaRPr lang="en-US" altLang="zh-CN" sz="1600"/>
          </a:p>
          <a:p>
            <a:pPr lvl="1"/>
            <a:r>
              <a:rPr lang="en-US" altLang="zh-CN" sz="1600">
                <a:sym typeface="+mn-ea"/>
              </a:rPr>
              <a:t>python manage.py db migrate</a:t>
            </a:r>
            <a:endParaRPr lang="en-US" altLang="zh-CN" sz="1600">
              <a:sym typeface="+mn-ea"/>
            </a:endParaRPr>
          </a:p>
          <a:p>
            <a:pPr lvl="1"/>
            <a:r>
              <a:rPr lang="en-US" altLang="zh-CN" sz="1600">
                <a:sym typeface="+mn-ea"/>
              </a:rPr>
              <a:t>python manage.py db upgrade</a:t>
            </a:r>
            <a:endParaRPr lang="en-US" altLang="zh-CN" sz="1600">
              <a:sym typeface="+mn-ea"/>
            </a:endParaRPr>
          </a:p>
          <a:p>
            <a:pPr lvl="0"/>
            <a:r>
              <a:rPr lang="en-US" altLang="zh-CN" sz="1920">
                <a:sym typeface="+mn-ea"/>
              </a:rPr>
              <a:t>Info</a:t>
            </a:r>
            <a:endParaRPr lang="en-US" altLang="zh-CN" sz="1920">
              <a:sym typeface="+mn-ea"/>
            </a:endParaRPr>
          </a:p>
          <a:p>
            <a:pPr lvl="1"/>
            <a:r>
              <a:rPr lang="en-US" altLang="zh-CN" sz="1600">
                <a:sym typeface="+mn-ea"/>
              </a:rPr>
              <a:t>data stored in /var/lib/posgresql/</a:t>
            </a:r>
            <a:endParaRPr lang="en-US" altLang="zh-CN" sz="1600"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762875" y="1687195"/>
            <a:ext cx="3907790" cy="424624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en-US" altLang="zh-CN"/>
              <a:t>sudo service postgresql restart</a:t>
            </a:r>
            <a:endParaRPr lang="en-US" altLang="zh-CN"/>
          </a:p>
          <a:p>
            <a:r>
              <a:rPr lang="en-US" altLang="zh-CN"/>
              <a:t>sudo -u postgres psql</a:t>
            </a:r>
            <a:endParaRPr lang="en-US" altLang="zh-CN"/>
          </a:p>
          <a:p>
            <a:r>
              <a:rPr lang="en-US" altLang="zh-CN"/>
              <a:t>psql -U {username} {dbname}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postgresql Commands:</a:t>
            </a:r>
            <a:endParaRPr lang="en-US" altLang="zh-CN"/>
          </a:p>
          <a:p>
            <a:r>
              <a:rPr lang="en-US" altLang="zh-CN"/>
              <a:t># \q	// quit interactive terminal</a:t>
            </a:r>
            <a:endParaRPr lang="en-US" altLang="zh-CN"/>
          </a:p>
          <a:p>
            <a:r>
              <a:rPr lang="en-US" altLang="zh-CN"/>
              <a:t># create database {dbname};</a:t>
            </a:r>
            <a:endParaRPr lang="en-US" altLang="zh-CN"/>
          </a:p>
          <a:p>
            <a:r>
              <a:rPr lang="en-US" altLang="zh-CN"/>
              <a:t># \l	// list databases</a:t>
            </a:r>
            <a:endParaRPr lang="en-US" altLang="zh-CN"/>
          </a:p>
          <a:p>
            <a:r>
              <a:rPr lang="en-US" altLang="zh-CN">
                <a:sym typeface="+mn-ea"/>
              </a:rPr>
              <a:t># \c {dbname}	// connect db</a:t>
            </a:r>
            <a:endParaRPr lang="en-US" altLang="zh-CN"/>
          </a:p>
          <a:p>
            <a:r>
              <a:rPr lang="en-US" altLang="zh-CN"/>
              <a:t># \dt	// display tables</a:t>
            </a:r>
            <a:endParaRPr lang="en-US" altLang="zh-CN"/>
          </a:p>
          <a:p>
            <a:r>
              <a:rPr lang="en-US" altLang="zh-CN"/>
              <a:t># \d {tablename}	// display columes in table</a:t>
            </a:r>
            <a:endParaRPr lang="en-US" altLang="zh-CN"/>
          </a:p>
          <a:p>
            <a:r>
              <a:rPr lang="en-US" altLang="zh-CN"/>
              <a:t># table {tablename}</a:t>
            </a:r>
            <a:endParaRPr lang="en-US" altLang="zh-CN"/>
          </a:p>
          <a:p>
            <a:r>
              <a:rPr lang="en-US" altLang="zh-CN"/>
              <a:t># select * from {tablename}</a:t>
            </a:r>
            <a:endParaRPr lang="en-US" altLang="zh-CN"/>
          </a:p>
          <a:p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Postgresql &amp; Docker-compose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7327900" cy="4549140"/>
          </a:xfrm>
        </p:spPr>
        <p:txBody>
          <a:bodyPr>
            <a:normAutofit fontScale="60000"/>
          </a:bodyPr>
          <a:p>
            <a:r>
              <a:rPr lang="en-US" altLang="zh-CN"/>
              <a:t>Steps</a:t>
            </a:r>
            <a:endParaRPr lang="en-US" altLang="zh-CN"/>
          </a:p>
          <a:p>
            <a:pPr lvl="1"/>
            <a:r>
              <a:rPr lang="en-US" altLang="zh-CN"/>
              <a:t>sudo docker-compose up -d --build	// rebuild images</a:t>
            </a:r>
            <a:endParaRPr lang="en-US" altLang="zh-CN"/>
          </a:p>
          <a:p>
            <a:pPr lvl="1"/>
            <a:r>
              <a:rPr lang="en-US" altLang="zh-CN"/>
              <a:t>sudo docker-compose exec flask-fishpano python manage.py create_db</a:t>
            </a:r>
            <a:endParaRPr lang="en-US" altLang="zh-CN"/>
          </a:p>
          <a:p>
            <a:pPr lvl="2"/>
            <a:r>
              <a:rPr lang="en-US" altLang="zh-CN"/>
              <a:t>create db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docker-compose exec db psql --username=fishpano --dbname=fishpano_db</a:t>
            </a:r>
            <a:endParaRPr lang="en-US" altLang="zh-CN">
              <a:sym typeface="+mn-ea"/>
            </a:endParaRPr>
          </a:p>
          <a:p>
            <a:pPr lvl="0"/>
            <a:r>
              <a:rPr lang="en-US" altLang="zh-CN" sz="2400">
                <a:sym typeface="+mn-ea"/>
              </a:rPr>
              <a:t>Refer</a:t>
            </a:r>
            <a:endParaRPr lang="en-US" altLang="zh-CN" sz="2400"/>
          </a:p>
          <a:p>
            <a:pPr lvl="1"/>
            <a:r>
              <a:rPr lang="en-US" altLang="zh-CN">
                <a:sym typeface="+mn-ea"/>
              </a:rPr>
              <a:t>https://testdriven.io/blog/dockerizing-flask-with-postgres-gunicorn-and-nginx/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https://blog.theodo.com/2017/03/developping-a-flask-web-app-with-a-postresql-database-making-all-the-possible-errors/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https://shallowsky.com/blog/tech/web/migrate-flask-sqlite-to-postgresql.html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https://dev.to/zchtodd_79/building-a-saas-app-beyond-the-basics-part-ii-1h90</a:t>
            </a:r>
            <a:endParaRPr lang="en-US" altLang="zh-CN">
              <a:sym typeface="+mn-ea"/>
            </a:endParaRPr>
          </a:p>
          <a:p>
            <a:pPr lvl="0"/>
            <a:r>
              <a:rPr lang="en-US" altLang="zh-CN" sz="2400">
                <a:sym typeface="+mn-ea"/>
              </a:rPr>
              <a:t>Migrate from SQLite to Postgresql</a:t>
            </a:r>
            <a:endParaRPr lang="en-US" altLang="zh-CN" sz="2400">
              <a:sym typeface="+mn-ea"/>
            </a:endParaRPr>
          </a:p>
          <a:p>
            <a:pPr lvl="1"/>
            <a:r>
              <a:rPr lang="en-US" altLang="zh-CN"/>
              <a:t>Set up postgresql docker environment</a:t>
            </a:r>
            <a:endParaRPr lang="en-US" altLang="zh-CN"/>
          </a:p>
          <a:p>
            <a:pPr lvl="1"/>
            <a:r>
              <a:rPr lang="en-US" altLang="zh-CN"/>
              <a:t>sudo docker-compose exec flask-fishpano apt install pgloader</a:t>
            </a:r>
            <a:endParaRPr lang="en-US" altLang="zh-CN"/>
          </a:p>
          <a:p>
            <a:pPr lvl="1"/>
            <a:r>
              <a:rPr lang="en-US" altLang="zh-CN"/>
              <a:t>sudo docker-compose exec flask-fishpano apt-get install libssl1.0.0</a:t>
            </a:r>
            <a:endParaRPr lang="en-US" altLang="zh-CN"/>
          </a:p>
          <a:p>
            <a:pPr lvl="1"/>
            <a:r>
              <a:rPr lang="en-US" altLang="zh-CN"/>
              <a:t>sudo docker-compose exec flask-fishpano pgloader /www/PanoTools.sqlite3 postgresql://fishpano:password@db:5432/fishpano_db</a:t>
            </a:r>
            <a:endParaRPr lang="en-US" altLang="zh-CN"/>
          </a:p>
          <a:p>
            <a:pPr lvl="1"/>
            <a:r>
              <a:rPr lang="en-US" altLang="zh-CN"/>
              <a:t>Migrate autoincrements to sequences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8491855" y="1621790"/>
            <a:ext cx="2917190" cy="203009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en-US" altLang="zh-CN" sz="1400"/>
              <a:t>* </a:t>
            </a:r>
            <a:r>
              <a:rPr lang="zh-CN" altLang="en-US" sz="1400"/>
              <a:t>CREATE SEQUENCE user_id_seq OWNED by "user".id;</a:t>
            </a:r>
            <a:endParaRPr lang="zh-CN" altLang="en-US" sz="1400"/>
          </a:p>
          <a:p>
            <a:r>
              <a:rPr lang="en-US" altLang="zh-CN" sz="1400"/>
              <a:t>* </a:t>
            </a:r>
            <a:r>
              <a:rPr lang="zh-CN" altLang="en-US" sz="1400"/>
              <a:t>ALTER TABLE "user" ALTER COLUMN id SET default nextval('user_id_seq');</a:t>
            </a:r>
            <a:endParaRPr lang="zh-CN" altLang="en-US" sz="1400"/>
          </a:p>
          <a:p>
            <a:r>
              <a:rPr lang="en-US" altLang="zh-CN" sz="1400"/>
              <a:t>* </a:t>
            </a:r>
            <a:r>
              <a:rPr lang="zh-CN" altLang="en-US" sz="1400"/>
              <a:t>SELECT setval(pg_get_serial_sequence('user', 'id'), coalesce(max(id)+1,1), false) FROM "user";</a:t>
            </a:r>
            <a:endParaRPr lang="zh-CN" altLang="en-US" sz="1400"/>
          </a:p>
        </p:txBody>
      </p:sp>
      <p:sp>
        <p:nvSpPr>
          <p:cNvPr id="5" name="文本框 4"/>
          <p:cNvSpPr txBox="1"/>
          <p:nvPr/>
        </p:nvSpPr>
        <p:spPr>
          <a:xfrm>
            <a:off x="8491855" y="3730625"/>
            <a:ext cx="2917190" cy="289179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sz="1400"/>
              <a:t>from flask.cli import FlaskGroup</a:t>
            </a:r>
            <a:endParaRPr sz="1400"/>
          </a:p>
          <a:p>
            <a:r>
              <a:rPr sz="1400"/>
              <a:t>from app import app, db</a:t>
            </a:r>
            <a:endParaRPr sz="1400"/>
          </a:p>
          <a:p>
            <a:endParaRPr sz="1400"/>
          </a:p>
          <a:p>
            <a:r>
              <a:rPr sz="1400"/>
              <a:t>cli = FlaskGroup(app)</a:t>
            </a:r>
            <a:endParaRPr sz="1400"/>
          </a:p>
          <a:p>
            <a:endParaRPr sz="1400"/>
          </a:p>
          <a:p>
            <a:r>
              <a:rPr sz="1400"/>
              <a:t>@cli.command('create_db')</a:t>
            </a:r>
            <a:endParaRPr sz="1400"/>
          </a:p>
          <a:p>
            <a:r>
              <a:rPr sz="1400"/>
              <a:t>def create_db():</a:t>
            </a:r>
            <a:endParaRPr sz="1400"/>
          </a:p>
          <a:p>
            <a:r>
              <a:rPr sz="1400"/>
              <a:t>    db.drop_all()</a:t>
            </a:r>
            <a:endParaRPr sz="1400"/>
          </a:p>
          <a:p>
            <a:r>
              <a:rPr sz="1400"/>
              <a:t>    db.create_all()</a:t>
            </a:r>
            <a:endParaRPr sz="1400"/>
          </a:p>
          <a:p>
            <a:r>
              <a:rPr sz="1400"/>
              <a:t>    db.session.commit()</a:t>
            </a:r>
            <a:endParaRPr sz="1400"/>
          </a:p>
          <a:p>
            <a:endParaRPr sz="1400"/>
          </a:p>
          <a:p>
            <a:r>
              <a:rPr sz="1400"/>
              <a:t>if __name__ == "__main__":</a:t>
            </a:r>
            <a:endParaRPr sz="1400"/>
          </a:p>
          <a:p>
            <a:r>
              <a:rPr sz="1400"/>
              <a:t>    cli()</a:t>
            </a:r>
            <a:endParaRPr sz="1400"/>
          </a:p>
        </p:txBody>
      </p:sp>
    </p:spTree>
    <p:custDataLst>
      <p:tags r:id="rId1"/>
    </p:custData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Authentication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Intro</a:t>
            </a:r>
            <a:endParaRPr lang="en-US" altLang="zh-CN"/>
          </a:p>
          <a:p>
            <a:pPr lvl="1"/>
            <a:r>
              <a:rPr lang="en-US" altLang="zh-CN"/>
              <a:t>JWT (JSON Web Tokens)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CMS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469890" cy="5027930"/>
          </a:xfrm>
        </p:spPr>
        <p:txBody>
          <a:bodyPr>
            <a:normAutofit fontScale="80000"/>
          </a:bodyPr>
          <a:p>
            <a:pPr marL="457200" lvl="1" indent="0">
              <a:buNone/>
            </a:pPr>
            <a:endParaRPr lang="zh-CN" altLang="en-US"/>
          </a:p>
          <a:p>
            <a:r>
              <a:rPr lang="zh-CN" altLang="en-US" b="1"/>
              <a:t>https://github.com/TaleLin/lin-cms-flask</a:t>
            </a:r>
            <a:endParaRPr lang="zh-CN" altLang="en-US" b="1"/>
          </a:p>
          <a:p>
            <a:pPr lvl="1"/>
            <a:r>
              <a:rPr lang="en-US" altLang="zh-CN" sz="2000"/>
              <a:t>sudo docker compose up</a:t>
            </a:r>
            <a:endParaRPr lang="en-US" altLang="zh-CN" sz="2000"/>
          </a:p>
          <a:p>
            <a:pPr lvl="1"/>
            <a:r>
              <a:rPr lang="en-US" altLang="zh-CN"/>
              <a:t>env</a:t>
            </a:r>
            <a:endParaRPr lang="en-US" altLang="zh-CN"/>
          </a:p>
          <a:p>
            <a:pPr lvl="2"/>
            <a:r>
              <a:rPr lang="en-US" altLang="zh-CN"/>
              <a:t>.development.env</a:t>
            </a:r>
            <a:endParaRPr lang="en-US" altLang="zh-CN"/>
          </a:p>
          <a:p>
            <a:pPr lvl="2"/>
            <a:r>
              <a:rPr lang="en-US" altLang="zh-CN"/>
              <a:t>.production.env</a:t>
            </a:r>
            <a:endParaRPr lang="en-US" altLang="zh-CN"/>
          </a:p>
          <a:p>
            <a:pPr lvl="2"/>
            <a:r>
              <a:rPr lang="en-US" altLang="zh-CN"/>
              <a:t>.flaskenv</a:t>
            </a:r>
            <a:endParaRPr lang="en-US" altLang="zh-CN"/>
          </a:p>
          <a:p>
            <a:pPr lvl="1"/>
            <a:r>
              <a:rPr lang="en-US" altLang="zh-CN"/>
              <a:t>app/config</a:t>
            </a:r>
            <a:endParaRPr lang="en-US" altLang="zh-CN"/>
          </a:p>
          <a:p>
            <a:pPr lvl="2"/>
            <a:r>
              <a:rPr lang="en-US" altLang="zh-CN" sz="1800"/>
              <a:t>base.py</a:t>
            </a:r>
            <a:endParaRPr lang="en-US" altLang="zh-CN" sz="1800"/>
          </a:p>
          <a:p>
            <a:pPr lvl="2"/>
            <a:r>
              <a:rPr lang="en-US" altLang="zh-CN">
                <a:solidFill>
                  <a:schemeClr val="tx1"/>
                </a:solidFill>
              </a:rPr>
              <a:t>development.py</a:t>
            </a:r>
            <a:endParaRPr lang="en-US" altLang="zh-CN">
              <a:solidFill>
                <a:schemeClr val="tx1"/>
              </a:solidFill>
            </a:endParaRPr>
          </a:p>
          <a:p>
            <a:pPr lvl="2"/>
            <a:r>
              <a:rPr lang="en-US" altLang="zh-CN">
                <a:solidFill>
                  <a:schemeClr val="tx1"/>
                </a:solidFill>
              </a:rPr>
              <a:t>production.py</a:t>
            </a:r>
            <a:endParaRPr lang="en-US" altLang="zh-CN">
              <a:solidFill>
                <a:schemeClr val="tx1"/>
              </a:solidFill>
            </a:endParaRPr>
          </a:p>
          <a:p>
            <a:pPr lvl="1"/>
            <a:r>
              <a:rPr lang="en-US" altLang="zh-CN">
                <a:solidFill>
                  <a:schemeClr val="tx1"/>
                </a:solidFill>
              </a:rPr>
              <a:t>db</a:t>
            </a:r>
            <a:endParaRPr lang="en-US" altLang="zh-CN">
              <a:solidFill>
                <a:schemeClr val="tx1"/>
              </a:solidFill>
            </a:endParaRPr>
          </a:p>
          <a:p>
            <a:pPr lvl="2"/>
            <a:r>
              <a:rPr lang="en-US" altLang="zh-CN" sz="1800">
                <a:solidFill>
                  <a:schemeClr val="tx1"/>
                </a:solidFill>
              </a:rPr>
              <a:t>default: sqlite3, lincmsprod.db</a:t>
            </a:r>
            <a:endParaRPr lang="en-US" altLang="zh-CN" sz="1800">
              <a:solidFill>
                <a:schemeClr val="tx1"/>
              </a:solidFill>
            </a:endParaRPr>
          </a:p>
          <a:p>
            <a:pPr lvl="2"/>
            <a:r>
              <a:rPr lang="en-US" altLang="zh-CN" sz="1800">
                <a:solidFill>
                  <a:schemeClr val="tx1"/>
                </a:solidFill>
              </a:rPr>
              <a:t>flask db init --force</a:t>
            </a:r>
            <a:endParaRPr lang="en-US" altLang="zh-CN" sz="1800">
              <a:solidFill>
                <a:schemeClr val="tx1"/>
              </a:solidFill>
            </a:endParaRPr>
          </a:p>
          <a:p>
            <a:pPr lvl="1"/>
            <a:r>
              <a:rPr lang="en-US" altLang="zh-CN" sz="1800">
                <a:sym typeface="+mn-ea"/>
              </a:rPr>
              <a:t>permissions</a:t>
            </a:r>
            <a:endParaRPr lang="en-US" altLang="zh-CN" sz="1800"/>
          </a:p>
          <a:p>
            <a:pPr lvl="2"/>
            <a:r>
              <a:rPr lang="en-US" altLang="zh-CN" sz="1800">
                <a:sym typeface="+mn-ea"/>
              </a:rPr>
              <a:t>@login_required @group_required @admin_required</a:t>
            </a:r>
            <a:endParaRPr lang="en-US" altLang="zh-CN">
              <a:solidFill>
                <a:schemeClr val="tx1"/>
              </a:solidFill>
            </a:endParaRPr>
          </a:p>
          <a:p>
            <a:pPr lvl="2"/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737350" y="1211580"/>
            <a:ext cx="5097145" cy="4549140"/>
          </a:xfrm>
          <a:prstGeom prst="rect">
            <a:avLst/>
          </a:prstGeom>
        </p:spPr>
        <p:txBody>
          <a:bodyPr vert="horz" lIns="91440" tIns="45720" rIns="91440" bIns="45720" rtlCol="0">
            <a:normAutofit fontScale="8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zh-CN" altLang="en-US"/>
          </a:p>
          <a:p>
            <a:r>
              <a:rPr lang="zh-CN" altLang="en-US"/>
              <a:t>https://github.com/jstacoder/flask-cms</a:t>
            </a:r>
            <a:endParaRPr lang="zh-CN" altLang="en-US"/>
          </a:p>
          <a:p>
            <a:pPr lvl="1"/>
            <a:r>
              <a:rPr lang="zh-CN" altLang="en-US"/>
              <a:t>sudo docker compose build</a:t>
            </a:r>
            <a:endParaRPr lang="zh-CN" altLang="en-US"/>
          </a:p>
          <a:p>
            <a:pPr lvl="2"/>
            <a:r>
              <a:rPr lang="en-US" altLang="zh-CN">
                <a:solidFill>
                  <a:srgbClr val="FF0000"/>
                </a:solidFill>
              </a:rPr>
              <a:t>error </a:t>
            </a:r>
            <a:r>
              <a:rPr lang="zh-CN" altLang="en-US"/>
              <a:t>ctx: "Context", incomplete: str</a:t>
            </a:r>
            <a:r>
              <a:rPr lang="en-US" altLang="zh-CN"/>
              <a:t> </a:t>
            </a:r>
            <a:r>
              <a:rPr lang="zh-CN" altLang="en-US"/>
              <a:t>SyntaxError: invalid syntax</a:t>
            </a:r>
            <a:endParaRPr lang="zh-CN" altLang="en-US"/>
          </a:p>
          <a:p>
            <a:r>
              <a:rPr lang="zh-CN" altLang="en-US"/>
              <a:t>https://github.com/hjlarry/flask-vue-cms</a:t>
            </a:r>
            <a:endParaRPr lang="zh-CN" altLang="en-US"/>
          </a:p>
          <a:p>
            <a:pPr lvl="1"/>
            <a:r>
              <a:rPr lang="zh-CN" altLang="en-US"/>
              <a:t>cd flask-vue-cms/dashboard_api</a:t>
            </a:r>
            <a:endParaRPr lang="zh-CN" altLang="en-US"/>
          </a:p>
          <a:p>
            <a:pPr lvl="1"/>
            <a:r>
              <a:rPr lang="zh-CN" altLang="en-US"/>
              <a:t>sudo apt install </a:t>
            </a:r>
            <a:r>
              <a:rPr lang="en-US" altLang="zh-CN"/>
              <a:t>python3.8-dev </a:t>
            </a:r>
            <a:r>
              <a:rPr lang="zh-CN" altLang="en-US"/>
              <a:t>libmysqlclient-dev</a:t>
            </a:r>
            <a:endParaRPr lang="zh-CN" altLang="en-US"/>
          </a:p>
          <a:p>
            <a:pPr lvl="1"/>
            <a:r>
              <a:rPr lang="zh-CN" altLang="en-US"/>
              <a:t>pip install -r requirements.txt</a:t>
            </a:r>
            <a:endParaRPr lang="zh-CN" altLang="en-US"/>
          </a:p>
          <a:p>
            <a:pPr lvl="1"/>
            <a:r>
              <a:rPr lang="zh-CN" altLang="en-US"/>
              <a:t>pip install --upgrade alembic </a:t>
            </a:r>
            <a:endParaRPr lang="zh-CN" altLang="en-US"/>
          </a:p>
          <a:p>
            <a:pPr lvl="1"/>
            <a:r>
              <a:rPr lang="zh-CN" altLang="en-US"/>
              <a:t>flask --debug run</a:t>
            </a:r>
            <a:endParaRPr lang="zh-CN" altLang="en-US"/>
          </a:p>
          <a:p>
            <a:pPr lvl="1"/>
            <a:r>
              <a:rPr lang="en-US" altLang="zh-CN">
                <a:solidFill>
                  <a:srgbClr val="FF0000"/>
                </a:solidFill>
              </a:rPr>
              <a:t>Fail to run</a:t>
            </a:r>
            <a:endParaRPr lang="en-US" altLang="zh-CN">
              <a:solidFill>
                <a:srgbClr val="FF0000"/>
              </a:solidFill>
            </a:endParaRPr>
          </a:p>
          <a:p>
            <a:pPr lvl="2"/>
            <a:r>
              <a:rPr lang="en-US" altLang="zh-CN">
                <a:solidFill>
                  <a:srgbClr val="FF0000"/>
                </a:solidFill>
              </a:rPr>
              <a:t>sqlalchemy.orm.exc.UnmappedClassError: Class 'builtins.list' is not mapped</a:t>
            </a:r>
            <a:endParaRPr lang="en-US" altLang="zh-CN">
              <a:solidFill>
                <a:srgbClr val="FF0000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Shopping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OSS</a:t>
            </a:r>
            <a:endParaRPr lang="en-US" altLang="zh-CN"/>
          </a:p>
          <a:p>
            <a:pPr lvl="1"/>
            <a:r>
              <a:rPr lang="en-US" altLang="zh-CN"/>
              <a:t>https://github.com/hjlarry/flask-shop</a:t>
            </a:r>
            <a:endParaRPr lang="en-US" altLang="zh-CN"/>
          </a:p>
          <a:p>
            <a:pPr lvl="1"/>
            <a:r>
              <a:rPr lang="en-US" altLang="zh-CN"/>
              <a:t>https://github.com/Durgaprasad-Nagarkatte/Simple-Flask-Shopping-Cart</a:t>
            </a:r>
            <a:endParaRPr lang="en-US" altLang="zh-CN"/>
          </a:p>
          <a:p>
            <a:pPr lvl="1"/>
            <a:r>
              <a:rPr lang="en-US" altLang="zh-CN"/>
              <a:t>https://github.com/caongochoangvan/FashionShopApp</a:t>
            </a:r>
            <a:endParaRPr lang="en-US" altLang="zh-CN"/>
          </a:p>
          <a:p>
            <a:pPr lvl="1"/>
            <a:r>
              <a:rPr lang="en-US" altLang="zh-CN"/>
              <a:t>https://github.com/YutingYou/Flask-WeShop</a:t>
            </a:r>
            <a:endParaRPr lang="en-US" altLang="zh-CN"/>
          </a:p>
          <a:p>
            <a:pPr lvl="1"/>
            <a:r>
              <a:rPr lang="en-US" altLang="zh-CN"/>
              <a:t>https://github.com/diwash007/Flask-O-shop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FAQ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Application Context Issue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Issue</a:t>
            </a:r>
            <a:endParaRPr lang="en-US" altLang="zh-CN"/>
          </a:p>
          <a:p>
            <a:r>
              <a:rPr lang="en-US" altLang="zh-CN"/>
              <a:t>Solution</a:t>
            </a:r>
            <a:endParaRPr lang="en-US" altLang="zh-CN"/>
          </a:p>
          <a:p>
            <a:pPr lvl="1"/>
            <a:r>
              <a:rPr lang="en-US" altLang="zh-CN"/>
              <a:t>with app.app_context():</a:t>
            </a:r>
            <a:endParaRPr lang="en-US" altLang="zh-CN"/>
          </a:p>
          <a:p>
            <a:pPr lvl="0"/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https://testdriven.io/blog/flask-contexts/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Request Context Issue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Issue</a:t>
            </a:r>
            <a:endParaRPr lang="en-US" altLang="zh-CN"/>
          </a:p>
          <a:p>
            <a:pPr lvl="1"/>
            <a:r>
              <a:rPr lang="en-US" altLang="zh-CN"/>
              <a:t> Working outside of request context.</a:t>
            </a:r>
            <a:endParaRPr lang="en-US" altLang="zh-CN"/>
          </a:p>
          <a:p>
            <a:pPr lvl="1"/>
            <a:r>
              <a:rPr lang="en-US" altLang="zh-CN"/>
              <a:t>fishai-celery-1  |</a:t>
            </a:r>
            <a:endParaRPr lang="en-US" altLang="zh-CN"/>
          </a:p>
          <a:p>
            <a:pPr lvl="1"/>
            <a:r>
              <a:rPr lang="en-US" altLang="zh-CN"/>
              <a:t>fishai-celery-1  | This typically means that you attempted to use functionality that needed</a:t>
            </a:r>
            <a:endParaRPr lang="en-US" altLang="zh-CN"/>
          </a:p>
          <a:p>
            <a:pPr lvl="1"/>
            <a:r>
              <a:rPr lang="en-US" altLang="zh-CN"/>
              <a:t>fishai-celery-1  | an active HTTP request. Consult the documentation on testing for</a:t>
            </a:r>
            <a:endParaRPr lang="en-US" altLang="zh-CN"/>
          </a:p>
          <a:p>
            <a:pPr lvl="1"/>
            <a:r>
              <a:rPr lang="en-US" altLang="zh-CN"/>
              <a:t>fishai-celery-1  | information about how to avoid this problem.</a:t>
            </a:r>
            <a:endParaRPr lang="en-US" altLang="zh-CN"/>
          </a:p>
          <a:p>
            <a:pPr lvl="0"/>
            <a:r>
              <a:rPr lang="en-US" altLang="zh-CN"/>
              <a:t>Solution</a:t>
            </a:r>
            <a:endParaRPr lang="en-US" altLang="zh-CN"/>
          </a:p>
          <a:p>
            <a:pPr lvl="1"/>
            <a:r>
              <a:rPr lang="en-US" altLang="zh-CN"/>
              <a:t>with app.test_request_context('/'):</a:t>
            </a:r>
            <a:endParaRPr lang="en-US" altLang="zh-CN"/>
          </a:p>
          <a:p>
            <a:pPr lvl="0"/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https://testdriven.io/blog/flask-contexts/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Issues &amp; Solutions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https://docs.sqlalchemy.org/en/14/faq/sessions.html</a:t>
            </a:r>
            <a:endParaRPr lang="en-US" altLang="zh-CN"/>
          </a:p>
          <a:p>
            <a:r>
              <a:rPr lang="zh-CN" altLang="en-US"/>
              <a:t>ImportError: cannot import name '_app_ctx_stack' from 'flask'</a:t>
            </a:r>
            <a:endParaRPr lang="zh-CN" altLang="en-US"/>
          </a:p>
          <a:p>
            <a:pPr lvl="1"/>
            <a:r>
              <a:rPr lang="en-US" altLang="zh-CN"/>
              <a:t>cause: flask version &lt; 0.42.1</a:t>
            </a:r>
            <a:endParaRPr lang="en-US" altLang="zh-CN"/>
          </a:p>
          <a:p>
            <a:pPr lvl="1"/>
            <a:r>
              <a:rPr lang="en-US" altLang="zh-CN"/>
              <a:t>solution: pip install flask==2.1.3</a:t>
            </a:r>
            <a:endParaRPr lang="en-US" altLang="zh-CN"/>
          </a:p>
          <a:p>
            <a:pPr lvl="0"/>
            <a:r>
              <a:rPr lang="en-US" altLang="zh-CN"/>
              <a:t>ImportError: cannot import name 'url_quote' from 'werkzeug.urls'</a:t>
            </a:r>
            <a:endParaRPr lang="en-US" altLang="zh-CN"/>
          </a:p>
          <a:p>
            <a:pPr lvl="1"/>
            <a:r>
              <a:rPr lang="en-US" altLang="zh-CN"/>
              <a:t>Flask==2.0.2</a:t>
            </a:r>
            <a:endParaRPr lang="en-US" altLang="zh-CN"/>
          </a:p>
          <a:p>
            <a:pPr lvl="1"/>
            <a:r>
              <a:rPr lang="en-US" altLang="zh-CN"/>
              <a:t>Werkzeug==2.2.2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2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3.xml><?xml version="1.0" encoding="utf-8"?>
<p:tagLst xmlns:p="http://schemas.openxmlformats.org/presentationml/2006/main">
  <p:tag name="KSO_WM_TEMPLATE_THUMBS_INDEX" val="1、9、12、16、19、20、24、27、28"/>
  <p:tag name="KSO_WM_TEMPLATE_CATEGORY" val="custom"/>
  <p:tag name="KSO_WM_TEMPLATE_INDEX" val="160402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a"/>
  <p:tag name="KSO_WM_UNIT_INDEX" val="1"/>
  <p:tag name="KSO_WM_UNIT_ID" val="custom160402_1*a*1"/>
  <p:tag name="KSO_WM_UNIT_CLEAR" val="1"/>
  <p:tag name="KSO_WM_UNIT_LAYERLEVEL" val="1"/>
  <p:tag name="KSO_WM_UNIT_VALUE" val="19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5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b"/>
  <p:tag name="KSO_WM_UNIT_INDEX" val="1"/>
  <p:tag name="KSO_WM_UNIT_ID" val="custom160402_1*b*1"/>
  <p:tag name="KSO_WM_UNIT_CLEAR" val="1"/>
  <p:tag name="KSO_WM_UNIT_LAYERLEVEL" val="1"/>
  <p:tag name="KSO_WM_UNIT_VALUE" val="35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6.xml><?xml version="1.0" encoding="utf-8"?>
<p:tagLst xmlns:p="http://schemas.openxmlformats.org/presentationml/2006/main">
  <p:tag name="KSO_WM_TEMPLATE_THUMBS_INDEX" val="1、9、12、16、19、20、24、27、28"/>
  <p:tag name="KSO_WM_SLIDE_ID" val="custom160402_1"/>
  <p:tag name="KSO_WM_TEMPLATE_SUBCATEGORY" val="0"/>
  <p:tag name="KSO_WM_SLIDE_TYPE" val="title"/>
  <p:tag name="KSO_WM_SLIDE_SUBTYPE" val="defaultBlank"/>
  <p:tag name="KSO_WM_SLIDE_ITEM_CNT" val="2"/>
  <p:tag name="KSO_WM_SLIDE_INDEX" val="1"/>
  <p:tag name="KSO_WM_TAG_VERSION" val="1.0"/>
  <p:tag name="KSO_WM_BEAUTIFY_FLAG" val="#wm#"/>
  <p:tag name="KSO_WM_TEMPLATE_CATEGORY" val="custom"/>
  <p:tag name="KSO_WM_TEMPLATE_INDEX" val="160402"/>
  <p:tag name="KSO_WM_SLIDE_LAYOUT" val="a_b"/>
  <p:tag name="KSO_WM_SLIDE_LAYOUT_CNT" val="1_1"/>
  <p:tag name="KSO_WM_SLIDE_MODEL_TYPE" val="cover"/>
</p:tagLst>
</file>

<file path=ppt/tags/tag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9.xml><?xml version="1.0" encoding="utf-8"?>
<p:tagLst xmlns:p="http://schemas.openxmlformats.org/presentationml/2006/main">
  <p:tag name="KSO_WM_UNIT_TABLE_BEAUTIFY" val="smartTable{a0e025b8-126d-4260-b7ce-1a97068b660f}"/>
</p:tagLst>
</file>

<file path=ppt/tags/tag1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1.xml><?xml version="1.0" encoding="utf-8"?>
<p:tagLst xmlns:p="http://schemas.openxmlformats.org/presentationml/2006/main">
  <p:tag name="KSO_WM_UNIT_TABLE_BEAUTIFY" val="smartTable{68c41cc7-e21c-4d79-9677-1a1cbf3eb2a0}"/>
  <p:tag name="TABLE_ENDDRAG_ORIGIN_RECT" val="434*218"/>
  <p:tag name="TABLE_ENDDRAG_RECT" val="511*304*434*218"/>
</p:tagLst>
</file>

<file path=ppt/tags/tag1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8.xml><?xml version="1.0" encoding="utf-8"?>
<p:tagLst xmlns:p="http://schemas.openxmlformats.org/presentationml/2006/main">
  <p:tag name="REFSHAPE" val="492350884"/>
  <p:tag name="KSO_WM_UNIT_PLACING_PICTURE_USER_VIEWPORT" val="{&quot;height&quot;:9705,&quot;width&quot;:14070}"/>
</p:tagLst>
</file>

<file path=ppt/tags/tag1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0.xml><?xml version="1.0" encoding="utf-8"?>
<p:tagLst xmlns:p="http://schemas.openxmlformats.org/presentationml/2006/main">
  <p:tag name="REFSHAPE" val="491091100"/>
  <p:tag name="KSO_WM_UNIT_PLACING_PICTURE_USER_VIEWPORT" val="{&quot;height&quot;:7035,&quot;width&quot;:14055}"/>
</p:tagLst>
</file>

<file path=ppt/tags/tag2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2.xml><?xml version="1.0" encoding="utf-8"?>
<p:tagLst xmlns:p="http://schemas.openxmlformats.org/presentationml/2006/main">
  <p:tag name="KSO_WM_UNIT_TABLE_BEAUTIFY" val="smartTable{374ed1ad-ebe7-4bed-8289-1ef287e363d7}"/>
</p:tagLst>
</file>

<file path=ppt/tags/tag5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4.xml><?xml version="1.0" encoding="utf-8"?>
<p:tagLst xmlns:p="http://schemas.openxmlformats.org/presentationml/2006/main">
  <p:tag name="TABLE_ENDDRAG_ORIGIN_RECT" val="457*153"/>
  <p:tag name="TABLE_ENDDRAG_RECT" val="480*95*457*153"/>
</p:tagLst>
</file>

<file path=ppt/tags/tag55.xml><?xml version="1.0" encoding="utf-8"?>
<p:tagLst xmlns:p="http://schemas.openxmlformats.org/presentationml/2006/main">
  <p:tag name="TABLE_ENDDRAG_ORIGIN_RECT" val="457*142"/>
  <p:tag name="TABLE_ENDDRAG_RECT" val="480*310*457*142"/>
  <p:tag name="KSO_WM_BEAUTIFY_FLAG" val=""/>
</p:tagLst>
</file>

<file path=ppt/tags/tag5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8.xml><?xml version="1.0" encoding="utf-8"?>
<p:tagLst xmlns:p="http://schemas.openxmlformats.org/presentationml/2006/main">
  <p:tag name="COMMONDATA" val="eyJoZGlkIjoiYjRhZjQ5NWVmZmQxNmM3NmNkNDYxNWRmNzNmMjA1ZDAifQ=="/>
  <p:tag name="KSO_WPP_MARK_KEY" val="e9a546bb-c7d6-43e7-bf66-f54869cf80fb"/>
</p:tagLst>
</file>

<file path=ppt/theme/theme1.xml><?xml version="1.0" encoding="utf-8"?>
<a:theme xmlns:a="http://schemas.openxmlformats.org/drawingml/2006/main" name="1_A000120140530A02PPBG">
  <a:themeElements>
    <a:clrScheme name="160114.114">
      <a:dk1>
        <a:srgbClr val="47494B"/>
      </a:dk1>
      <a:lt1>
        <a:srgbClr val="FFFFFF"/>
      </a:lt1>
      <a:dk2>
        <a:srgbClr val="454749"/>
      </a:dk2>
      <a:lt2>
        <a:srgbClr val="FFFFFF"/>
      </a:lt2>
      <a:accent1>
        <a:srgbClr val="358CC1"/>
      </a:accent1>
      <a:accent2>
        <a:srgbClr val="2D9C9F"/>
      </a:accent2>
      <a:accent3>
        <a:srgbClr val="A4C37B"/>
      </a:accent3>
      <a:accent4>
        <a:srgbClr val="9D9394"/>
      </a:accent4>
      <a:accent5>
        <a:srgbClr val="84ADE4"/>
      </a:accent5>
      <a:accent6>
        <a:srgbClr val="FFC000"/>
      </a:accent6>
      <a:hlink>
        <a:srgbClr val="00B0F0"/>
      </a:hlink>
      <a:folHlink>
        <a:srgbClr val="AFB2B4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22776</Words>
  <Application>WPS 演示</Application>
  <PresentationFormat>宽屏</PresentationFormat>
  <Paragraphs>1061</Paragraphs>
  <Slides>55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55</vt:i4>
      </vt:variant>
    </vt:vector>
  </HeadingPairs>
  <TitlesOfParts>
    <vt:vector size="62" baseType="lpstr">
      <vt:lpstr>Arial</vt:lpstr>
      <vt:lpstr>宋体</vt:lpstr>
      <vt:lpstr>Wingdings</vt:lpstr>
      <vt:lpstr>黑体</vt:lpstr>
      <vt:lpstr>微软雅黑</vt:lpstr>
      <vt:lpstr>Arial Unicode MS</vt:lpstr>
      <vt:lpstr>1_A000120140530A02PPBG</vt:lpstr>
      <vt:lpstr>Flask Notes</vt:lpstr>
      <vt:lpstr>Intro</vt:lpstr>
      <vt:lpstr>Basic</vt:lpstr>
      <vt:lpstr>App Configuration</vt:lpstr>
      <vt:lpstr>Request</vt:lpstr>
      <vt:lpstr>Response</vt:lpstr>
      <vt:lpstr>Session</vt:lpstr>
      <vt:lpstr>Render Template</vt:lpstr>
      <vt:lpstr>Misc Functions</vt:lpstr>
      <vt:lpstr>Web Forms</vt:lpstr>
      <vt:lpstr>Deploy</vt:lpstr>
      <vt:lpstr>Deploy (Docker)</vt:lpstr>
      <vt:lpstr>Deploy (Docker 2)</vt:lpstr>
      <vt:lpstr>Static Files</vt:lpstr>
      <vt:lpstr>Media</vt:lpstr>
      <vt:lpstr>Redis</vt:lpstr>
      <vt:lpstr>Session</vt:lpstr>
      <vt:lpstr>Blueprint</vt:lpstr>
      <vt:lpstr>Cli</vt:lpstr>
      <vt:lpstr>Cache</vt:lpstr>
      <vt:lpstr>Login</vt:lpstr>
      <vt:lpstr>Wechat Pay</vt:lpstr>
      <vt:lpstr>Upload Files</vt:lpstr>
      <vt:lpstr>CORS</vt:lpstr>
      <vt:lpstr>Full Text Search</vt:lpstr>
      <vt:lpstr>Scheduler</vt:lpstr>
      <vt:lpstr>Flask Cli</vt:lpstr>
      <vt:lpstr>Mail</vt:lpstr>
      <vt:lpstr>Password Handling</vt:lpstr>
      <vt:lpstr>Others</vt:lpstr>
      <vt:lpstr>Performance</vt:lpstr>
      <vt:lpstr>PowerPoint 演示文稿</vt:lpstr>
      <vt:lpstr>FAQ</vt:lpstr>
      <vt:lpstr>Task Queue</vt:lpstr>
      <vt:lpstr>Celery - Intro</vt:lpstr>
      <vt:lpstr>Celery - Concept</vt:lpstr>
      <vt:lpstr>Celery CLI</vt:lpstr>
      <vt:lpstr>Celery - Impl 2</vt:lpstr>
      <vt:lpstr>Celery - Monitoring</vt:lpstr>
      <vt:lpstr>DB</vt:lpstr>
      <vt:lpstr>Overview</vt:lpstr>
      <vt:lpstr>Init</vt:lpstr>
      <vt:lpstr>Add/Delete/Update</vt:lpstr>
      <vt:lpstr>Query</vt:lpstr>
      <vt:lpstr>Pitfalls</vt:lpstr>
      <vt:lpstr>SQLite</vt:lpstr>
      <vt:lpstr>Postgresql</vt:lpstr>
      <vt:lpstr>Postgresql &amp; Docker-compose</vt:lpstr>
      <vt:lpstr>Authentication</vt:lpstr>
      <vt:lpstr>CMS</vt:lpstr>
      <vt:lpstr>Shopping</vt:lpstr>
      <vt:lpstr>FAQ</vt:lpstr>
      <vt:lpstr>Application Context Issue</vt:lpstr>
      <vt:lpstr>Request Context Issue</vt:lpstr>
      <vt:lpstr>Issues &amp; Solutions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VhuanTech</cp:lastModifiedBy>
  <cp:revision>668</cp:revision>
  <dcterms:created xsi:type="dcterms:W3CDTF">2019-06-19T02:08:00Z</dcterms:created>
  <dcterms:modified xsi:type="dcterms:W3CDTF">2025-07-14T07:00:49Z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4C2FCB5610E5434E9A2BA7717263E037</vt:lpwstr>
  </property>
</Properties>
</file>