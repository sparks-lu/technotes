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1.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67"/>
  </p:handoutMasterIdLst>
  <p:sldIdLst>
    <p:sldId id="256" r:id="rId3"/>
    <p:sldId id="528" r:id="rId5"/>
    <p:sldId id="529" r:id="rId6"/>
    <p:sldId id="263" r:id="rId7"/>
    <p:sldId id="530" r:id="rId8"/>
    <p:sldId id="257" r:id="rId9"/>
    <p:sldId id="312" r:id="rId10"/>
    <p:sldId id="258" r:id="rId11"/>
    <p:sldId id="260" r:id="rId12"/>
    <p:sldId id="296" r:id="rId13"/>
    <p:sldId id="259" r:id="rId14"/>
    <p:sldId id="282" r:id="rId15"/>
    <p:sldId id="262" r:id="rId16"/>
    <p:sldId id="264" r:id="rId17"/>
    <p:sldId id="272" r:id="rId18"/>
    <p:sldId id="275" r:id="rId19"/>
    <p:sldId id="271" r:id="rId20"/>
    <p:sldId id="278" r:id="rId21"/>
    <p:sldId id="281" r:id="rId22"/>
    <p:sldId id="332" r:id="rId23"/>
    <p:sldId id="385" r:id="rId24"/>
    <p:sldId id="377" r:id="rId25"/>
    <p:sldId id="279" r:id="rId26"/>
    <p:sldId id="523" r:id="rId27"/>
    <p:sldId id="520" r:id="rId28"/>
    <p:sldId id="524" r:id="rId29"/>
    <p:sldId id="522" r:id="rId30"/>
    <p:sldId id="293" r:id="rId31"/>
    <p:sldId id="336" r:id="rId32"/>
    <p:sldId id="372" r:id="rId33"/>
    <p:sldId id="374" r:id="rId34"/>
    <p:sldId id="395" r:id="rId35"/>
    <p:sldId id="471" r:id="rId36"/>
    <p:sldId id="517" r:id="rId37"/>
    <p:sldId id="521" r:id="rId38"/>
    <p:sldId id="518" r:id="rId39"/>
    <p:sldId id="331" r:id="rId40"/>
    <p:sldId id="376" r:id="rId41"/>
    <p:sldId id="519" r:id="rId42"/>
    <p:sldId id="430" r:id="rId43"/>
    <p:sldId id="431" r:id="rId44"/>
    <p:sldId id="432" r:id="rId45"/>
    <p:sldId id="492" r:id="rId46"/>
    <p:sldId id="433" r:id="rId47"/>
    <p:sldId id="443" r:id="rId48"/>
    <p:sldId id="398" r:id="rId49"/>
    <p:sldId id="399" r:id="rId50"/>
    <p:sldId id="400" r:id="rId51"/>
    <p:sldId id="401" r:id="rId52"/>
    <p:sldId id="406" r:id="rId53"/>
    <p:sldId id="525" r:id="rId54"/>
    <p:sldId id="402" r:id="rId55"/>
    <p:sldId id="405" r:id="rId56"/>
    <p:sldId id="403" r:id="rId57"/>
    <p:sldId id="404" r:id="rId58"/>
    <p:sldId id="511" r:id="rId59"/>
    <p:sldId id="516" r:id="rId60"/>
    <p:sldId id="468" r:id="rId61"/>
    <p:sldId id="470" r:id="rId62"/>
    <p:sldId id="469" r:id="rId63"/>
    <p:sldId id="515" r:id="rId64"/>
    <p:sldId id="526" r:id="rId65"/>
    <p:sldId id="527" r:id="rId66"/>
  </p:sldIdLst>
  <p:sldSz cx="12192000" cy="6858000"/>
  <p:notesSz cx="6858000" cy="9144000"/>
  <p:custDataLst>
    <p:tags r:id="rId7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78" d="100"/>
          <a:sy n="78" d="100"/>
        </p:scale>
        <p:origin x="654" y="54"/>
      </p:cViewPr>
      <p:guideLst>
        <p:guide orient="horz" pos="2196"/>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1" Type="http://schemas.openxmlformats.org/officeDocument/2006/relationships/tags" Target="tags/tag76.xml"/><Relationship Id="rId70" Type="http://schemas.openxmlformats.org/officeDocument/2006/relationships/tableStyles" Target="tableStyles.xml"/><Relationship Id="rId7" Type="http://schemas.openxmlformats.org/officeDocument/2006/relationships/slide" Target="slides/slide4.xml"/><Relationship Id="rId69" Type="http://schemas.openxmlformats.org/officeDocument/2006/relationships/viewProps" Target="viewProps.xml"/><Relationship Id="rId68" Type="http://schemas.openxmlformats.org/officeDocument/2006/relationships/presProps" Target="presProps.xml"/><Relationship Id="rId67" Type="http://schemas.openxmlformats.org/officeDocument/2006/relationships/handoutMaster" Target="handoutMasters/handoutMaster1.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599881"/>
            <a:ext cx="9144000" cy="682643"/>
          </a:xfrm>
        </p:spPr>
        <p:txBody>
          <a:bodyPr anchor="ctr" anchorCtr="0">
            <a:normAutofit/>
          </a:bodyPr>
          <a:lstStyle>
            <a:lvl1pPr algn="ctr">
              <a:defRPr sz="4000">
                <a:solidFill>
                  <a:schemeClr val="accent1">
                    <a:lumMod val="75000"/>
                  </a:schemeClr>
                </a:solidFill>
              </a:defRPr>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1524000" y="5299335"/>
            <a:ext cx="9144000" cy="376237"/>
          </a:xfrm>
        </p:spPr>
        <p:txBody>
          <a:bodyPr anchor="ctr" anchorCtr="0"/>
          <a:lstStyle>
            <a:lvl1pPr marL="0" indent="0" algn="ctr">
              <a:buNone/>
              <a:defRPr sz="2400">
                <a:solidFill>
                  <a:schemeClr val="bg1">
                    <a:lumMod val="6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单击此处编辑母版副标题样式</a:t>
            </a:r>
            <a:endParaRPr lang="en-US" dirty="0"/>
          </a:p>
        </p:txBody>
      </p:sp>
      <p:sp>
        <p:nvSpPr>
          <p:cNvPr id="4" name="Date Placeholder 3"/>
          <p:cNvSpPr>
            <a:spLocks noGrp="1"/>
          </p:cNvSpPr>
          <p:nvPr>
            <p:ph type="dt" sz="half" idx="10"/>
          </p:nvPr>
        </p:nvSpPr>
        <p:spPr/>
        <p:txBody>
          <a:bodyPr/>
          <a:lstStyle/>
          <a:p>
            <a:fld id="{C66662D1-89DE-46BA-A466-454433849B6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F62EB35-CBF2-473A-99BA-E3C595609F67}"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C66662D1-89DE-46BA-A466-454433849B6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F62EB35-CBF2-473A-99BA-E3C595609F67}"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8200" y="2031219"/>
            <a:ext cx="10515600" cy="1551646"/>
          </a:xfrm>
        </p:spPr>
        <p:txBody>
          <a:bodyPr anchor="b">
            <a:normAutofit/>
          </a:bodyPr>
          <a:lstStyle>
            <a:lvl1pPr algn="ctr">
              <a:defRPr sz="5400">
                <a:solidFill>
                  <a:schemeClr val="accent1">
                    <a:lumMod val="75000"/>
                  </a:schemeClr>
                </a:solidFill>
                <a:effectLst>
                  <a:outerShdw blurRad="38100" dist="38100" dir="2700000" algn="tl">
                    <a:srgbClr val="000000">
                      <a:alpha val="43137"/>
                    </a:srgbClr>
                  </a:outerShdw>
                </a:effectLst>
              </a:defRPr>
            </a:lvl1p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1895320" y="3697371"/>
            <a:ext cx="8401360" cy="896937"/>
          </a:xfrm>
        </p:spPr>
        <p:txBody>
          <a:bodyPr>
            <a:normAutofit/>
          </a:bodyPr>
          <a:lstStyle>
            <a:lvl1pPr marL="0" indent="0" algn="ctr">
              <a:buNone/>
              <a:defRPr sz="2800">
                <a:solidFill>
                  <a:schemeClr val="tx1">
                    <a:lumMod val="40000"/>
                    <a:lumOff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smtClean="0"/>
              <a:t>单击此处编辑母版文本样式</a:t>
            </a:r>
            <a:endParaRPr lang="zh-CN" altLang="en-US" dirty="0" smtClean="0"/>
          </a:p>
        </p:txBody>
      </p:sp>
      <p:sp>
        <p:nvSpPr>
          <p:cNvPr id="4" name="Date Placeholder 3"/>
          <p:cNvSpPr>
            <a:spLocks noGrp="1"/>
          </p:cNvSpPr>
          <p:nvPr>
            <p:ph type="dt" sz="half" idx="10"/>
          </p:nvPr>
        </p:nvSpPr>
        <p:spPr/>
        <p:txBody>
          <a:bodyPr>
            <a:normAutofit/>
          </a:bodyPr>
          <a:lstStyle/>
          <a:p>
            <a:fld id="{C66662D1-89DE-46BA-A466-454433849B66}" type="datetimeFigureOut">
              <a:rPr lang="zh-CN" altLang="en-US" smtClean="0"/>
            </a:fld>
            <a:endParaRPr lang="zh-CN" altLang="en-US"/>
          </a:p>
        </p:txBody>
      </p:sp>
      <p:sp>
        <p:nvSpPr>
          <p:cNvPr id="5" name="Footer Placeholder 4"/>
          <p:cNvSpPr>
            <a:spLocks noGrp="1"/>
          </p:cNvSpPr>
          <p:nvPr>
            <p:ph type="ftr" sz="quarter" idx="11"/>
          </p:nvPr>
        </p:nvSpPr>
        <p:spPr/>
        <p:txBody>
          <a:bodyPr>
            <a:normAutofit/>
          </a:bodyPr>
          <a:lstStyle/>
          <a:p>
            <a:endParaRPr lang="zh-CN" altLang="en-US"/>
          </a:p>
        </p:txBody>
      </p:sp>
      <p:sp>
        <p:nvSpPr>
          <p:cNvPr id="6" name="Slide Number Placeholder 5"/>
          <p:cNvSpPr>
            <a:spLocks noGrp="1"/>
          </p:cNvSpPr>
          <p:nvPr>
            <p:ph type="sldNum" sz="quarter" idx="12"/>
          </p:nvPr>
        </p:nvSpPr>
        <p:spPr/>
        <p:txBody>
          <a:bodyPr>
            <a:normAutofit/>
          </a:bodyPr>
          <a:lstStyle/>
          <a:p>
            <a:fld id="{3F62EB35-CBF2-473A-99BA-E3C595609F67}" type="slidenum">
              <a:rPr lang="zh-CN" altLang="en-US" smtClean="0"/>
            </a:fld>
            <a:endParaRPr lang="zh-CN" altLang="en-US"/>
          </a:p>
        </p:txBody>
      </p:sp>
      <p:grpSp>
        <p:nvGrpSpPr>
          <p:cNvPr id="7" name="组合 6"/>
          <p:cNvGrpSpPr/>
          <p:nvPr/>
        </p:nvGrpSpPr>
        <p:grpSpPr>
          <a:xfrm>
            <a:off x="1625237" y="3582865"/>
            <a:ext cx="8941526" cy="102651"/>
            <a:chOff x="3914775" y="2524125"/>
            <a:chExt cx="2428875" cy="57150"/>
          </a:xfrm>
        </p:grpSpPr>
        <p:sp>
          <p:nvSpPr>
            <p:cNvPr id="8" name="矩形 7"/>
            <p:cNvSpPr/>
            <p:nvPr/>
          </p:nvSpPr>
          <p:spPr>
            <a:xfrm>
              <a:off x="3914775" y="2524125"/>
              <a:ext cx="809625" cy="57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baseline="0">
                <a:latin typeface="Arial" panose="020B0604020202020204" pitchFamily="34" charset="0"/>
                <a:ea typeface="黑体" panose="02010609060101010101" pitchFamily="49" charset="-122"/>
              </a:endParaRPr>
            </a:p>
          </p:txBody>
        </p:sp>
        <p:sp>
          <p:nvSpPr>
            <p:cNvPr id="9" name="矩形 8"/>
            <p:cNvSpPr/>
            <p:nvPr/>
          </p:nvSpPr>
          <p:spPr>
            <a:xfrm>
              <a:off x="4724400" y="2524125"/>
              <a:ext cx="809625" cy="571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baseline="0">
                <a:latin typeface="Arial" panose="020B0604020202020204" pitchFamily="34" charset="0"/>
                <a:ea typeface="黑体" panose="02010609060101010101" pitchFamily="49" charset="-122"/>
              </a:endParaRPr>
            </a:p>
          </p:txBody>
        </p:sp>
        <p:sp>
          <p:nvSpPr>
            <p:cNvPr id="10" name="矩形 9"/>
            <p:cNvSpPr/>
            <p:nvPr/>
          </p:nvSpPr>
          <p:spPr>
            <a:xfrm>
              <a:off x="5534025" y="2524125"/>
              <a:ext cx="809625" cy="5715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baseline="0">
                <a:latin typeface="Arial" panose="020B0604020202020204" pitchFamily="34" charset="0"/>
                <a:ea typeface="黑体" panose="02010609060101010101" pitchFamily="49" charset="-122"/>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223461"/>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6172200" y="1223461"/>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C66662D1-89DE-46BA-A466-454433849B66}"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F62EB35-CBF2-473A-99BA-E3C595609F67}"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97498"/>
            <a:ext cx="10515600" cy="772299"/>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145907"/>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smtClean="0"/>
              <a:t>单击此处编辑母版文本样式</a:t>
            </a:r>
            <a:endParaRPr lang="zh-CN" altLang="en-US" dirty="0" smtClean="0"/>
          </a:p>
        </p:txBody>
      </p:sp>
      <p:sp>
        <p:nvSpPr>
          <p:cNvPr id="4" name="Content Placeholder 3"/>
          <p:cNvSpPr>
            <a:spLocks noGrp="1"/>
          </p:cNvSpPr>
          <p:nvPr>
            <p:ph sz="half" idx="2"/>
          </p:nvPr>
        </p:nvSpPr>
        <p:spPr>
          <a:xfrm>
            <a:off x="839788" y="1969819"/>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6172200" y="1145907"/>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6172200" y="1969819"/>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C66662D1-89DE-46BA-A466-454433849B66}"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3F62EB35-CBF2-473A-99BA-E3C595609F67}"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3134" y="2522178"/>
            <a:ext cx="5309839" cy="1226171"/>
          </a:xfrm>
        </p:spPr>
        <p:txBody>
          <a:bodyPr>
            <a:normAutofit/>
          </a:bodyPr>
          <a:lstStyle>
            <a:lvl1pPr algn="ctr">
              <a:defRPr sz="7200" b="0"/>
            </a:lvl1pPr>
          </a:lstStyle>
          <a:p>
            <a:r>
              <a:rPr lang="zh-CN" altLang="en-US" dirty="0" smtClean="0"/>
              <a:t>编辑标题</a:t>
            </a:r>
            <a:endParaRPr lang="en-US" dirty="0"/>
          </a:p>
        </p:txBody>
      </p:sp>
      <p:sp>
        <p:nvSpPr>
          <p:cNvPr id="3" name="Date Placeholder 2"/>
          <p:cNvSpPr>
            <a:spLocks noGrp="1"/>
          </p:cNvSpPr>
          <p:nvPr>
            <p:ph type="dt" sz="half" idx="10"/>
          </p:nvPr>
        </p:nvSpPr>
        <p:spPr/>
        <p:txBody>
          <a:bodyPr>
            <a:normAutofit/>
          </a:bodyPr>
          <a:lstStyle/>
          <a:p>
            <a:fld id="{C66662D1-89DE-46BA-A466-454433849B66}" type="datetimeFigureOut">
              <a:rPr lang="zh-CN" altLang="en-US" smtClean="0"/>
            </a:fld>
            <a:endParaRPr lang="zh-CN" altLang="en-US"/>
          </a:p>
        </p:txBody>
      </p:sp>
      <p:sp>
        <p:nvSpPr>
          <p:cNvPr id="4" name="Footer Placeholder 3"/>
          <p:cNvSpPr>
            <a:spLocks noGrp="1"/>
          </p:cNvSpPr>
          <p:nvPr>
            <p:ph type="ftr" sz="quarter" idx="11"/>
          </p:nvPr>
        </p:nvSpPr>
        <p:spPr/>
        <p:txBody>
          <a:bodyPr>
            <a:normAutofit/>
          </a:bodyPr>
          <a:lstStyle/>
          <a:p>
            <a:endParaRPr lang="zh-CN" altLang="en-US"/>
          </a:p>
        </p:txBody>
      </p:sp>
      <p:sp>
        <p:nvSpPr>
          <p:cNvPr id="5" name="Slide Number Placeholder 4"/>
          <p:cNvSpPr>
            <a:spLocks noGrp="1"/>
          </p:cNvSpPr>
          <p:nvPr>
            <p:ph type="sldNum" sz="quarter" idx="12"/>
          </p:nvPr>
        </p:nvSpPr>
        <p:spPr/>
        <p:txBody>
          <a:bodyPr>
            <a:normAutofit/>
          </a:bodyPr>
          <a:lstStyle/>
          <a:p>
            <a:fld id="{3F62EB35-CBF2-473A-99BA-E3C595609F67}" type="slidenum">
              <a:rPr lang="zh-CN" altLang="en-US" smtClean="0"/>
            </a:fld>
            <a:endParaRPr lang="zh-CN" altLang="en-US"/>
          </a:p>
        </p:txBody>
      </p:sp>
      <p:sp>
        <p:nvSpPr>
          <p:cNvPr id="6" name="空心弧 5"/>
          <p:cNvSpPr/>
          <p:nvPr/>
        </p:nvSpPr>
        <p:spPr bwMode="auto">
          <a:xfrm rot="7086271">
            <a:off x="7390896" y="2034751"/>
            <a:ext cx="2201026" cy="2201026"/>
          </a:xfrm>
          <a:prstGeom prst="blockArc">
            <a:avLst>
              <a:gd name="adj1" fmla="val 5502533"/>
              <a:gd name="adj2" fmla="val 1980318"/>
              <a:gd name="adj3" fmla="val 1053"/>
            </a:avLst>
          </a:prstGeom>
          <a:solidFill>
            <a:schemeClr val="accent1"/>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tx1"/>
              </a:solidFill>
              <a:latin typeface="Arial" panose="020B0604020202020204" pitchFamily="34" charset="0"/>
              <a:ea typeface="黑体" panose="02010609060101010101" pitchFamily="49" charset="-122"/>
            </a:endParaRPr>
          </a:p>
        </p:txBody>
      </p:sp>
      <p:sp>
        <p:nvSpPr>
          <p:cNvPr id="8" name="内容占位符 7"/>
          <p:cNvSpPr>
            <a:spLocks noGrp="1"/>
          </p:cNvSpPr>
          <p:nvPr>
            <p:ph sz="quarter" idx="13" hasCustomPrompt="1"/>
          </p:nvPr>
        </p:nvSpPr>
        <p:spPr>
          <a:xfrm>
            <a:off x="3748670" y="3778700"/>
            <a:ext cx="3878765" cy="845746"/>
          </a:xfrm>
        </p:spPr>
        <p:txBody>
          <a:bodyPr anchor="ctr" anchorCtr="0">
            <a:normAutofit/>
          </a:bodyPr>
          <a:lstStyle>
            <a:lvl1pPr marL="0" indent="0" algn="dist">
              <a:buNone/>
              <a:defRPr>
                <a:solidFill>
                  <a:schemeClr val="accent2"/>
                </a:solidFill>
              </a:defRPr>
            </a:lvl1pPr>
          </a:lstStyle>
          <a:p>
            <a:pPr lvl="0"/>
            <a:r>
              <a:rPr lang="zh-CN" altLang="en-US" dirty="0" smtClean="0"/>
              <a:t>添加副标题</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6662D1-89DE-46BA-A466-454433849B66}"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3F62EB35-CBF2-473A-99BA-E3C595609F67}"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8994" y="245327"/>
            <a:ext cx="10514012" cy="719795"/>
          </a:xfrm>
        </p:spPr>
        <p:txBody>
          <a:bodyPr anchor="ctr" anchorCtr="0">
            <a:normAutofit/>
          </a:bodyPr>
          <a:lstStyle>
            <a:lvl1pPr>
              <a:defRPr sz="3600"/>
            </a:lvl1pPr>
          </a:lstStyle>
          <a:p>
            <a:r>
              <a:rPr lang="zh-CN" altLang="en-US" smtClean="0"/>
              <a:t>单击此处编辑母版标题样式</a:t>
            </a:r>
            <a:endParaRPr lang="en-US" dirty="0"/>
          </a:p>
        </p:txBody>
      </p:sp>
      <p:sp>
        <p:nvSpPr>
          <p:cNvPr id="3" name="Picture Placeholder 2"/>
          <p:cNvSpPr>
            <a:spLocks noGrp="1"/>
          </p:cNvSpPr>
          <p:nvPr>
            <p:ph type="pic" idx="1"/>
          </p:nvPr>
        </p:nvSpPr>
        <p:spPr>
          <a:xfrm>
            <a:off x="7101020" y="1257090"/>
            <a:ext cx="3878116" cy="44523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1115122" y="1257090"/>
            <a:ext cx="5597912" cy="4452336"/>
          </a:xfrm>
          <a:solidFill>
            <a:schemeClr val="accent1"/>
          </a:solidFill>
        </p:spPr>
        <p:txBody>
          <a:bodyPr>
            <a:normAutofit/>
          </a:bodyPr>
          <a:lstStyle>
            <a:lvl1pPr marL="0" indent="0" algn="ctr">
              <a:buNone/>
              <a:defRPr sz="20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C66662D1-89DE-46BA-A466-454433849B66}"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F62EB35-CBF2-473A-99BA-E3C595609F67}"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C66662D1-89DE-46BA-A466-454433849B6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F62EB35-CBF2-473A-99BA-E3C595609F67}"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内容占位符 2"/>
          <p:cNvSpPr>
            <a:spLocks noGrp="1"/>
          </p:cNvSpPr>
          <p:nvPr>
            <p:ph idx="1"/>
          </p:nvPr>
        </p:nvSpPr>
        <p:spPr>
          <a:xfrm>
            <a:off x="837600" y="408675"/>
            <a:ext cx="10516800" cy="5810400"/>
          </a:xfrm>
        </p:spPr>
        <p:txBody>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6EF2F5ED-D19D-4097-92A9-D6092B3D6E6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7AAEAA2-D029-4D23-B6D5-DE004B8B3ED2}"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tags" Target="../tags/tag3.xml"/><Relationship Id="rId13" Type="http://schemas.openxmlformats.org/officeDocument/2006/relationships/tags" Target="../tags/tag2.xml"/><Relationship Id="rId12" Type="http://schemas.openxmlformats.org/officeDocument/2006/relationships/tags" Target="../tags/tag1.xml"/><Relationship Id="rId11" Type="http://schemas.openxmlformats.org/officeDocument/2006/relationships/image" Target="../media/image2.pn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l="-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838200" y="182881"/>
            <a:ext cx="10515600" cy="731519"/>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
        <p:nvSpPr>
          <p:cNvPr id="3" name="Text Placeholder 2"/>
          <p:cNvSpPr>
            <a:spLocks noGrp="1"/>
          </p:cNvSpPr>
          <p:nvPr>
            <p:ph type="body" idx="1"/>
            <p:custDataLst>
              <p:tags r:id="rId13"/>
            </p:custDataLst>
          </p:nvPr>
        </p:nvSpPr>
        <p:spPr>
          <a:xfrm>
            <a:off x="838200" y="1211581"/>
            <a:ext cx="10515600" cy="4549140"/>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800">
                <a:solidFill>
                  <a:schemeClr val="tx1">
                    <a:tint val="75000"/>
                  </a:schemeClr>
                </a:solidFill>
              </a:defRPr>
            </a:lvl1pPr>
          </a:lstStyle>
          <a:p>
            <a:fld id="{C66662D1-89DE-46BA-A466-454433849B66}"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8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800">
                <a:solidFill>
                  <a:schemeClr val="tx1">
                    <a:tint val="75000"/>
                  </a:schemeClr>
                </a:solidFill>
              </a:defRPr>
            </a:lvl1pPr>
          </a:lstStyle>
          <a:p>
            <a:fld id="{3F62EB35-CBF2-473A-99BA-E3C595609F67}" type="slidenum">
              <a:rPr lang="zh-CN" altLang="en-US" smtClean="0"/>
            </a:fld>
            <a:endParaRPr lang="zh-CN" altLang="en-US"/>
          </a:p>
        </p:txBody>
      </p:sp>
      <p:sp>
        <p:nvSpPr>
          <p:cNvPr id="7" name="KSO_TEMPLATE" hidden="1"/>
          <p:cNvSpPr/>
          <p:nvPr>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p:titleStyle>
    <p:bodyStyle>
      <a:lvl1pPr marL="342900" indent="-342900" algn="l" defTabSz="914400" rtl="0" eaLnBrk="1" latinLnBrk="0" hangingPunct="1">
        <a:lnSpc>
          <a:spcPct val="90000"/>
        </a:lnSpc>
        <a:spcBef>
          <a:spcPts val="1000"/>
        </a:spcBef>
        <a:buFont typeface="黑体" panose="02010609060101010101" pitchFamily="49" charset="-122"/>
        <a:buChar char="〉"/>
        <a:defRPr sz="240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114550" indent="-28575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7.xml"/><Relationship Id="rId5" Type="http://schemas.openxmlformats.org/officeDocument/2006/relationships/slide" Target="slide62.xml"/><Relationship Id="rId4" Type="http://schemas.openxmlformats.org/officeDocument/2006/relationships/slide" Target="slide1.xml"/><Relationship Id="rId3" Type="http://schemas.openxmlformats.org/officeDocument/2006/relationships/slide" Target="slide46.xml"/><Relationship Id="rId2" Type="http://schemas.openxmlformats.org/officeDocument/2006/relationships/slide" Target="slide40.xml"/><Relationship Id="rId1" Type="http://schemas.openxmlformats.org/officeDocument/2006/relationships/slide" Target="slide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6.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2.xml"/><Relationship Id="rId2" Type="http://schemas.openxmlformats.org/officeDocument/2006/relationships/image" Target="../media/image8.png"/><Relationship Id="rId1" Type="http://schemas.openxmlformats.org/officeDocument/2006/relationships/tags" Target="../tags/tag21.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4.xml"/><Relationship Id="rId2" Type="http://schemas.openxmlformats.org/officeDocument/2006/relationships/image" Target="../media/image9.png"/><Relationship Id="rId1" Type="http://schemas.openxmlformats.org/officeDocument/2006/relationships/tags" Target="../tags/tag23.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2.xml"/><Relationship Id="rId2" Type="http://schemas.openxmlformats.org/officeDocument/2006/relationships/image" Target="../media/image12.png"/><Relationship Id="rId1" Type="http://schemas.openxmlformats.org/officeDocument/2006/relationships/image" Target="../media/image11.webp"/></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xml"/><Relationship Id="rId1" Type="http://schemas.openxmlformats.org/officeDocument/2006/relationships/image" Target="../media/image13.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xml"/><Relationship Id="rId1" Type="http://schemas.openxmlformats.org/officeDocument/2006/relationships/image" Target="../media/image14.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4.xml"/><Relationship Id="rId1" Type="http://schemas.openxmlformats.org/officeDocument/2006/relationships/image" Target="../media/image15.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9.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1.xml"/><Relationship Id="rId1" Type="http://schemas.openxmlformats.org/officeDocument/2006/relationships/image" Target="../media/image16.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2.xml"/><Relationship Id="rId1" Type="http://schemas.openxmlformats.org/officeDocument/2006/relationships/image" Target="../media/image17.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4.xml"/><Relationship Id="rId1" Type="http://schemas.openxmlformats.org/officeDocument/2006/relationships/image" Target="../media/image18.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5.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6.xml"/><Relationship Id="rId1" Type="http://schemas.openxmlformats.org/officeDocument/2006/relationships/image" Target="../media/image19.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9.xml"/><Relationship Id="rId1" Type="http://schemas.openxmlformats.org/officeDocument/2006/relationships/tags" Target="../tags/tag58.xml"/></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3.xml"/><Relationship Id="rId1" Type="http://schemas.openxmlformats.org/officeDocument/2006/relationships/image" Target="../media/image20.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0.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4.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1"/>
            </p:custDataLst>
          </p:nvPr>
        </p:nvSpPr>
        <p:spPr/>
        <p:txBody>
          <a:bodyPr>
            <a:normAutofit/>
          </a:bodyPr>
          <a:p>
            <a:pPr marL="0" indent="0" algn="ctr">
              <a:lnSpc>
                <a:spcPct val="90000"/>
              </a:lnSpc>
              <a:spcBef>
                <a:spcPts val="0"/>
              </a:spcBef>
              <a:spcAft>
                <a:spcPts val="0"/>
              </a:spcAft>
              <a:buSzPct val="100000"/>
            </a:pPr>
            <a:r>
              <a:rPr lang="en-US" altLang="zh-CN" sz="4000" smtClean="0"/>
              <a:t>Flask Notes</a:t>
            </a:r>
            <a:endParaRPr lang="en-US" altLang="zh-CN" sz="4000" smtClean="0"/>
          </a:p>
        </p:txBody>
      </p:sp>
      <p:sp>
        <p:nvSpPr>
          <p:cNvPr id="5" name="副标题 4"/>
          <p:cNvSpPr>
            <a:spLocks noGrp="1"/>
          </p:cNvSpPr>
          <p:nvPr>
            <p:ph type="subTitle" idx="1"/>
            <p:custDataLst>
              <p:tags r:id="rId2"/>
            </p:custDataLst>
          </p:nvPr>
        </p:nvSpPr>
        <p:spPr>
          <a:xfrm>
            <a:off x="1524000" y="5375535"/>
            <a:ext cx="9144000" cy="376237"/>
          </a:xfrm>
        </p:spPr>
        <p:txBody>
          <a:bodyPr>
            <a:noAutofit/>
          </a:bodyPr>
          <a:p>
            <a:pPr marL="0" indent="0" algn="ctr">
              <a:lnSpc>
                <a:spcPct val="90000"/>
              </a:lnSpc>
              <a:spcBef>
                <a:spcPts val="1000"/>
              </a:spcBef>
              <a:spcAft>
                <a:spcPts val="0"/>
              </a:spcAft>
              <a:buSzPct val="100000"/>
            </a:pPr>
            <a:r>
              <a:rPr lang="en-US" altLang="zh-CN" sz="1600" smtClean="0"/>
              <a:t>Sparks Lu</a:t>
            </a:r>
            <a:endParaRPr lang="en-US" altLang="zh-CN" sz="1600" smtClean="0"/>
          </a:p>
          <a:p>
            <a:pPr marL="0" indent="0" algn="ctr">
              <a:lnSpc>
                <a:spcPct val="90000"/>
              </a:lnSpc>
              <a:spcBef>
                <a:spcPts val="1000"/>
              </a:spcBef>
              <a:spcAft>
                <a:spcPts val="0"/>
              </a:spcAft>
              <a:buSzPct val="100000"/>
            </a:pPr>
            <a:r>
              <a:rPr lang="en-US" altLang="zh-CN" sz="1600" smtClean="0"/>
              <a:t>Last updated: 12/16/2021</a:t>
            </a:r>
            <a:endParaRPr lang="en-US" altLang="zh-CN" sz="1600" smtClean="0"/>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Topics</a:t>
            </a:r>
            <a:endParaRPr lang="en-US" altLang="zh-CN"/>
          </a:p>
        </p:txBody>
      </p:sp>
      <p:sp>
        <p:nvSpPr>
          <p:cNvPr id="3" name="内容占位符 2"/>
          <p:cNvSpPr>
            <a:spLocks noGrp="1"/>
          </p:cNvSpPr>
          <p:nvPr>
            <p:ph idx="1"/>
          </p:nvPr>
        </p:nvSpPr>
        <p:spPr/>
        <p:txBody>
          <a:bodyPr/>
          <a:p>
            <a:r>
              <a:rPr lang="en-US" altLang="zh-CN">
                <a:hlinkClick r:id="rId1" action="ppaction://hlinksldjump"/>
              </a:rPr>
              <a:t>Basic</a:t>
            </a:r>
            <a:endParaRPr lang="en-US" altLang="zh-CN"/>
          </a:p>
          <a:p>
            <a:r>
              <a:rPr lang="en-US" altLang="zh-CN">
                <a:hlinkClick r:id="rId2" action="ppaction://hlinksldjump"/>
              </a:rPr>
              <a:t>Task Queue</a:t>
            </a:r>
            <a:endParaRPr lang="en-US" altLang="zh-CN"/>
          </a:p>
          <a:p>
            <a:r>
              <a:rPr lang="en-US" altLang="zh-CN">
                <a:hlinkClick r:id="rId3" action="ppaction://hlinksldjump"/>
              </a:rPr>
              <a:t>DB</a:t>
            </a:r>
            <a:endParaRPr lang="en-US" altLang="zh-CN"/>
          </a:p>
          <a:p>
            <a:r>
              <a:rPr lang="en-US" altLang="zh-CN">
                <a:hlinkClick r:id="rId4" action="ppaction://hlinksldjump"/>
              </a:rPr>
              <a:t>FAQ</a:t>
            </a:r>
            <a:endParaRPr lang="en-US" altLang="zh-CN"/>
          </a:p>
          <a:p>
            <a:r>
              <a:rPr lang="en-US" altLang="zh-CN">
                <a:hlinkClick r:id="rId5" action="ppaction://hlinksldjump"/>
              </a:rPr>
              <a:t>Best Practice</a:t>
            </a:r>
            <a:endParaRPr lang="en-US" altLang="zh-CN"/>
          </a:p>
        </p:txBody>
      </p:sp>
    </p:spTree>
    <p:custDataLst>
      <p:tags r:id="rId6"/>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en-US" altLang="zh-CN"/>
              <a:t>Basic</a:t>
            </a:r>
            <a:endParaRPr lang="en-US" altLang="zh-CN"/>
          </a:p>
        </p:txBody>
      </p:sp>
      <p:sp>
        <p:nvSpPr>
          <p:cNvPr id="5" name="文本占位符 4"/>
          <p:cNvSpPr>
            <a:spLocks noGrp="1"/>
          </p:cNvSpPr>
          <p:nvPr>
            <p:ph type="body" idx="1"/>
          </p:nvPr>
        </p:nvSpPr>
        <p:spPr/>
        <p:txBody>
          <a:bodyPr/>
          <a:p>
            <a:endParaRPr lang="zh-CN" alt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Intro</a:t>
            </a:r>
            <a:endParaRPr lang="en-US" altLang="zh-CN"/>
          </a:p>
        </p:txBody>
      </p:sp>
      <p:sp>
        <p:nvSpPr>
          <p:cNvPr id="3" name="内容占位符 2"/>
          <p:cNvSpPr>
            <a:spLocks noGrp="1"/>
          </p:cNvSpPr>
          <p:nvPr>
            <p:ph idx="1"/>
          </p:nvPr>
        </p:nvSpPr>
        <p:spPr>
          <a:xfrm>
            <a:off x="838200" y="1211580"/>
            <a:ext cx="10515600" cy="4903470"/>
          </a:xfrm>
        </p:spPr>
        <p:txBody>
          <a:bodyPr>
            <a:normAutofit fontScale="70000"/>
          </a:bodyPr>
          <a:p>
            <a:r>
              <a:rPr lang="en-US" altLang="zh-CN"/>
              <a:t>References</a:t>
            </a:r>
            <a:endParaRPr lang="en-US" altLang="zh-CN"/>
          </a:p>
          <a:p>
            <a:pPr lvl="1"/>
            <a:r>
              <a:rPr lang="en-US" altLang="zh-CN"/>
              <a:t>https://flask.palletsprojects.com/en/1.1.x/quickstart/</a:t>
            </a:r>
            <a:endParaRPr lang="en-US" altLang="zh-CN"/>
          </a:p>
          <a:p>
            <a:pPr lvl="1"/>
            <a:r>
              <a:rPr lang="en-US" altLang="zh-CN"/>
              <a:t>http://www.patricksoftwareblog.com/all-posts/</a:t>
            </a:r>
            <a:endParaRPr lang="en-US" altLang="zh-CN"/>
          </a:p>
          <a:p>
            <a:pPr lvl="1"/>
            <a:r>
              <a:rPr lang="en-US" altLang="zh-CN"/>
              <a:t>https://www.digitalocean.com/community/tutorials/how-to-structure-large-flask-applications</a:t>
            </a:r>
            <a:endParaRPr lang="en-US" altLang="zh-CN"/>
          </a:p>
          <a:p>
            <a:pPr lvl="1"/>
            <a:r>
              <a:rPr lang="en-US" altLang="zh-CN"/>
              <a:t>https://github.com/qzq1111/flask-restful-example</a:t>
            </a:r>
            <a:endParaRPr lang="en-US" altLang="zh-CN"/>
          </a:p>
          <a:p>
            <a:pPr lvl="0"/>
            <a:r>
              <a:rPr lang="en-US" altLang="zh-CN"/>
              <a:t>Tutorials, Modules</a:t>
            </a:r>
            <a:endParaRPr lang="en-US" altLang="zh-CN"/>
          </a:p>
          <a:p>
            <a:pPr lvl="1"/>
            <a:r>
              <a:rPr lang="en-US" altLang="zh-CN"/>
              <a:t>https://github.com/miguelgrinberg/flasky</a:t>
            </a:r>
            <a:endParaRPr lang="en-US" altLang="zh-CN"/>
          </a:p>
          <a:p>
            <a:pPr lvl="1"/>
            <a:r>
              <a:rPr lang="en-US" altLang="zh-CN"/>
              <a:t>https://github.com/flask-admin/flask-admin</a:t>
            </a:r>
            <a:endParaRPr lang="en-US" altLang="zh-CN"/>
          </a:p>
          <a:p>
            <a:pPr lvl="1"/>
            <a:r>
              <a:rPr lang="en-US" altLang="zh-CN"/>
              <a:t>https://github.com/maxcountryman/flask-login</a:t>
            </a:r>
            <a:endParaRPr lang="en-US" altLang="zh-CN"/>
          </a:p>
          <a:p>
            <a:pPr lvl="1"/>
            <a:r>
              <a:rPr lang="en-US" altLang="zh-CN"/>
              <a:t>https://github.com/hack4impact/flask-base</a:t>
            </a:r>
            <a:endParaRPr lang="en-US" altLang="zh-CN"/>
          </a:p>
          <a:p>
            <a:pPr lvl="1"/>
            <a:r>
              <a:rPr lang="en-US" altLang="zh-CN"/>
              <a:t>https://github.com/alectrocute/flaskSaaS</a:t>
            </a:r>
            <a:endParaRPr lang="en-US" altLang="zh-CN"/>
          </a:p>
          <a:p>
            <a:pPr lvl="1"/>
            <a:r>
              <a:rPr lang="en-US" altLang="zh-CN"/>
              <a:t>https://github.com/christabor/flask_jsondash</a:t>
            </a:r>
            <a:endParaRPr lang="en-US" altLang="zh-CN"/>
          </a:p>
          <a:p>
            <a:pPr lvl="1"/>
            <a:r>
              <a:rPr lang="en-US" altLang="zh-CN"/>
              <a:t>https://github.com/tiangolo/uwsgi-nginx-flask-docker</a:t>
            </a:r>
            <a:endParaRPr lang="en-US" altLang="zh-CN"/>
          </a:p>
          <a:p>
            <a:pPr lvl="1"/>
            <a:r>
              <a:rPr lang="en-US" altLang="zh-CN"/>
              <a:t>https://github.com/gtalarico/flask-vuejs-template</a:t>
            </a:r>
            <a:endParaRPr lang="en-US" altLang="zh-CN"/>
          </a:p>
          <a:p>
            <a:r>
              <a:rPr lang="en-US" altLang="zh-CN"/>
              <a:t>Micro-framework for developing web applications</a:t>
            </a:r>
            <a:endParaRPr lang="en-US" altLang="zh-CN"/>
          </a:p>
          <a:p>
            <a:pPr lvl="1"/>
            <a:r>
              <a:rPr lang="en-US" altLang="zh-CN"/>
              <a:t>written in python</a:t>
            </a:r>
            <a:endParaRPr lang="en-US" altLang="zh-CN"/>
          </a:p>
          <a:p>
            <a:pPr lvl="1"/>
            <a:r>
              <a:rPr lang="en-US" altLang="zh-CN"/>
              <a:t>based on the Werkzeug and Jinja2 template engine</a:t>
            </a:r>
            <a:endParaRPr lang="en-US" altLang="zh-CN"/>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Tech </a:t>
            </a:r>
            <a:r>
              <a:rPr lang="en-US" altLang="zh-CN"/>
              <a:t>Stack</a:t>
            </a:r>
            <a:endParaRPr lang="en-US" altLang="zh-CN"/>
          </a:p>
        </p:txBody>
      </p:sp>
      <p:sp>
        <p:nvSpPr>
          <p:cNvPr id="3" name="内容占位符 2"/>
          <p:cNvSpPr>
            <a:spLocks noGrp="1"/>
          </p:cNvSpPr>
          <p:nvPr>
            <p:ph idx="1"/>
          </p:nvPr>
        </p:nvSpPr>
        <p:spPr>
          <a:xfrm>
            <a:off x="838200" y="1211580"/>
            <a:ext cx="5671185" cy="4549140"/>
          </a:xfrm>
        </p:spPr>
        <p:txBody>
          <a:bodyPr/>
          <a:p>
            <a:r>
              <a:rPr lang="en-US" altLang="zh-CN"/>
              <a:t>Flask + Celery + Redis + Postgresql + Flower</a:t>
            </a:r>
            <a:endParaRPr lang="en-US" altLang="zh-CN"/>
          </a:p>
          <a:p>
            <a:r>
              <a:rPr lang="en-US" altLang="zh-CN"/>
              <a:t>Flower</a:t>
            </a:r>
            <a:endParaRPr lang="en-US" altLang="zh-CN"/>
          </a:p>
          <a:p>
            <a:pPr lvl="1"/>
            <a:r>
              <a:rPr lang="en-US" altLang="zh-CN"/>
              <a:t>https://flower.readthedocs.io/en/latest/</a:t>
            </a:r>
            <a:endParaRPr lang="en-US" altLang="zh-CN"/>
          </a:p>
          <a:p>
            <a:pPr lvl="1"/>
            <a:r>
              <a:rPr lang="en-US" altLang="zh-CN"/>
              <a:t>flower</a:t>
            </a:r>
            <a:r>
              <a:rPr lang="zh-CN" altLang="en-US"/>
              <a:t>是一个用于监控和管理</a:t>
            </a:r>
            <a:r>
              <a:rPr lang="en-US" altLang="zh-CN"/>
              <a:t>Celery</a:t>
            </a:r>
            <a:r>
              <a:rPr lang="zh-CN" altLang="en-US"/>
              <a:t>集群的基于</a:t>
            </a:r>
            <a:r>
              <a:rPr lang="en-US" altLang="zh-CN"/>
              <a:t>Web</a:t>
            </a:r>
            <a:r>
              <a:rPr lang="zh-CN" altLang="en-US"/>
              <a:t>的工具</a:t>
            </a:r>
            <a:endParaRPr lang="zh-CN" altLang="en-US"/>
          </a:p>
          <a:p>
            <a:pPr lvl="1"/>
            <a:r>
              <a:rPr lang="en-US" altLang="zh-CN"/>
              <a:t>basic authentication</a:t>
            </a:r>
            <a:endParaRPr lang="en-US" altLang="zh-CN"/>
          </a:p>
          <a:p>
            <a:pPr lvl="1"/>
            <a:r>
              <a:rPr lang="zh-CN" altLang="en-US"/>
              <a:t>缺省</a:t>
            </a:r>
            <a:r>
              <a:rPr lang="en-US" altLang="zh-CN"/>
              <a:t>5555</a:t>
            </a:r>
            <a:r>
              <a:rPr lang="zh-CN" altLang="en-US"/>
              <a:t>端口</a:t>
            </a:r>
            <a:endParaRPr lang="zh-CN" altLang="en-US"/>
          </a:p>
        </p:txBody>
      </p:sp>
      <p:pic>
        <p:nvPicPr>
          <p:cNvPr id="4" name="图片 3"/>
          <p:cNvPicPr/>
          <p:nvPr/>
        </p:nvPicPr>
        <p:blipFill>
          <a:blip r:embed="rId1"/>
          <a:stretch>
            <a:fillRect/>
          </a:stretch>
        </p:blipFill>
        <p:spPr>
          <a:xfrm>
            <a:off x="7036435" y="1076960"/>
            <a:ext cx="4655820" cy="3137535"/>
          </a:xfrm>
          <a:prstGeom prst="rect">
            <a:avLst/>
          </a:prstGeom>
        </p:spPr>
      </p:pic>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Basic</a:t>
            </a:r>
            <a:endParaRPr lang="en-US" altLang="zh-CN"/>
          </a:p>
        </p:txBody>
      </p:sp>
      <p:sp>
        <p:nvSpPr>
          <p:cNvPr id="3" name="内容占位符 2"/>
          <p:cNvSpPr>
            <a:spLocks noGrp="1"/>
          </p:cNvSpPr>
          <p:nvPr>
            <p:ph idx="1"/>
          </p:nvPr>
        </p:nvSpPr>
        <p:spPr>
          <a:xfrm>
            <a:off x="838200" y="1211580"/>
            <a:ext cx="7927975" cy="4549140"/>
          </a:xfrm>
        </p:spPr>
        <p:txBody>
          <a:bodyPr>
            <a:normAutofit lnSpcReduction="20000"/>
          </a:bodyPr>
          <a:p>
            <a:r>
              <a:rPr lang="en-US" altLang="zh-CN">
                <a:sym typeface="+mn-ea"/>
              </a:rPr>
              <a:t>pip install flask flask-cors python-dotenv</a:t>
            </a:r>
            <a:endParaRPr lang="en-US" altLang="zh-CN">
              <a:sym typeface="+mn-ea"/>
            </a:endParaRPr>
          </a:p>
          <a:p>
            <a:r>
              <a:rPr lang="en-US" altLang="zh-CN"/>
              <a:t>Run</a:t>
            </a:r>
            <a:endParaRPr lang="en-US" altLang="zh-CN"/>
          </a:p>
          <a:p>
            <a:pPr lvl="1"/>
            <a:r>
              <a:rPr lang="en-US" altLang="zh-CN"/>
              <a:t>export FLASK_APP=hello.py</a:t>
            </a:r>
            <a:endParaRPr lang="en-US" altLang="zh-CN"/>
          </a:p>
          <a:p>
            <a:pPr lvl="2"/>
            <a:r>
              <a:rPr lang="en-US" altLang="zh-CN"/>
              <a:t>After install python-dotenv, this can be written in .flaskenv of project top folder</a:t>
            </a:r>
            <a:endParaRPr lang="en-US" altLang="zh-CN"/>
          </a:p>
          <a:p>
            <a:pPr lvl="1"/>
            <a:r>
              <a:rPr lang="en-US" altLang="zh-CN"/>
              <a:t>flask run</a:t>
            </a:r>
            <a:endParaRPr lang="en-US" altLang="zh-CN"/>
          </a:p>
          <a:p>
            <a:pPr lvl="1"/>
            <a:r>
              <a:rPr lang="en-US" altLang="zh-CN"/>
              <a:t>flask run --host=0.0.0.0	// Visible by all IP, serve only one request at a time</a:t>
            </a:r>
            <a:endParaRPr lang="en-US" altLang="zh-CN"/>
          </a:p>
          <a:p>
            <a:pPr lvl="0"/>
            <a:r>
              <a:rPr lang="en-US" altLang="zh-CN"/>
              <a:t>URL</a:t>
            </a:r>
            <a:endParaRPr lang="en-US" altLang="zh-CN"/>
          </a:p>
          <a:p>
            <a:pPr lvl="1"/>
            <a:r>
              <a:rPr lang="en-US" altLang="zh-CN"/>
              <a:t>redirect(url_for('login'))</a:t>
            </a:r>
            <a:endParaRPr lang="en-US" altLang="zh-CN"/>
          </a:p>
          <a:p>
            <a:pPr lvl="1"/>
            <a:r>
              <a:rPr lang="en-US" altLang="zh-CN"/>
              <a:t>abort(401)</a:t>
            </a:r>
            <a:endParaRPr lang="en-US" altLang="zh-CN"/>
          </a:p>
          <a:p>
            <a:pPr lvl="1"/>
            <a:r>
              <a:rPr lang="en-US" altLang="zh-CN"/>
              <a:t>@app.route('/')</a:t>
            </a:r>
            <a:endParaRPr lang="en-US" altLang="zh-CN"/>
          </a:p>
          <a:p>
            <a:pPr lvl="1"/>
            <a:r>
              <a:rPr lang="en-US" altLang="zh-CN"/>
              <a:t>@app.route('/user/{user_id}')</a:t>
            </a:r>
            <a:endParaRPr lang="en-US" altLang="zh-CN"/>
          </a:p>
          <a:p>
            <a:pPr lvl="1"/>
            <a:r>
              <a:rPr lang="en-US" altLang="zh-CN"/>
              <a:t>@app.errorhandler(404)</a:t>
            </a:r>
            <a:endParaRPr lang="en-US" altLang="zh-CN"/>
          </a:p>
          <a:p>
            <a:pPr lvl="1"/>
            <a:r>
              <a:rPr lang="en-US" altLang="zh-CN"/>
              <a:t>app.url_map	// List all routes</a:t>
            </a:r>
            <a:endParaRPr lang="en-US" altLang="zh-CN"/>
          </a:p>
        </p:txBody>
      </p:sp>
      <p:sp>
        <p:nvSpPr>
          <p:cNvPr id="4" name="文本框 3"/>
          <p:cNvSpPr txBox="1"/>
          <p:nvPr/>
        </p:nvSpPr>
        <p:spPr>
          <a:xfrm>
            <a:off x="8849360" y="1211580"/>
            <a:ext cx="2894330" cy="1753235"/>
          </a:xfrm>
          <a:prstGeom prst="rect">
            <a:avLst/>
          </a:prstGeom>
          <a:noFill/>
          <a:ln>
            <a:solidFill>
              <a:srgbClr val="002060"/>
            </a:solidFill>
          </a:ln>
        </p:spPr>
        <p:txBody>
          <a:bodyPr wrap="square" rtlCol="0">
            <a:spAutoFit/>
          </a:bodyPr>
          <a:p>
            <a:r>
              <a:rPr lang="zh-CN" altLang="en-US"/>
              <a:t>from flask import Flask</a:t>
            </a:r>
            <a:endParaRPr lang="zh-CN" altLang="en-US"/>
          </a:p>
          <a:p>
            <a:r>
              <a:rPr lang="zh-CN" altLang="en-US"/>
              <a:t>app = Flask(__name__)</a:t>
            </a:r>
            <a:endParaRPr lang="zh-CN" altLang="en-US"/>
          </a:p>
          <a:p>
            <a:endParaRPr lang="zh-CN" altLang="en-US"/>
          </a:p>
          <a:p>
            <a:r>
              <a:rPr lang="zh-CN" altLang="en-US"/>
              <a:t>@app.route('/')</a:t>
            </a:r>
            <a:endParaRPr lang="zh-CN" altLang="en-US"/>
          </a:p>
          <a:p>
            <a:r>
              <a:rPr lang="zh-CN" altLang="en-US"/>
              <a:t>def hello_world():</a:t>
            </a:r>
            <a:endParaRPr lang="zh-CN" altLang="en-US"/>
          </a:p>
          <a:p>
            <a:r>
              <a:rPr lang="zh-CN" altLang="en-US"/>
              <a:t>    return 'Hello, World!'</a:t>
            </a:r>
            <a:endParaRPr lang="zh-CN" altLang="en-US"/>
          </a:p>
        </p:txBody>
      </p:sp>
      <p:sp>
        <p:nvSpPr>
          <p:cNvPr id="5" name="圆角矩形 4"/>
          <p:cNvSpPr/>
          <p:nvPr/>
        </p:nvSpPr>
        <p:spPr>
          <a:xfrm>
            <a:off x="7106285" y="3941445"/>
            <a:ext cx="3154045" cy="9658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Python Scripts</a:t>
            </a:r>
            <a:endParaRPr lang="en-US" altLang="zh-CN"/>
          </a:p>
        </p:txBody>
      </p:sp>
      <p:sp>
        <p:nvSpPr>
          <p:cNvPr id="6" name="圆角矩形 5"/>
          <p:cNvSpPr/>
          <p:nvPr/>
        </p:nvSpPr>
        <p:spPr>
          <a:xfrm>
            <a:off x="7091045" y="5253990"/>
            <a:ext cx="3154045" cy="9658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Templates</a:t>
            </a:r>
            <a:endParaRPr lang="en-US" altLang="zh-CN"/>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App Configuration</a:t>
            </a:r>
            <a:endParaRPr lang="en-US" altLang="zh-CN"/>
          </a:p>
        </p:txBody>
      </p:sp>
      <p:sp>
        <p:nvSpPr>
          <p:cNvPr id="3" name="内容占位符 2"/>
          <p:cNvSpPr>
            <a:spLocks noGrp="1"/>
          </p:cNvSpPr>
          <p:nvPr>
            <p:ph idx="1"/>
          </p:nvPr>
        </p:nvSpPr>
        <p:spPr>
          <a:xfrm>
            <a:off x="838200" y="1211580"/>
            <a:ext cx="4389755" cy="4549140"/>
          </a:xfrm>
        </p:spPr>
        <p:txBody>
          <a:bodyPr/>
          <a:p>
            <a:r>
              <a:rPr lang="en-US" altLang="zh-CN"/>
              <a:t>Config</a:t>
            </a:r>
            <a:endParaRPr lang="en-US" altLang="zh-CN"/>
          </a:p>
          <a:p>
            <a:pPr lvl="1"/>
            <a:r>
              <a:rPr lang="en-US" altLang="zh-CN"/>
              <a:t>app.config['DEBUG'] = True</a:t>
            </a:r>
            <a:endParaRPr lang="en-US" altLang="zh-CN"/>
          </a:p>
          <a:p>
            <a:pPr lvl="2"/>
            <a:r>
              <a:rPr lang="en-US" altLang="zh-CN"/>
              <a:t>Flask automatically sets app.debug = True</a:t>
            </a:r>
            <a:endParaRPr lang="en-US" altLang="zh-CN"/>
          </a:p>
          <a:p>
            <a:pPr lvl="1"/>
            <a:r>
              <a:rPr lang="en-US" altLang="zh-CN"/>
              <a:t>from flask import current_app</a:t>
            </a:r>
            <a:endParaRPr lang="en-US" altLang="zh-CN"/>
          </a:p>
          <a:p>
            <a:pPr lvl="2"/>
            <a:r>
              <a:rPr lang="en-US" altLang="zh-CN"/>
              <a:t>current_app.config[‘’]</a:t>
            </a:r>
            <a:endParaRPr lang="en-US" altLang="zh-CN"/>
          </a:p>
        </p:txBody>
      </p:sp>
      <p:graphicFrame>
        <p:nvGraphicFramePr>
          <p:cNvPr id="4" name="表格 3"/>
          <p:cNvGraphicFramePr/>
          <p:nvPr>
            <p:custDataLst>
              <p:tags r:id="rId1"/>
            </p:custDataLst>
          </p:nvPr>
        </p:nvGraphicFramePr>
        <p:xfrm>
          <a:off x="6038850" y="1614170"/>
          <a:ext cx="5629910" cy="3065780"/>
        </p:xfrm>
        <a:graphic>
          <a:graphicData uri="http://schemas.openxmlformats.org/drawingml/2006/table">
            <a:tbl>
              <a:tblPr firstRow="1" bandRow="1">
                <a:tableStyleId>{5C22544A-7EE6-4342-B048-85BDC9FD1C3A}</a:tableStyleId>
              </a:tblPr>
              <a:tblGrid>
                <a:gridCol w="1234440"/>
                <a:gridCol w="1545590"/>
                <a:gridCol w="1503045"/>
                <a:gridCol w="1346835"/>
              </a:tblGrid>
              <a:tr h="274320">
                <a:tc>
                  <a:txBody>
                    <a:bodyPr/>
                    <a:p>
                      <a:pPr>
                        <a:buNone/>
                      </a:pPr>
                      <a:endParaRPr lang="zh-CN" altLang="en-US" sz="1200" b="1"/>
                    </a:p>
                  </a:txBody>
                  <a:tcPr/>
                </a:tc>
                <a:tc>
                  <a:txBody>
                    <a:bodyPr/>
                    <a:p>
                      <a:pPr>
                        <a:buNone/>
                      </a:pPr>
                      <a:r>
                        <a:rPr lang="en-US" altLang="zh-CN" sz="1200"/>
                        <a:t>candidate values</a:t>
                      </a:r>
                      <a:endParaRPr lang="en-US" altLang="zh-CN" sz="1200"/>
                    </a:p>
                  </a:txBody>
                  <a:tcPr/>
                </a:tc>
                <a:tc>
                  <a:txBody>
                    <a:bodyPr/>
                    <a:p>
                      <a:pPr>
                        <a:buNone/>
                      </a:pPr>
                      <a:r>
                        <a:rPr lang="en-US" altLang="zh-CN" sz="1200"/>
                        <a:t>default value</a:t>
                      </a:r>
                      <a:endParaRPr lang="en-US" altLang="zh-CN" sz="1200"/>
                    </a:p>
                  </a:txBody>
                  <a:tcPr/>
                </a:tc>
                <a:tc>
                  <a:txBody>
                    <a:bodyPr/>
                    <a:p>
                      <a:pPr>
                        <a:buNone/>
                      </a:pPr>
                      <a:r>
                        <a:rPr lang="en-US" altLang="zh-CN" sz="1200"/>
                        <a:t>Note</a:t>
                      </a:r>
                      <a:endParaRPr lang="en-US" altLang="zh-CN" sz="1200"/>
                    </a:p>
                  </a:txBody>
                  <a:tcPr/>
                </a:tc>
              </a:tr>
              <a:tr h="457200">
                <a:tc>
                  <a:txBody>
                    <a:bodyPr/>
                    <a:p>
                      <a:pPr>
                        <a:buNone/>
                      </a:pPr>
                      <a:r>
                        <a:rPr lang="en-US" altLang="zh-CN" sz="1200" b="1"/>
                        <a:t>ENV</a:t>
                      </a:r>
                      <a:endParaRPr lang="en-US" altLang="zh-CN" sz="1200" b="1"/>
                    </a:p>
                  </a:txBody>
                  <a:tcPr/>
                </a:tc>
                <a:tc>
                  <a:txBody>
                    <a:bodyPr/>
                    <a:p>
                      <a:pPr>
                        <a:buNone/>
                      </a:pPr>
                      <a:r>
                        <a:rPr lang="en-US" altLang="zh-CN" sz="1200"/>
                        <a:t>'production', 'development'</a:t>
                      </a:r>
                      <a:endParaRPr lang="en-US" altLang="zh-CN" sz="1200"/>
                    </a:p>
                  </a:txBody>
                  <a:tcPr/>
                </a:tc>
                <a:tc>
                  <a:txBody>
                    <a:bodyPr/>
                    <a:p>
                      <a:pPr>
                        <a:buNone/>
                      </a:pPr>
                      <a:r>
                        <a:rPr lang="en-US" altLang="zh-CN" sz="1200"/>
                        <a:t>'production'</a:t>
                      </a:r>
                      <a:endParaRPr lang="en-US" altLang="zh-CN" sz="1200"/>
                    </a:p>
                  </a:txBody>
                  <a:tcPr/>
                </a:tc>
                <a:tc>
                  <a:txBody>
                    <a:bodyPr/>
                    <a:p>
                      <a:pPr>
                        <a:buNone/>
                      </a:pPr>
                      <a:endParaRPr lang="en-US" altLang="zh-CN" sz="1200"/>
                    </a:p>
                  </a:txBody>
                  <a:tcPr/>
                </a:tc>
              </a:tr>
              <a:tr h="1054100">
                <a:tc>
                  <a:txBody>
                    <a:bodyPr/>
                    <a:p>
                      <a:pPr>
                        <a:buNone/>
                      </a:pPr>
                      <a:r>
                        <a:rPr lang="en-US" altLang="zh-CN" sz="1200" b="1"/>
                        <a:t>DEBUG</a:t>
                      </a:r>
                      <a:endParaRPr lang="en-US" altLang="zh-CN" sz="1200" b="1"/>
                    </a:p>
                  </a:txBody>
                  <a:tcPr/>
                </a:tc>
                <a:tc>
                  <a:txBody>
                    <a:bodyPr/>
                    <a:p>
                      <a:pPr>
                        <a:buNone/>
                      </a:pPr>
                      <a:r>
                        <a:rPr lang="en-US" altLang="zh-CN" sz="1200"/>
                        <a:t>True, False</a:t>
                      </a:r>
                      <a:endParaRPr lang="en-US" altLang="zh-CN" sz="1200"/>
                    </a:p>
                  </a:txBody>
                  <a:tcPr/>
                </a:tc>
                <a:tc>
                  <a:txBody>
                    <a:bodyPr/>
                    <a:p>
                      <a:pPr>
                        <a:buNone/>
                      </a:pPr>
                      <a:r>
                        <a:rPr lang="en-US" altLang="zh-CN" sz="1200"/>
                        <a:t>False when ENV=='production'</a:t>
                      </a:r>
                      <a:endParaRPr lang="en-US" altLang="zh-CN" sz="1200"/>
                    </a:p>
                    <a:p>
                      <a:pPr>
                        <a:buNone/>
                      </a:pPr>
                      <a:r>
                        <a:rPr lang="en-US" altLang="zh-CN" sz="1200"/>
                        <a:t>True when ENV=='development'</a:t>
                      </a:r>
                      <a:endParaRPr lang="en-US" altLang="zh-CN" sz="1200"/>
                    </a:p>
                  </a:txBody>
                  <a:tcPr/>
                </a:tc>
                <a:tc>
                  <a:txBody>
                    <a:bodyPr/>
                    <a:p>
                      <a:pPr>
                        <a:buNone/>
                      </a:pPr>
                      <a:endParaRPr lang="en-US" altLang="zh-CN" sz="1200"/>
                    </a:p>
                  </a:txBody>
                  <a:tcPr/>
                </a:tc>
              </a:tr>
              <a:tr h="457200">
                <a:tc>
                  <a:txBody>
                    <a:bodyPr/>
                    <a:p>
                      <a:pPr>
                        <a:buNone/>
                      </a:pPr>
                      <a:r>
                        <a:rPr lang="en-US" altLang="zh-CN" sz="1200" b="1"/>
                        <a:t>SECRET_KEY</a:t>
                      </a:r>
                      <a:endParaRPr lang="en-US" altLang="zh-CN" sz="1200" b="1"/>
                    </a:p>
                  </a:txBody>
                  <a:tcPr/>
                </a:tc>
                <a:tc>
                  <a:txBody>
                    <a:bodyPr/>
                    <a:p>
                      <a:pPr>
                        <a:buNone/>
                      </a:pPr>
                      <a:r>
                        <a:rPr lang="en-US" altLang="zh-CN" sz="1200"/>
                        <a:t>Used for signing the session cookie</a:t>
                      </a:r>
                      <a:endParaRPr lang="en-US" altLang="zh-CN" sz="1200"/>
                    </a:p>
                  </a:txBody>
                  <a:tcPr/>
                </a:tc>
                <a:tc>
                  <a:txBody>
                    <a:bodyPr/>
                    <a:p>
                      <a:pPr>
                        <a:buNone/>
                      </a:pPr>
                      <a:r>
                        <a:rPr lang="en-US" altLang="zh-CN" sz="1200"/>
                        <a:t>None</a:t>
                      </a:r>
                      <a:endParaRPr lang="en-US" altLang="zh-CN" sz="1200"/>
                    </a:p>
                  </a:txBody>
                  <a:tcPr/>
                </a:tc>
                <a:tc>
                  <a:txBody>
                    <a:bodyPr/>
                    <a:p>
                      <a:pPr>
                        <a:buNone/>
                      </a:pPr>
                      <a:endParaRPr lang="en-US" altLang="zh-CN" sz="1200"/>
                    </a:p>
                  </a:txBody>
                  <a:tcPr/>
                </a:tc>
              </a:tr>
              <a:tr h="822960">
                <a:tc>
                  <a:txBody>
                    <a:bodyPr/>
                    <a:p>
                      <a:pPr>
                        <a:buNone/>
                      </a:pPr>
                      <a:r>
                        <a:rPr lang="zh-CN" altLang="en-US" sz="1200" b="1"/>
                        <a:t>PERMANENT_SESSION_LIFETIME</a:t>
                      </a:r>
                      <a:endParaRPr lang="zh-CN" altLang="en-US" sz="1200" b="1"/>
                    </a:p>
                  </a:txBody>
                  <a:tcPr/>
                </a:tc>
                <a:tc>
                  <a:txBody>
                    <a:bodyPr/>
                    <a:p>
                      <a:pPr>
                        <a:buNone/>
                      </a:pPr>
                      <a:r>
                        <a:rPr lang="en-US" altLang="zh-CN" sz="1200"/>
                        <a:t>datetime.timedelta or int</a:t>
                      </a:r>
                      <a:endParaRPr lang="en-US" altLang="zh-CN" sz="1200"/>
                    </a:p>
                  </a:txBody>
                  <a:tcPr/>
                </a:tc>
                <a:tc>
                  <a:txBody>
                    <a:bodyPr/>
                    <a:p>
                      <a:pPr>
                        <a:buNone/>
                      </a:pPr>
                      <a:r>
                        <a:rPr lang="en-US" altLang="zh-CN" sz="1200"/>
                        <a:t>31 days</a:t>
                      </a:r>
                      <a:endParaRPr lang="en-US" altLang="zh-CN" sz="1200"/>
                    </a:p>
                  </a:txBody>
                  <a:tcPr/>
                </a:tc>
                <a:tc>
                  <a:txBody>
                    <a:bodyPr/>
                    <a:p>
                      <a:pPr>
                        <a:buNone/>
                      </a:pPr>
                      <a:r>
                        <a:rPr lang="en-US" altLang="zh-CN" sz="1200">
                          <a:sym typeface="+mn-ea"/>
                        </a:rPr>
                        <a:t>Take effect if session.permanant is True </a:t>
                      </a:r>
                      <a:r>
                        <a:rPr lang="zh-CN" altLang="en-US" sz="1200">
                          <a:sym typeface="+mn-ea"/>
                        </a:rPr>
                        <a:t>（</a:t>
                      </a:r>
                      <a:r>
                        <a:rPr lang="en-US" altLang="zh-CN" sz="1200">
                          <a:sym typeface="+mn-ea"/>
                        </a:rPr>
                        <a:t>default false)</a:t>
                      </a:r>
                      <a:endParaRPr lang="en-US" altLang="zh-CN" sz="1200">
                        <a:sym typeface="+mn-ea"/>
                      </a:endParaRPr>
                    </a:p>
                  </a:txBody>
                  <a:tcPr/>
                </a:tc>
              </a:tr>
            </a:tbl>
          </a:graphicData>
        </a:graphic>
      </p:graphicFrame>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Request</a:t>
            </a:r>
            <a:endParaRPr lang="en-US" altLang="zh-CN"/>
          </a:p>
        </p:txBody>
      </p:sp>
      <p:sp>
        <p:nvSpPr>
          <p:cNvPr id="3" name="内容占位符 2"/>
          <p:cNvSpPr>
            <a:spLocks noGrp="1"/>
          </p:cNvSpPr>
          <p:nvPr>
            <p:ph idx="1"/>
          </p:nvPr>
        </p:nvSpPr>
        <p:spPr>
          <a:xfrm>
            <a:off x="838200" y="1211580"/>
            <a:ext cx="5156835" cy="5342890"/>
          </a:xfrm>
        </p:spPr>
        <p:txBody>
          <a:bodyPr>
            <a:noAutofit/>
          </a:bodyPr>
          <a:p>
            <a:r>
              <a:rPr lang="en-US" altLang="zh-CN" sz="1400"/>
              <a:t>Request</a:t>
            </a:r>
            <a:endParaRPr lang="en-US" altLang="zh-CN" sz="1400"/>
          </a:p>
          <a:p>
            <a:pPr lvl="1"/>
            <a:r>
              <a:rPr lang="en-US" altLang="zh-CN" sz="1200"/>
              <a:t>from flask import request</a:t>
            </a:r>
            <a:endParaRPr lang="en-US" altLang="zh-CN" sz="1200"/>
          </a:p>
          <a:p>
            <a:pPr lvl="1"/>
            <a:r>
              <a:rPr lang="en-US" altLang="zh-CN" sz="1200"/>
              <a:t>request.method</a:t>
            </a:r>
            <a:endParaRPr lang="en-US" altLang="zh-CN" sz="1200"/>
          </a:p>
          <a:p>
            <a:pPr lvl="1"/>
            <a:r>
              <a:rPr lang="en-US" altLang="zh-CN" sz="1200"/>
              <a:t>request.path</a:t>
            </a:r>
            <a:endParaRPr lang="en-US" altLang="zh-CN" sz="1200"/>
          </a:p>
          <a:p>
            <a:pPr lvl="1"/>
            <a:r>
              <a:rPr lang="en-US" altLang="zh-CN" sz="1200"/>
              <a:t>request.headers</a:t>
            </a:r>
            <a:endParaRPr lang="en-US" altLang="zh-CN" sz="1200"/>
          </a:p>
          <a:p>
            <a:pPr lvl="2"/>
            <a:r>
              <a:rPr lang="en-US" altLang="zh-CN" sz="1200"/>
              <a:t>request.headers.get('User-Agent')</a:t>
            </a:r>
            <a:endParaRPr lang="en-US" altLang="zh-CN" sz="1200"/>
          </a:p>
          <a:p>
            <a:pPr lvl="1"/>
            <a:r>
              <a:rPr lang="en-US" altLang="zh-CN" sz="1200"/>
              <a:t>GET: request.args.get('username')</a:t>
            </a:r>
            <a:endParaRPr lang="en-US" altLang="zh-CN" sz="1200"/>
          </a:p>
          <a:p>
            <a:pPr lvl="1"/>
            <a:r>
              <a:rPr lang="en-US" altLang="zh-CN" sz="1200"/>
              <a:t>POST:</a:t>
            </a:r>
            <a:endParaRPr lang="en-US" altLang="zh-CN" sz="1200"/>
          </a:p>
          <a:p>
            <a:pPr lvl="2"/>
            <a:r>
              <a:rPr lang="en-US" altLang="zh-CN" sz="1000"/>
              <a:t>request.form.get('username'),	// multipart/form-data</a:t>
            </a:r>
            <a:endParaRPr lang="en-US" altLang="zh-CN" sz="1000"/>
          </a:p>
          <a:p>
            <a:pPr lvl="2"/>
            <a:r>
              <a:rPr lang="en-US" altLang="zh-CN" sz="1000"/>
              <a:t>request.files</a:t>
            </a:r>
            <a:endParaRPr lang="en-US" altLang="zh-CN" sz="1000"/>
          </a:p>
          <a:p>
            <a:pPr lvl="2"/>
            <a:r>
              <a:rPr lang="en-US" altLang="zh-CN" sz="1000"/>
              <a:t>jobj = request.get_json()	// applicaiton/json</a:t>
            </a:r>
            <a:endParaRPr lang="en-US" altLang="zh-CN" sz="1000"/>
          </a:p>
          <a:p>
            <a:pPr lvl="0"/>
            <a:r>
              <a:rPr lang="en-US" altLang="zh-CN" sz="1400"/>
              <a:t>Upload</a:t>
            </a:r>
            <a:endParaRPr lang="en-US" altLang="zh-CN" sz="1400"/>
          </a:p>
          <a:p>
            <a:pPr lvl="1"/>
            <a:r>
              <a:rPr lang="en-US" altLang="zh-CN" sz="1200"/>
              <a:t>f = request.files['the_file']</a:t>
            </a:r>
            <a:endParaRPr lang="en-US" altLang="zh-CN" sz="1200"/>
          </a:p>
          <a:p>
            <a:pPr lvl="1"/>
            <a:r>
              <a:rPr lang="en-US" altLang="zh-CN" sz="1200"/>
              <a:t>f.save('/tmp' + f.filename)</a:t>
            </a:r>
            <a:endParaRPr lang="en-US" altLang="zh-CN" sz="1200"/>
          </a:p>
          <a:p>
            <a:pPr lvl="0"/>
            <a:r>
              <a:rPr lang="en-US" altLang="zh-CN" sz="1400"/>
              <a:t>Cookie</a:t>
            </a:r>
            <a:endParaRPr lang="en-US" altLang="zh-CN" sz="1400"/>
          </a:p>
          <a:p>
            <a:pPr lvl="1"/>
            <a:r>
              <a:rPr lang="en-US" altLang="zh-CN" sz="1200"/>
              <a:t>request.cookies.get('username')</a:t>
            </a:r>
            <a:endParaRPr lang="en-US" altLang="zh-CN" sz="1200"/>
          </a:p>
          <a:p>
            <a:pPr lvl="1"/>
            <a:r>
              <a:rPr lang="en-US" altLang="zh-CN" sz="1200"/>
              <a:t>resp = make_response(render_template(...))</a:t>
            </a:r>
            <a:endParaRPr lang="en-US" altLang="zh-CN" sz="1200"/>
          </a:p>
          <a:p>
            <a:pPr lvl="1"/>
            <a:r>
              <a:rPr lang="en-US" altLang="zh-CN" sz="1200"/>
              <a:t>resp.set_cookie('username', 'un1')</a:t>
            </a:r>
            <a:endParaRPr lang="en-US" altLang="zh-CN" sz="1200"/>
          </a:p>
          <a:p>
            <a:pPr lvl="0"/>
            <a:r>
              <a:rPr lang="en-US" altLang="zh-CN" sz="1600"/>
              <a:t>Hooks</a:t>
            </a:r>
            <a:endParaRPr lang="en-US" altLang="zh-CN" sz="1600"/>
          </a:p>
          <a:p>
            <a:pPr lvl="1"/>
            <a:r>
              <a:rPr lang="en-US" altLang="zh-CN" sz="1200"/>
              <a:t>before_request</a:t>
            </a:r>
            <a:endParaRPr lang="en-US" altLang="zh-CN" sz="1200"/>
          </a:p>
          <a:p>
            <a:pPr lvl="1"/>
            <a:r>
              <a:rPr lang="en-US" altLang="zh-CN" sz="1200"/>
              <a:t>after_request</a:t>
            </a:r>
            <a:endParaRPr lang="en-US" altLang="zh-CN" sz="1200"/>
          </a:p>
        </p:txBody>
      </p:sp>
      <p:sp>
        <p:nvSpPr>
          <p:cNvPr id="4" name="文本框 3"/>
          <p:cNvSpPr txBox="1"/>
          <p:nvPr/>
        </p:nvSpPr>
        <p:spPr>
          <a:xfrm>
            <a:off x="8764905" y="309880"/>
            <a:ext cx="2588895" cy="1424940"/>
          </a:xfrm>
          <a:prstGeom prst="rect">
            <a:avLst/>
          </a:prstGeom>
          <a:noFill/>
          <a:ln>
            <a:solidFill>
              <a:srgbClr val="002060"/>
            </a:solidFill>
          </a:ln>
        </p:spPr>
        <p:txBody>
          <a:bodyPr wrap="square" rtlCol="0">
            <a:noAutofit/>
          </a:bodyPr>
          <a:p>
            <a:r>
              <a:rPr lang="zh-CN" altLang="en-US" sz="1000"/>
              <a:t>from flask import </a:t>
            </a:r>
            <a:r>
              <a:rPr lang="en-US" altLang="zh-CN" sz="1000"/>
              <a:t>Flask, request</a:t>
            </a:r>
            <a:endParaRPr lang="zh-CN" altLang="en-US" sz="1000"/>
          </a:p>
          <a:p>
            <a:r>
              <a:rPr lang="zh-CN" altLang="en-US" sz="1000"/>
              <a:t>app = Flask(__name__)</a:t>
            </a:r>
            <a:endParaRPr lang="zh-CN" altLang="en-US" sz="1000"/>
          </a:p>
          <a:p>
            <a:endParaRPr lang="zh-CN" altLang="en-US" sz="1000"/>
          </a:p>
          <a:p>
            <a:r>
              <a:rPr lang="zh-CN" altLang="en-US" sz="1000"/>
              <a:t>@app.route('/'</a:t>
            </a:r>
            <a:r>
              <a:rPr lang="en-US" altLang="zh-CN" sz="1000"/>
              <a:t>, methods=['GET', 'POST']</a:t>
            </a:r>
            <a:r>
              <a:rPr lang="zh-CN" altLang="en-US" sz="1000"/>
              <a:t>)</a:t>
            </a:r>
            <a:endParaRPr lang="zh-CN" altLang="en-US" sz="1000"/>
          </a:p>
          <a:p>
            <a:r>
              <a:rPr lang="zh-CN" altLang="en-US" sz="1000"/>
              <a:t>def hello_world():</a:t>
            </a:r>
            <a:endParaRPr lang="zh-CN" altLang="en-US" sz="1000"/>
          </a:p>
          <a:p>
            <a:r>
              <a:rPr lang="zh-CN" altLang="en-US" sz="1000"/>
              <a:t>    </a:t>
            </a:r>
            <a:r>
              <a:rPr lang="en-US" altLang="zh-CN" sz="1000"/>
              <a:t>if request.method == 'GET':</a:t>
            </a:r>
            <a:endParaRPr lang="en-US" altLang="zh-CN" sz="1000"/>
          </a:p>
          <a:p>
            <a:r>
              <a:rPr lang="zh-CN" altLang="en-US" sz="1000"/>
              <a:t>        </a:t>
            </a:r>
            <a:r>
              <a:rPr lang="en-US" altLang="zh-CN" sz="1000"/>
              <a:t>func1()</a:t>
            </a:r>
            <a:endParaRPr lang="en-US" altLang="zh-CN" sz="1000"/>
          </a:p>
          <a:p>
            <a:r>
              <a:rPr lang="en-US" altLang="zh-CN" sz="1000"/>
              <a:t>    elif request.method == 'POST':</a:t>
            </a:r>
            <a:endParaRPr lang="en-US" altLang="zh-CN" sz="1000"/>
          </a:p>
          <a:p>
            <a:r>
              <a:rPr lang="en-US" altLang="zh-CN" sz="1000"/>
              <a:t>        func2()</a:t>
            </a:r>
            <a:endParaRPr lang="en-US" altLang="zh-CN" sz="1000"/>
          </a:p>
        </p:txBody>
      </p:sp>
      <p:graphicFrame>
        <p:nvGraphicFramePr>
          <p:cNvPr id="6" name="表格 5"/>
          <p:cNvGraphicFramePr/>
          <p:nvPr>
            <p:custDataLst>
              <p:tags r:id="rId1"/>
            </p:custDataLst>
          </p:nvPr>
        </p:nvGraphicFramePr>
        <p:xfrm>
          <a:off x="6474460" y="1877060"/>
          <a:ext cx="5518785" cy="2141855"/>
        </p:xfrm>
        <a:graphic>
          <a:graphicData uri="http://schemas.openxmlformats.org/drawingml/2006/table">
            <a:tbl>
              <a:tblPr firstRow="1" bandRow="1">
                <a:tableStyleId>{5C22544A-7EE6-4342-B048-85BDC9FD1C3A}</a:tableStyleId>
              </a:tblPr>
              <a:tblGrid>
                <a:gridCol w="847725"/>
                <a:gridCol w="2632710"/>
                <a:gridCol w="2038350"/>
              </a:tblGrid>
              <a:tr h="365760">
                <a:tc>
                  <a:txBody>
                    <a:bodyPr/>
                    <a:p>
                      <a:pPr algn="ctr">
                        <a:lnSpc>
                          <a:spcPct val="90000"/>
                        </a:lnSpc>
                        <a:buNone/>
                      </a:pPr>
                      <a:r>
                        <a:rPr lang="en-US" altLang="zh-CN" sz="1000"/>
                        <a:t>Request property</a:t>
                      </a:r>
                      <a:endParaRPr lang="en-US" altLang="zh-CN" sz="1000"/>
                    </a:p>
                  </a:txBody>
                  <a:tcPr anchor="ctr" anchorCtr="0"/>
                </a:tc>
                <a:tc>
                  <a:txBody>
                    <a:bodyPr/>
                    <a:p>
                      <a:pPr algn="ctr">
                        <a:lnSpc>
                          <a:spcPct val="90000"/>
                        </a:lnSpc>
                        <a:buNone/>
                      </a:pPr>
                      <a:r>
                        <a:rPr lang="en-US" altLang="zh-CN" sz="1000"/>
                        <a:t>Note</a:t>
                      </a:r>
                      <a:endParaRPr lang="en-US" altLang="zh-CN" sz="1000"/>
                    </a:p>
                  </a:txBody>
                  <a:tcPr anchor="ctr" anchorCtr="0"/>
                </a:tc>
                <a:tc>
                  <a:txBody>
                    <a:bodyPr/>
                    <a:p>
                      <a:pPr algn="ctr">
                        <a:lnSpc>
                          <a:spcPct val="90000"/>
                        </a:lnSpc>
                        <a:buNone/>
                      </a:pPr>
                      <a:r>
                        <a:rPr lang="en-US" altLang="zh-CN" sz="1000"/>
                        <a:t>Example</a:t>
                      </a:r>
                      <a:endParaRPr lang="en-US" altLang="zh-CN" sz="1000"/>
                    </a:p>
                  </a:txBody>
                  <a:tcPr anchor="ctr" anchorCtr="0"/>
                </a:tc>
              </a:tr>
              <a:tr h="384175">
                <a:tc>
                  <a:txBody>
                    <a:bodyPr/>
                    <a:p>
                      <a:pPr algn="ctr">
                        <a:lnSpc>
                          <a:spcPct val="90000"/>
                        </a:lnSpc>
                        <a:buNone/>
                      </a:pPr>
                      <a:r>
                        <a:rPr lang="en-US" altLang="zh-CN" sz="1000"/>
                        <a:t>url</a:t>
                      </a:r>
                      <a:endParaRPr lang="en-US" altLang="zh-CN" sz="1000"/>
                    </a:p>
                  </a:txBody>
                  <a:tcPr anchor="ctr" anchorCtr="0"/>
                </a:tc>
                <a:tc>
                  <a:txBody>
                    <a:bodyPr/>
                    <a:p>
                      <a:pPr algn="l">
                        <a:lnSpc>
                          <a:spcPct val="90000"/>
                        </a:lnSpc>
                        <a:buNone/>
                      </a:pPr>
                      <a:r>
                        <a:rPr lang="zh-CN" altLang="en-US" sz="1000"/>
                        <a:t>The full request URL with the scheme, host, root path, path, and query string.</a:t>
                      </a:r>
                      <a:endParaRPr lang="zh-CN" altLang="en-US" sz="1000"/>
                    </a:p>
                  </a:txBody>
                  <a:tcPr anchor="ctr" anchorCtr="0"/>
                </a:tc>
                <a:tc>
                  <a:txBody>
                    <a:bodyPr/>
                    <a:p>
                      <a:pPr algn="l">
                        <a:lnSpc>
                          <a:spcPct val="90000"/>
                        </a:lnSpc>
                        <a:buNone/>
                      </a:pPr>
                      <a:r>
                        <a:rPr lang="en-US" altLang="zh-CN" sz="1000"/>
                        <a:t>http://fishpano.com/app/user/detail?id=1</a:t>
                      </a:r>
                      <a:endParaRPr lang="en-US" altLang="zh-CN" sz="1000"/>
                    </a:p>
                  </a:txBody>
                  <a:tcPr anchor="ctr" anchorCtr="0"/>
                </a:tc>
              </a:tr>
              <a:tr h="365760">
                <a:tc>
                  <a:txBody>
                    <a:bodyPr/>
                    <a:p>
                      <a:pPr algn="ctr">
                        <a:lnSpc>
                          <a:spcPct val="90000"/>
                        </a:lnSpc>
                        <a:buNone/>
                      </a:pPr>
                      <a:r>
                        <a:rPr lang="en-US" altLang="zh-CN" sz="1000"/>
                        <a:t>base_url</a:t>
                      </a:r>
                      <a:endParaRPr lang="en-US" altLang="zh-CN" sz="1000"/>
                    </a:p>
                  </a:txBody>
                  <a:tcPr anchor="ctr" anchorCtr="0"/>
                </a:tc>
                <a:tc>
                  <a:txBody>
                    <a:bodyPr/>
                    <a:p>
                      <a:pPr algn="l">
                        <a:lnSpc>
                          <a:spcPct val="90000"/>
                        </a:lnSpc>
                        <a:buNone/>
                      </a:pPr>
                      <a:r>
                        <a:rPr lang="en-US" altLang="zh-CN" sz="1000"/>
                        <a:t>url without the query string</a:t>
                      </a:r>
                      <a:endParaRPr lang="en-US" altLang="zh-CN" sz="1000"/>
                    </a:p>
                  </a:txBody>
                  <a:tcPr anchor="ctr" anchorCtr="0"/>
                </a:tc>
                <a:tc>
                  <a:txBody>
                    <a:bodyPr/>
                    <a:p>
                      <a:pPr algn="l">
                        <a:lnSpc>
                          <a:spcPct val="90000"/>
                        </a:lnSpc>
                        <a:buNone/>
                      </a:pPr>
                      <a:r>
                        <a:rPr lang="en-US" altLang="zh-CN" sz="1000">
                          <a:sym typeface="+mn-ea"/>
                        </a:rPr>
                        <a:t>http://fishpano.com/app/user/detail</a:t>
                      </a:r>
                      <a:endParaRPr lang="en-US" altLang="zh-CN" sz="1000">
                        <a:sym typeface="+mn-ea"/>
                      </a:endParaRPr>
                    </a:p>
                  </a:txBody>
                  <a:tcPr anchor="ctr" anchorCtr="0"/>
                </a:tc>
              </a:tr>
              <a:tr h="365760">
                <a:tc>
                  <a:txBody>
                    <a:bodyPr/>
                    <a:p>
                      <a:pPr algn="ctr">
                        <a:lnSpc>
                          <a:spcPct val="90000"/>
                        </a:lnSpc>
                        <a:buNone/>
                      </a:pPr>
                      <a:r>
                        <a:rPr lang="en-US" altLang="zh-CN" sz="1000"/>
                        <a:t>root_url (url_root)</a:t>
                      </a:r>
                      <a:endParaRPr lang="en-US" altLang="zh-CN" sz="1000"/>
                    </a:p>
                  </a:txBody>
                  <a:tcPr anchor="ctr" anchorCtr="0"/>
                </a:tc>
                <a:tc>
                  <a:txBody>
                    <a:bodyPr/>
                    <a:p>
                      <a:pPr algn="l">
                        <a:lnSpc>
                          <a:spcPct val="90000"/>
                        </a:lnSpc>
                        <a:buNone/>
                      </a:pPr>
                      <a:r>
                        <a:rPr lang="zh-CN" altLang="en-US" sz="1000"/>
                        <a:t>The request URL scheme, host, and root path</a:t>
                      </a:r>
                      <a:endParaRPr lang="zh-CN" altLang="en-US" sz="1000"/>
                    </a:p>
                  </a:txBody>
                  <a:tcPr anchor="ctr" anchorCtr="0"/>
                </a:tc>
                <a:tc>
                  <a:txBody>
                    <a:bodyPr/>
                    <a:p>
                      <a:pPr algn="l">
                        <a:lnSpc>
                          <a:spcPct val="90000"/>
                        </a:lnSpc>
                        <a:buNone/>
                      </a:pPr>
                      <a:r>
                        <a:rPr lang="en-US" altLang="zh-CN" sz="1000"/>
                        <a:t>http://fishpano.com/app/</a:t>
                      </a:r>
                      <a:endParaRPr lang="en-US" altLang="zh-CN" sz="1000"/>
                    </a:p>
                  </a:txBody>
                  <a:tcPr anchor="ctr" anchorCtr="0"/>
                </a:tc>
              </a:tr>
              <a:tr h="384175">
                <a:tc>
                  <a:txBody>
                    <a:bodyPr/>
                    <a:p>
                      <a:pPr algn="ctr">
                        <a:lnSpc>
                          <a:spcPct val="90000"/>
                        </a:lnSpc>
                        <a:buNone/>
                      </a:pPr>
                      <a:r>
                        <a:rPr lang="en-US" altLang="zh-CN" sz="1000"/>
                        <a:t>host</a:t>
                      </a:r>
                      <a:endParaRPr lang="en-US" altLang="zh-CN" sz="1000"/>
                    </a:p>
                  </a:txBody>
                  <a:tcPr anchor="ctr" anchorCtr="0"/>
                </a:tc>
                <a:tc>
                  <a:txBody>
                    <a:bodyPr/>
                    <a:p>
                      <a:pPr algn="l">
                        <a:lnSpc>
                          <a:spcPct val="90000"/>
                        </a:lnSpc>
                        <a:buNone/>
                      </a:pPr>
                      <a:r>
                        <a:rPr lang="zh-CN" altLang="en-US" sz="1000"/>
                        <a:t>The host name the request was made to, including the port if it’s non-standard.</a:t>
                      </a:r>
                      <a:endParaRPr lang="zh-CN" altLang="en-US" sz="1000"/>
                    </a:p>
                  </a:txBody>
                  <a:tcPr anchor="ctr" anchorCtr="0"/>
                </a:tc>
                <a:tc>
                  <a:txBody>
                    <a:bodyPr/>
                    <a:p>
                      <a:pPr algn="l">
                        <a:lnSpc>
                          <a:spcPct val="90000"/>
                        </a:lnSpc>
                        <a:buNone/>
                      </a:pPr>
                      <a:r>
                        <a:rPr lang="en-US" altLang="zh-CN" sz="1000"/>
                        <a:t>fishpano.com:8080</a:t>
                      </a:r>
                      <a:endParaRPr lang="en-US" altLang="zh-CN" sz="1000"/>
                    </a:p>
                  </a:txBody>
                  <a:tcPr anchor="ctr" anchorCtr="0"/>
                </a:tc>
              </a:tr>
              <a:tr h="276225">
                <a:tc>
                  <a:txBody>
                    <a:bodyPr/>
                    <a:p>
                      <a:pPr algn="ctr">
                        <a:lnSpc>
                          <a:spcPct val="90000"/>
                        </a:lnSpc>
                        <a:buNone/>
                      </a:pPr>
                      <a:r>
                        <a:rPr lang="en-US" altLang="zh-CN" sz="1000"/>
                        <a:t>host_url</a:t>
                      </a:r>
                      <a:endParaRPr lang="en-US" altLang="zh-CN" sz="1000"/>
                    </a:p>
                  </a:txBody>
                  <a:tcPr anchor="ctr" anchorCtr="0"/>
                </a:tc>
                <a:tc>
                  <a:txBody>
                    <a:bodyPr/>
                    <a:p>
                      <a:pPr algn="l">
                        <a:lnSpc>
                          <a:spcPct val="90000"/>
                        </a:lnSpc>
                        <a:buNone/>
                      </a:pPr>
                      <a:r>
                        <a:rPr lang="en-US" altLang="zh-CN" sz="1000"/>
                        <a:t>The request URL scheme and host only</a:t>
                      </a:r>
                      <a:endParaRPr lang="en-US" altLang="zh-CN" sz="1000"/>
                    </a:p>
                  </a:txBody>
                  <a:tcPr anchor="ctr" anchorCtr="0"/>
                </a:tc>
                <a:tc>
                  <a:txBody>
                    <a:bodyPr/>
                    <a:p>
                      <a:pPr algn="l">
                        <a:lnSpc>
                          <a:spcPct val="90000"/>
                        </a:lnSpc>
                        <a:buNone/>
                      </a:pPr>
                      <a:r>
                        <a:rPr lang="en-US" altLang="zh-CN" sz="1000">
                          <a:sym typeface="+mn-ea"/>
                        </a:rPr>
                        <a:t>http://fishpano.com</a:t>
                      </a:r>
                      <a:endParaRPr lang="en-US" altLang="zh-CN" sz="1000">
                        <a:sym typeface="+mn-ea"/>
                      </a:endParaRPr>
                    </a:p>
                  </a:txBody>
                  <a:tcPr anchor="ctr" anchorCtr="0"/>
                </a:tc>
              </a:tr>
            </a:tbl>
          </a:graphicData>
        </a:graphic>
      </p:graphicFrame>
      <p:sp>
        <p:nvSpPr>
          <p:cNvPr id="5" name="文本框 4"/>
          <p:cNvSpPr txBox="1"/>
          <p:nvPr/>
        </p:nvSpPr>
        <p:spPr>
          <a:xfrm>
            <a:off x="6474460" y="4161155"/>
            <a:ext cx="5518785" cy="1198880"/>
          </a:xfrm>
          <a:prstGeom prst="rect">
            <a:avLst/>
          </a:prstGeom>
          <a:noFill/>
          <a:ln>
            <a:solidFill>
              <a:srgbClr val="C00000"/>
            </a:solidFill>
          </a:ln>
        </p:spPr>
        <p:txBody>
          <a:bodyPr wrap="square" rtlCol="0">
            <a:spAutoFit/>
          </a:bodyPr>
          <a:p>
            <a:r>
              <a:rPr lang="en-US" altLang="zh-CN" sz="1200"/>
              <a:t>@app.before_request</a:t>
            </a:r>
            <a:endParaRPr lang="en-US" altLang="zh-CN" sz="1200"/>
          </a:p>
          <a:p>
            <a:r>
              <a:rPr lang="en-US" altLang="zh-CN" sz="1200"/>
              <a:t>def before_request_logging():</a:t>
            </a:r>
            <a:endParaRPr lang="en-US" altLang="zh-CN" sz="1200"/>
          </a:p>
          <a:p>
            <a:r>
              <a:rPr lang="en-US" altLang="zh-CN" sz="1200"/>
              <a:t>    """</a:t>
            </a:r>
            <a:r>
              <a:rPr lang="zh-CN" altLang="en-US" sz="1200"/>
              <a:t>记录请求开始信息</a:t>
            </a:r>
            <a:r>
              <a:rPr lang="en-US" altLang="zh-CN" sz="1200"/>
              <a:t>"""</a:t>
            </a:r>
            <a:endParaRPr lang="en-US" altLang="zh-CN" sz="1200"/>
          </a:p>
          <a:p>
            <a:r>
              <a:rPr lang="en-US" altLang="zh-CN" sz="1200"/>
              <a:t>    g.start_time = time.time()</a:t>
            </a:r>
            <a:endParaRPr lang="en-US" altLang="zh-CN" sz="1200"/>
          </a:p>
          <a:p>
            <a:r>
              <a:rPr lang="en-US" altLang="zh-CN" sz="1200"/>
              <a:t>    logger.info(f'</a:t>
            </a:r>
            <a:r>
              <a:rPr lang="zh-CN" altLang="en-US" sz="1200"/>
              <a:t>请求开始</a:t>
            </a:r>
            <a:r>
              <a:rPr lang="en-US" altLang="zh-CN" sz="1200"/>
              <a:t> - {request.method} {request.path} - IP: {request.remote_addr} - User-Agent: {request.user_agent}')</a:t>
            </a:r>
            <a:endParaRPr lang="en-US" altLang="zh-CN" sz="1200"/>
          </a:p>
        </p:txBody>
      </p:sp>
      <p:sp>
        <p:nvSpPr>
          <p:cNvPr id="7" name="文本框 6"/>
          <p:cNvSpPr txBox="1"/>
          <p:nvPr/>
        </p:nvSpPr>
        <p:spPr>
          <a:xfrm>
            <a:off x="6474460" y="5360035"/>
            <a:ext cx="5518785" cy="1568450"/>
          </a:xfrm>
          <a:prstGeom prst="rect">
            <a:avLst/>
          </a:prstGeom>
          <a:noFill/>
          <a:ln>
            <a:solidFill>
              <a:srgbClr val="C00000"/>
            </a:solidFill>
          </a:ln>
        </p:spPr>
        <p:txBody>
          <a:bodyPr wrap="square" rtlCol="0">
            <a:spAutoFit/>
          </a:bodyPr>
          <a:p>
            <a:r>
              <a:rPr lang="en-US" altLang="zh-CN" sz="1200"/>
              <a:t>@app.after_request</a:t>
            </a:r>
            <a:endParaRPr lang="en-US" altLang="zh-CN" sz="1200"/>
          </a:p>
          <a:p>
            <a:r>
              <a:rPr lang="en-US" altLang="zh-CN" sz="1200"/>
              <a:t>def after_request_logging(response):</a:t>
            </a:r>
            <a:endParaRPr lang="en-US" altLang="zh-CN" sz="1200"/>
          </a:p>
          <a:p>
            <a:r>
              <a:rPr lang="en-US" altLang="zh-CN" sz="1200"/>
              <a:t>    """</a:t>
            </a:r>
            <a:r>
              <a:rPr lang="zh-CN" altLang="en-US" sz="1200"/>
              <a:t>记录请求结束信息</a:t>
            </a:r>
            <a:r>
              <a:rPr lang="en-US" altLang="zh-CN" sz="1200"/>
              <a:t>"""</a:t>
            </a:r>
            <a:endParaRPr lang="en-US" altLang="zh-CN" sz="1200"/>
          </a:p>
          <a:p>
            <a:r>
              <a:rPr lang="en-US" altLang="zh-CN" sz="1200"/>
              <a:t>    if hasattr(g, 'start_time'):</a:t>
            </a:r>
            <a:endParaRPr lang="en-US" altLang="zh-CN" sz="1200"/>
          </a:p>
          <a:p>
            <a:r>
              <a:rPr lang="en-US" altLang="zh-CN" sz="1200"/>
              <a:t>        elapsed_time = time.time() - g.start_time</a:t>
            </a:r>
            <a:endParaRPr lang="en-US" altLang="zh-CN" sz="1200"/>
          </a:p>
          <a:p>
            <a:r>
              <a:rPr lang="en-US" altLang="zh-CN" sz="1200"/>
              <a:t>        logger.info(f'</a:t>
            </a:r>
            <a:r>
              <a:rPr lang="zh-CN" altLang="en-US" sz="1200"/>
              <a:t>请求完成</a:t>
            </a:r>
            <a:r>
              <a:rPr lang="en-US" altLang="zh-CN" sz="1200"/>
              <a:t> - {request.method} {request.path} - </a:t>
            </a:r>
            <a:r>
              <a:rPr lang="zh-CN" altLang="en-US" sz="1200"/>
              <a:t>状态码</a:t>
            </a:r>
            <a:r>
              <a:rPr lang="en-US" altLang="zh-CN" sz="1200"/>
              <a:t>: {response.status_code} - </a:t>
            </a:r>
            <a:r>
              <a:rPr lang="zh-CN" altLang="en-US" sz="1200"/>
              <a:t>耗时</a:t>
            </a:r>
            <a:r>
              <a:rPr lang="en-US" altLang="zh-CN" sz="1200"/>
              <a:t>: {elapsed_time:.3f}</a:t>
            </a:r>
            <a:r>
              <a:rPr lang="zh-CN" altLang="en-US" sz="1200"/>
              <a:t>秒</a:t>
            </a:r>
            <a:r>
              <a:rPr lang="en-US" altLang="zh-CN" sz="1200"/>
              <a:t>')</a:t>
            </a:r>
            <a:endParaRPr lang="en-US" altLang="zh-CN" sz="1200"/>
          </a:p>
          <a:p>
            <a:r>
              <a:rPr lang="en-US" altLang="zh-CN" sz="1200"/>
              <a:t>    return response</a:t>
            </a:r>
            <a:endParaRPr lang="en-US" altLang="zh-CN" sz="1200"/>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Response</a:t>
            </a:r>
            <a:endParaRPr lang="en-US" altLang="zh-CN"/>
          </a:p>
        </p:txBody>
      </p:sp>
      <p:sp>
        <p:nvSpPr>
          <p:cNvPr id="3" name="内容占位符 2"/>
          <p:cNvSpPr>
            <a:spLocks noGrp="1"/>
          </p:cNvSpPr>
          <p:nvPr>
            <p:ph idx="1"/>
          </p:nvPr>
        </p:nvSpPr>
        <p:spPr>
          <a:xfrm>
            <a:off x="838200" y="1211580"/>
            <a:ext cx="4260215" cy="4549140"/>
          </a:xfrm>
        </p:spPr>
        <p:txBody>
          <a:bodyPr/>
          <a:p>
            <a:r>
              <a:rPr lang="en-US" altLang="zh-CN" sz="1800"/>
              <a:t>Response format</a:t>
            </a:r>
            <a:endParaRPr lang="en-US" altLang="zh-CN" sz="1800"/>
          </a:p>
          <a:p>
            <a:pPr lvl="1"/>
            <a:r>
              <a:rPr lang="en-US" altLang="zh-CN" sz="1600"/>
              <a:t>response, status, headers</a:t>
            </a:r>
            <a:endParaRPr lang="en-US" altLang="zh-CN" sz="1600"/>
          </a:p>
          <a:p>
            <a:pPr lvl="1"/>
            <a:r>
              <a:rPr lang="en-US" altLang="zh-CN" sz="1600"/>
              <a:t>resp = make_response(response, status)</a:t>
            </a:r>
            <a:endParaRPr lang="en-US" altLang="zh-CN" sz="1600"/>
          </a:p>
          <a:p>
            <a:pPr lvl="1"/>
            <a:r>
              <a:rPr lang="en-US" altLang="zh-CN" sz="1600"/>
              <a:t>resp.headers['AAA'] = 'value'</a:t>
            </a:r>
            <a:endParaRPr lang="en-US" altLang="zh-CN" sz="1600"/>
          </a:p>
          <a:p>
            <a:pPr lvl="0"/>
            <a:r>
              <a:rPr lang="en-US" altLang="zh-CN" sz="1800"/>
              <a:t>URL encoding</a:t>
            </a:r>
            <a:endParaRPr lang="en-US" altLang="zh-CN" sz="1800"/>
          </a:p>
          <a:p>
            <a:pPr lvl="1"/>
            <a:r>
              <a:rPr lang="en-US" altLang="zh-CN" sz="1600"/>
              <a:t>import urllib.parse</a:t>
            </a:r>
            <a:endParaRPr lang="en-US" altLang="zh-CN" sz="1600"/>
          </a:p>
          <a:p>
            <a:pPr lvl="1"/>
            <a:r>
              <a:rPr lang="en-US" altLang="zh-CN" sz="1600"/>
              <a:t>urllib.parse.quote('query_str')</a:t>
            </a:r>
            <a:endParaRPr lang="en-US" altLang="zh-CN" sz="1600"/>
          </a:p>
          <a:p>
            <a:pPr lvl="1"/>
            <a:r>
              <a:rPr lang="en-US" altLang="zh-CN" sz="1600"/>
              <a:t>urllib.parse.urlencode({'p1': 'v1', 'p2': 'v2'})</a:t>
            </a:r>
            <a:endParaRPr lang="en-US" altLang="zh-CN" sz="1600"/>
          </a:p>
        </p:txBody>
      </p:sp>
      <p:pic>
        <p:nvPicPr>
          <p:cNvPr id="4" name="图片 3"/>
          <p:cNvPicPr/>
          <p:nvPr/>
        </p:nvPicPr>
        <p:blipFill>
          <a:blip r:embed="rId1"/>
          <a:stretch>
            <a:fillRect/>
          </a:stretch>
        </p:blipFill>
        <p:spPr>
          <a:xfrm>
            <a:off x="5684520" y="638175"/>
            <a:ext cx="2690495" cy="4486910"/>
          </a:xfrm>
          <a:prstGeom prst="rect">
            <a:avLst/>
          </a:prstGeom>
        </p:spPr>
      </p:pic>
      <p:pic>
        <p:nvPicPr>
          <p:cNvPr id="5" name="图片 4"/>
          <p:cNvPicPr/>
          <p:nvPr/>
        </p:nvPicPr>
        <p:blipFill>
          <a:blip r:embed="rId2"/>
          <a:stretch>
            <a:fillRect/>
          </a:stretch>
        </p:blipFill>
        <p:spPr>
          <a:xfrm>
            <a:off x="8303260" y="239713"/>
            <a:ext cx="3162300" cy="3609975"/>
          </a:xfrm>
          <a:prstGeom prst="rect">
            <a:avLst/>
          </a:prstGeom>
        </p:spPr>
      </p:pic>
      <p:pic>
        <p:nvPicPr>
          <p:cNvPr id="6" name="图片 5"/>
          <p:cNvPicPr/>
          <p:nvPr/>
        </p:nvPicPr>
        <p:blipFill>
          <a:blip r:embed="rId3"/>
          <a:stretch>
            <a:fillRect/>
          </a:stretch>
        </p:blipFill>
        <p:spPr>
          <a:xfrm>
            <a:off x="8374698" y="4032250"/>
            <a:ext cx="2619375" cy="2171700"/>
          </a:xfrm>
          <a:prstGeom prst="rect">
            <a:avLst/>
          </a:prstGeom>
        </p:spPr>
      </p:pic>
    </p:spTree>
    <p:custDataLst>
      <p:tags r:id="rId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Session</a:t>
            </a:r>
            <a:endParaRPr lang="en-US" altLang="zh-CN"/>
          </a:p>
        </p:txBody>
      </p:sp>
      <p:sp>
        <p:nvSpPr>
          <p:cNvPr id="3" name="内容占位符 2"/>
          <p:cNvSpPr>
            <a:spLocks noGrp="1"/>
          </p:cNvSpPr>
          <p:nvPr>
            <p:ph idx="1"/>
          </p:nvPr>
        </p:nvSpPr>
        <p:spPr>
          <a:xfrm>
            <a:off x="838200" y="1211580"/>
            <a:ext cx="5079365" cy="4977130"/>
          </a:xfrm>
        </p:spPr>
        <p:txBody>
          <a:bodyPr>
            <a:normAutofit fontScale="60000"/>
          </a:bodyPr>
          <a:p>
            <a:pPr lvl="0"/>
            <a:r>
              <a:rPr lang="en-US" altLang="zh-CN" sz="1800">
                <a:sym typeface="+mn-ea"/>
              </a:rPr>
              <a:t>Intro</a:t>
            </a:r>
            <a:endParaRPr lang="en-US" altLang="zh-CN" sz="1800">
              <a:sym typeface="+mn-ea"/>
            </a:endParaRPr>
          </a:p>
          <a:p>
            <a:pPr lvl="1"/>
            <a:r>
              <a:rPr lang="en-US" altLang="zh-CN" sz="1600">
                <a:sym typeface="+mn-ea"/>
              </a:rPr>
              <a:t>implemented on top of cookie, signs the cookies cryptographically</a:t>
            </a:r>
            <a:endParaRPr lang="en-US" altLang="zh-CN" sz="1600"/>
          </a:p>
          <a:p>
            <a:pPr lvl="1"/>
            <a:r>
              <a:rPr lang="en-US" altLang="zh-CN" sz="1600">
                <a:sym typeface="+mn-ea"/>
              </a:rPr>
              <a:t>app.secret_key = 'AAA'</a:t>
            </a:r>
            <a:endParaRPr lang="en-US" altLang="zh-CN" sz="1600"/>
          </a:p>
          <a:p>
            <a:pPr lvl="0"/>
            <a:r>
              <a:rPr lang="en-US" altLang="zh-CN" sz="1920">
                <a:sym typeface="+mn-ea"/>
              </a:rPr>
              <a:t>Login</a:t>
            </a:r>
            <a:endParaRPr lang="en-US" altLang="zh-CN" sz="1920">
              <a:sym typeface="+mn-ea"/>
            </a:endParaRPr>
          </a:p>
          <a:p>
            <a:pPr lvl="1"/>
            <a:r>
              <a:rPr lang="en-US" altLang="zh-CN" sz="1600">
                <a:sym typeface="+mn-ea"/>
              </a:rPr>
              <a:t>session['username'] = 'aaa'</a:t>
            </a:r>
            <a:endParaRPr lang="en-US" altLang="zh-CN" sz="1600"/>
          </a:p>
          <a:p>
            <a:pPr lvl="1"/>
            <a:r>
              <a:rPr lang="en-US" altLang="zh-CN" sz="1600">
                <a:sym typeface="+mn-ea"/>
              </a:rPr>
              <a:t>session.pop('username', None)</a:t>
            </a:r>
            <a:endParaRPr lang="en-US" altLang="zh-CN" sz="1600">
              <a:sym typeface="+mn-ea"/>
            </a:endParaRPr>
          </a:p>
          <a:p>
            <a:pPr lvl="1"/>
            <a:r>
              <a:rPr lang="en-US" altLang="zh-CN" sz="1600">
                <a:sym typeface="+mn-ea"/>
              </a:rPr>
              <a:t>when user logs in, session[‘authenticated’] = True</a:t>
            </a:r>
            <a:endParaRPr lang="en-US" altLang="zh-CN" sz="1600">
              <a:sym typeface="+mn-ea"/>
            </a:endParaRPr>
          </a:p>
          <a:p>
            <a:pPr lvl="1"/>
            <a:r>
              <a:rPr lang="en-US" altLang="zh-CN" sz="1600"/>
              <a:t>Flask sets a session cookie with an expiration date (now + 30 min)</a:t>
            </a:r>
            <a:endParaRPr lang="en-US" altLang="zh-CN" sz="1600"/>
          </a:p>
          <a:p>
            <a:pPr lvl="1"/>
            <a:r>
              <a:rPr lang="en-US" altLang="zh-CN" sz="1600"/>
              <a:t>Server-side session data (e.g., in sessions/ folder or Redis) is automatically cleaned on next access if expired</a:t>
            </a:r>
            <a:endParaRPr lang="en-US" altLang="zh-CN" sz="1600"/>
          </a:p>
          <a:p>
            <a:pPr lvl="1"/>
            <a:r>
              <a:rPr lang="en-US" altLang="zh-CN" sz="1600"/>
              <a:t>After 30 min of inactivity </a:t>
            </a:r>
            <a:r>
              <a:rPr lang="en-US" altLang="en-US" sz="1600"/>
              <a:t>→</a:t>
            </a:r>
            <a:r>
              <a:rPr lang="en-US" altLang="zh-CN" sz="1600"/>
              <a:t> session invalid </a:t>
            </a:r>
            <a:r>
              <a:rPr lang="en-US" altLang="en-US" sz="1600"/>
              <a:t>→</a:t>
            </a:r>
            <a:r>
              <a:rPr lang="en-US" altLang="zh-CN" sz="1600"/>
              <a:t> user must log in again</a:t>
            </a:r>
            <a:endParaRPr lang="en-US" altLang="zh-CN" sz="1600"/>
          </a:p>
          <a:p>
            <a:pPr lvl="0"/>
            <a:r>
              <a:rPr lang="en-US" altLang="zh-CN" sz="1920"/>
              <a:t>Renew session on each request</a:t>
            </a:r>
            <a:endParaRPr lang="en-US" altLang="zh-CN" sz="1920"/>
          </a:p>
          <a:p>
            <a:pPr lvl="1"/>
            <a:r>
              <a:rPr lang="en-US" altLang="zh-CN" sz="1600"/>
              <a:t>session.permanent = True</a:t>
            </a:r>
            <a:endParaRPr lang="en-US" altLang="zh-CN" sz="1600"/>
          </a:p>
          <a:p>
            <a:pPr lvl="1"/>
            <a:r>
              <a:rPr lang="en-US" altLang="zh-CN" sz="1600"/>
              <a:t>app.permanent_session_lifetime = timedelta(minutes=30)</a:t>
            </a:r>
            <a:endParaRPr lang="en-US" altLang="zh-CN" sz="1600"/>
          </a:p>
          <a:p>
            <a:pPr lvl="1"/>
            <a:r>
              <a:rPr lang="en-US" altLang="zh-CN" sz="1600"/>
              <a:t>if session.get('authenticated'):</a:t>
            </a:r>
            <a:endParaRPr lang="en-US" altLang="zh-CN" sz="1600"/>
          </a:p>
          <a:p>
            <a:pPr lvl="2"/>
            <a:r>
              <a:rPr lang="en-US" altLang="zh-CN" sz="1440"/>
              <a:t>session.modified = True  # </a:t>
            </a:r>
            <a:r>
              <a:rPr lang="en-US" altLang="en-US" sz="1440"/>
              <a:t>←</a:t>
            </a:r>
            <a:r>
              <a:rPr lang="en-US" altLang="zh-CN" sz="1440"/>
              <a:t> This renews the session timeout</a:t>
            </a:r>
            <a:endParaRPr lang="en-US" altLang="zh-CN" sz="1440"/>
          </a:p>
          <a:p>
            <a:pPr lvl="0"/>
            <a:r>
              <a:rPr lang="en-US" altLang="zh-CN" sz="1920"/>
              <a:t>Redis</a:t>
            </a:r>
            <a:endParaRPr lang="en-US" altLang="zh-CN" sz="1920"/>
          </a:p>
          <a:p>
            <a:pPr lvl="1"/>
            <a:r>
              <a:rPr lang="en-US" altLang="zh-CN" sz="1600"/>
              <a:t>Redis automatically removes expired sessions.</a:t>
            </a:r>
            <a:endParaRPr lang="en-US" altLang="zh-CN" sz="1600"/>
          </a:p>
          <a:p>
            <a:pPr lvl="0"/>
            <a:r>
              <a:rPr lang="en-US" altLang="zh-CN" sz="1920"/>
              <a:t>Flask default session</a:t>
            </a:r>
            <a:endParaRPr lang="en-US" altLang="zh-CN" sz="1920"/>
          </a:p>
          <a:p>
            <a:pPr lvl="1"/>
            <a:r>
              <a:rPr lang="en-US" altLang="zh-CN" sz="1600"/>
              <a:t>sessions are client-side (signed cookies)</a:t>
            </a:r>
            <a:endParaRPr lang="en-US" altLang="zh-CN" sz="1600"/>
          </a:p>
          <a:p>
            <a:pPr lvl="1"/>
            <a:r>
              <a:rPr lang="en-US" altLang="zh-CN" sz="1600"/>
              <a:t>data stored in browser cookie (encrypted by SECRET_KEY)</a:t>
            </a:r>
            <a:endParaRPr lang="en-US" altLang="zh-CN" sz="1600"/>
          </a:p>
          <a:p>
            <a:pPr lvl="1"/>
            <a:r>
              <a:rPr lang="en-US" altLang="zh-CN" sz="1600"/>
              <a:t>no server-side storage</a:t>
            </a:r>
            <a:endParaRPr lang="en-US" altLang="zh-CN" sz="1600"/>
          </a:p>
          <a:p>
            <a:pPr lvl="1"/>
            <a:endParaRPr lang="en-US" altLang="zh-CN" sz="1600"/>
          </a:p>
        </p:txBody>
      </p:sp>
      <p:pic>
        <p:nvPicPr>
          <p:cNvPr id="4" name="图片 3"/>
          <p:cNvPicPr/>
          <p:nvPr/>
        </p:nvPicPr>
        <p:blipFill>
          <a:blip r:embed="rId1"/>
          <a:stretch>
            <a:fillRect/>
          </a:stretch>
        </p:blipFill>
        <p:spPr>
          <a:xfrm>
            <a:off x="5768340" y="1211580"/>
            <a:ext cx="5585460" cy="2664460"/>
          </a:xfrm>
          <a:prstGeom prst="rect">
            <a:avLst/>
          </a:prstGeom>
        </p:spPr>
      </p:pic>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Render Template</a:t>
            </a:r>
            <a:endParaRPr lang="en-US" altLang="zh-CN"/>
          </a:p>
        </p:txBody>
      </p:sp>
      <p:sp>
        <p:nvSpPr>
          <p:cNvPr id="3" name="内容占位符 2"/>
          <p:cNvSpPr>
            <a:spLocks noGrp="1"/>
          </p:cNvSpPr>
          <p:nvPr>
            <p:ph idx="1"/>
          </p:nvPr>
        </p:nvSpPr>
        <p:spPr/>
        <p:txBody>
          <a:bodyPr/>
          <a:p>
            <a:pPr lvl="0"/>
            <a:r>
              <a:rPr lang="en-US" altLang="zh-CN" sz="2400">
                <a:sym typeface="+mn-ea"/>
              </a:rPr>
              <a:t>Render template</a:t>
            </a:r>
            <a:endParaRPr lang="en-US" altLang="zh-CN" sz="2400"/>
          </a:p>
          <a:p>
            <a:pPr lvl="1"/>
            <a:r>
              <a:rPr lang="en-US" altLang="zh-CN" sz="2400">
                <a:sym typeface="+mn-ea"/>
              </a:rPr>
              <a:t>from flask import render_template</a:t>
            </a:r>
            <a:endParaRPr lang="en-US" altLang="zh-CN" sz="2400"/>
          </a:p>
          <a:p>
            <a:pPr lvl="1"/>
            <a:r>
              <a:rPr lang="en-US" altLang="zh-CN" sz="2400">
                <a:sym typeface="+mn-ea"/>
              </a:rPr>
              <a:t>render_template('hello.html', name=name)</a:t>
            </a:r>
            <a:endParaRPr lang="en-US" altLang="zh-CN" sz="2400"/>
          </a:p>
          <a:p>
            <a:pPr lvl="1"/>
            <a:r>
              <a:rPr lang="en-US" altLang="zh-CN" sz="2400">
                <a:sym typeface="+mn-ea"/>
              </a:rPr>
              <a:t>templates/hello.html</a:t>
            </a:r>
            <a:endParaRPr lang="en-US" altLang="zh-CN" sz="2400">
              <a:sym typeface="+mn-ea"/>
            </a:endParaRPr>
          </a:p>
          <a:p>
            <a:pPr lvl="0"/>
            <a:r>
              <a:rPr lang="en-US" altLang="zh-CN">
                <a:sym typeface="+mn-ea"/>
              </a:rPr>
              <a:t>Grammar in template</a:t>
            </a:r>
            <a:endParaRPr lang="en-US" altLang="zh-CN">
              <a:sym typeface="+mn-ea"/>
            </a:endParaRPr>
          </a:p>
          <a:p>
            <a:pPr lvl="1"/>
            <a:r>
              <a:rPr lang="en-US" altLang="zh-CN" sz="2000">
                <a:sym typeface="+mn-ea"/>
              </a:rPr>
              <a:t>{{ var }}</a:t>
            </a:r>
            <a:endParaRPr lang="en-US" altLang="zh-CN" sz="2000">
              <a:sym typeface="+mn-ea"/>
            </a:endParaRPr>
          </a:p>
          <a:p>
            <a:pPr lvl="1"/>
            <a:r>
              <a:rPr lang="en-US" altLang="zh-CN" sz="2000">
                <a:sym typeface="+mn-ea"/>
              </a:rPr>
              <a:t>{% if var %}, {% else %}, {% endif %}</a:t>
            </a:r>
            <a:endParaRPr lang="en-US" altLang="zh-CN" sz="2000">
              <a:sym typeface="+mn-ea"/>
            </a:endParaRPr>
          </a:p>
          <a:p>
            <a:pPr lvl="1"/>
            <a:r>
              <a:rPr lang="en-US" altLang="zh-CN" sz="2000">
                <a:sym typeface="+mn-ea"/>
              </a:rPr>
              <a:t>{% for var in set %}, {% endfor %}</a:t>
            </a:r>
            <a:endParaRPr lang="en-US" altLang="zh-CN" sz="2000">
              <a:sym typeface="+mn-ea"/>
            </a:endParaRPr>
          </a:p>
          <a:p>
            <a:pPr lvl="0"/>
            <a:r>
              <a:rPr lang="en-US" altLang="zh-CN" sz="2400">
                <a:sym typeface="+mn-ea"/>
              </a:rPr>
              <a:t>Template inheritance</a:t>
            </a:r>
            <a:endParaRPr lang="en-US" altLang="zh-CN" sz="2400">
              <a:sym typeface="+mn-ea"/>
            </a:endParaRPr>
          </a:p>
          <a:p>
            <a:pPr lvl="1"/>
            <a:r>
              <a:rPr lang="en-US" altLang="zh-CN" sz="2000">
                <a:sym typeface="+mn-ea"/>
              </a:rPr>
              <a:t>{% block bname %}{% endblock %}</a:t>
            </a:r>
            <a:endParaRPr lang="en-US" altLang="zh-CN" sz="2000">
              <a:sym typeface="+mn-ea"/>
            </a:endParaRPr>
          </a:p>
          <a:p>
            <a:pPr lvl="1"/>
            <a:r>
              <a:rPr lang="en-US" altLang="zh-CN" sz="2000">
                <a:sym typeface="+mn-ea"/>
              </a:rPr>
              <a:t>{% extends 'base.html' %}</a:t>
            </a:r>
            <a:endParaRPr lang="en-US" altLang="zh-CN" sz="2400"/>
          </a:p>
          <a:p>
            <a:endParaRPr lang="zh-CN" altLang="en-US"/>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Misc Functions</a:t>
            </a:r>
            <a:endParaRPr lang="en-US" altLang="zh-CN"/>
          </a:p>
        </p:txBody>
      </p:sp>
      <p:sp>
        <p:nvSpPr>
          <p:cNvPr id="3" name="内容占位符 2"/>
          <p:cNvSpPr>
            <a:spLocks noGrp="1"/>
          </p:cNvSpPr>
          <p:nvPr>
            <p:ph idx="1"/>
          </p:nvPr>
        </p:nvSpPr>
        <p:spPr>
          <a:xfrm>
            <a:off x="838200" y="1211580"/>
            <a:ext cx="5717540" cy="5080635"/>
          </a:xfrm>
        </p:spPr>
        <p:txBody>
          <a:bodyPr>
            <a:normAutofit/>
          </a:bodyPr>
          <a:p>
            <a:r>
              <a:rPr lang="en-US" altLang="zh-CN"/>
              <a:t>url_for(endpoint, **values)</a:t>
            </a:r>
            <a:endParaRPr lang="en-US" altLang="zh-CN"/>
          </a:p>
          <a:p>
            <a:pPr lvl="1"/>
            <a:r>
              <a:rPr lang="en-US" altLang="zh-CN"/>
              <a:t>url_for('login', next='/')</a:t>
            </a:r>
            <a:endParaRPr lang="en-US" altLang="zh-CN"/>
          </a:p>
          <a:p>
            <a:pPr lvl="0"/>
            <a:r>
              <a:rPr lang="en-US" altLang="zh-CN"/>
              <a:t>logging</a:t>
            </a:r>
            <a:endParaRPr lang="en-US" altLang="zh-CN"/>
          </a:p>
          <a:p>
            <a:pPr lvl="1"/>
            <a:r>
              <a:rPr lang="en-US" altLang="zh-CN"/>
              <a:t>app.logger.debug()/.info()/.error()</a:t>
            </a:r>
            <a:endParaRPr lang="en-US" altLang="zh-CN"/>
          </a:p>
          <a:p>
            <a:pPr lvl="1"/>
            <a:r>
              <a:rPr lang="en-US" altLang="zh-CN"/>
              <a:t>Configure logging before creating the application object</a:t>
            </a:r>
            <a:endParaRPr lang="en-US" altLang="zh-CN"/>
          </a:p>
          <a:p>
            <a:pPr lvl="0"/>
            <a:r>
              <a:rPr lang="en-US" altLang="zh-CN"/>
              <a:t>Rate limit</a:t>
            </a:r>
            <a:endParaRPr lang="en-US" altLang="zh-CN"/>
          </a:p>
          <a:p>
            <a:pPr lvl="1"/>
            <a:r>
              <a:rPr lang="en-US" altLang="zh-CN"/>
              <a:t>pip install flask-limiter</a:t>
            </a:r>
            <a:endParaRPr lang="en-US" altLang="zh-CN"/>
          </a:p>
          <a:p>
            <a:pPr lvl="1"/>
            <a:r>
              <a:rPr lang="en-US" altLang="zh-CN"/>
              <a:t>advanced configuration with redis</a:t>
            </a:r>
            <a:endParaRPr lang="en-US" altLang="zh-CN"/>
          </a:p>
          <a:p>
            <a:pPr lvl="1"/>
            <a:r>
              <a:rPr lang="en-US" altLang="zh-CN"/>
              <a:t>usage</a:t>
            </a:r>
            <a:endParaRPr lang="en-US" altLang="zh-CN"/>
          </a:p>
          <a:p>
            <a:pPr lvl="2"/>
            <a:r>
              <a:rPr lang="en-US" altLang="zh-CN" sz="1800"/>
              <a:t>decorator: </a:t>
            </a:r>
            <a:r>
              <a:rPr lang="en-US" altLang="zh-CN"/>
              <a:t>@limiter.limit("10 per minute")</a:t>
            </a:r>
            <a:endParaRPr lang="en-US" altLang="zh-CN"/>
          </a:p>
          <a:p>
            <a:pPr lvl="2"/>
            <a:endParaRPr lang="en-US" altLang="zh-CN"/>
          </a:p>
        </p:txBody>
      </p:sp>
      <p:sp>
        <p:nvSpPr>
          <p:cNvPr id="4" name="文本框 3"/>
          <p:cNvSpPr txBox="1"/>
          <p:nvPr/>
        </p:nvSpPr>
        <p:spPr>
          <a:xfrm>
            <a:off x="6675120" y="452120"/>
            <a:ext cx="5320030" cy="3599815"/>
          </a:xfrm>
          <a:prstGeom prst="rect">
            <a:avLst/>
          </a:prstGeom>
          <a:noFill/>
          <a:ln>
            <a:solidFill>
              <a:srgbClr val="C00000"/>
            </a:solidFill>
          </a:ln>
        </p:spPr>
        <p:txBody>
          <a:bodyPr wrap="square" rtlCol="0">
            <a:spAutoFit/>
          </a:bodyPr>
          <a:p>
            <a:r>
              <a:rPr lang="zh-CN" altLang="en-US" sz="1200"/>
              <a:t>from logging.config import dictConfig</a:t>
            </a:r>
            <a:endParaRPr lang="zh-CN" altLang="en-US" sz="1200"/>
          </a:p>
          <a:p>
            <a:endParaRPr lang="zh-CN" altLang="en-US" sz="1200"/>
          </a:p>
          <a:p>
            <a:r>
              <a:rPr lang="zh-CN" altLang="en-US" sz="1200"/>
              <a:t>dictConfig({</a:t>
            </a:r>
            <a:endParaRPr lang="zh-CN" altLang="en-US" sz="1200"/>
          </a:p>
          <a:p>
            <a:r>
              <a:rPr lang="zh-CN" altLang="en-US" sz="1200"/>
              <a:t>    'version': 1,</a:t>
            </a:r>
            <a:endParaRPr lang="zh-CN" altLang="en-US" sz="1200"/>
          </a:p>
          <a:p>
            <a:r>
              <a:rPr lang="zh-CN" altLang="en-US" sz="1200"/>
              <a:t>    'formatters': {'default': {</a:t>
            </a:r>
            <a:endParaRPr lang="zh-CN" altLang="en-US" sz="1200"/>
          </a:p>
          <a:p>
            <a:r>
              <a:rPr lang="zh-CN" altLang="en-US" sz="1200"/>
              <a:t>        'format': '[%(asctime)s] %(levelname)s in %(module)s: %(message)s',</a:t>
            </a:r>
            <a:endParaRPr lang="zh-CN" altLang="en-US" sz="1200"/>
          </a:p>
          <a:p>
            <a:r>
              <a:rPr lang="zh-CN" altLang="en-US" sz="1200"/>
              <a:t>    }},</a:t>
            </a:r>
            <a:endParaRPr lang="zh-CN" altLang="en-US" sz="1200"/>
          </a:p>
          <a:p>
            <a:r>
              <a:rPr lang="zh-CN" altLang="en-US" sz="1200"/>
              <a:t>    'handlers': {'wsgi': {</a:t>
            </a:r>
            <a:endParaRPr lang="zh-CN" altLang="en-US" sz="1200"/>
          </a:p>
          <a:p>
            <a:r>
              <a:rPr lang="zh-CN" altLang="en-US" sz="1200"/>
              <a:t>        'class': 'logging.StreamHandler',</a:t>
            </a:r>
            <a:endParaRPr lang="zh-CN" altLang="en-US" sz="1200"/>
          </a:p>
          <a:p>
            <a:r>
              <a:rPr lang="zh-CN" altLang="en-US" sz="1200"/>
              <a:t>        'stream': 'ext://flask.logging.wsgi_errors_stream',</a:t>
            </a:r>
            <a:endParaRPr lang="zh-CN" altLang="en-US" sz="1200"/>
          </a:p>
          <a:p>
            <a:r>
              <a:rPr lang="zh-CN" altLang="en-US" sz="1200"/>
              <a:t>        'formatter': 'default'</a:t>
            </a:r>
            <a:endParaRPr lang="zh-CN" altLang="en-US" sz="1200"/>
          </a:p>
          <a:p>
            <a:r>
              <a:rPr lang="zh-CN" altLang="en-US" sz="1200"/>
              <a:t>    }},</a:t>
            </a:r>
            <a:endParaRPr lang="zh-CN" altLang="en-US" sz="1200"/>
          </a:p>
          <a:p>
            <a:r>
              <a:rPr lang="zh-CN" altLang="en-US" sz="1200"/>
              <a:t>    'root': {</a:t>
            </a:r>
            <a:endParaRPr lang="zh-CN" altLang="en-US" sz="1200"/>
          </a:p>
          <a:p>
            <a:r>
              <a:rPr lang="zh-CN" altLang="en-US" sz="1200"/>
              <a:t>        'level': 'INFO',</a:t>
            </a:r>
            <a:endParaRPr lang="zh-CN" altLang="en-US" sz="1200"/>
          </a:p>
          <a:p>
            <a:r>
              <a:rPr lang="zh-CN" altLang="en-US" sz="1200"/>
              <a:t>        'handlers': ['wsgi']</a:t>
            </a:r>
            <a:endParaRPr lang="zh-CN" altLang="en-US" sz="1200"/>
          </a:p>
          <a:p>
            <a:r>
              <a:rPr lang="zh-CN" altLang="en-US" sz="1200"/>
              <a:t>    }</a:t>
            </a:r>
            <a:endParaRPr lang="zh-CN" altLang="en-US" sz="1200"/>
          </a:p>
          <a:p>
            <a:r>
              <a:rPr lang="zh-CN" altLang="en-US" sz="1200"/>
              <a:t>})</a:t>
            </a:r>
            <a:endParaRPr lang="zh-CN" altLang="en-US" sz="1200"/>
          </a:p>
          <a:p>
            <a:endParaRPr lang="zh-CN" altLang="en-US" sz="1200"/>
          </a:p>
          <a:p>
            <a:r>
              <a:rPr lang="zh-CN" altLang="en-US" sz="1200"/>
              <a:t>app = Flask(__name__)</a:t>
            </a:r>
            <a:endParaRPr lang="zh-CN" altLang="en-US" sz="1200"/>
          </a:p>
        </p:txBody>
      </p:sp>
      <p:sp>
        <p:nvSpPr>
          <p:cNvPr id="5" name="文本框 4"/>
          <p:cNvSpPr txBox="1"/>
          <p:nvPr/>
        </p:nvSpPr>
        <p:spPr>
          <a:xfrm>
            <a:off x="6621780" y="4293870"/>
            <a:ext cx="5372735" cy="1814830"/>
          </a:xfrm>
          <a:prstGeom prst="rect">
            <a:avLst/>
          </a:prstGeom>
          <a:noFill/>
          <a:ln>
            <a:solidFill>
              <a:srgbClr val="C00000"/>
            </a:solidFill>
          </a:ln>
        </p:spPr>
        <p:txBody>
          <a:bodyPr wrap="square" rtlCol="0">
            <a:spAutoFit/>
          </a:bodyPr>
          <a:p>
            <a:pPr lvl="0"/>
            <a:r>
              <a:rPr lang="en-US" altLang="zh-CN" sz="1400">
                <a:sym typeface="+mn-ea"/>
              </a:rPr>
              <a:t>from flask_limiter import Limiter</a:t>
            </a:r>
            <a:endParaRPr lang="en-US" altLang="zh-CN" sz="1400"/>
          </a:p>
          <a:p>
            <a:pPr lvl="0"/>
            <a:r>
              <a:rPr lang="en-US" altLang="zh-CN" sz="1400">
                <a:sym typeface="+mn-ea"/>
              </a:rPr>
              <a:t>from flask_limiter.util import get_remote_address</a:t>
            </a:r>
            <a:endParaRPr lang="en-US" altLang="zh-CN" sz="1400"/>
          </a:p>
          <a:p>
            <a:pPr lvl="0"/>
            <a:r>
              <a:rPr lang="en-US" altLang="zh-CN" sz="1400">
                <a:sym typeface="+mn-ea"/>
              </a:rPr>
              <a:t># Initialize Limiter</a:t>
            </a:r>
            <a:endParaRPr lang="en-US" altLang="zh-CN" sz="1400"/>
          </a:p>
          <a:p>
            <a:pPr lvl="0"/>
            <a:r>
              <a:rPr lang="en-US" altLang="zh-CN" sz="1400">
                <a:sym typeface="+mn-ea"/>
              </a:rPr>
              <a:t>limiter = Limiter(</a:t>
            </a:r>
            <a:endParaRPr lang="en-US" altLang="zh-CN" sz="1400"/>
          </a:p>
          <a:p>
            <a:pPr lvl="0"/>
            <a:r>
              <a:rPr lang="en-US" altLang="zh-CN" sz="1400">
                <a:sym typeface="+mn-ea"/>
              </a:rPr>
              <a:t>    app,</a:t>
            </a:r>
            <a:endParaRPr lang="en-US" altLang="zh-CN" sz="1400"/>
          </a:p>
          <a:p>
            <a:pPr lvl="0"/>
            <a:r>
              <a:rPr lang="en-US" altLang="zh-CN" sz="1400">
                <a:sym typeface="+mn-ea"/>
              </a:rPr>
              <a:t>    key_func=get_remote_address,  # Use IP address as key</a:t>
            </a:r>
            <a:endParaRPr lang="en-US" altLang="zh-CN" sz="1400"/>
          </a:p>
          <a:p>
            <a:pPr lvl="0"/>
            <a:r>
              <a:rPr lang="en-US" altLang="zh-CN" sz="1400">
                <a:sym typeface="+mn-ea"/>
              </a:rPr>
              <a:t>    default_limits=["200 per day", "50 per hour"]  # Default limits</a:t>
            </a:r>
            <a:endParaRPr lang="en-US" altLang="zh-CN" sz="1400"/>
          </a:p>
          <a:p>
            <a:pPr lvl="0"/>
            <a:r>
              <a:rPr lang="en-US" altLang="zh-CN" sz="1400">
                <a:sym typeface="+mn-ea"/>
              </a:rPr>
              <a:t>)</a:t>
            </a:r>
            <a:endParaRPr lang="en-US" altLang="zh-CN" sz="1400"/>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Web Forms</a:t>
            </a:r>
            <a:endParaRPr lang="en-US" altLang="zh-CN"/>
          </a:p>
        </p:txBody>
      </p:sp>
      <p:sp>
        <p:nvSpPr>
          <p:cNvPr id="3" name="内容占位符 2"/>
          <p:cNvSpPr>
            <a:spLocks noGrp="1"/>
          </p:cNvSpPr>
          <p:nvPr>
            <p:ph idx="1"/>
          </p:nvPr>
        </p:nvSpPr>
        <p:spPr/>
        <p:txBody>
          <a:bodyPr/>
          <a:p>
            <a:r>
              <a:rPr lang="en-US" altLang="zh-CN"/>
              <a:t>pip install flask-wtf</a:t>
            </a:r>
            <a:endParaRPr lang="en-US" altLang="zh-CN"/>
          </a:p>
          <a:p>
            <a:r>
              <a:rPr lang="en-US" altLang="zh-CN"/>
              <a:t>Usage</a:t>
            </a:r>
            <a:endParaRPr lang="en-US" altLang="zh-CN"/>
          </a:p>
          <a:p>
            <a:pPr lvl="1"/>
            <a:r>
              <a:rPr lang="en-US" altLang="zh-CN"/>
              <a:t>from flask-wtf import FlaskForm</a:t>
            </a:r>
            <a:endParaRPr lang="en-US" altLang="zh-CN"/>
          </a:p>
          <a:p>
            <a:pPr lvl="1"/>
            <a:r>
              <a:rPr lang="en-US" altLang="zh-CN"/>
              <a:t>from wtforms import StringField, PasswordField, BooleanField, SubmitField</a:t>
            </a:r>
            <a:endParaRPr lang="en-US" altLang="zh-CN"/>
          </a:p>
          <a:p>
            <a:pPr lvl="1"/>
            <a:r>
              <a:rPr lang="en-US" altLang="zh-CN"/>
              <a:t>from wtforms.validators import DataRequired</a:t>
            </a:r>
            <a:endParaRPr lang="en-US" altLang="zh-CN"/>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Deploy</a:t>
            </a:r>
            <a:endParaRPr lang="en-US" altLang="zh-CN"/>
          </a:p>
        </p:txBody>
      </p:sp>
      <p:sp>
        <p:nvSpPr>
          <p:cNvPr id="3" name="内容占位符 2"/>
          <p:cNvSpPr>
            <a:spLocks noGrp="1"/>
          </p:cNvSpPr>
          <p:nvPr>
            <p:ph idx="1"/>
          </p:nvPr>
        </p:nvSpPr>
        <p:spPr>
          <a:xfrm>
            <a:off x="838200" y="1211580"/>
            <a:ext cx="4607560" cy="5147945"/>
          </a:xfrm>
        </p:spPr>
        <p:txBody>
          <a:bodyPr>
            <a:normAutofit fontScale="70000"/>
          </a:bodyPr>
          <a:p>
            <a:r>
              <a:rPr lang="en-US" altLang="zh-CN"/>
              <a:t>Prepare Env</a:t>
            </a:r>
            <a:endParaRPr lang="en-US" altLang="zh-CN"/>
          </a:p>
          <a:p>
            <a:pPr lvl="1"/>
            <a:r>
              <a:rPr lang="en-US" altLang="zh-CN"/>
              <a:t>sudo apt-get update</a:t>
            </a:r>
            <a:endParaRPr lang="en-US" altLang="zh-CN"/>
          </a:p>
          <a:p>
            <a:pPr lvl="1"/>
            <a:r>
              <a:rPr lang="en-US" altLang="zh-CN"/>
              <a:t>sudo apt-get install python3-pip python3-dev nginx</a:t>
            </a:r>
            <a:endParaRPr lang="en-US" altLang="zh-CN"/>
          </a:p>
          <a:p>
            <a:pPr lvl="1"/>
            <a:r>
              <a:rPr lang="en-US" altLang="zh-CN"/>
              <a:t>sudo pip3 install virtualenv</a:t>
            </a:r>
            <a:endParaRPr lang="en-US" altLang="zh-CN"/>
          </a:p>
          <a:p>
            <a:pPr lvl="1"/>
            <a:r>
              <a:rPr lang="en-US" altLang="zh-CN"/>
              <a:t>virtualenv myprojectenv</a:t>
            </a:r>
            <a:endParaRPr lang="en-US" altLang="zh-CN"/>
          </a:p>
          <a:p>
            <a:pPr lvl="1"/>
            <a:r>
              <a:rPr lang="en-US" altLang="zh-CN"/>
              <a:t>source myprojectenv/bin/activate</a:t>
            </a:r>
            <a:endParaRPr lang="en-US" altLang="zh-CN"/>
          </a:p>
          <a:p>
            <a:pPr lvl="1"/>
            <a:r>
              <a:rPr lang="en-US" altLang="zh-CN"/>
              <a:t>pip install uwsgi flask</a:t>
            </a:r>
            <a:endParaRPr lang="en-US" altLang="zh-CN"/>
          </a:p>
          <a:p>
            <a:pPr lvl="1"/>
            <a:r>
              <a:rPr lang="en-US" altLang="zh-CN"/>
              <a:t>sudo ufw allow 5000</a:t>
            </a:r>
            <a:endParaRPr lang="en-US" altLang="zh-CN"/>
          </a:p>
          <a:p>
            <a:pPr lvl="0"/>
            <a:r>
              <a:rPr lang="en-US" altLang="zh-CN"/>
              <a:t>Gunicorn</a:t>
            </a:r>
            <a:endParaRPr lang="en-US" altLang="zh-CN"/>
          </a:p>
          <a:p>
            <a:pPr lvl="1"/>
            <a:r>
              <a:rPr lang="en-US" altLang="zh-CN" sz="2000"/>
              <a:t>Python WSGI HTTP server for Unix</a:t>
            </a:r>
            <a:endParaRPr lang="en-US" altLang="zh-CN" sz="2000"/>
          </a:p>
          <a:p>
            <a:pPr lvl="1"/>
            <a:r>
              <a:rPr lang="en-US" altLang="zh-CN" sz="2000"/>
              <a:t>gunicorn</a:t>
            </a:r>
            <a:endParaRPr lang="en-US" altLang="zh-CN" sz="2000"/>
          </a:p>
          <a:p>
            <a:pPr lvl="2"/>
            <a:r>
              <a:rPr lang="en-US" altLang="zh-CN" sz="1800"/>
              <a:t>-w {workers}	# workers, 2*num_cores + 1</a:t>
            </a:r>
            <a:endParaRPr lang="en-US" altLang="zh-CN" sz="1800"/>
          </a:p>
          <a:p>
            <a:pPr lvl="2"/>
            <a:r>
              <a:rPr lang="en-US" altLang="zh-CN" sz="1800"/>
              <a:t>-b {server_socket}	# bind</a:t>
            </a:r>
            <a:endParaRPr lang="en-US" altLang="zh-CN" sz="1800"/>
          </a:p>
          <a:p>
            <a:pPr lvl="0"/>
            <a:r>
              <a:rPr lang="en-US" altLang="zh-CN" sz="2400"/>
              <a:t>Refer</a:t>
            </a:r>
            <a:endParaRPr lang="en-US" altLang="zh-CN" sz="2400"/>
          </a:p>
          <a:p>
            <a:pPr lvl="1"/>
            <a:r>
              <a:rPr lang="en-US" altLang="zh-CN"/>
              <a:t>http://www.patricksoftwareblog.com/how-to-configure-nginx-for-a-flask-web-application/</a:t>
            </a:r>
            <a:endParaRPr lang="en-US" altLang="zh-CN"/>
          </a:p>
          <a:p>
            <a:pPr lvl="1"/>
            <a:endParaRPr lang="en-US" altLang="zh-CN"/>
          </a:p>
        </p:txBody>
      </p:sp>
      <p:pic>
        <p:nvPicPr>
          <p:cNvPr id="5" name="图片 4" descr="NGINX-in-Production-Environment"/>
          <p:cNvPicPr>
            <a:picLocks noChangeAspect="1"/>
          </p:cNvPicPr>
          <p:nvPr>
            <p:custDataLst>
              <p:tags r:id="rId1"/>
            </p:custDataLst>
          </p:nvPr>
        </p:nvPicPr>
        <p:blipFill>
          <a:blip r:embed="rId2"/>
          <a:stretch>
            <a:fillRect/>
          </a:stretch>
        </p:blipFill>
        <p:spPr>
          <a:xfrm>
            <a:off x="5445760" y="1285240"/>
            <a:ext cx="6487795" cy="4475480"/>
          </a:xfrm>
          <a:prstGeom prst="rect">
            <a:avLst/>
          </a:prstGeom>
        </p:spPr>
      </p:pic>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Deploy (Docker)</a:t>
            </a:r>
            <a:endParaRPr lang="en-US" altLang="zh-CN"/>
          </a:p>
        </p:txBody>
      </p:sp>
      <p:sp>
        <p:nvSpPr>
          <p:cNvPr id="3" name="内容占位符 2"/>
          <p:cNvSpPr>
            <a:spLocks noGrp="1"/>
          </p:cNvSpPr>
          <p:nvPr>
            <p:ph idx="1"/>
          </p:nvPr>
        </p:nvSpPr>
        <p:spPr>
          <a:xfrm>
            <a:off x="838200" y="1211580"/>
            <a:ext cx="5896610" cy="4549140"/>
          </a:xfrm>
        </p:spPr>
        <p:txBody>
          <a:bodyPr/>
          <a:p>
            <a:r>
              <a:rPr lang="en-US" altLang="zh-CN"/>
              <a:t>References</a:t>
            </a:r>
            <a:endParaRPr lang="en-US" altLang="zh-CN"/>
          </a:p>
          <a:p>
            <a:pPr lvl="1"/>
            <a:r>
              <a:rPr lang="en-US" altLang="zh-CN"/>
              <a:t>https://ianlondon.github.io/blog/deploy-flask-docker-nginx/</a:t>
            </a:r>
            <a:endParaRPr lang="en-US" altLang="zh-CN"/>
          </a:p>
          <a:p>
            <a:pPr lvl="0"/>
            <a:r>
              <a:rPr lang="en-US" altLang="zh-CN"/>
              <a:t>Dockerfile</a:t>
            </a:r>
            <a:endParaRPr lang="en-US" altLang="zh-CN"/>
          </a:p>
          <a:p>
            <a:pPr lvl="1"/>
            <a:r>
              <a:rPr lang="en-US" altLang="zh-CN"/>
              <a:t>FROM tiangolo/uwsgi-nginx-flask:python3.6</a:t>
            </a:r>
            <a:endParaRPr lang="en-US" altLang="zh-CN"/>
          </a:p>
          <a:p>
            <a:pPr lvl="1"/>
            <a:r>
              <a:rPr lang="en-US" altLang="zh-CN"/>
              <a:t>COPY ./app /app</a:t>
            </a:r>
            <a:endParaRPr lang="en-US" altLang="zh-CN"/>
          </a:p>
          <a:p>
            <a:pPr lvl="0"/>
            <a:r>
              <a:rPr lang="en-US" altLang="zh-CN" sz="2400"/>
              <a:t>Build and Run Docker image</a:t>
            </a:r>
            <a:endParaRPr lang="en-US" altLang="zh-CN" sz="2400"/>
          </a:p>
          <a:p>
            <a:pPr lvl="1"/>
            <a:r>
              <a:rPr lang="en-US" altLang="zh-CN" sz="2000"/>
              <a:t>go to flask project root folder</a:t>
            </a:r>
            <a:endParaRPr lang="en-US" altLang="zh-CN" sz="2000"/>
          </a:p>
          <a:p>
            <a:pPr lvl="1"/>
            <a:r>
              <a:rPr lang="en-US" altLang="zh-CN" sz="2000"/>
              <a:t>docker build -t flask_proj1 .</a:t>
            </a:r>
            <a:endParaRPr lang="en-US" altLang="zh-CN"/>
          </a:p>
          <a:p>
            <a:pPr lvl="1"/>
            <a:r>
              <a:rPr lang="en-US" altLang="zh-CN"/>
              <a:t>docker run -p 80:80 -t flask_proj1</a:t>
            </a:r>
            <a:endParaRPr lang="en-US" altLang="zh-CN"/>
          </a:p>
        </p:txBody>
      </p:sp>
      <p:pic>
        <p:nvPicPr>
          <p:cNvPr id="4" name="图片 3" descr="Docker-Application-Architecture"/>
          <p:cNvPicPr>
            <a:picLocks noChangeAspect="1"/>
          </p:cNvPicPr>
          <p:nvPr>
            <p:custDataLst>
              <p:tags r:id="rId1"/>
            </p:custDataLst>
          </p:nvPr>
        </p:nvPicPr>
        <p:blipFill>
          <a:blip r:embed="rId2"/>
          <a:stretch>
            <a:fillRect/>
          </a:stretch>
        </p:blipFill>
        <p:spPr>
          <a:xfrm>
            <a:off x="6734810" y="803910"/>
            <a:ext cx="5457190" cy="2731770"/>
          </a:xfrm>
          <a:prstGeom prst="rect">
            <a:avLst/>
          </a:prstGeom>
        </p:spPr>
      </p:pic>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t>Deploy (Docker 2)</a:t>
            </a:r>
            <a:endParaRPr lang="en-US" altLang="zh-CN"/>
          </a:p>
        </p:txBody>
      </p:sp>
      <p:sp>
        <p:nvSpPr>
          <p:cNvPr id="3" name="内容占位符 2"/>
          <p:cNvSpPr>
            <a:spLocks noGrp="1"/>
          </p:cNvSpPr>
          <p:nvPr>
            <p:ph idx="1"/>
          </p:nvPr>
        </p:nvSpPr>
        <p:spPr>
          <a:xfrm>
            <a:off x="838200" y="1211580"/>
            <a:ext cx="6122670" cy="4549140"/>
          </a:xfrm>
        </p:spPr>
        <p:txBody>
          <a:bodyPr>
            <a:normAutofit lnSpcReduction="10000"/>
          </a:bodyPr>
          <a:p>
            <a:r>
              <a:rPr lang="en-US" altLang="zh-CN"/>
              <a:t>References</a:t>
            </a:r>
            <a:endParaRPr lang="en-US" altLang="zh-CN"/>
          </a:p>
          <a:p>
            <a:pPr lvl="1"/>
            <a:r>
              <a:rPr lang="en-US" altLang="zh-CN">
                <a:sym typeface="+mn-ea"/>
              </a:rPr>
              <a:t>http://www.patricksoftwareblog.com/how-to-use-docker-and-docker-compose-to-create-a-flask-application/</a:t>
            </a:r>
            <a:endParaRPr lang="en-US" altLang="zh-CN">
              <a:sym typeface="+mn-ea"/>
            </a:endParaRPr>
          </a:p>
          <a:p>
            <a:pPr lvl="0"/>
            <a:r>
              <a:rPr lang="en-US" altLang="zh-CN"/>
              <a:t>Config</a:t>
            </a:r>
            <a:endParaRPr lang="en-US" altLang="zh-CN"/>
          </a:p>
          <a:p>
            <a:pPr lvl="1"/>
            <a:r>
              <a:rPr lang="en-US" altLang="zh-CN" sz="2000"/>
              <a:t>docker-compose.yml</a:t>
            </a:r>
            <a:endParaRPr lang="en-US" altLang="zh-CN" sz="2000"/>
          </a:p>
          <a:p>
            <a:pPr lvl="1"/>
            <a:r>
              <a:rPr lang="en-US" altLang="zh-CN"/>
              <a:t>Dockerfile</a:t>
            </a:r>
            <a:endParaRPr lang="en-US" altLang="zh-CN"/>
          </a:p>
          <a:p>
            <a:pPr lvl="0"/>
            <a:r>
              <a:rPr lang="en-US" altLang="zh-CN"/>
              <a:t>Build container</a:t>
            </a:r>
            <a:endParaRPr lang="en-US" altLang="zh-CN"/>
          </a:p>
          <a:p>
            <a:pPr lvl="1"/>
            <a:r>
              <a:rPr lang="en-US" altLang="zh-CN"/>
              <a:t>sudo docker-compose build</a:t>
            </a:r>
            <a:endParaRPr lang="en-US" altLang="zh-CN"/>
          </a:p>
          <a:p>
            <a:pPr lvl="0"/>
            <a:r>
              <a:rPr lang="en-US" altLang="zh-CN"/>
              <a:t>Run container</a:t>
            </a:r>
            <a:endParaRPr lang="en-US" altLang="zh-CN"/>
          </a:p>
          <a:p>
            <a:pPr lvl="1"/>
            <a:r>
              <a:rPr lang="en-US" altLang="zh-CN"/>
              <a:t>sudo docker-compose up -d</a:t>
            </a:r>
            <a:endParaRPr lang="en-US" altLang="zh-CN"/>
          </a:p>
        </p:txBody>
      </p:sp>
      <p:pic>
        <p:nvPicPr>
          <p:cNvPr id="4" name="图片 3" descr="nginx_flask_postgres_diagram1"/>
          <p:cNvPicPr>
            <a:picLocks noChangeAspect="1"/>
          </p:cNvPicPr>
          <p:nvPr/>
        </p:nvPicPr>
        <p:blipFill>
          <a:blip r:embed="rId1"/>
          <a:stretch>
            <a:fillRect/>
          </a:stretch>
        </p:blipFill>
        <p:spPr>
          <a:xfrm>
            <a:off x="6839585" y="1721485"/>
            <a:ext cx="5274310" cy="3187700"/>
          </a:xfrm>
          <a:prstGeom prst="rect">
            <a:avLst/>
          </a:prstGeom>
        </p:spPr>
      </p:pic>
    </p:spTree>
    <p:custDataLst>
      <p:tags r:id="rId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Static Files</a:t>
            </a:r>
            <a:endParaRPr lang="en-US" altLang="zh-CN"/>
          </a:p>
        </p:txBody>
      </p:sp>
      <p:sp>
        <p:nvSpPr>
          <p:cNvPr id="3" name="内容占位符 2"/>
          <p:cNvSpPr>
            <a:spLocks noGrp="1"/>
          </p:cNvSpPr>
          <p:nvPr>
            <p:ph idx="1"/>
          </p:nvPr>
        </p:nvSpPr>
        <p:spPr/>
        <p:txBody>
          <a:bodyPr/>
          <a:p>
            <a:r>
              <a:rPr lang="en-US" altLang="zh-CN"/>
              <a:t>Basic</a:t>
            </a:r>
            <a:endParaRPr lang="en-US" altLang="zh-CN"/>
          </a:p>
          <a:p>
            <a:pPr lvl="1"/>
            <a:r>
              <a:rPr lang="en-US" altLang="zh-CN"/>
              <a:t>Url starts with '/static/'</a:t>
            </a:r>
            <a:endParaRPr lang="en-US" altLang="zh-CN"/>
          </a:p>
          <a:p>
            <a:pPr lvl="1"/>
            <a:r>
              <a:rPr lang="en-US" altLang="zh-CN"/>
              <a:t>Files should be in 'static/' folder in Flask APP's root</a:t>
            </a:r>
            <a:endParaRPr lang="en-US" altLang="zh-CN"/>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Media</a:t>
            </a:r>
            <a:endParaRPr lang="en-US" altLang="zh-CN"/>
          </a:p>
        </p:txBody>
      </p:sp>
      <p:sp>
        <p:nvSpPr>
          <p:cNvPr id="3" name="内容占位符 2"/>
          <p:cNvSpPr>
            <a:spLocks noGrp="1"/>
          </p:cNvSpPr>
          <p:nvPr>
            <p:ph idx="1"/>
          </p:nvPr>
        </p:nvSpPr>
        <p:spPr/>
        <p:txBody>
          <a:bodyPr/>
          <a:p>
            <a:r>
              <a:rPr lang="en-US" altLang="zh-CN"/>
              <a:t>References</a:t>
            </a:r>
            <a:endParaRPr lang="en-US" altLang="zh-CN"/>
          </a:p>
          <a:p>
            <a:pPr lvl="1"/>
            <a:r>
              <a:rPr lang="en-US" altLang="zh-CN"/>
              <a:t>https://www.iandevlin.com/blog/2012/09/html5/html5-media-and-data-uri/</a:t>
            </a:r>
            <a:endParaRPr lang="en-US" altLang="zh-CN"/>
          </a:p>
          <a:p>
            <a:pPr lvl="1"/>
            <a:r>
              <a:rPr lang="en-US" altLang="zh-CN"/>
              <a:t>https://blog.miguelgrinberg.com/post/video-streaming-with-flask/page/5?source=post_page---------------------------</a:t>
            </a:r>
            <a:endParaRPr lang="en-US" altLang="zh-CN"/>
          </a:p>
          <a:p>
            <a:pPr lvl="1"/>
            <a:r>
              <a:rPr lang="en-US" altLang="zh-CN"/>
              <a:t>https://blog.miguelgrinberg.com/post/flask-video-streaming-revisited</a:t>
            </a:r>
            <a:endParaRPr lang="en-US" altLang="zh-CN"/>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Redis</a:t>
            </a:r>
            <a:endParaRPr lang="en-US" altLang="zh-CN"/>
          </a:p>
        </p:txBody>
      </p:sp>
      <p:sp>
        <p:nvSpPr>
          <p:cNvPr id="3" name="内容占位符 2"/>
          <p:cNvSpPr>
            <a:spLocks noGrp="1"/>
          </p:cNvSpPr>
          <p:nvPr>
            <p:ph idx="1"/>
          </p:nvPr>
        </p:nvSpPr>
        <p:spPr>
          <a:xfrm>
            <a:off x="838200" y="1211580"/>
            <a:ext cx="5161915" cy="4549140"/>
          </a:xfrm>
        </p:spPr>
        <p:txBody>
          <a:bodyPr/>
          <a:p>
            <a:pPr lvl="0"/>
            <a:r>
              <a:rPr lang="en-US" altLang="zh-CN" sz="1800">
                <a:sym typeface="+mn-ea"/>
              </a:rPr>
              <a:t>References</a:t>
            </a:r>
            <a:endParaRPr lang="en-US" altLang="zh-CN" sz="1800">
              <a:sym typeface="+mn-ea"/>
            </a:endParaRPr>
          </a:p>
          <a:p>
            <a:pPr lvl="1"/>
            <a:r>
              <a:rPr lang="en-US" altLang="zh-CN" sz="1600">
                <a:sym typeface="+mn-ea"/>
              </a:rPr>
              <a:t>https://redis.io/docs/ui/cli/</a:t>
            </a:r>
            <a:endParaRPr lang="en-US" altLang="zh-CN" sz="1600">
              <a:sym typeface="+mn-ea"/>
            </a:endParaRPr>
          </a:p>
          <a:p>
            <a:pPr lvl="0"/>
            <a:r>
              <a:rPr lang="en-US" altLang="zh-CN" sz="1800">
                <a:sym typeface="+mn-ea"/>
              </a:rPr>
              <a:t>Intro</a:t>
            </a:r>
            <a:endParaRPr lang="en-US" altLang="zh-CN" sz="1800">
              <a:sym typeface="+mn-ea"/>
            </a:endParaRPr>
          </a:p>
          <a:p>
            <a:pPr lvl="1"/>
            <a:r>
              <a:rPr lang="en-US" altLang="zh-CN" sz="1600">
                <a:sym typeface="+mn-ea"/>
              </a:rPr>
              <a:t>In-memory key-value pair DB</a:t>
            </a:r>
            <a:endParaRPr lang="en-US" altLang="zh-CN" sz="1600"/>
          </a:p>
          <a:p>
            <a:pPr lvl="1"/>
            <a:r>
              <a:rPr lang="en-US" altLang="zh-CN" sz="1600">
                <a:sym typeface="+mn-ea"/>
              </a:rPr>
              <a:t>Commonly used for caching, transient data storage, and as holding area for data during analysis</a:t>
            </a:r>
            <a:endParaRPr lang="en-US" altLang="zh-CN" sz="1600"/>
          </a:p>
          <a:p>
            <a:pPr lvl="0"/>
            <a:r>
              <a:rPr lang="en-US" altLang="zh-CN" sz="1800">
                <a:sym typeface="+mn-ea"/>
              </a:rPr>
              <a:t>Install</a:t>
            </a:r>
            <a:endParaRPr lang="en-US" altLang="zh-CN" sz="1800"/>
          </a:p>
          <a:p>
            <a:pPr lvl="1"/>
            <a:r>
              <a:rPr lang="en-US" altLang="zh-CN" sz="1800">
                <a:sym typeface="+mn-ea"/>
              </a:rPr>
              <a:t>sudo apt install redis-server</a:t>
            </a:r>
            <a:endParaRPr lang="en-US" altLang="zh-CN" sz="1800"/>
          </a:p>
          <a:p>
            <a:pPr lvl="1"/>
            <a:r>
              <a:rPr lang="en-US" altLang="zh-CN" sz="1800">
                <a:sym typeface="+mn-ea"/>
              </a:rPr>
              <a:t>nohup redis-server &amp;</a:t>
            </a:r>
            <a:endParaRPr lang="en-US" altLang="zh-CN" sz="1800"/>
          </a:p>
          <a:p>
            <a:r>
              <a:rPr lang="en-US" altLang="zh-CN" sz="1600"/>
              <a:t>Usage</a:t>
            </a:r>
            <a:endParaRPr lang="en-US" altLang="zh-CN" sz="1600"/>
          </a:p>
          <a:p>
            <a:pPr lvl="1"/>
            <a:r>
              <a:rPr lang="en-US" altLang="zh-CN" sz="1400"/>
              <a:t>import redis</a:t>
            </a:r>
            <a:endParaRPr lang="en-US" altLang="zh-CN" sz="1400"/>
          </a:p>
          <a:p>
            <a:pPr lvl="1"/>
            <a:r>
              <a:rPr lang="en-US" altLang="zh-CN" sz="1400"/>
              <a:t>r = redis.StrictRedis(ip, port, db=1)</a:t>
            </a:r>
            <a:endParaRPr lang="en-US" altLang="zh-CN" sz="1400"/>
          </a:p>
          <a:p>
            <a:pPr lvl="1"/>
            <a:r>
              <a:rPr lang="en-US" altLang="zh-CN" sz="1400"/>
              <a:t>r.hset(name, key, value)</a:t>
            </a:r>
            <a:endParaRPr lang="en-US" altLang="zh-CN" sz="1400"/>
          </a:p>
          <a:p>
            <a:pPr lvl="1"/>
            <a:r>
              <a:rPr lang="en-US" altLang="zh-CN" sz="1400"/>
              <a:t>r.hget(name, key)</a:t>
            </a:r>
            <a:endParaRPr lang="en-US" altLang="zh-CN" sz="1400"/>
          </a:p>
          <a:p>
            <a:pPr lvl="2"/>
            <a:endParaRPr lang="en-US" altLang="zh-CN" sz="1400"/>
          </a:p>
        </p:txBody>
      </p:sp>
      <p:sp>
        <p:nvSpPr>
          <p:cNvPr id="4" name="内容占位符 2"/>
          <p:cNvSpPr>
            <a:spLocks noGrp="1"/>
          </p:cNvSpPr>
          <p:nvPr/>
        </p:nvSpPr>
        <p:spPr>
          <a:xfrm>
            <a:off x="6385560" y="1211580"/>
            <a:ext cx="5217795" cy="4549140"/>
          </a:xfrm>
          <a:prstGeom prst="rect">
            <a:avLst/>
          </a:prstGeom>
        </p:spPr>
        <p:txBody>
          <a:bodyPr vert="horz" lIns="91440" tIns="45720" rIns="91440" bIns="45720" rtlCol="0"/>
          <a:lstStyle>
            <a:lvl1pPr marL="342900" indent="-342900" algn="l" defTabSz="914400" rtl="0" eaLnBrk="1" latinLnBrk="0" hangingPunct="1">
              <a:lnSpc>
                <a:spcPct val="90000"/>
              </a:lnSpc>
              <a:spcBef>
                <a:spcPts val="1000"/>
              </a:spcBef>
              <a:buFont typeface="黑体" panose="02010609060101010101" pitchFamily="49" charset="-122"/>
              <a:buChar char="〉"/>
              <a:defRPr sz="240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114550" indent="-28575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ltLang="zh-CN" sz="1800">
                <a:sym typeface="+mn-ea"/>
              </a:rPr>
              <a:t>Redis-cli</a:t>
            </a:r>
            <a:endParaRPr lang="en-US" altLang="zh-CN" sz="1800"/>
          </a:p>
          <a:p>
            <a:pPr lvl="1"/>
            <a:r>
              <a:rPr lang="en-US" altLang="zh-CN" sz="1800">
                <a:sym typeface="+mn-ea"/>
              </a:rPr>
              <a:t>redis-cli ping</a:t>
            </a:r>
            <a:endParaRPr lang="en-US" altLang="zh-CN" sz="1800"/>
          </a:p>
          <a:p>
            <a:pPr lvl="1"/>
            <a:r>
              <a:rPr lang="en-US" altLang="zh-CN" sz="1800">
                <a:sym typeface="+mn-ea"/>
              </a:rPr>
              <a:t>redis-cli -h localhost -p 6379 PING</a:t>
            </a:r>
            <a:endParaRPr lang="en-US" altLang="zh-CN" sz="1800">
              <a:sym typeface="+mn-ea"/>
            </a:endParaRPr>
          </a:p>
          <a:p>
            <a:pPr lvl="1"/>
            <a:r>
              <a:rPr lang="en-US" altLang="zh-CN" sz="1800">
                <a:sym typeface="+mn-ea"/>
              </a:rPr>
              <a:t>redis-cli --stat	// continuous stat</a:t>
            </a:r>
            <a:endParaRPr lang="en-US" altLang="zh-CN" sz="1800">
              <a:sym typeface="+mn-ea"/>
            </a:endParaRPr>
          </a:p>
          <a:p>
            <a:pPr lvl="1"/>
            <a:r>
              <a:rPr lang="en-US" altLang="zh-CN" sz="1800">
                <a:sym typeface="+mn-ea"/>
              </a:rPr>
              <a:t>redis-cli --bigkeys</a:t>
            </a:r>
            <a:endParaRPr lang="en-US" altLang="zh-CN" sz="1800">
              <a:sym typeface="+mn-ea"/>
            </a:endParaRPr>
          </a:p>
          <a:p>
            <a:pPr lvl="1"/>
            <a:r>
              <a:rPr lang="en-US" altLang="zh-CN" sz="1800">
                <a:sym typeface="+mn-ea"/>
              </a:rPr>
              <a:t>redis-cli --scan</a:t>
            </a:r>
            <a:endParaRPr lang="en-US" altLang="zh-CN" sz="1800">
              <a:sym typeface="+mn-ea"/>
            </a:endParaRPr>
          </a:p>
          <a:p>
            <a:pPr lvl="1"/>
            <a:r>
              <a:rPr lang="en-US" altLang="zh-CN" sz="1800">
                <a:sym typeface="+mn-ea"/>
              </a:rPr>
              <a:t>redis-cli monitor</a:t>
            </a:r>
            <a:endParaRPr lang="en-US" altLang="zh-CN" sz="1800">
              <a:sym typeface="+mn-ea"/>
            </a:endParaRPr>
          </a:p>
          <a:p>
            <a:pPr lvl="1"/>
            <a:r>
              <a:rPr lang="en-US" altLang="zh-CN" sz="1800">
                <a:sym typeface="+mn-ea"/>
              </a:rPr>
              <a:t>redis-cli --latency</a:t>
            </a:r>
            <a:endParaRPr lang="en-US" altLang="zh-CN" sz="1800">
              <a:sym typeface="+mn-ea"/>
            </a:endParaRPr>
          </a:p>
          <a:p>
            <a:pPr lvl="1"/>
            <a:r>
              <a:rPr lang="en-US" altLang="zh-CN" sz="1800"/>
              <a:t>redis-cli --rdb /tmp/dump.rdb  </a:t>
            </a:r>
            <a:r>
              <a:rPr lang="en-US" altLang="zh-CN" sz="1800">
                <a:sym typeface="+mn-ea"/>
              </a:rPr>
              <a:t>// dump</a:t>
            </a:r>
            <a:endParaRPr lang="en-US" altLang="zh-CN" sz="1800"/>
          </a:p>
          <a:p>
            <a:pPr lvl="1"/>
            <a:r>
              <a:rPr lang="en-US" altLang="zh-CN" sz="1800">
                <a:sym typeface="+mn-ea"/>
              </a:rPr>
              <a:t>redis-cli</a:t>
            </a:r>
            <a:endParaRPr lang="en-US" altLang="zh-CN" sz="1800"/>
          </a:p>
          <a:p>
            <a:pPr lvl="2"/>
            <a:r>
              <a:rPr lang="en-US" altLang="zh-CN">
                <a:sym typeface="+mn-ea"/>
              </a:rPr>
              <a:t>ping</a:t>
            </a:r>
            <a:endParaRPr lang="en-US" altLang="zh-CN">
              <a:sym typeface="+mn-ea"/>
            </a:endParaRPr>
          </a:p>
          <a:p>
            <a:pPr lvl="2"/>
            <a:r>
              <a:rPr lang="en-US" altLang="zh-CN">
                <a:sym typeface="+mn-ea"/>
              </a:rPr>
              <a:t>info server</a:t>
            </a:r>
            <a:endParaRPr lang="en-US" altLang="zh-CN">
              <a:sym typeface="+mn-ea"/>
            </a:endParaRP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Blueprint</a:t>
            </a:r>
            <a:endParaRPr lang="en-US" altLang="zh-CN"/>
          </a:p>
        </p:txBody>
      </p:sp>
      <p:sp>
        <p:nvSpPr>
          <p:cNvPr id="3" name="内容占位符 2"/>
          <p:cNvSpPr>
            <a:spLocks noGrp="1"/>
          </p:cNvSpPr>
          <p:nvPr>
            <p:ph idx="1"/>
          </p:nvPr>
        </p:nvSpPr>
        <p:spPr/>
        <p:txBody>
          <a:bodyPr/>
          <a:p>
            <a:r>
              <a:rPr lang="en-US" altLang="zh-CN"/>
              <a:t>Aim</a:t>
            </a:r>
            <a:endParaRPr lang="en-US" altLang="zh-CN"/>
          </a:p>
          <a:p>
            <a:pPr lvl="1"/>
            <a:r>
              <a:rPr lang="en-US" altLang="zh-CN"/>
              <a:t>Support modules</a:t>
            </a:r>
            <a:endParaRPr lang="en-US" altLang="zh-CN"/>
          </a:p>
          <a:p>
            <a:pPr lvl="0"/>
            <a:r>
              <a:rPr lang="en-US" altLang="zh-CN"/>
              <a:t>How to use</a:t>
            </a:r>
            <a:endParaRPr lang="en-US" altLang="zh-CN"/>
          </a:p>
          <a:p>
            <a:pPr lvl="1"/>
            <a:r>
              <a:rPr lang="en-US" altLang="zh-CN"/>
              <a:t>Declare blueprint in module</a:t>
            </a:r>
            <a:endParaRPr lang="en-US" altLang="zh-CN"/>
          </a:p>
          <a:p>
            <a:pPr lvl="2"/>
            <a:r>
              <a:rPr lang="en-US" altLang="zh-CN"/>
              <a:t>from flask import Blueprint</a:t>
            </a:r>
            <a:endParaRPr lang="en-US" altLang="zh-CN"/>
          </a:p>
          <a:p>
            <a:pPr lvl="2"/>
            <a:r>
              <a:rPr lang="en-US" altLang="zh-CN"/>
              <a:t>module = Blueprint('module', __name__)</a:t>
            </a:r>
            <a:endParaRPr lang="en-US" altLang="zh-CN"/>
          </a:p>
          <a:p>
            <a:pPr lvl="2"/>
            <a:r>
              <a:rPr lang="en-US" altLang="zh-CN"/>
              <a:t>@module.route('...')</a:t>
            </a:r>
            <a:endParaRPr lang="en-US" altLang="zh-CN"/>
          </a:p>
          <a:p>
            <a:pPr lvl="1"/>
            <a:r>
              <a:rPr lang="en-US" altLang="zh-CN"/>
              <a:t>Register blueprint</a:t>
            </a:r>
            <a:endParaRPr lang="en-US" altLang="zh-CN"/>
          </a:p>
          <a:p>
            <a:pPr lvl="2"/>
            <a:r>
              <a:rPr lang="en-US" altLang="zh-CN"/>
              <a:t>from module import module</a:t>
            </a:r>
            <a:endParaRPr lang="en-US" altLang="zh-CN"/>
          </a:p>
          <a:p>
            <a:pPr lvl="2"/>
            <a:r>
              <a:rPr lang="en-US" altLang="zh-CN"/>
              <a:t>app.register_blueprint(module)</a:t>
            </a:r>
            <a:endParaRPr lang="en-US" altLang="zh-CN"/>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Cli</a:t>
            </a:r>
            <a:endParaRPr lang="en-US" altLang="zh-CN"/>
          </a:p>
        </p:txBody>
      </p:sp>
      <p:sp>
        <p:nvSpPr>
          <p:cNvPr id="3" name="内容占位符 2"/>
          <p:cNvSpPr>
            <a:spLocks noGrp="1"/>
          </p:cNvSpPr>
          <p:nvPr>
            <p:ph idx="1"/>
          </p:nvPr>
        </p:nvSpPr>
        <p:spPr/>
        <p:txBody>
          <a:bodyPr/>
          <a:p>
            <a:r>
              <a:rPr lang="en-US" altLang="zh-CN"/>
              <a:t>References</a:t>
            </a:r>
            <a:endParaRPr lang="en-US" altLang="zh-CN"/>
          </a:p>
          <a:p>
            <a:pPr lvl="1"/>
            <a:r>
              <a:rPr lang="en-US" altLang="zh-CN"/>
              <a:t>https://flask.palletsprojects.com/en/2.0.x/cli</a:t>
            </a:r>
            <a:endParaRPr lang="en-US" altLang="zh-CN"/>
          </a:p>
          <a:p>
            <a:pPr lvl="0"/>
            <a:r>
              <a:rPr lang="en-US" altLang="zh-CN"/>
              <a:t>Steps</a:t>
            </a:r>
            <a:endParaRPr lang="en-US" altLang="zh-CN"/>
          </a:p>
          <a:p>
            <a:pPr lvl="1"/>
            <a:endParaRPr lang="en-US" altLang="zh-CN"/>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Cache</a:t>
            </a:r>
            <a:endParaRPr lang="en-US" altLang="zh-CN"/>
          </a:p>
        </p:txBody>
      </p:sp>
      <p:sp>
        <p:nvSpPr>
          <p:cNvPr id="3" name="内容占位符 2"/>
          <p:cNvSpPr>
            <a:spLocks noGrp="1"/>
          </p:cNvSpPr>
          <p:nvPr>
            <p:ph idx="1"/>
          </p:nvPr>
        </p:nvSpPr>
        <p:spPr>
          <a:xfrm>
            <a:off x="838200" y="1211580"/>
            <a:ext cx="5565140" cy="4549140"/>
          </a:xfrm>
        </p:spPr>
        <p:txBody>
          <a:bodyPr>
            <a:noAutofit/>
          </a:bodyPr>
          <a:p>
            <a:r>
              <a:rPr lang="en-US" altLang="zh-CN" sz="1600"/>
              <a:t>References</a:t>
            </a:r>
            <a:endParaRPr lang="en-US" altLang="zh-CN" sz="1600"/>
          </a:p>
          <a:p>
            <a:pPr lvl="1"/>
            <a:r>
              <a:rPr lang="en-US" altLang="zh-CN" sz="1400"/>
              <a:t>https://flask-caching.readthedocs.io/en/latest/</a:t>
            </a:r>
            <a:endParaRPr lang="en-US" altLang="zh-CN" sz="1400"/>
          </a:p>
          <a:p>
            <a:pPr lvl="1"/>
            <a:r>
              <a:rPr lang="en-US" altLang="zh-CN" sz="1400"/>
              <a:t>https://www.educba.com/flask-cache/</a:t>
            </a:r>
            <a:endParaRPr lang="en-US" altLang="zh-CN" sz="1400"/>
          </a:p>
          <a:p>
            <a:pPr lvl="0"/>
            <a:r>
              <a:rPr lang="en-US" altLang="zh-CN" sz="1600"/>
              <a:t>Usage</a:t>
            </a:r>
            <a:endParaRPr lang="en-US" altLang="zh-CN" sz="1600"/>
          </a:p>
          <a:p>
            <a:pPr lvl="1"/>
            <a:r>
              <a:rPr lang="en-US" altLang="zh-CN" sz="1400"/>
              <a:t>pip install Flask-Caching</a:t>
            </a:r>
            <a:endParaRPr lang="en-US" altLang="zh-CN" sz="1400"/>
          </a:p>
          <a:p>
            <a:pPr lvl="1"/>
            <a:r>
              <a:rPr lang="en-US" altLang="zh-CN" sz="1400"/>
              <a:t>Init</a:t>
            </a:r>
            <a:endParaRPr lang="en-US" altLang="zh-CN" sz="1400"/>
          </a:p>
          <a:p>
            <a:pPr lvl="2"/>
            <a:r>
              <a:rPr lang="en-US" altLang="zh-CN" sz="1200"/>
              <a:t>from flask_caching import Cache</a:t>
            </a:r>
            <a:endParaRPr lang="en-US" altLang="zh-CN" sz="1200"/>
          </a:p>
          <a:p>
            <a:pPr lvl="2"/>
            <a:r>
              <a:rPr lang="en-US" altLang="zh-CN" sz="1200"/>
              <a:t>cache = Cache(config={'CACHE_TYPE': 'SimpleCache'})</a:t>
            </a:r>
            <a:endParaRPr lang="en-US" altLang="zh-CN" sz="1200"/>
          </a:p>
          <a:p>
            <a:pPr lvl="2"/>
            <a:r>
              <a:rPr lang="en-US" altLang="zh-CN" sz="1200"/>
              <a:t>app = Flask(__name__)</a:t>
            </a:r>
            <a:endParaRPr lang="en-US" altLang="zh-CN" sz="1200"/>
          </a:p>
          <a:p>
            <a:pPr lvl="2"/>
            <a:r>
              <a:rPr lang="en-US" altLang="zh-CN" sz="1200"/>
              <a:t>cache.init_app(app)</a:t>
            </a:r>
            <a:endParaRPr lang="en-US" altLang="zh-CN" sz="1200"/>
          </a:p>
          <a:p>
            <a:pPr lvl="1"/>
            <a:r>
              <a:rPr lang="en-US" altLang="zh-CN" sz="1400"/>
              <a:t>Cached()</a:t>
            </a:r>
            <a:endParaRPr lang="en-US" altLang="zh-CN" sz="1400"/>
          </a:p>
          <a:p>
            <a:pPr lvl="2"/>
            <a:r>
              <a:rPr lang="en-US" altLang="zh-CN" sz="1200"/>
              <a:t>@app.route("/")</a:t>
            </a:r>
            <a:endParaRPr lang="en-US" altLang="zh-CN" sz="1200"/>
          </a:p>
          <a:p>
            <a:pPr lvl="2"/>
            <a:r>
              <a:rPr lang="en-US" altLang="zh-CN" sz="1200"/>
              <a:t>@cache.cached(timeout=50)	// 50 seconds</a:t>
            </a:r>
            <a:endParaRPr lang="en-US" altLang="zh-CN" sz="1200"/>
          </a:p>
          <a:p>
            <a:pPr lvl="2"/>
            <a:r>
              <a:rPr lang="en-US" altLang="zh-CN" sz="1200"/>
              <a:t>def index():</a:t>
            </a:r>
            <a:endParaRPr lang="en-US" altLang="zh-CN" sz="1200"/>
          </a:p>
          <a:p>
            <a:pPr lvl="2"/>
            <a:r>
              <a:rPr lang="en-US" altLang="zh-CN" sz="1200"/>
              <a:t>    return render_template('index.html')</a:t>
            </a:r>
            <a:endParaRPr lang="en-US" altLang="zh-CN" sz="1200"/>
          </a:p>
          <a:p>
            <a:pPr lvl="2"/>
            <a:r>
              <a:rPr lang="en-US" altLang="zh-CN" sz="1200"/>
              <a:t> use request.path by default for the cache_key</a:t>
            </a:r>
            <a:endParaRPr lang="en-US" altLang="zh-CN" sz="1200"/>
          </a:p>
          <a:p>
            <a:pPr lvl="1"/>
            <a:r>
              <a:rPr lang="en-US" altLang="zh-CN" sz="1555"/>
              <a:t>Memoize()</a:t>
            </a:r>
            <a:endParaRPr lang="en-US" altLang="zh-CN" sz="1555"/>
          </a:p>
          <a:p>
            <a:pPr lvl="2"/>
            <a:r>
              <a:rPr lang="en-US" altLang="zh-CN" sz="1200"/>
              <a:t>class Person(db.Model):</a:t>
            </a:r>
            <a:endParaRPr lang="en-US" altLang="zh-CN" sz="1200"/>
          </a:p>
          <a:p>
            <a:pPr lvl="2"/>
            <a:r>
              <a:rPr lang="en-US" altLang="zh-CN" sz="1200"/>
              <a:t>    @cache.memoize(50)</a:t>
            </a:r>
            <a:endParaRPr lang="en-US" altLang="zh-CN" sz="1200"/>
          </a:p>
          <a:p>
            <a:pPr lvl="2"/>
            <a:r>
              <a:rPr lang="en-US" altLang="zh-CN" sz="1200"/>
              <a:t>    def has_membership(self, role_id):</a:t>
            </a:r>
            <a:endParaRPr lang="en-US" altLang="zh-CN" sz="1200"/>
          </a:p>
        </p:txBody>
      </p:sp>
      <p:sp>
        <p:nvSpPr>
          <p:cNvPr id="4" name="内容占位符 2"/>
          <p:cNvSpPr>
            <a:spLocks noGrp="1"/>
          </p:cNvSpPr>
          <p:nvPr/>
        </p:nvSpPr>
        <p:spPr>
          <a:xfrm>
            <a:off x="6396355" y="1211580"/>
            <a:ext cx="5565140" cy="4549140"/>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Font typeface="黑体" panose="02010609060101010101" pitchFamily="49" charset="-122"/>
              <a:buChar char="〉"/>
              <a:defRPr sz="240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114550" indent="-28575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altLang="zh-CN" sz="1400"/>
              <a:t>Cache data</a:t>
            </a:r>
            <a:endParaRPr lang="en-US" altLang="zh-CN" sz="1400"/>
          </a:p>
          <a:p>
            <a:pPr lvl="2"/>
            <a:r>
              <a:rPr lang="en-US" altLang="zh-CN" sz="1400"/>
              <a:t>cache.set("foo", foo)</a:t>
            </a:r>
            <a:endParaRPr lang="en-US" altLang="zh-CN" sz="1400"/>
          </a:p>
          <a:p>
            <a:pPr lvl="2"/>
            <a:r>
              <a:rPr lang="en-US" altLang="zh-CN" sz="1400"/>
              <a:t>bar = cache.get("foo")</a:t>
            </a:r>
            <a:endParaRPr lang="en-US" altLang="zh-CN" sz="1400"/>
          </a:p>
          <a:p>
            <a:pPr lvl="1"/>
            <a:r>
              <a:rPr lang="en-US" altLang="zh-CN" sz="1400"/>
              <a:t>Delete</a:t>
            </a:r>
            <a:endParaRPr lang="en-US" altLang="zh-CN" sz="1400"/>
          </a:p>
          <a:p>
            <a:pPr lvl="2"/>
            <a:r>
              <a:rPr lang="en-US" altLang="zh-CN" sz="1200"/>
              <a:t>cache.delete_memoized(user_has_membership)</a:t>
            </a:r>
            <a:endParaRPr lang="en-US" altLang="zh-CN" sz="1200"/>
          </a:p>
          <a:p>
            <a:pPr lvl="1"/>
            <a:r>
              <a:rPr lang="en-US" altLang="zh-CN" sz="1200"/>
              <a:t>Clear</a:t>
            </a:r>
            <a:endParaRPr lang="en-US" altLang="zh-CN" sz="1200"/>
          </a:p>
          <a:p>
            <a:pPr lvl="2"/>
            <a:r>
              <a:rPr lang="en-US" altLang="zh-CN" sz="1200"/>
              <a:t>with app.app_context():</a:t>
            </a:r>
            <a:endParaRPr lang="en-US" altLang="zh-CN" sz="1200"/>
          </a:p>
          <a:p>
            <a:pPr lvl="2"/>
            <a:r>
              <a:rPr lang="en-US" altLang="zh-CN" sz="1200"/>
              <a:t>        cache.clear()</a:t>
            </a:r>
            <a:endParaRPr lang="en-US" altLang="zh-CN" sz="1200"/>
          </a:p>
          <a:p>
            <a:pPr lvl="1"/>
            <a:r>
              <a:rPr lang="en-US" altLang="zh-CN" sz="1400"/>
              <a:t>Cache type</a:t>
            </a:r>
            <a:endParaRPr lang="en-US" altLang="zh-CN" sz="1400"/>
          </a:p>
          <a:p>
            <a:pPr lvl="2"/>
            <a:r>
              <a:rPr lang="en-US" altLang="zh-CN" sz="1200"/>
              <a:t>NullCache</a:t>
            </a:r>
            <a:endParaRPr lang="en-US" altLang="zh-CN" sz="1200"/>
          </a:p>
          <a:p>
            <a:pPr lvl="2"/>
            <a:r>
              <a:rPr lang="en-US" altLang="zh-CN" sz="1200"/>
              <a:t>SimpleCache</a:t>
            </a:r>
            <a:endParaRPr lang="en-US" altLang="zh-CN" sz="1200"/>
          </a:p>
          <a:p>
            <a:pPr lvl="3"/>
            <a:r>
              <a:rPr lang="en-US" altLang="zh-CN" sz="1200"/>
              <a:t>not really thread safe</a:t>
            </a:r>
            <a:endParaRPr lang="en-US" altLang="zh-CN" sz="1200"/>
          </a:p>
          <a:p>
            <a:pPr lvl="2"/>
            <a:r>
              <a:rPr lang="en-US" altLang="zh-CN" sz="1200"/>
              <a:t>FileSystemCache</a:t>
            </a:r>
            <a:endParaRPr lang="en-US" altLang="zh-CN" sz="1200"/>
          </a:p>
          <a:p>
            <a:pPr lvl="2"/>
            <a:r>
              <a:rPr lang="en-US" altLang="zh-CN" sz="1200"/>
              <a:t>RedisCache</a:t>
            </a:r>
            <a:endParaRPr lang="en-US" altLang="zh-CN" sz="1200"/>
          </a:p>
          <a:p>
            <a:pPr lvl="3"/>
            <a:r>
              <a:rPr lang="en-US" altLang="zh-CN" sz="1200"/>
              <a:t>CACHE_REDIS_HOST</a:t>
            </a:r>
            <a:endParaRPr lang="en-US" altLang="zh-CN" sz="1200"/>
          </a:p>
          <a:p>
            <a:pPr lvl="3"/>
            <a:r>
              <a:rPr lang="en-US" altLang="zh-CN" sz="1200"/>
              <a:t>CACHE_REDIS_PORT</a:t>
            </a:r>
            <a:endParaRPr lang="en-US" altLang="zh-CN" sz="1200"/>
          </a:p>
          <a:p>
            <a:pPr lvl="0"/>
            <a:r>
              <a:rPr lang="en-US" altLang="zh-CN" sz="1800"/>
              <a:t>Advantages</a:t>
            </a:r>
            <a:endParaRPr lang="en-US" altLang="zh-CN" sz="1800"/>
          </a:p>
          <a:p>
            <a:pPr lvl="1"/>
            <a:r>
              <a:rPr lang="en-US" altLang="zh-CN" sz="1400"/>
              <a:t>Caching helps in speeding up the process of loading in web development so that the response time in a web application can be reduced.</a:t>
            </a:r>
            <a:endParaRPr lang="en-US" altLang="zh-CN" sz="1400"/>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Authentication - Concepts</a:t>
            </a:r>
            <a:endParaRPr lang="en-US" altLang="zh-CN"/>
          </a:p>
        </p:txBody>
      </p:sp>
      <p:sp>
        <p:nvSpPr>
          <p:cNvPr id="3" name="内容占位符 2"/>
          <p:cNvSpPr>
            <a:spLocks noGrp="1"/>
          </p:cNvSpPr>
          <p:nvPr>
            <p:ph idx="1"/>
          </p:nvPr>
        </p:nvSpPr>
        <p:spPr>
          <a:xfrm>
            <a:off x="838200" y="1211580"/>
            <a:ext cx="3547110" cy="4749800"/>
          </a:xfrm>
        </p:spPr>
        <p:txBody>
          <a:bodyPr>
            <a:normAutofit fontScale="90000" lnSpcReduction="10000"/>
          </a:bodyPr>
          <a:p>
            <a:r>
              <a:rPr lang="en-US" altLang="zh-CN" sz="1400"/>
              <a:t>Session-based authentication with httpOnly cookies</a:t>
            </a:r>
            <a:endParaRPr lang="en-US" altLang="zh-CN" sz="1400"/>
          </a:p>
          <a:p>
            <a:pPr lvl="1"/>
            <a:r>
              <a:rPr lang="en-US" altLang="zh-CN" sz="1200"/>
              <a:t>more secure than storing JWT in localStorage, as it protects against XSS attacks</a:t>
            </a:r>
            <a:endParaRPr lang="en-US" altLang="zh-CN" sz="1200"/>
          </a:p>
          <a:p>
            <a:pPr lvl="1"/>
            <a:r>
              <a:rPr lang="en-US" altLang="zh-CN" sz="1200"/>
              <a:t>httpOnly: Cookie not accessible via document.cookie (blocks XSS)</a:t>
            </a:r>
            <a:endParaRPr lang="en-US" altLang="zh-CN" sz="1200"/>
          </a:p>
          <a:p>
            <a:pPr lvl="1"/>
            <a:r>
              <a:rPr lang="en-US" altLang="zh-CN" sz="1200"/>
              <a:t>server creates and manages a unique session for each user who logs into a website or application. This session is identified by a unique session ID.</a:t>
            </a:r>
            <a:endParaRPr lang="en-US" altLang="zh-CN" sz="1200"/>
          </a:p>
          <a:p>
            <a:pPr lvl="1"/>
            <a:r>
              <a:rPr lang="en-US" altLang="zh-CN" sz="1200"/>
              <a:t>When you log in, the server assigns you a session ID, often stored as a cookie on your device. This session ID allows the server to recognize you.</a:t>
            </a:r>
            <a:endParaRPr lang="en-US" altLang="zh-CN" sz="1200"/>
          </a:p>
          <a:p>
            <a:pPr lvl="0"/>
            <a:r>
              <a:rPr lang="en-US" altLang="zh-CN" sz="1400"/>
              <a:t>JWT (JSON Web Token)</a:t>
            </a:r>
            <a:endParaRPr lang="en-US" altLang="zh-CN" sz="1400"/>
          </a:p>
          <a:p>
            <a:pPr lvl="1"/>
            <a:r>
              <a:rPr lang="en-US" altLang="zh-CN" sz="1165"/>
              <a:t>made up of three parts: a header that says what kind of token it is and how it's signed, a payload that contains the actual data, and a signature that verifies the token hasn't been changed along the way.</a:t>
            </a:r>
            <a:endParaRPr lang="en-US" altLang="zh-CN" sz="1165"/>
          </a:p>
          <a:p>
            <a:pPr lvl="1"/>
            <a:r>
              <a:rPr lang="en-US" altLang="zh-CN" sz="1165"/>
              <a:t>Once a user logs in, they get a JWT that proves who they are.</a:t>
            </a:r>
            <a:endParaRPr lang="en-US" altLang="zh-CN" sz="1165"/>
          </a:p>
          <a:p>
            <a:pPr lvl="1"/>
            <a:r>
              <a:rPr lang="en-US" altLang="zh-CN" sz="1165"/>
              <a:t>Each JWT carries all the necessary information within itself.</a:t>
            </a:r>
            <a:endParaRPr lang="en-US" altLang="zh-CN" sz="1165"/>
          </a:p>
          <a:p>
            <a:pPr lvl="0"/>
            <a:r>
              <a:rPr lang="en-US" altLang="zh-CN" sz="1395"/>
              <a:t>Flask default session</a:t>
            </a:r>
            <a:endParaRPr lang="en-US" altLang="zh-CN" sz="1395"/>
          </a:p>
          <a:p>
            <a:pPr lvl="1"/>
            <a:r>
              <a:rPr lang="en-US" altLang="zh-CN" sz="1160"/>
              <a:t>Data </a:t>
            </a:r>
            <a:r>
              <a:rPr lang="en-US" altLang="en-US" sz="1160"/>
              <a:t>→</a:t>
            </a:r>
            <a:r>
              <a:rPr lang="en-US" altLang="zh-CN" sz="1160"/>
              <a:t> serialized </a:t>
            </a:r>
            <a:r>
              <a:rPr lang="en-US" altLang="en-US" sz="1160"/>
              <a:t>→</a:t>
            </a:r>
            <a:r>
              <a:rPr lang="en-US" altLang="zh-CN" sz="1160"/>
              <a:t> signed </a:t>
            </a:r>
            <a:r>
              <a:rPr lang="en-US" altLang="en-US" sz="1160"/>
              <a:t>→</a:t>
            </a:r>
            <a:r>
              <a:rPr lang="en-US" altLang="zh-CN" sz="1160"/>
              <a:t> sent as “session=ey...” cookie</a:t>
            </a:r>
            <a:endParaRPr lang="en-US" altLang="zh-CN" sz="1160"/>
          </a:p>
        </p:txBody>
      </p:sp>
      <p:pic>
        <p:nvPicPr>
          <p:cNvPr id="4" name="图片 3"/>
          <p:cNvPicPr/>
          <p:nvPr/>
        </p:nvPicPr>
        <p:blipFill>
          <a:blip r:embed="rId1"/>
          <a:stretch>
            <a:fillRect/>
          </a:stretch>
        </p:blipFill>
        <p:spPr>
          <a:xfrm>
            <a:off x="4996180" y="914400"/>
            <a:ext cx="6941820" cy="3266440"/>
          </a:xfrm>
          <a:prstGeom prst="rect">
            <a:avLst/>
          </a:prstGeom>
        </p:spPr>
      </p:pic>
      <p:pic>
        <p:nvPicPr>
          <p:cNvPr id="5" name="图片 4"/>
          <p:cNvPicPr/>
          <p:nvPr/>
        </p:nvPicPr>
        <p:blipFill>
          <a:blip r:embed="rId2"/>
          <a:stretch>
            <a:fillRect/>
          </a:stretch>
        </p:blipFill>
        <p:spPr>
          <a:xfrm>
            <a:off x="5744845" y="3999865"/>
            <a:ext cx="5037455" cy="2790825"/>
          </a:xfrm>
          <a:prstGeom prst="rect">
            <a:avLst/>
          </a:prstGeom>
        </p:spPr>
      </p:pic>
    </p:spTree>
    <p:custDataLst>
      <p:tags r:id="rId3"/>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Authentication - Werkzeug</a:t>
            </a:r>
            <a:endParaRPr lang="en-US" altLang="zh-CN"/>
          </a:p>
        </p:txBody>
      </p:sp>
      <p:sp>
        <p:nvSpPr>
          <p:cNvPr id="3" name="内容占位符 2"/>
          <p:cNvSpPr>
            <a:spLocks noGrp="1"/>
          </p:cNvSpPr>
          <p:nvPr>
            <p:ph idx="1"/>
          </p:nvPr>
        </p:nvSpPr>
        <p:spPr>
          <a:xfrm>
            <a:off x="838200" y="1211580"/>
            <a:ext cx="5257800" cy="5286375"/>
          </a:xfrm>
        </p:spPr>
        <p:txBody>
          <a:bodyPr>
            <a:normAutofit/>
          </a:bodyPr>
          <a:p>
            <a:r>
              <a:rPr lang="en-US" altLang="zh-CN" sz="1800">
                <a:sym typeface="+mn-ea"/>
              </a:rPr>
              <a:t>Werkzeug</a:t>
            </a:r>
            <a:endParaRPr lang="en-US" altLang="zh-CN" sz="1800">
              <a:sym typeface="+mn-ea"/>
            </a:endParaRPr>
          </a:p>
          <a:p>
            <a:pPr lvl="1"/>
            <a:r>
              <a:rPr lang="en-US" altLang="zh-CN" sz="1500"/>
              <a:t>Intro</a:t>
            </a:r>
            <a:endParaRPr lang="en-US" altLang="zh-CN" sz="1500"/>
          </a:p>
          <a:p>
            <a:pPr lvl="2"/>
            <a:r>
              <a:rPr lang="en-US" altLang="zh-CN" sz="1440"/>
              <a:t>a comprehensive WSGI (Web Server Gateway Interface) utility library for Python</a:t>
            </a:r>
            <a:endParaRPr lang="en-US" altLang="zh-CN" sz="1440"/>
          </a:p>
          <a:p>
            <a:pPr lvl="2"/>
            <a:r>
              <a:rPr lang="en-US" altLang="zh-CN" sz="1440"/>
              <a:t>https://werkzeug.palletsprojects.com/en/stable/installation/</a:t>
            </a:r>
            <a:endParaRPr lang="en-US" altLang="zh-CN" sz="1440"/>
          </a:p>
          <a:p>
            <a:pPr lvl="1"/>
            <a:r>
              <a:rPr lang="en-US" altLang="zh-CN" sz="1500"/>
              <a:t>Features</a:t>
            </a:r>
            <a:endParaRPr lang="en-US" altLang="zh-CN" sz="1500"/>
          </a:p>
          <a:p>
            <a:pPr lvl="2"/>
            <a:r>
              <a:rPr lang="en-US" altLang="zh-CN" sz="1440"/>
              <a:t>Request and Response Objects</a:t>
            </a:r>
            <a:endParaRPr lang="en-US" altLang="zh-CN" sz="1440"/>
          </a:p>
          <a:p>
            <a:pPr lvl="2"/>
            <a:r>
              <a:rPr lang="en-US" altLang="zh-CN" sz="1440"/>
              <a:t>Routing System</a:t>
            </a:r>
            <a:endParaRPr lang="en-US" altLang="zh-CN" sz="1440"/>
          </a:p>
          <a:p>
            <a:pPr lvl="2"/>
            <a:r>
              <a:rPr lang="en-US" altLang="zh-CN" sz="1440"/>
              <a:t>Interactive Debugger</a:t>
            </a:r>
            <a:endParaRPr lang="en-US" altLang="zh-CN" sz="1440"/>
          </a:p>
          <a:p>
            <a:pPr lvl="2"/>
            <a:r>
              <a:rPr lang="en-US" altLang="zh-CN" sz="1440"/>
              <a:t>HTTP Utilities</a:t>
            </a:r>
            <a:endParaRPr lang="en-US" altLang="zh-CN" sz="1440"/>
          </a:p>
          <a:p>
            <a:pPr lvl="2"/>
            <a:r>
              <a:rPr lang="en-US" altLang="zh-CN" sz="1440"/>
              <a:t>Development Server</a:t>
            </a:r>
            <a:endParaRPr lang="en-US" altLang="zh-CN" sz="1440"/>
          </a:p>
          <a:p>
            <a:pPr lvl="2"/>
            <a:r>
              <a:rPr lang="en-US" altLang="zh-CN" sz="1440"/>
              <a:t>Testing Tools</a:t>
            </a:r>
            <a:endParaRPr lang="en-US" altLang="zh-CN" sz="1440"/>
          </a:p>
          <a:p>
            <a:pPr lvl="1"/>
            <a:r>
              <a:rPr lang="en-US" altLang="zh-CN" sz="1500"/>
              <a:t>Usage</a:t>
            </a:r>
            <a:endParaRPr lang="en-US" altLang="zh-CN" sz="1500"/>
          </a:p>
          <a:p>
            <a:pPr lvl="2"/>
            <a:r>
              <a:rPr lang="en-US" altLang="zh-CN" sz="1620"/>
              <a:t>pip install Werkzeug</a:t>
            </a:r>
            <a:endParaRPr lang="en-US" altLang="zh-CN" sz="1620"/>
          </a:p>
          <a:p>
            <a:pPr lvl="1"/>
            <a:r>
              <a:rPr lang="en-US" altLang="zh-CN" sz="1500"/>
              <a:t>Functions</a:t>
            </a:r>
            <a:endParaRPr lang="en-US" altLang="zh-CN" sz="1500"/>
          </a:p>
          <a:p>
            <a:pPr lvl="2"/>
            <a:r>
              <a:rPr lang="en-US" altLang="zh-CN" sz="1350"/>
              <a:t>hash = generate_password_hash(password)</a:t>
            </a:r>
            <a:endParaRPr lang="en-US" altLang="zh-CN" sz="1350"/>
          </a:p>
          <a:p>
            <a:pPr lvl="2"/>
            <a:r>
              <a:rPr lang="en-US" altLang="zh-CN" sz="1350"/>
              <a:t>check_password_hash(hash, password)</a:t>
            </a:r>
            <a:endParaRPr lang="en-US" altLang="zh-CN" sz="1350"/>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Authentication - Flask-JWT-Extended</a:t>
            </a:r>
            <a:endParaRPr lang="en-US" altLang="zh-CN"/>
          </a:p>
        </p:txBody>
      </p:sp>
      <p:sp>
        <p:nvSpPr>
          <p:cNvPr id="3" name="内容占位符 2"/>
          <p:cNvSpPr>
            <a:spLocks noGrp="1"/>
          </p:cNvSpPr>
          <p:nvPr>
            <p:ph idx="1"/>
          </p:nvPr>
        </p:nvSpPr>
        <p:spPr>
          <a:xfrm>
            <a:off x="838200" y="1211580"/>
            <a:ext cx="5257800" cy="5286375"/>
          </a:xfrm>
        </p:spPr>
        <p:txBody>
          <a:bodyPr>
            <a:noAutofit/>
          </a:bodyPr>
          <a:p>
            <a:pPr lvl="0"/>
            <a:r>
              <a:rPr lang="en-US" altLang="zh-CN" sz="1000">
                <a:sym typeface="+mn-ea"/>
              </a:rPr>
              <a:t>Intro</a:t>
            </a:r>
            <a:endParaRPr lang="en-US" altLang="zh-CN" sz="1000">
              <a:sym typeface="+mn-ea"/>
            </a:endParaRPr>
          </a:p>
          <a:p>
            <a:pPr lvl="1"/>
            <a:r>
              <a:rPr lang="en-US" altLang="zh-CN" sz="900">
                <a:sym typeface="+mn-ea"/>
              </a:rPr>
              <a:t>not only adds support for using JSON Web Tokens (JWT) to Flask for protecting routes, but also many helpful (and optional) features built in to make working with JSON Web Tokens easier.</a:t>
            </a:r>
            <a:endParaRPr lang="en-US" altLang="zh-CN" sz="900"/>
          </a:p>
          <a:p>
            <a:pPr lvl="0"/>
            <a:r>
              <a:rPr lang="en-US" altLang="zh-CN" sz="1000">
                <a:sym typeface="+mn-ea"/>
              </a:rPr>
              <a:t>https://flask-jwt-extended.readthedocs.io/en/stable/</a:t>
            </a:r>
            <a:endParaRPr lang="en-US" altLang="zh-CN" sz="1000"/>
          </a:p>
          <a:p>
            <a:pPr lvl="0"/>
            <a:r>
              <a:rPr lang="en-US" altLang="zh-CN" sz="1000">
                <a:sym typeface="+mn-ea"/>
              </a:rPr>
              <a:t>pip install flask-jwt-extended</a:t>
            </a:r>
            <a:endParaRPr lang="en-US" altLang="zh-CN" sz="1000"/>
          </a:p>
          <a:p>
            <a:pPr lvl="0"/>
            <a:r>
              <a:rPr lang="en-US" altLang="zh-CN" sz="1000">
                <a:sym typeface="+mn-ea"/>
              </a:rPr>
              <a:t>reads JWT from the Authorization: Bearer &lt;token&gt; header by default</a:t>
            </a:r>
            <a:endParaRPr lang="en-US" altLang="zh-CN" sz="1000">
              <a:sym typeface="+mn-ea"/>
            </a:endParaRPr>
          </a:p>
          <a:p>
            <a:pPr lvl="0"/>
            <a:r>
              <a:rPr lang="en-US" altLang="zh-CN" sz="1000">
                <a:sym typeface="+mn-ea"/>
              </a:rPr>
              <a:t>Features</a:t>
            </a:r>
            <a:endParaRPr lang="en-US" altLang="zh-CN" sz="1000"/>
          </a:p>
          <a:p>
            <a:pPr lvl="1"/>
            <a:r>
              <a:rPr lang="en-US" altLang="zh-CN" sz="1000">
                <a:sym typeface="+mn-ea"/>
              </a:rPr>
              <a:t>Adding custom claims to JSON Web Tokens</a:t>
            </a:r>
            <a:endParaRPr lang="en-US" altLang="zh-CN" sz="1000"/>
          </a:p>
          <a:p>
            <a:pPr lvl="1"/>
            <a:r>
              <a:rPr lang="en-US" altLang="zh-CN" sz="1000">
                <a:sym typeface="+mn-ea"/>
              </a:rPr>
              <a:t>Automatic user loading (current_user)</a:t>
            </a:r>
            <a:endParaRPr lang="en-US" altLang="zh-CN" sz="1000"/>
          </a:p>
          <a:p>
            <a:pPr lvl="1"/>
            <a:r>
              <a:rPr lang="en-US" altLang="zh-CN" sz="1000">
                <a:sym typeface="+mn-ea"/>
              </a:rPr>
              <a:t>Custom claims validation on received tokens</a:t>
            </a:r>
            <a:endParaRPr lang="en-US" altLang="zh-CN" sz="1000"/>
          </a:p>
          <a:p>
            <a:pPr lvl="1"/>
            <a:r>
              <a:rPr lang="en-US" altLang="zh-CN" sz="1000">
                <a:sym typeface="+mn-ea"/>
              </a:rPr>
              <a:t>Refresh tokens</a:t>
            </a:r>
            <a:endParaRPr lang="en-US" altLang="zh-CN" sz="1000"/>
          </a:p>
          <a:p>
            <a:pPr lvl="1"/>
            <a:r>
              <a:rPr lang="en-US" altLang="zh-CN" sz="1000">
                <a:sym typeface="+mn-ea"/>
              </a:rPr>
              <a:t>First class support for fresh tokens for making sensitive changes.</a:t>
            </a:r>
            <a:endParaRPr lang="en-US" altLang="zh-CN" sz="1000"/>
          </a:p>
          <a:p>
            <a:pPr lvl="1"/>
            <a:r>
              <a:rPr lang="en-US" altLang="zh-CN" sz="1000">
                <a:sym typeface="+mn-ea"/>
              </a:rPr>
              <a:t>Token revoking/blocklisting</a:t>
            </a:r>
            <a:endParaRPr lang="en-US" altLang="zh-CN" sz="1000"/>
          </a:p>
          <a:p>
            <a:pPr lvl="1"/>
            <a:r>
              <a:rPr lang="en-US" altLang="zh-CN" sz="1000">
                <a:sym typeface="+mn-ea"/>
              </a:rPr>
              <a:t>Storing tokens in cookies and CSRF protection</a:t>
            </a:r>
            <a:endParaRPr lang="en-US" altLang="zh-CN" sz="1000">
              <a:sym typeface="+mn-ea"/>
            </a:endParaRPr>
          </a:p>
          <a:p>
            <a:pPr lvl="0"/>
            <a:r>
              <a:rPr lang="en-US" altLang="zh-CN" sz="1000">
                <a:sym typeface="+mn-ea"/>
              </a:rPr>
              <a:t>Usage</a:t>
            </a:r>
            <a:endParaRPr lang="en-US" altLang="zh-CN" sz="1000">
              <a:sym typeface="+mn-ea"/>
            </a:endParaRPr>
          </a:p>
          <a:p>
            <a:pPr lvl="1"/>
            <a:r>
              <a:rPr lang="en-US" altLang="zh-CN" sz="1000">
                <a:sym typeface="+mn-ea"/>
              </a:rPr>
              <a:t>from flask_jwt_extended import get_current_user, jwt_required, verify_jwt_in_request, get_jwt_entity</a:t>
            </a:r>
            <a:endParaRPr lang="en-US" altLang="zh-CN" sz="1000">
              <a:sym typeface="+mn-ea"/>
            </a:endParaRPr>
          </a:p>
          <a:p>
            <a:pPr lvl="1"/>
            <a:r>
              <a:rPr lang="en-US" altLang="zh-CN" sz="1000">
                <a:sym typeface="+mn-ea"/>
              </a:rPr>
              <a:t>current_user = get_current_user()</a:t>
            </a:r>
            <a:endParaRPr lang="en-US" altLang="zh-CN" sz="1000">
              <a:sym typeface="+mn-ea"/>
            </a:endParaRPr>
          </a:p>
          <a:p>
            <a:pPr lvl="1"/>
            <a:r>
              <a:rPr lang="en-US" altLang="zh-CN" sz="1000">
                <a:sym typeface="+mn-ea"/>
              </a:rPr>
              <a:t>current_user_id = get_jwt_identity()</a:t>
            </a:r>
            <a:endParaRPr lang="en-US" altLang="zh-CN" sz="1000">
              <a:sym typeface="+mn-ea"/>
            </a:endParaRPr>
          </a:p>
          <a:p>
            <a:pPr lvl="1"/>
            <a:r>
              <a:rPr lang="en-US" altLang="zh-CN" sz="1000">
                <a:sym typeface="+mn-ea"/>
              </a:rPr>
              <a:t>verify_jwt_in_request(optional=True)</a:t>
            </a:r>
            <a:endParaRPr lang="en-US" altLang="zh-CN" sz="1000">
              <a:sym typeface="+mn-ea"/>
            </a:endParaRPr>
          </a:p>
          <a:p>
            <a:pPr lvl="1"/>
            <a:r>
              <a:rPr lang="en-US" altLang="zh-CN" sz="1000">
                <a:sym typeface="+mn-ea"/>
              </a:rPr>
              <a:t>@jwt_required</a:t>
            </a:r>
            <a:endParaRPr lang="en-US" altLang="zh-CN" sz="1000">
              <a:sym typeface="+mn-ea"/>
            </a:endParaRPr>
          </a:p>
          <a:p>
            <a:pPr lvl="2"/>
            <a:r>
              <a:rPr lang="en-US" altLang="zh-CN" sz="900">
                <a:sym typeface="+mn-ea"/>
              </a:rPr>
              <a:t>Checks for Authorization: Bearer &lt;token&gt; header</a:t>
            </a:r>
            <a:endParaRPr lang="en-US" altLang="zh-CN" sz="900">
              <a:sym typeface="+mn-ea"/>
            </a:endParaRPr>
          </a:p>
          <a:p>
            <a:pPr lvl="2"/>
            <a:r>
              <a:rPr lang="en-US" altLang="zh-CN" sz="900">
                <a:sym typeface="+mn-ea"/>
              </a:rPr>
              <a:t>Validates signature and expiration</a:t>
            </a:r>
            <a:endParaRPr lang="en-US" altLang="zh-CN" sz="900">
              <a:sym typeface="+mn-ea"/>
            </a:endParaRPr>
          </a:p>
          <a:p>
            <a:pPr lvl="2"/>
            <a:r>
              <a:rPr lang="en-US" altLang="zh-CN" sz="900">
                <a:sym typeface="+mn-ea"/>
              </a:rPr>
              <a:t>Blocks access if invalid </a:t>
            </a:r>
            <a:r>
              <a:rPr lang="en-US" altLang="en-US" sz="900">
                <a:sym typeface="+mn-ea"/>
              </a:rPr>
              <a:t>→</a:t>
            </a:r>
            <a:r>
              <a:rPr lang="en-US" altLang="zh-CN" sz="900">
                <a:sym typeface="+mn-ea"/>
              </a:rPr>
              <a:t> returns 401</a:t>
            </a:r>
            <a:endParaRPr lang="en-US" altLang="zh-CN" sz="900">
              <a:sym typeface="+mn-ea"/>
            </a:endParaRPr>
          </a:p>
          <a:p>
            <a:pPr lvl="2"/>
            <a:r>
              <a:rPr lang="en-US" altLang="zh-CN" sz="900">
                <a:sym typeface="+mn-ea"/>
              </a:rPr>
              <a:t>Calls your route only if valid</a:t>
            </a:r>
            <a:endParaRPr lang="en-US" altLang="zh-CN" sz="900">
              <a:sym typeface="+mn-ea"/>
            </a:endParaRPr>
          </a:p>
        </p:txBody>
      </p:sp>
      <p:sp>
        <p:nvSpPr>
          <p:cNvPr id="4" name="内容占位符 2"/>
          <p:cNvSpPr>
            <a:spLocks noGrp="1"/>
          </p:cNvSpPr>
          <p:nvPr/>
        </p:nvSpPr>
        <p:spPr>
          <a:xfrm>
            <a:off x="6293485" y="1211580"/>
            <a:ext cx="5257800" cy="5286375"/>
          </a:xfrm>
          <a:prstGeom prst="rect">
            <a:avLst/>
          </a:prstGeom>
        </p:spPr>
        <p:txBody>
          <a:bodyPr vert="horz" lIns="91440" tIns="45720" rIns="91440" bIns="45720" rtlCol="0"/>
          <a:lstStyle>
            <a:lvl1pPr marL="342900" indent="-342900" algn="l" defTabSz="914400" rtl="0" eaLnBrk="1" latinLnBrk="0" hangingPunct="1">
              <a:lnSpc>
                <a:spcPct val="90000"/>
              </a:lnSpc>
              <a:spcBef>
                <a:spcPts val="1000"/>
              </a:spcBef>
              <a:buFont typeface="黑体" panose="02010609060101010101" pitchFamily="49" charset="-122"/>
              <a:buChar char="〉"/>
              <a:defRPr sz="240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114550" indent="-28575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endParaRPr lang="en-US" altLang="zh-CN" sz="900">
              <a:sym typeface="+mn-ea"/>
            </a:endParaRPr>
          </a:p>
        </p:txBody>
      </p:sp>
      <p:sp>
        <p:nvSpPr>
          <p:cNvPr id="5" name="内容占位符 2"/>
          <p:cNvSpPr>
            <a:spLocks noGrp="1"/>
          </p:cNvSpPr>
          <p:nvPr/>
        </p:nvSpPr>
        <p:spPr>
          <a:xfrm>
            <a:off x="6211570" y="1211580"/>
            <a:ext cx="5257800" cy="1935480"/>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Font typeface="黑体" panose="02010609060101010101" pitchFamily="49" charset="-122"/>
              <a:buChar char="〉"/>
              <a:defRPr sz="240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114550" indent="-28575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ltLang="zh-CN" sz="1350"/>
              <a:t>Use cookies</a:t>
            </a:r>
            <a:endParaRPr lang="en-US" altLang="zh-CN" sz="1350"/>
          </a:p>
          <a:p>
            <a:pPr lvl="1"/>
            <a:r>
              <a:rPr lang="en-US" altLang="zh-CN" sz="1125"/>
              <a:t>Config</a:t>
            </a:r>
            <a:endParaRPr lang="en-US" altLang="zh-CN" sz="1125"/>
          </a:p>
          <a:p>
            <a:pPr lvl="2"/>
            <a:r>
              <a:rPr lang="en-US" altLang="zh-CN" sz="1010"/>
              <a:t>app.config["JWT_TOKEN_LOCATION"] = ["cookies"]</a:t>
            </a:r>
            <a:endParaRPr lang="en-US" altLang="zh-CN" sz="1010"/>
          </a:p>
          <a:p>
            <a:pPr lvl="2"/>
            <a:r>
              <a:rPr lang="en-US" altLang="zh-CN" sz="1010"/>
              <a:t>app.config["JWT_COOKIE_SECURE"] = True  # HTTPS only</a:t>
            </a:r>
            <a:endParaRPr lang="en-US" altLang="zh-CN" sz="1010"/>
          </a:p>
          <a:p>
            <a:pPr lvl="2"/>
            <a:r>
              <a:rPr lang="en-US" altLang="zh-CN" sz="1010"/>
              <a:t>app.config["JWT_COOKIE_SAMESITE"] = "Lax"  # or "Strict"</a:t>
            </a:r>
            <a:endParaRPr lang="en-US" altLang="zh-CN" sz="1010"/>
          </a:p>
          <a:p>
            <a:pPr lvl="1"/>
            <a:r>
              <a:rPr lang="en-US" altLang="zh-CN" sz="1120"/>
              <a:t>Advantages</a:t>
            </a:r>
            <a:endParaRPr lang="en-US" altLang="zh-CN" sz="1120"/>
          </a:p>
          <a:p>
            <a:pPr lvl="2"/>
            <a:r>
              <a:rPr lang="en-US" altLang="zh-CN" sz="1005"/>
              <a:t>More secure (HttpOnly + Secure + SameSite)</a:t>
            </a:r>
            <a:endParaRPr lang="en-US" altLang="zh-CN" sz="1005"/>
          </a:p>
        </p:txBody>
      </p:sp>
      <p:pic>
        <p:nvPicPr>
          <p:cNvPr id="6" name="图片 5"/>
          <p:cNvPicPr/>
          <p:nvPr/>
        </p:nvPicPr>
        <p:blipFill>
          <a:blip r:embed="rId1"/>
          <a:stretch>
            <a:fillRect/>
          </a:stretch>
        </p:blipFill>
        <p:spPr>
          <a:xfrm>
            <a:off x="6360795" y="3284220"/>
            <a:ext cx="5307330" cy="3014980"/>
          </a:xfrm>
          <a:prstGeom prst="rect">
            <a:avLst/>
          </a:prstGeom>
        </p:spPr>
      </p:pic>
    </p:spTree>
    <p:custDataLst>
      <p:tags r:id="rId2"/>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Authentication - Sliding Token Refresh</a:t>
            </a:r>
            <a:endParaRPr lang="en-US" altLang="zh-CN"/>
          </a:p>
        </p:txBody>
      </p:sp>
      <p:sp>
        <p:nvSpPr>
          <p:cNvPr id="3" name="内容占位符 2"/>
          <p:cNvSpPr>
            <a:spLocks noGrp="1"/>
          </p:cNvSpPr>
          <p:nvPr>
            <p:ph idx="1"/>
          </p:nvPr>
        </p:nvSpPr>
        <p:spPr>
          <a:xfrm>
            <a:off x="838200" y="1211580"/>
            <a:ext cx="4979035" cy="4549140"/>
          </a:xfrm>
        </p:spPr>
        <p:txBody>
          <a:bodyPr/>
          <a:p>
            <a:r>
              <a:rPr lang="en-US" altLang="zh-CN" sz="1800"/>
              <a:t>Solution</a:t>
            </a:r>
            <a:endParaRPr lang="en-US" altLang="zh-CN" sz="1800"/>
          </a:p>
          <a:p>
            <a:pPr lvl="1"/>
            <a:r>
              <a:rPr lang="en-US" altLang="zh-CN" sz="1600"/>
              <a:t>Issue both access token (short-lived, e.g., 15–30 min) and refresh token (long-lived, e.g., 7 days) on login</a:t>
            </a:r>
            <a:endParaRPr lang="en-US" altLang="zh-CN" sz="1600"/>
          </a:p>
          <a:p>
            <a:pPr lvl="1"/>
            <a:r>
              <a:rPr lang="en-US" altLang="zh-CN" sz="1600"/>
              <a:t>On every authorized request, if the access token is still valid but nearing expiry — transparently issue a new access token.</a:t>
            </a:r>
            <a:endParaRPr lang="en-US" altLang="zh-CN" sz="1600"/>
          </a:p>
          <a:p>
            <a:pPr lvl="1"/>
            <a:r>
              <a:rPr lang="en-US" altLang="zh-CN" sz="1600"/>
              <a:t>Return the new access token in the response (e.g., in a header or JSON body).</a:t>
            </a:r>
            <a:endParaRPr lang="en-US" altLang="zh-CN" sz="1600"/>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t>Authentication - flask_login</a:t>
            </a:r>
            <a:endParaRPr lang="en-US" altLang="zh-CN"/>
          </a:p>
        </p:txBody>
      </p:sp>
      <p:sp>
        <p:nvSpPr>
          <p:cNvPr id="3" name="内容占位符 2"/>
          <p:cNvSpPr>
            <a:spLocks noGrp="1"/>
          </p:cNvSpPr>
          <p:nvPr>
            <p:ph idx="1"/>
          </p:nvPr>
        </p:nvSpPr>
        <p:spPr>
          <a:xfrm>
            <a:off x="838200" y="1211580"/>
            <a:ext cx="4850765" cy="4549140"/>
          </a:xfrm>
        </p:spPr>
        <p:txBody>
          <a:bodyPr>
            <a:normAutofit/>
          </a:bodyPr>
          <a:p>
            <a:r>
              <a:rPr lang="en-US" altLang="zh-CN" sz="1800"/>
              <a:t>Intro</a:t>
            </a:r>
            <a:endParaRPr lang="en-US" altLang="zh-CN" sz="1800"/>
          </a:p>
          <a:p>
            <a:pPr lvl="1"/>
            <a:r>
              <a:rPr lang="en-US" altLang="zh-CN" sz="1600"/>
              <a:t>session-based authentication</a:t>
            </a:r>
            <a:endParaRPr lang="en-US" altLang="zh-CN" sz="1600"/>
          </a:p>
          <a:p>
            <a:pPr lvl="0"/>
            <a:r>
              <a:rPr lang="en-US" altLang="zh-CN" sz="1800"/>
              <a:t>features</a:t>
            </a:r>
            <a:endParaRPr lang="en-US" altLang="zh-CN" sz="1800"/>
          </a:p>
          <a:p>
            <a:pPr lvl="1"/>
            <a:r>
              <a:rPr lang="en-US" altLang="zh-CN" sz="1600"/>
              <a:t>manage user login/logout</a:t>
            </a:r>
            <a:endParaRPr lang="en-US" altLang="zh-CN" sz="1600"/>
          </a:p>
          <a:p>
            <a:pPr lvl="1"/>
            <a:r>
              <a:rPr lang="en-US" altLang="zh-CN" sz="1600"/>
              <a:t>persists user session with cookies</a:t>
            </a:r>
            <a:endParaRPr lang="en-US" altLang="zh-CN" sz="1600"/>
          </a:p>
          <a:p>
            <a:pPr lvl="0"/>
            <a:r>
              <a:rPr lang="en-US" altLang="zh-CN" sz="1800"/>
              <a:t>Usage</a:t>
            </a:r>
            <a:endParaRPr lang="en-US" altLang="zh-CN" sz="1800"/>
          </a:p>
          <a:p>
            <a:pPr lvl="1"/>
            <a:r>
              <a:rPr lang="en-US" altLang="zh-CN" sz="1600"/>
              <a:t>protects routes with @login_required</a:t>
            </a:r>
            <a:endParaRPr lang="en-US" altLang="zh-CN" sz="1600"/>
          </a:p>
          <a:p>
            <a:pPr lvl="1"/>
            <a:r>
              <a:rPr lang="en-US" altLang="zh-CN" sz="1600"/>
              <a:t>from flask_login import LoginManager, UserMixin, login_user, logout_user, login_required,  current_user</a:t>
            </a:r>
            <a:endParaRPr lang="en-US" altLang="zh-CN" sz="1600"/>
          </a:p>
          <a:p>
            <a:pPr lvl="1"/>
            <a:r>
              <a:rPr lang="en-US" altLang="zh-CN" sz="1600"/>
              <a:t>current_user</a:t>
            </a:r>
            <a:endParaRPr lang="en-US" altLang="zh-CN" sz="1600"/>
          </a:p>
          <a:p>
            <a:pPr lvl="2"/>
            <a:r>
              <a:rPr lang="en-US" altLang="zh-CN" sz="1400"/>
              <a:t>from flask_login import current_user</a:t>
            </a:r>
            <a:endParaRPr lang="en-US" altLang="zh-CN" sz="1400"/>
          </a:p>
          <a:p>
            <a:pPr lvl="2"/>
            <a:r>
              <a:rPr lang="en-US" altLang="zh-CN" sz="1400"/>
              <a:t>current_user.is_authenticated</a:t>
            </a:r>
            <a:endParaRPr lang="en-US" altLang="zh-CN" sz="1400"/>
          </a:p>
          <a:p>
            <a:pPr lvl="2"/>
            <a:r>
              <a:rPr lang="en-US" altLang="zh-CN" sz="1400"/>
              <a:t>current_user.id</a:t>
            </a:r>
            <a:endParaRPr lang="en-US" altLang="zh-CN" sz="1400"/>
          </a:p>
          <a:p>
            <a:pPr lvl="2"/>
            <a:endParaRPr lang="en-US" altLang="zh-CN" sz="1400"/>
          </a:p>
        </p:txBody>
      </p:sp>
      <p:pic>
        <p:nvPicPr>
          <p:cNvPr id="4" name="图片 3"/>
          <p:cNvPicPr/>
          <p:nvPr/>
        </p:nvPicPr>
        <p:blipFill>
          <a:blip r:embed="rId1"/>
          <a:stretch>
            <a:fillRect/>
          </a:stretch>
        </p:blipFill>
        <p:spPr>
          <a:xfrm>
            <a:off x="6336030" y="1350645"/>
            <a:ext cx="4819650" cy="2552700"/>
          </a:xfrm>
          <a:prstGeom prst="rect">
            <a:avLst/>
          </a:prstGeom>
        </p:spPr>
      </p:pic>
    </p:spTree>
    <p:custDataLst>
      <p:tags r:id="rId2"/>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Wechat Pay</a:t>
            </a:r>
            <a:endParaRPr lang="en-US" altLang="zh-CN"/>
          </a:p>
        </p:txBody>
      </p:sp>
      <p:sp>
        <p:nvSpPr>
          <p:cNvPr id="3" name="内容占位符 2"/>
          <p:cNvSpPr>
            <a:spLocks noGrp="1"/>
          </p:cNvSpPr>
          <p:nvPr>
            <p:ph idx="1"/>
          </p:nvPr>
        </p:nvSpPr>
        <p:spPr/>
        <p:txBody>
          <a:bodyPr/>
          <a:p>
            <a:r>
              <a:rPr lang="zh-CN" altLang="en-US"/>
              <a:t>pip install Flask-WXPay</a:t>
            </a:r>
            <a:endParaRPr lang="zh-CN" altLang="en-US"/>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Upload Files</a:t>
            </a:r>
            <a:endParaRPr lang="en-US" altLang="zh-CN"/>
          </a:p>
        </p:txBody>
      </p:sp>
      <p:sp>
        <p:nvSpPr>
          <p:cNvPr id="3" name="内容占位符 2"/>
          <p:cNvSpPr>
            <a:spLocks noGrp="1"/>
          </p:cNvSpPr>
          <p:nvPr>
            <p:ph idx="1"/>
          </p:nvPr>
        </p:nvSpPr>
        <p:spPr/>
        <p:txBody>
          <a:bodyPr/>
          <a:p>
            <a:r>
              <a:rPr lang="en-US" altLang="zh-CN"/>
              <a:t>Upload multiple files</a:t>
            </a:r>
            <a:endParaRPr lang="en-US" altLang="zh-CN"/>
          </a:p>
          <a:p>
            <a:pPr lvl="1"/>
            <a:r>
              <a:rPr lang="en-US" altLang="zh-CN"/>
              <a:t>files = request.files.getlist("images")</a:t>
            </a:r>
            <a:endParaRPr lang="en-US" altLang="zh-CN"/>
          </a:p>
          <a:p>
            <a:pPr marL="457200" lvl="1" indent="0">
              <a:buNone/>
            </a:pPr>
            <a:r>
              <a:rPr lang="en-US" altLang="zh-CN"/>
              <a:t>&lt;form method="POST" enctype="multipart/form-data" action="/upload"&gt;</a:t>
            </a:r>
            <a:endParaRPr lang="en-US" altLang="zh-CN"/>
          </a:p>
          <a:p>
            <a:pPr marL="457200" lvl="1" indent="0">
              <a:buNone/>
            </a:pPr>
            <a:r>
              <a:rPr lang="en-US" altLang="zh-CN"/>
              <a:t>  &lt;input type="file" name="file[]" multiple=""&gt;</a:t>
            </a:r>
            <a:endParaRPr lang="en-US" altLang="zh-CN"/>
          </a:p>
          <a:p>
            <a:pPr marL="457200" lvl="1" indent="0">
              <a:buNone/>
            </a:pPr>
            <a:r>
              <a:rPr lang="en-US" altLang="zh-CN"/>
              <a:t>  &lt;input type="submit" value="add"&gt;</a:t>
            </a:r>
            <a:endParaRPr lang="en-US" altLang="zh-CN"/>
          </a:p>
          <a:p>
            <a:pPr marL="457200" lvl="1" indent="0">
              <a:buNone/>
            </a:pPr>
            <a:r>
              <a:rPr lang="en-US" altLang="zh-CN"/>
              <a:t>&lt;/form&gt;</a:t>
            </a:r>
            <a:endParaRPr lang="en-US" altLang="zh-CN"/>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CORS</a:t>
            </a:r>
            <a:endParaRPr lang="en-US" altLang="zh-CN"/>
          </a:p>
        </p:txBody>
      </p:sp>
      <p:sp>
        <p:nvSpPr>
          <p:cNvPr id="3" name="内容占位符 2"/>
          <p:cNvSpPr>
            <a:spLocks noGrp="1"/>
          </p:cNvSpPr>
          <p:nvPr>
            <p:ph idx="1"/>
          </p:nvPr>
        </p:nvSpPr>
        <p:spPr>
          <a:xfrm>
            <a:off x="838200" y="1211580"/>
            <a:ext cx="7279640" cy="4549140"/>
          </a:xfrm>
        </p:spPr>
        <p:txBody>
          <a:bodyPr/>
          <a:p>
            <a:r>
              <a:rPr lang="en-US" altLang="zh-CN"/>
              <a:t>References</a:t>
            </a:r>
            <a:endParaRPr lang="en-US" altLang="zh-CN"/>
          </a:p>
          <a:p>
            <a:pPr lvl="1"/>
            <a:r>
              <a:rPr lang="en-US" altLang="zh-CN"/>
              <a:t>https://flask-cors.readthedocs.io/en/latest/</a:t>
            </a:r>
            <a:endParaRPr lang="en-US" altLang="zh-CN"/>
          </a:p>
          <a:p>
            <a:pPr lvl="0"/>
            <a:r>
              <a:rPr lang="en-US" altLang="zh-CN"/>
              <a:t>Flask-CORS</a:t>
            </a:r>
            <a:endParaRPr lang="en-US" altLang="zh-CN"/>
          </a:p>
          <a:p>
            <a:pPr lvl="1"/>
            <a:r>
              <a:rPr lang="en-US" altLang="zh-CN"/>
              <a:t>pip install -U flask-cors</a:t>
            </a:r>
            <a:endParaRPr lang="en-US" altLang="zh-CN"/>
          </a:p>
          <a:p>
            <a:pPr lvl="1"/>
            <a:endParaRPr lang="en-US" altLang="zh-CN"/>
          </a:p>
        </p:txBody>
      </p:sp>
      <p:sp>
        <p:nvSpPr>
          <p:cNvPr id="4" name="文本框 3"/>
          <p:cNvSpPr txBox="1"/>
          <p:nvPr/>
        </p:nvSpPr>
        <p:spPr>
          <a:xfrm>
            <a:off x="8393430" y="1433195"/>
            <a:ext cx="3064510" cy="3138170"/>
          </a:xfrm>
          <a:prstGeom prst="rect">
            <a:avLst/>
          </a:prstGeom>
          <a:noFill/>
          <a:ln>
            <a:solidFill>
              <a:srgbClr val="C00000"/>
            </a:solidFill>
          </a:ln>
        </p:spPr>
        <p:txBody>
          <a:bodyPr wrap="square" rtlCol="0">
            <a:spAutoFit/>
          </a:bodyPr>
          <a:p>
            <a:r>
              <a:rPr lang="zh-CN" altLang="en-US"/>
              <a:t>from flask import Flask</a:t>
            </a:r>
            <a:endParaRPr lang="zh-CN" altLang="en-US"/>
          </a:p>
          <a:p>
            <a:r>
              <a:rPr lang="zh-CN" altLang="en-US"/>
              <a:t>from flask_cors import CORS</a:t>
            </a:r>
            <a:endParaRPr lang="zh-CN" altLang="en-US"/>
          </a:p>
          <a:p>
            <a:endParaRPr lang="zh-CN" altLang="en-US"/>
          </a:p>
          <a:p>
            <a:r>
              <a:rPr lang="zh-CN" altLang="en-US"/>
              <a:t>app = Flask(__name__)</a:t>
            </a:r>
            <a:endParaRPr lang="zh-CN" altLang="en-US"/>
          </a:p>
          <a:p>
            <a:r>
              <a:rPr lang="zh-CN" altLang="en-US"/>
              <a:t>CORS(app)</a:t>
            </a:r>
            <a:endParaRPr lang="zh-CN" altLang="en-US"/>
          </a:p>
          <a:p>
            <a:endParaRPr lang="zh-CN" altLang="en-US"/>
          </a:p>
          <a:p>
            <a:r>
              <a:rPr lang="zh-CN" altLang="en-US"/>
              <a:t>@app.route("/")</a:t>
            </a:r>
            <a:endParaRPr lang="zh-CN" altLang="en-US"/>
          </a:p>
          <a:p>
            <a:r>
              <a:rPr lang="zh-CN" altLang="en-US"/>
              <a:t>def helloWorld():</a:t>
            </a:r>
            <a:endParaRPr lang="zh-CN" altLang="en-US"/>
          </a:p>
          <a:p>
            <a:r>
              <a:rPr lang="zh-CN" altLang="en-US"/>
              <a:t>  return "Hello, cross-origin-world!"</a:t>
            </a:r>
            <a:endParaRPr lang="zh-CN" altLang="en-US"/>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Full Text Search</a:t>
            </a:r>
            <a:endParaRPr lang="en-US" altLang="zh-CN"/>
          </a:p>
        </p:txBody>
      </p:sp>
      <p:sp>
        <p:nvSpPr>
          <p:cNvPr id="3" name="内容占位符 2"/>
          <p:cNvSpPr>
            <a:spLocks noGrp="1"/>
          </p:cNvSpPr>
          <p:nvPr>
            <p:ph idx="1"/>
          </p:nvPr>
        </p:nvSpPr>
        <p:spPr/>
        <p:txBody>
          <a:bodyPr>
            <a:normAutofit lnSpcReduction="10000"/>
          </a:bodyPr>
          <a:p>
            <a:r>
              <a:rPr lang="en-US" altLang="zh-CN"/>
              <a:t>References</a:t>
            </a:r>
            <a:endParaRPr lang="en-US" altLang="zh-CN"/>
          </a:p>
          <a:p>
            <a:pPr lvl="1"/>
            <a:r>
              <a:rPr lang="en-US" altLang="zh-CN"/>
              <a:t>https://blog.miguelgrinberg.com/post/the-flask-mega-tutorial-part-xvi-full-text-search</a:t>
            </a:r>
            <a:endParaRPr lang="en-US" altLang="zh-CN"/>
          </a:p>
          <a:p>
            <a:pPr lvl="0"/>
            <a:r>
              <a:rPr lang="en-US" altLang="zh-CN"/>
              <a:t>Elasticsearch</a:t>
            </a:r>
            <a:endParaRPr lang="en-US" altLang="zh-CN"/>
          </a:p>
          <a:p>
            <a:pPr lvl="1"/>
            <a:r>
              <a:rPr lang="en-US" altLang="zh-CN"/>
              <a:t>Install elasticsearch</a:t>
            </a:r>
            <a:endParaRPr lang="en-US" altLang="zh-CN"/>
          </a:p>
          <a:p>
            <a:pPr lvl="2"/>
            <a:r>
              <a:rPr lang="en-US" altLang="zh-CN"/>
              <a:t>curl -fsSL https://artifacts.elastic.co/GPG-KEY-elasticsearch | sudo apt-key add -</a:t>
            </a:r>
            <a:endParaRPr lang="en-US" altLang="zh-CN"/>
          </a:p>
          <a:p>
            <a:pPr lvl="2"/>
            <a:r>
              <a:rPr lang="en-US" altLang="zh-CN"/>
              <a:t>echo "deb https://artifacts.elastic.co/packages/7.x/apt stable main" | sudo tee -a /etc/apt/sources.list.d/elastic-7.x.list</a:t>
            </a:r>
            <a:endParaRPr lang="en-US" altLang="zh-CN"/>
          </a:p>
          <a:p>
            <a:pPr lvl="2"/>
            <a:r>
              <a:rPr lang="en-US" altLang="zh-CN"/>
              <a:t>sudo apt update</a:t>
            </a:r>
            <a:endParaRPr lang="en-US" altLang="zh-CN"/>
          </a:p>
          <a:p>
            <a:pPr lvl="2"/>
            <a:r>
              <a:rPr lang="en-US" altLang="zh-CN"/>
              <a:t>sudo apt install elasticsearch</a:t>
            </a:r>
            <a:endParaRPr lang="en-US" altLang="zh-CN"/>
          </a:p>
          <a:p>
            <a:pPr lvl="1"/>
            <a:r>
              <a:rPr lang="en-US" altLang="zh-CN"/>
              <a:t>/etc/elasticsearch/elasticsearch.yml</a:t>
            </a:r>
            <a:endParaRPr lang="en-US" altLang="zh-CN" sz="2000"/>
          </a:p>
          <a:p>
            <a:pPr lvl="1"/>
            <a:r>
              <a:rPr lang="en-US" altLang="zh-CN" sz="2000"/>
              <a:t>Start elasticsearch service</a:t>
            </a:r>
            <a:endParaRPr lang="en-US" altLang="zh-CN" sz="2000"/>
          </a:p>
          <a:p>
            <a:pPr lvl="2"/>
            <a:r>
              <a:rPr lang="en-US" altLang="zh-CN"/>
              <a:t>sudo service elasticsearch start</a:t>
            </a:r>
            <a:endParaRPr lang="en-US" altLang="zh-CN"/>
          </a:p>
          <a:p>
            <a:pPr lvl="2"/>
            <a:r>
              <a:rPr lang="en-US" altLang="zh-CN" sz="1800"/>
              <a:t>http://localhost:9200/</a:t>
            </a:r>
            <a:endParaRPr lang="en-US" altLang="zh-CN" sz="1800"/>
          </a:p>
          <a:p>
            <a:pPr lvl="1"/>
            <a:r>
              <a:rPr lang="en-US" altLang="zh-CN"/>
              <a:t>pip install elasticsearch</a:t>
            </a:r>
            <a:endParaRPr lang="en-US" altLang="zh-CN"/>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Scheduler</a:t>
            </a:r>
            <a:endParaRPr lang="en-US" altLang="zh-CN"/>
          </a:p>
        </p:txBody>
      </p:sp>
      <p:sp>
        <p:nvSpPr>
          <p:cNvPr id="3" name="内容占位符 2"/>
          <p:cNvSpPr>
            <a:spLocks noGrp="1"/>
          </p:cNvSpPr>
          <p:nvPr>
            <p:ph idx="1"/>
          </p:nvPr>
        </p:nvSpPr>
        <p:spPr>
          <a:xfrm>
            <a:off x="838200" y="1211580"/>
            <a:ext cx="5871845" cy="4549140"/>
          </a:xfrm>
        </p:spPr>
        <p:txBody>
          <a:bodyPr/>
          <a:p>
            <a:r>
              <a:rPr lang="en-US" altLang="zh-CN"/>
              <a:t>References</a:t>
            </a:r>
            <a:endParaRPr lang="en-US" altLang="zh-CN"/>
          </a:p>
          <a:p>
            <a:pPr lvl="1"/>
            <a:r>
              <a:rPr lang="en-US" altLang="zh-CN"/>
              <a:t>https://www.techcoil.com/blog/how-to-create-an-interval-task-that-runs-periodically-within-your-python-3-flask-application-with-flask-apscheduler/</a:t>
            </a:r>
            <a:endParaRPr lang="en-US" altLang="zh-CN"/>
          </a:p>
          <a:p>
            <a:r>
              <a:rPr lang="en-US" altLang="zh-CN"/>
              <a:t>Steps</a:t>
            </a:r>
            <a:endParaRPr lang="en-US" altLang="zh-CN"/>
          </a:p>
          <a:p>
            <a:pPr lvl="1"/>
            <a:r>
              <a:rPr lang="en-US" altLang="zh-CN"/>
              <a:t>pip install Flask-APScheduler</a:t>
            </a:r>
            <a:endParaRPr lang="en-US" altLang="zh-CN"/>
          </a:p>
        </p:txBody>
      </p:sp>
      <p:sp>
        <p:nvSpPr>
          <p:cNvPr id="4" name="文本框 3"/>
          <p:cNvSpPr txBox="1"/>
          <p:nvPr/>
        </p:nvSpPr>
        <p:spPr>
          <a:xfrm>
            <a:off x="7395210" y="1221740"/>
            <a:ext cx="4113530" cy="4154170"/>
          </a:xfrm>
          <a:prstGeom prst="rect">
            <a:avLst/>
          </a:prstGeom>
          <a:noFill/>
          <a:ln>
            <a:solidFill>
              <a:srgbClr val="C00000"/>
            </a:solidFill>
          </a:ln>
        </p:spPr>
        <p:txBody>
          <a:bodyPr wrap="square" rtlCol="0">
            <a:spAutoFit/>
          </a:bodyPr>
          <a:p>
            <a:r>
              <a:rPr lang="zh-CN" altLang="en-US" sz="1200"/>
              <a:t>from flask import Flask</a:t>
            </a:r>
            <a:endParaRPr lang="zh-CN" altLang="en-US" sz="1200"/>
          </a:p>
          <a:p>
            <a:r>
              <a:rPr lang="zh-CN" altLang="en-US" sz="1200"/>
              <a:t>from flask_apscheduler import APScheduler</a:t>
            </a:r>
            <a:endParaRPr lang="zh-CN" altLang="en-US" sz="1200"/>
          </a:p>
          <a:p>
            <a:r>
              <a:rPr lang="zh-CN" altLang="en-US" sz="1200"/>
              <a:t> </a:t>
            </a:r>
            <a:endParaRPr lang="zh-CN" altLang="en-US" sz="1200"/>
          </a:p>
          <a:p>
            <a:r>
              <a:rPr lang="zh-CN" altLang="en-US" sz="1200"/>
              <a:t>import multiprocessing</a:t>
            </a:r>
            <a:endParaRPr lang="zh-CN" altLang="en-US" sz="1200"/>
          </a:p>
          <a:p>
            <a:r>
              <a:rPr lang="zh-CN" altLang="en-US" sz="1200"/>
              <a:t>import random</a:t>
            </a:r>
            <a:endParaRPr lang="zh-CN" altLang="en-US" sz="1200"/>
          </a:p>
          <a:p>
            <a:r>
              <a:rPr lang="zh-CN" altLang="en-US" sz="1200"/>
              <a:t> </a:t>
            </a:r>
            <a:endParaRPr lang="zh-CN" altLang="en-US" sz="1200"/>
          </a:p>
          <a:p>
            <a:r>
              <a:rPr lang="zh-CN" altLang="en-US" sz="1200"/>
              <a:t>app = Flask(__name__)</a:t>
            </a:r>
            <a:endParaRPr lang="zh-CN" altLang="en-US" sz="1200"/>
          </a:p>
          <a:p>
            <a:r>
              <a:rPr lang="zh-CN" altLang="en-US" sz="1200"/>
              <a:t>scheduler = APScheduler()</a:t>
            </a:r>
            <a:endParaRPr lang="zh-CN" altLang="en-US" sz="1200"/>
          </a:p>
          <a:p>
            <a:r>
              <a:rPr lang="zh-CN" altLang="en-US" sz="1200"/>
              <a:t>scheduler.init_app(app)</a:t>
            </a:r>
            <a:endParaRPr lang="zh-CN" altLang="en-US" sz="1200"/>
          </a:p>
          <a:p>
            <a:r>
              <a:rPr lang="zh-CN" altLang="en-US" sz="1200"/>
              <a:t>scheduler.start()</a:t>
            </a:r>
            <a:endParaRPr lang="zh-CN" altLang="en-US" sz="1200"/>
          </a:p>
          <a:p>
            <a:r>
              <a:rPr lang="zh-CN" altLang="en-US" sz="1200"/>
              <a:t> </a:t>
            </a:r>
            <a:endParaRPr lang="zh-CN" altLang="en-US" sz="1200"/>
          </a:p>
          <a:p>
            <a:r>
              <a:rPr lang="zh-CN" altLang="en-US" sz="1200"/>
              <a:t>INTERVAL_TASK_ID = 'interval-task-id'</a:t>
            </a:r>
            <a:endParaRPr lang="zh-CN" altLang="en-US" sz="1200"/>
          </a:p>
          <a:p>
            <a:r>
              <a:rPr lang="zh-CN" altLang="en-US" sz="1200"/>
              <a:t> </a:t>
            </a:r>
            <a:endParaRPr lang="zh-CN" altLang="en-US" sz="1200"/>
          </a:p>
          <a:p>
            <a:r>
              <a:rPr lang="zh-CN" altLang="en-US" sz="1200"/>
              <a:t>simulated_room_temperature = multiprocessing.Value('d', 29)</a:t>
            </a:r>
            <a:endParaRPr lang="zh-CN" altLang="en-US" sz="1200"/>
          </a:p>
          <a:p>
            <a:r>
              <a:rPr lang="zh-CN" altLang="en-US" sz="1200"/>
              <a:t> </a:t>
            </a:r>
            <a:endParaRPr lang="zh-CN" altLang="en-US" sz="1200"/>
          </a:p>
          <a:p>
            <a:r>
              <a:rPr lang="zh-CN" altLang="en-US" sz="1200"/>
              <a:t>def interval_task():</a:t>
            </a:r>
            <a:endParaRPr lang="zh-CN" altLang="en-US" sz="1200"/>
          </a:p>
          <a:p>
            <a:r>
              <a:rPr lang="zh-CN" altLang="en-US" sz="1200"/>
              <a:t>    simulated_room_temperature.value = random.uniform(19, 31)</a:t>
            </a:r>
            <a:endParaRPr lang="zh-CN" altLang="en-US" sz="1200"/>
          </a:p>
          <a:p>
            <a:r>
              <a:rPr lang="zh-CN" altLang="en-US" sz="1200"/>
              <a:t> </a:t>
            </a:r>
            <a:endParaRPr lang="zh-CN" altLang="en-US" sz="1200"/>
          </a:p>
          <a:p>
            <a:r>
              <a:rPr lang="zh-CN" altLang="en-US" sz="1200"/>
              <a:t>scheduler.add_job(id=INTERVAL_TASK_ID, func=interval_task, trigger='interval', seconds=2</a:t>
            </a:r>
            <a:endParaRPr lang="zh-CN" altLang="en-US" sz="1200"/>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Flask Cli</a:t>
            </a:r>
            <a:endParaRPr lang="en-US" altLang="zh-CN"/>
          </a:p>
        </p:txBody>
      </p:sp>
      <p:sp>
        <p:nvSpPr>
          <p:cNvPr id="3" name="内容占位符 2"/>
          <p:cNvSpPr>
            <a:spLocks noGrp="1"/>
          </p:cNvSpPr>
          <p:nvPr>
            <p:ph idx="1"/>
          </p:nvPr>
        </p:nvSpPr>
        <p:spPr>
          <a:xfrm>
            <a:off x="838200" y="1211580"/>
            <a:ext cx="6159500" cy="4549140"/>
          </a:xfrm>
        </p:spPr>
        <p:txBody>
          <a:bodyPr/>
          <a:p>
            <a:r>
              <a:rPr lang="en-US" altLang="zh-CN"/>
              <a:t>References</a:t>
            </a:r>
            <a:endParaRPr lang="en-US" altLang="zh-CN"/>
          </a:p>
          <a:p>
            <a:pPr lvl="1"/>
            <a:r>
              <a:rPr lang="en-US" altLang="zh-CN"/>
              <a:t>https://flask.palletsprojects.com/en/2.2.x/cli/</a:t>
            </a:r>
            <a:endParaRPr lang="en-US" altLang="zh-CN"/>
          </a:p>
          <a:p>
            <a:pPr lvl="0"/>
            <a:r>
              <a:rPr lang="en-US" altLang="zh-CN" sz="2400"/>
              <a:t>Docker</a:t>
            </a:r>
            <a:endParaRPr lang="en-US" altLang="zh-CN" sz="2400"/>
          </a:p>
          <a:p>
            <a:pPr lvl="1"/>
            <a:r>
              <a:rPr lang="en-US" altLang="zh-CN"/>
              <a:t>sudo docker compose exec flask python manage.py create_db</a:t>
            </a:r>
            <a:endParaRPr lang="en-US" altLang="zh-CN"/>
          </a:p>
          <a:p>
            <a:pPr lvl="0"/>
            <a:endParaRPr lang="en-US" altLang="zh-CN"/>
          </a:p>
        </p:txBody>
      </p:sp>
      <p:sp>
        <p:nvSpPr>
          <p:cNvPr id="4" name="文本框 3"/>
          <p:cNvSpPr txBox="1"/>
          <p:nvPr/>
        </p:nvSpPr>
        <p:spPr>
          <a:xfrm>
            <a:off x="7230745" y="1291590"/>
            <a:ext cx="4476750" cy="3138170"/>
          </a:xfrm>
          <a:prstGeom prst="rect">
            <a:avLst/>
          </a:prstGeom>
          <a:noFill/>
          <a:ln>
            <a:solidFill>
              <a:srgbClr val="C00000"/>
            </a:solidFill>
          </a:ln>
        </p:spPr>
        <p:txBody>
          <a:bodyPr wrap="square" rtlCol="0">
            <a:spAutoFit/>
          </a:bodyPr>
          <a:p>
            <a:r>
              <a:rPr lang="zh-CN" altLang="en-US"/>
              <a:t>import click</a:t>
            </a:r>
            <a:endParaRPr lang="zh-CN" altLang="en-US"/>
          </a:p>
          <a:p>
            <a:r>
              <a:rPr lang="zh-CN" altLang="en-US"/>
              <a:t>from flask import Flask</a:t>
            </a:r>
            <a:endParaRPr lang="zh-CN" altLang="en-US"/>
          </a:p>
          <a:p>
            <a:endParaRPr lang="zh-CN" altLang="en-US"/>
          </a:p>
          <a:p>
            <a:r>
              <a:rPr lang="zh-CN" altLang="en-US"/>
              <a:t>app = Flask(__name__)</a:t>
            </a:r>
            <a:endParaRPr lang="zh-CN" altLang="en-US"/>
          </a:p>
          <a:p>
            <a:endParaRPr lang="zh-CN" altLang="en-US"/>
          </a:p>
          <a:p>
            <a:r>
              <a:rPr lang="zh-CN" altLang="en-US"/>
              <a:t>@app.cli.command("create-user")</a:t>
            </a:r>
            <a:endParaRPr lang="zh-CN" altLang="en-US"/>
          </a:p>
          <a:p>
            <a:r>
              <a:rPr lang="zh-CN" altLang="en-US"/>
              <a:t>@click.argument("name")</a:t>
            </a:r>
            <a:endParaRPr lang="zh-CN" altLang="en-US"/>
          </a:p>
          <a:p>
            <a:r>
              <a:rPr lang="zh-CN" altLang="en-US"/>
              <a:t>def create_user(name):</a:t>
            </a:r>
            <a:endParaRPr lang="zh-CN" altLang="en-US"/>
          </a:p>
          <a:p>
            <a:r>
              <a:rPr lang="zh-CN" altLang="en-US"/>
              <a:t>    ...</a:t>
            </a:r>
            <a:endParaRPr lang="zh-CN" altLang="en-US"/>
          </a:p>
          <a:p>
            <a:endParaRPr lang="zh-CN" altLang="en-US"/>
          </a:p>
          <a:p>
            <a:r>
              <a:rPr lang="en-US" altLang="zh-CN"/>
              <a:t>// run: </a:t>
            </a:r>
            <a:r>
              <a:rPr lang="zh-CN" altLang="en-US"/>
              <a:t>flask create-user admin</a:t>
            </a:r>
            <a:endParaRPr lang="zh-CN" altLang="en-US"/>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Mail</a:t>
            </a:r>
            <a:endParaRPr lang="en-US" altLang="zh-CN"/>
          </a:p>
        </p:txBody>
      </p:sp>
      <p:sp>
        <p:nvSpPr>
          <p:cNvPr id="3" name="内容占位符 2"/>
          <p:cNvSpPr>
            <a:spLocks noGrp="1"/>
          </p:cNvSpPr>
          <p:nvPr>
            <p:ph idx="1"/>
          </p:nvPr>
        </p:nvSpPr>
        <p:spPr>
          <a:xfrm>
            <a:off x="838200" y="1211580"/>
            <a:ext cx="5659755" cy="4549140"/>
          </a:xfrm>
        </p:spPr>
        <p:txBody>
          <a:bodyPr/>
          <a:p>
            <a:r>
              <a:rPr lang="en-US" altLang="zh-CN"/>
              <a:t>Intro</a:t>
            </a:r>
            <a:endParaRPr lang="en-US" altLang="zh-CN"/>
          </a:p>
          <a:p>
            <a:pPr lvl="1"/>
            <a:r>
              <a:rPr lang="en-US" altLang="zh-CN"/>
              <a:t>pip install Flask-Mail</a:t>
            </a:r>
            <a:endParaRPr lang="en-US" altLang="zh-CN"/>
          </a:p>
          <a:p>
            <a:r>
              <a:rPr lang="en-US" altLang="zh-CN"/>
              <a:t>Usage</a:t>
            </a:r>
            <a:endParaRPr lang="en-US" altLang="zh-CN"/>
          </a:p>
          <a:p>
            <a:pPr lvl="1"/>
            <a:endParaRPr lang="en-US" altLang="zh-CN"/>
          </a:p>
        </p:txBody>
      </p:sp>
      <p:sp>
        <p:nvSpPr>
          <p:cNvPr id="4" name="文本框 3"/>
          <p:cNvSpPr txBox="1"/>
          <p:nvPr/>
        </p:nvSpPr>
        <p:spPr>
          <a:xfrm>
            <a:off x="6535420" y="183515"/>
            <a:ext cx="5440680" cy="6411595"/>
          </a:xfrm>
          <a:prstGeom prst="rect">
            <a:avLst/>
          </a:prstGeom>
          <a:noFill/>
          <a:ln>
            <a:solidFill>
              <a:srgbClr val="C00000"/>
            </a:solidFill>
          </a:ln>
        </p:spPr>
        <p:txBody>
          <a:bodyPr wrap="square" rtlCol="0">
            <a:noAutofit/>
          </a:bodyPr>
          <a:p>
            <a:r>
              <a:rPr lang="en-US" altLang="zh-CN" sz="1200"/>
              <a:t>from flask import Flask, render_template, request</a:t>
            </a:r>
            <a:endParaRPr lang="en-US" altLang="zh-CN" sz="1200"/>
          </a:p>
          <a:p>
            <a:r>
              <a:rPr lang="en-US" altLang="zh-CN" sz="1200"/>
              <a:t>from flask_mail import Mail, Message</a:t>
            </a:r>
            <a:endParaRPr lang="en-US" altLang="zh-CN" sz="1200"/>
          </a:p>
          <a:p>
            <a:endParaRPr lang="en-US" altLang="zh-CN" sz="1200"/>
          </a:p>
          <a:p>
            <a:r>
              <a:rPr lang="en-US" altLang="zh-CN" sz="1200"/>
              <a:t>app = Flask(__name__)</a:t>
            </a:r>
            <a:endParaRPr lang="en-US" altLang="zh-CN" sz="1200"/>
          </a:p>
          <a:p>
            <a:endParaRPr lang="en-US" altLang="zh-CN" sz="1200"/>
          </a:p>
          <a:p>
            <a:r>
              <a:rPr lang="en-US" altLang="zh-CN" sz="1200"/>
              <a:t># Configuration for Flask-Mail</a:t>
            </a:r>
            <a:endParaRPr lang="en-US" altLang="zh-CN" sz="1200"/>
          </a:p>
          <a:p>
            <a:r>
              <a:rPr lang="en-US" altLang="zh-CN" sz="1200"/>
              <a:t>app.config['MAIL_SERVER'] = 'smtp.example.com'  # Replace with your mail server</a:t>
            </a:r>
            <a:endParaRPr lang="en-US" altLang="zh-CN" sz="1200"/>
          </a:p>
          <a:p>
            <a:r>
              <a:rPr lang="en-US" altLang="zh-CN" sz="1200"/>
              <a:t>app.config['MAIL_PORT'] = 587  # Or the appropriate port for your server</a:t>
            </a:r>
            <a:endParaRPr lang="en-US" altLang="zh-CN" sz="1200"/>
          </a:p>
          <a:p>
            <a:r>
              <a:rPr lang="en-US" altLang="zh-CN" sz="1200"/>
              <a:t>app.config['MAIL_USE_TLS'] = True</a:t>
            </a:r>
            <a:endParaRPr lang="en-US" altLang="zh-CN" sz="1200"/>
          </a:p>
          <a:p>
            <a:r>
              <a:rPr lang="en-US" altLang="zh-CN" sz="1200"/>
              <a:t>app.config['MAIL_USERNAME'] = 'your-email@example.com'  # Your email address</a:t>
            </a:r>
            <a:endParaRPr lang="en-US" altLang="zh-CN" sz="1200"/>
          </a:p>
          <a:p>
            <a:r>
              <a:rPr lang="en-US" altLang="zh-CN" sz="1200"/>
              <a:t>app.config['MAIL_PASSWORD'] = 'your-password'  # Your email password or app-specific password</a:t>
            </a:r>
            <a:endParaRPr lang="en-US" altLang="zh-CN" sz="1200"/>
          </a:p>
          <a:p>
            <a:r>
              <a:rPr lang="en-US" altLang="zh-CN" sz="1200"/>
              <a:t>app.config['MAIL_DEFAULT_SENDER'] = 'your-email@example.com'  # Default sender</a:t>
            </a:r>
            <a:endParaRPr lang="en-US" altLang="zh-CN" sz="1200"/>
          </a:p>
          <a:p>
            <a:endParaRPr lang="en-US" altLang="zh-CN" sz="1200"/>
          </a:p>
          <a:p>
            <a:r>
              <a:rPr lang="en-US" altLang="zh-CN" sz="1200"/>
              <a:t>mail = Mail(app)</a:t>
            </a:r>
            <a:endParaRPr lang="en-US" altLang="zh-CN" sz="1200"/>
          </a:p>
          <a:p>
            <a:endParaRPr lang="en-US" altLang="zh-CN" sz="1200"/>
          </a:p>
          <a:p>
            <a:r>
              <a:rPr lang="en-US" altLang="zh-CN" sz="1200"/>
              <a:t>@app.route('/send-mail', methods=['POST'])</a:t>
            </a:r>
            <a:endParaRPr lang="en-US" altLang="zh-CN" sz="1200"/>
          </a:p>
          <a:p>
            <a:r>
              <a:rPr lang="en-US" altLang="zh-CN" sz="1200"/>
              <a:t>def send_mail():</a:t>
            </a:r>
            <a:endParaRPr lang="en-US" altLang="zh-CN" sz="1200"/>
          </a:p>
          <a:p>
            <a:r>
              <a:rPr lang="en-US" altLang="zh-CN" sz="1200"/>
              <a:t>    recipient = request.form.get('recipient')</a:t>
            </a:r>
            <a:endParaRPr lang="en-US" altLang="zh-CN" sz="1200"/>
          </a:p>
          <a:p>
            <a:r>
              <a:rPr lang="en-US" altLang="zh-CN" sz="1200"/>
              <a:t>    subject = request.form.get('subject')</a:t>
            </a:r>
            <a:endParaRPr lang="en-US" altLang="zh-CN" sz="1200"/>
          </a:p>
          <a:p>
            <a:r>
              <a:rPr lang="en-US" altLang="zh-CN" sz="1200"/>
              <a:t>    body = request.form.get('body')</a:t>
            </a:r>
            <a:endParaRPr lang="en-US" altLang="zh-CN" sz="1200"/>
          </a:p>
          <a:p>
            <a:endParaRPr lang="en-US" altLang="zh-CN" sz="1200"/>
          </a:p>
          <a:p>
            <a:r>
              <a:rPr lang="en-US" altLang="zh-CN" sz="1200"/>
              <a:t>    msg = Message(subject, recipients=[recipient])</a:t>
            </a:r>
            <a:endParaRPr lang="en-US" altLang="zh-CN" sz="1200"/>
          </a:p>
          <a:p>
            <a:r>
              <a:rPr lang="en-US" altLang="zh-CN" sz="1200"/>
              <a:t>    msg.body = body</a:t>
            </a:r>
            <a:endParaRPr lang="en-US" altLang="zh-CN" sz="1200"/>
          </a:p>
          <a:p>
            <a:endParaRPr lang="en-US" altLang="zh-CN" sz="1200"/>
          </a:p>
          <a:p>
            <a:r>
              <a:rPr lang="en-US" altLang="zh-CN" sz="1200"/>
              <a:t>    try:</a:t>
            </a:r>
            <a:endParaRPr lang="en-US" altLang="zh-CN" sz="1200"/>
          </a:p>
          <a:p>
            <a:r>
              <a:rPr lang="en-US" altLang="zh-CN" sz="1200"/>
              <a:t>        mail.send(msg)</a:t>
            </a:r>
            <a:endParaRPr lang="en-US" altLang="zh-CN" sz="1200"/>
          </a:p>
          <a:p>
            <a:r>
              <a:rPr lang="en-US" altLang="zh-CN" sz="1200"/>
              <a:t>        return "Email sent successfully!"</a:t>
            </a:r>
            <a:endParaRPr lang="en-US" altLang="zh-CN" sz="1200"/>
          </a:p>
          <a:p>
            <a:r>
              <a:rPr lang="en-US" altLang="zh-CN" sz="1200"/>
              <a:t>    except Exception as e:</a:t>
            </a:r>
            <a:endParaRPr lang="en-US" altLang="zh-CN" sz="1200"/>
          </a:p>
          <a:p>
            <a:r>
              <a:rPr lang="en-US" altLang="zh-CN" sz="1200"/>
              <a:t>        return str(e)</a:t>
            </a:r>
            <a:endParaRPr lang="en-US" altLang="zh-CN" sz="1200"/>
          </a:p>
          <a:p>
            <a:endParaRPr lang="en-US" altLang="zh-CN" sz="1200"/>
          </a:p>
          <a:p>
            <a:r>
              <a:rPr lang="en-US" altLang="zh-CN" sz="1200"/>
              <a:t>if __name__ == '__main__':</a:t>
            </a:r>
            <a:endParaRPr lang="en-US" altLang="zh-CN" sz="1200"/>
          </a:p>
          <a:p>
            <a:r>
              <a:rPr lang="en-US" altLang="zh-CN" sz="1200"/>
              <a:t>    app.run(debug=True)</a:t>
            </a:r>
            <a:endParaRPr lang="en-US" altLang="zh-CN" sz="1200"/>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SMS</a:t>
            </a:r>
            <a:endParaRPr lang="en-US" altLang="zh-CN"/>
          </a:p>
        </p:txBody>
      </p:sp>
      <p:sp>
        <p:nvSpPr>
          <p:cNvPr id="3" name="内容占位符 2"/>
          <p:cNvSpPr>
            <a:spLocks noGrp="1"/>
          </p:cNvSpPr>
          <p:nvPr>
            <p:ph idx="1"/>
          </p:nvPr>
        </p:nvSpPr>
        <p:spPr>
          <a:xfrm>
            <a:off x="838200" y="1211580"/>
            <a:ext cx="4358640" cy="4549140"/>
          </a:xfrm>
        </p:spPr>
        <p:txBody>
          <a:bodyPr/>
          <a:p>
            <a:r>
              <a:rPr lang="en-US" altLang="zh-CN"/>
              <a:t>Overview</a:t>
            </a:r>
            <a:endParaRPr lang="en-US" altLang="zh-CN"/>
          </a:p>
        </p:txBody>
      </p:sp>
      <p:pic>
        <p:nvPicPr>
          <p:cNvPr id="4" name="图片 3"/>
          <p:cNvPicPr/>
          <p:nvPr/>
        </p:nvPicPr>
        <p:blipFill>
          <a:blip r:embed="rId1"/>
          <a:stretch>
            <a:fillRect/>
          </a:stretch>
        </p:blipFill>
        <p:spPr>
          <a:xfrm>
            <a:off x="7074853" y="1211580"/>
            <a:ext cx="4162424" cy="1390650"/>
          </a:xfrm>
          <a:prstGeom prst="rect">
            <a:avLst/>
          </a:prstGeom>
        </p:spPr>
      </p:pic>
    </p:spTree>
    <p:custDataLst>
      <p:tags r:id="rId2"/>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Password Handling</a:t>
            </a:r>
            <a:endParaRPr lang="en-US" altLang="zh-CN"/>
          </a:p>
        </p:txBody>
      </p:sp>
      <p:sp>
        <p:nvSpPr>
          <p:cNvPr id="3" name="内容占位符 2"/>
          <p:cNvSpPr>
            <a:spLocks noGrp="1"/>
          </p:cNvSpPr>
          <p:nvPr>
            <p:ph idx="1"/>
          </p:nvPr>
        </p:nvSpPr>
        <p:spPr>
          <a:xfrm>
            <a:off x="838200" y="1211580"/>
            <a:ext cx="5257800" cy="4549140"/>
          </a:xfrm>
        </p:spPr>
        <p:txBody>
          <a:bodyPr/>
          <a:p>
            <a:r>
              <a:rPr lang="en-US" altLang="zh-CN"/>
              <a:t>Intro</a:t>
            </a:r>
            <a:endParaRPr lang="en-US" altLang="zh-CN"/>
          </a:p>
          <a:p>
            <a:pPr lvl="1"/>
            <a:r>
              <a:rPr lang="en-US" altLang="zh-CN"/>
              <a:t>Using bcrypt to generate hash for password</a:t>
            </a:r>
            <a:endParaRPr lang="en-US" altLang="zh-CN"/>
          </a:p>
        </p:txBody>
      </p:sp>
      <p:sp>
        <p:nvSpPr>
          <p:cNvPr id="4" name="文本框 3"/>
          <p:cNvSpPr txBox="1"/>
          <p:nvPr/>
        </p:nvSpPr>
        <p:spPr>
          <a:xfrm>
            <a:off x="6564630" y="914400"/>
            <a:ext cx="5220335" cy="5692775"/>
          </a:xfrm>
          <a:prstGeom prst="rect">
            <a:avLst/>
          </a:prstGeom>
          <a:noFill/>
        </p:spPr>
        <p:txBody>
          <a:bodyPr wrap="square" rtlCol="0">
            <a:spAutoFit/>
          </a:bodyPr>
          <a:p>
            <a:r>
              <a:rPr lang="en-US" altLang="zh-CN" sz="1400"/>
              <a:t>import bcrypt</a:t>
            </a:r>
            <a:endParaRPr lang="en-US" altLang="zh-CN" sz="1400"/>
          </a:p>
          <a:p>
            <a:endParaRPr lang="en-US" altLang="zh-CN" sz="1400"/>
          </a:p>
          <a:p>
            <a:r>
              <a:rPr lang="en-US" altLang="zh-CN" sz="1400"/>
              <a:t># Hash a password</a:t>
            </a:r>
            <a:endParaRPr lang="en-US" altLang="zh-CN" sz="1400"/>
          </a:p>
          <a:p>
            <a:r>
              <a:rPr lang="en-US" altLang="zh-CN" sz="1400"/>
              <a:t>def hash_password(password: str) -&gt; bytes:</a:t>
            </a:r>
            <a:endParaRPr lang="en-US" altLang="zh-CN" sz="1400"/>
          </a:p>
          <a:p>
            <a:r>
              <a:rPr lang="en-US" altLang="zh-CN" sz="1400"/>
              <a:t>    # Generate a salt and hash the password</a:t>
            </a:r>
            <a:endParaRPr lang="en-US" altLang="zh-CN" sz="1400"/>
          </a:p>
          <a:p>
            <a:r>
              <a:rPr lang="en-US" altLang="zh-CN" sz="1400"/>
              <a:t>    salt = bcrypt.gensalt()  # Automatically generates a secure salt</a:t>
            </a:r>
            <a:endParaRPr lang="en-US" altLang="zh-CN" sz="1400"/>
          </a:p>
          <a:p>
            <a:r>
              <a:rPr lang="en-US" altLang="zh-CN" sz="1400"/>
              <a:t>    hashed_password = bcrypt.hashpw(password.encode('utf-8'), salt)</a:t>
            </a:r>
            <a:endParaRPr lang="en-US" altLang="zh-CN" sz="1400"/>
          </a:p>
          <a:p>
            <a:r>
              <a:rPr lang="en-US" altLang="zh-CN" sz="1400"/>
              <a:t>    return hashed_password</a:t>
            </a:r>
            <a:endParaRPr lang="en-US" altLang="zh-CN" sz="1400"/>
          </a:p>
          <a:p>
            <a:endParaRPr lang="en-US" altLang="zh-CN" sz="1400"/>
          </a:p>
          <a:p>
            <a:r>
              <a:rPr lang="en-US" altLang="zh-CN" sz="1400"/>
              <a:t># Verify a password</a:t>
            </a:r>
            <a:endParaRPr lang="en-US" altLang="zh-CN" sz="1400"/>
          </a:p>
          <a:p>
            <a:r>
              <a:rPr lang="en-US" altLang="zh-CN" sz="1400"/>
              <a:t>def verify_password(stored_hash: bytes, input_password: str) -&gt; bool:</a:t>
            </a:r>
            <a:endParaRPr lang="en-US" altLang="zh-CN" sz="1400"/>
          </a:p>
          <a:p>
            <a:r>
              <a:rPr lang="en-US" altLang="zh-CN" sz="1400"/>
              <a:t>    # Compare the input password with the stored hash</a:t>
            </a:r>
            <a:endParaRPr lang="en-US" altLang="zh-CN" sz="1400"/>
          </a:p>
          <a:p>
            <a:r>
              <a:rPr lang="en-US" altLang="zh-CN" sz="1400"/>
              <a:t>    return bcrypt.checkpw(input_password.encode('utf-8'), stored_hash)</a:t>
            </a:r>
            <a:endParaRPr lang="en-US" altLang="zh-CN" sz="1400"/>
          </a:p>
          <a:p>
            <a:endParaRPr lang="en-US" altLang="zh-CN" sz="1400"/>
          </a:p>
          <a:p>
            <a:r>
              <a:rPr lang="en-US" altLang="zh-CN" sz="1400"/>
              <a:t># Example usage</a:t>
            </a:r>
            <a:endParaRPr lang="en-US" altLang="zh-CN" sz="1400"/>
          </a:p>
          <a:p>
            <a:r>
              <a:rPr lang="en-US" altLang="zh-CN" sz="1400"/>
              <a:t>password = "my_secure_password"</a:t>
            </a:r>
            <a:endParaRPr lang="en-US" altLang="zh-CN" sz="1400"/>
          </a:p>
          <a:p>
            <a:r>
              <a:rPr lang="en-US" altLang="zh-CN" sz="1400"/>
              <a:t>hashed = hash_password(password)</a:t>
            </a:r>
            <a:endParaRPr lang="en-US" altLang="zh-CN" sz="1400"/>
          </a:p>
          <a:p>
            <a:r>
              <a:rPr lang="en-US" altLang="zh-CN" sz="1400"/>
              <a:t>print("Hashed Password:", hashed)</a:t>
            </a:r>
            <a:endParaRPr lang="en-US" altLang="zh-CN" sz="1400"/>
          </a:p>
          <a:p>
            <a:endParaRPr lang="en-US" altLang="zh-CN" sz="1400"/>
          </a:p>
          <a:p>
            <a:r>
              <a:rPr lang="en-US" altLang="zh-CN" sz="1400"/>
              <a:t># Verify the password</a:t>
            </a:r>
            <a:endParaRPr lang="en-US" altLang="zh-CN" sz="1400"/>
          </a:p>
          <a:p>
            <a:r>
              <a:rPr lang="en-US" altLang="zh-CN" sz="1400"/>
              <a:t>is_valid = verify_password(hashed, "my_secure_password")</a:t>
            </a:r>
            <a:endParaRPr lang="en-US" altLang="zh-CN" sz="1400"/>
          </a:p>
          <a:p>
            <a:r>
              <a:rPr lang="en-US" altLang="zh-CN" sz="1400"/>
              <a:t>print("Password Valid:", is_valid)</a:t>
            </a:r>
            <a:endParaRPr lang="en-US" altLang="zh-CN" sz="1400"/>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Others</a:t>
            </a:r>
            <a:endParaRPr lang="en-US" altLang="zh-CN"/>
          </a:p>
        </p:txBody>
      </p:sp>
      <p:sp>
        <p:nvSpPr>
          <p:cNvPr id="3" name="内容占位符 2"/>
          <p:cNvSpPr>
            <a:spLocks noGrp="1"/>
          </p:cNvSpPr>
          <p:nvPr>
            <p:ph idx="1"/>
          </p:nvPr>
        </p:nvSpPr>
        <p:spPr>
          <a:xfrm>
            <a:off x="838200" y="1211580"/>
            <a:ext cx="5257800" cy="4549140"/>
          </a:xfrm>
        </p:spPr>
        <p:txBody>
          <a:bodyPr/>
          <a:p>
            <a:r>
              <a:rPr lang="en-US" altLang="zh-CN"/>
              <a:t>Access objects</a:t>
            </a:r>
            <a:endParaRPr lang="en-US" altLang="zh-CN"/>
          </a:p>
          <a:p>
            <a:pPr lvl="1"/>
            <a:r>
              <a:rPr lang="en-US" altLang="zh-CN"/>
              <a:t>from flask import current_app as app</a:t>
            </a:r>
            <a:endParaRPr lang="en-US" altLang="zh-CN"/>
          </a:p>
          <a:p>
            <a:pPr lvl="1"/>
            <a:r>
              <a:rPr lang="en-US" altLang="zh-CN"/>
              <a:t>with app.app_context():</a:t>
            </a:r>
            <a:endParaRPr lang="en-US" altLang="zh-CN"/>
          </a:p>
          <a:p>
            <a:pPr lvl="2"/>
            <a:r>
              <a:rPr lang="en-US" altLang="zh-CN"/>
              <a:t>// codes using app</a:t>
            </a:r>
            <a:endParaRPr lang="en-US" altLang="zh-CN"/>
          </a:p>
        </p:txBody>
      </p:sp>
      <p:sp>
        <p:nvSpPr>
          <p:cNvPr id="4" name="文本框 3"/>
          <p:cNvSpPr txBox="1"/>
          <p:nvPr/>
        </p:nvSpPr>
        <p:spPr>
          <a:xfrm>
            <a:off x="7339965" y="1138555"/>
            <a:ext cx="4128770" cy="2584450"/>
          </a:xfrm>
          <a:prstGeom prst="rect">
            <a:avLst/>
          </a:prstGeom>
          <a:noFill/>
          <a:ln>
            <a:solidFill>
              <a:srgbClr val="C00000"/>
            </a:solidFill>
          </a:ln>
        </p:spPr>
        <p:txBody>
          <a:bodyPr wrap="square" rtlCol="0">
            <a:spAutoFit/>
          </a:bodyPr>
          <a:p>
            <a:r>
              <a:rPr lang="en-US" altLang="zh-CN"/>
              <a:t># List all endpoints</a:t>
            </a:r>
            <a:endParaRPr lang="en-US" altLang="zh-CN"/>
          </a:p>
          <a:p>
            <a:r>
              <a:rPr lang="en-US" altLang="zh-CN"/>
              <a:t>with app.app_context():</a:t>
            </a:r>
            <a:endParaRPr lang="en-US" altLang="zh-CN"/>
          </a:p>
          <a:p>
            <a:r>
              <a:rPr lang="en-US" altLang="zh-CN"/>
              <a:t>    print("Listing all endpoints:")</a:t>
            </a:r>
            <a:endParaRPr lang="en-US" altLang="zh-CN"/>
          </a:p>
          <a:p>
            <a:r>
              <a:rPr lang="en-US" altLang="zh-CN"/>
              <a:t>    for rule in app.url_map.iter_rules():</a:t>
            </a:r>
            <a:endParaRPr lang="en-US" altLang="zh-CN"/>
          </a:p>
          <a:p>
            <a:r>
              <a:rPr lang="en-US" altLang="zh-CN"/>
              <a:t>        print(f"Endpoint: {rule.endpoint}")</a:t>
            </a:r>
            <a:endParaRPr lang="en-US" altLang="zh-CN"/>
          </a:p>
          <a:p>
            <a:r>
              <a:rPr lang="en-US" altLang="zh-CN"/>
              <a:t>        print(f"Methods: {', '.join(rule.methods)}")</a:t>
            </a:r>
            <a:endParaRPr lang="en-US" altLang="zh-CN"/>
          </a:p>
          <a:p>
            <a:r>
              <a:rPr lang="en-US" altLang="zh-CN"/>
              <a:t>        print(f"Route: {rule.rule}")</a:t>
            </a:r>
            <a:endParaRPr lang="en-US" altLang="zh-CN"/>
          </a:p>
          <a:p>
            <a:r>
              <a:rPr lang="en-US" altLang="zh-CN"/>
              <a:t>        print("-" * 40)</a:t>
            </a:r>
            <a:endParaRPr lang="en-US" altLang="zh-CN"/>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Performance</a:t>
            </a:r>
            <a:endParaRPr lang="en-US" altLang="zh-CN"/>
          </a:p>
        </p:txBody>
      </p:sp>
      <p:sp>
        <p:nvSpPr>
          <p:cNvPr id="3" name="内容占位符 2"/>
          <p:cNvSpPr>
            <a:spLocks noGrp="1"/>
          </p:cNvSpPr>
          <p:nvPr>
            <p:ph idx="1"/>
          </p:nvPr>
        </p:nvSpPr>
        <p:spPr/>
        <p:txBody>
          <a:bodyPr/>
          <a:p>
            <a:r>
              <a:rPr lang="en-US" altLang="zh-CN"/>
              <a:t>References</a:t>
            </a:r>
            <a:endParaRPr lang="en-US" altLang="zh-CN"/>
          </a:p>
          <a:p>
            <a:pPr lvl="1"/>
            <a:r>
              <a:rPr lang="en-US" altLang="zh-CN"/>
              <a:t>https://www.nginx.com/blog/maximizing-python-performance-with-nginx-parti-web-serving-and-caching/</a:t>
            </a:r>
            <a:endParaRPr lang="en-US" altLang="zh-CN"/>
          </a:p>
          <a:p>
            <a:pPr lvl="1"/>
            <a:r>
              <a:rPr lang="en-US" altLang="zh-CN"/>
              <a:t>https://tghw.com/blog/microcaching-for-a-faster-site</a:t>
            </a:r>
            <a:endParaRPr lang="en-US" altLang="zh-CN"/>
          </a:p>
        </p:txBody>
      </p:sp>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Hooks</a:t>
            </a:r>
            <a:endParaRPr lang="en-US" altLang="zh-CN"/>
          </a:p>
        </p:txBody>
      </p:sp>
      <p:sp>
        <p:nvSpPr>
          <p:cNvPr id="3" name="内容占位符 2"/>
          <p:cNvSpPr>
            <a:spLocks noGrp="1"/>
          </p:cNvSpPr>
          <p:nvPr>
            <p:ph idx="1"/>
          </p:nvPr>
        </p:nvSpPr>
        <p:spPr/>
        <p:txBody>
          <a:bodyPr/>
          <a:p>
            <a:r>
              <a:rPr lang="en-US" altLang="zh-CN"/>
              <a:t>@app.before_request</a:t>
            </a:r>
            <a:endParaRPr lang="en-US" altLang="zh-CN"/>
          </a:p>
          <a:p>
            <a:pPr lvl="1"/>
            <a:r>
              <a:rPr lang="en-US" altLang="zh-CN"/>
              <a:t>Executed before handing request</a:t>
            </a:r>
            <a:endParaRPr lang="en-US" altLang="zh-CN"/>
          </a:p>
          <a:p>
            <a:pPr lvl="0"/>
            <a:r>
              <a:rPr lang="en-US" altLang="zh-CN"/>
              <a:t>@app.after_request</a:t>
            </a:r>
            <a:endParaRPr lang="en-US" altLang="zh-CN"/>
          </a:p>
          <a:p>
            <a:pPr lvl="1"/>
            <a:r>
              <a:rPr lang="en-US" altLang="zh-CN"/>
              <a:t>Executed before response</a:t>
            </a:r>
            <a:endParaRPr lang="en-US" altLang="zh-CN"/>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en-US" altLang="zh-CN"/>
              <a:t>Task Queue</a:t>
            </a:r>
            <a:endParaRPr lang="en-US" altLang="zh-CN"/>
          </a:p>
        </p:txBody>
      </p:sp>
      <p:sp>
        <p:nvSpPr>
          <p:cNvPr id="5" name="文本占位符 4"/>
          <p:cNvSpPr>
            <a:spLocks noGrp="1"/>
          </p:cNvSpPr>
          <p:nvPr>
            <p:ph type="body" idx="1"/>
          </p:nvPr>
        </p:nvSpPr>
        <p:spPr/>
        <p:txBody>
          <a:bodyPr/>
          <a:p>
            <a:r>
              <a:rPr lang="en-US" altLang="zh-CN"/>
              <a:t>celery</a:t>
            </a:r>
            <a:endParaRPr lang="en-US" altLang="zh-CN"/>
          </a:p>
        </p:txBody>
      </p:sp>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Celery - Intro</a:t>
            </a:r>
            <a:endParaRPr lang="en-US" altLang="zh-CN"/>
          </a:p>
        </p:txBody>
      </p:sp>
      <p:sp>
        <p:nvSpPr>
          <p:cNvPr id="3" name="内容占位符 2"/>
          <p:cNvSpPr>
            <a:spLocks noGrp="1"/>
          </p:cNvSpPr>
          <p:nvPr>
            <p:ph idx="1"/>
          </p:nvPr>
        </p:nvSpPr>
        <p:spPr>
          <a:xfrm>
            <a:off x="838200" y="1211580"/>
            <a:ext cx="6800215" cy="5018405"/>
          </a:xfrm>
        </p:spPr>
        <p:txBody>
          <a:bodyPr>
            <a:noAutofit/>
          </a:bodyPr>
          <a:p>
            <a:r>
              <a:rPr lang="en-US" altLang="zh-CN" sz="1600"/>
              <a:t>Reference</a:t>
            </a:r>
            <a:endParaRPr lang="en-US" altLang="zh-CN" sz="1600"/>
          </a:p>
          <a:p>
            <a:pPr lvl="1"/>
            <a:r>
              <a:rPr lang="en-US" altLang="zh-CN" sz="1400" b="1">
                <a:sym typeface="+mn-ea"/>
              </a:rPr>
              <a:t>https://blog.miguelgrinberg.com/post/using-celery-with-flask</a:t>
            </a:r>
            <a:endParaRPr lang="en-US" altLang="zh-CN" sz="1400" b="1">
              <a:sym typeface="+mn-ea"/>
            </a:endParaRPr>
          </a:p>
          <a:p>
            <a:pPr lvl="1"/>
            <a:r>
              <a:rPr lang="en-US" altLang="zh-CN" sz="1400" b="1"/>
              <a:t>https://testdriven.io/blog/flask-and-celery/</a:t>
            </a:r>
            <a:endParaRPr lang="en-US" altLang="zh-CN" sz="1400" b="1"/>
          </a:p>
          <a:p>
            <a:pPr lvl="1"/>
            <a:r>
              <a:rPr lang="en-US" altLang="zh-CN" sz="1400" b="1"/>
              <a:t>https://flask.palletsprojects.com/en/2.2.x/patterns/celery/</a:t>
            </a:r>
            <a:endParaRPr lang="en-US" altLang="zh-CN" sz="1400" b="1"/>
          </a:p>
          <a:p>
            <a:pPr lvl="1"/>
            <a:r>
              <a:rPr lang="en-US" altLang="zh-CN" sz="1400"/>
              <a:t>https://docs.celeryq.dev/en/latest/</a:t>
            </a:r>
            <a:endParaRPr lang="en-US" altLang="zh-CN" sz="1400"/>
          </a:p>
          <a:p>
            <a:pPr lvl="1"/>
            <a:r>
              <a:rPr lang="en-US" altLang="zh-CN" sz="1400"/>
              <a:t>https://medium.com/@frassetto.stefano/flask-celery-howto-d106958a15fe</a:t>
            </a:r>
            <a:endParaRPr lang="en-US" altLang="zh-CN" sz="1400"/>
          </a:p>
          <a:p>
            <a:r>
              <a:rPr lang="en-US" altLang="zh-CN" sz="1600"/>
              <a:t>Intro</a:t>
            </a:r>
            <a:endParaRPr lang="en-US" altLang="zh-CN" sz="1600"/>
          </a:p>
          <a:p>
            <a:pPr lvl="1"/>
            <a:r>
              <a:rPr lang="en-US" altLang="zh-CN" sz="1400" b="1"/>
              <a:t>A powerful task queue</a:t>
            </a:r>
            <a:endParaRPr lang="en-US" altLang="zh-CN" sz="1400" b="1"/>
          </a:p>
          <a:p>
            <a:pPr lvl="1"/>
            <a:r>
              <a:rPr lang="en-US" altLang="zh-CN" sz="1400"/>
              <a:t>pip install celery</a:t>
            </a:r>
            <a:endParaRPr lang="en-US" altLang="zh-CN" sz="1400"/>
          </a:p>
          <a:p>
            <a:pPr lvl="1"/>
            <a:r>
              <a:rPr lang="en-US" altLang="zh-CN" sz="1400"/>
              <a:t>https://flask.palletsprojects.com/en/1.1.x/patterns/celery/</a:t>
            </a:r>
            <a:endParaRPr lang="en-US" altLang="zh-CN" sz="1400"/>
          </a:p>
          <a:p>
            <a:pPr lvl="1"/>
            <a:r>
              <a:rPr lang="en-US" altLang="zh-CN" sz="1400"/>
              <a:t>Depends a message queue broker service (redis)</a:t>
            </a:r>
            <a:endParaRPr lang="en-US" altLang="zh-CN" sz="1400"/>
          </a:p>
          <a:p>
            <a:pPr lvl="1"/>
            <a:r>
              <a:rPr lang="en-US" altLang="zh-CN" sz="1400"/>
              <a:t>A celery worker process needs to run to receive and execute the task</a:t>
            </a:r>
            <a:endParaRPr lang="en-US" altLang="zh-CN" sz="1400"/>
          </a:p>
          <a:p>
            <a:pPr lvl="0"/>
            <a:r>
              <a:rPr lang="en-US" altLang="zh-CN" sz="1600"/>
              <a:t>Usage</a:t>
            </a:r>
            <a:endParaRPr lang="en-US" altLang="zh-CN" sz="1600"/>
          </a:p>
          <a:p>
            <a:pPr lvl="1"/>
            <a:r>
              <a:rPr lang="en-US" altLang="zh-CN" sz="1400"/>
              <a:t>Celery(name, backend='url_backend' broker='url_broker')</a:t>
            </a:r>
            <a:endParaRPr lang="en-US" altLang="zh-CN" sz="1400"/>
          </a:p>
          <a:p>
            <a:pPr lvl="2"/>
            <a:r>
              <a:rPr lang="en-US" altLang="zh-CN" sz="1200"/>
              <a:t>result backend</a:t>
            </a:r>
            <a:endParaRPr lang="en-US" altLang="zh-CN" sz="1200"/>
          </a:p>
          <a:p>
            <a:pPr lvl="1"/>
            <a:r>
              <a:rPr lang="en-US" altLang="zh-CN" sz="1400"/>
              <a:t>create celery object along with app, before blueprint register</a:t>
            </a:r>
            <a:endParaRPr lang="en-US" altLang="zh-CN" sz="1400"/>
          </a:p>
          <a:p>
            <a:pPr lvl="1"/>
            <a:r>
              <a:rPr lang="en-US" altLang="zh-CN" sz="1400"/>
              <a:t>write celery.task function (must be json serializable)</a:t>
            </a:r>
            <a:endParaRPr lang="en-US" altLang="zh-CN" sz="1400"/>
          </a:p>
        </p:txBody>
      </p:sp>
      <p:sp>
        <p:nvSpPr>
          <p:cNvPr id="4" name="圆角矩形 3"/>
          <p:cNvSpPr/>
          <p:nvPr/>
        </p:nvSpPr>
        <p:spPr>
          <a:xfrm>
            <a:off x="7830820" y="1121410"/>
            <a:ext cx="1109345" cy="23990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Celery Worker Server</a:t>
            </a:r>
            <a:endParaRPr lang="en-US" altLang="zh-CN"/>
          </a:p>
        </p:txBody>
      </p:sp>
      <p:sp>
        <p:nvSpPr>
          <p:cNvPr id="5" name="圆角矩形 4"/>
          <p:cNvSpPr/>
          <p:nvPr/>
        </p:nvSpPr>
        <p:spPr>
          <a:xfrm>
            <a:off x="9240520" y="1121410"/>
            <a:ext cx="1109345" cy="23990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Broker Service</a:t>
            </a:r>
            <a:endParaRPr lang="en-US" altLang="zh-CN"/>
          </a:p>
          <a:p>
            <a:pPr algn="ctr"/>
            <a:r>
              <a:rPr lang="en-US" altLang="zh-CN"/>
              <a:t>(redis)</a:t>
            </a:r>
            <a:endParaRPr lang="en-US" altLang="zh-CN"/>
          </a:p>
        </p:txBody>
      </p:sp>
      <p:sp>
        <p:nvSpPr>
          <p:cNvPr id="6" name="圆角矩形 5"/>
          <p:cNvSpPr/>
          <p:nvPr/>
        </p:nvSpPr>
        <p:spPr>
          <a:xfrm>
            <a:off x="10636250" y="1121410"/>
            <a:ext cx="1109345" cy="23990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Celery Client</a:t>
            </a:r>
            <a:endParaRPr lang="en-US" altLang="zh-CN"/>
          </a:p>
        </p:txBody>
      </p:sp>
      <p:sp>
        <p:nvSpPr>
          <p:cNvPr id="7" name="左右箭头 6"/>
          <p:cNvSpPr/>
          <p:nvPr/>
        </p:nvSpPr>
        <p:spPr>
          <a:xfrm>
            <a:off x="8957310" y="2268220"/>
            <a:ext cx="286385" cy="18288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左右箭头 7"/>
          <p:cNvSpPr/>
          <p:nvPr/>
        </p:nvSpPr>
        <p:spPr>
          <a:xfrm>
            <a:off x="10349865" y="2286635"/>
            <a:ext cx="286385" cy="18288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文本框 8"/>
          <p:cNvSpPr txBox="1"/>
          <p:nvPr/>
        </p:nvSpPr>
        <p:spPr>
          <a:xfrm>
            <a:off x="7254875" y="3727450"/>
            <a:ext cx="4653915" cy="2861310"/>
          </a:xfrm>
          <a:prstGeom prst="rect">
            <a:avLst/>
          </a:prstGeom>
          <a:noFill/>
          <a:ln>
            <a:solidFill>
              <a:srgbClr val="FF0000"/>
            </a:solidFill>
          </a:ln>
        </p:spPr>
        <p:txBody>
          <a:bodyPr wrap="square" rtlCol="0">
            <a:spAutoFit/>
          </a:bodyPr>
          <a:p>
            <a:r>
              <a:rPr lang="zh-CN" altLang="en-US" sz="1200"/>
              <a:t>from celery import Celery</a:t>
            </a:r>
            <a:endParaRPr lang="zh-CN" altLang="en-US" sz="1200"/>
          </a:p>
          <a:p>
            <a:endParaRPr lang="zh-CN" altLang="en-US" sz="1200"/>
          </a:p>
          <a:p>
            <a:r>
              <a:rPr lang="zh-CN" altLang="en-US" sz="1200"/>
              <a:t>def make_celery(app):</a:t>
            </a:r>
            <a:endParaRPr lang="zh-CN" altLang="en-US" sz="1200"/>
          </a:p>
          <a:p>
            <a:r>
              <a:rPr lang="zh-CN" altLang="en-US" sz="1200"/>
              <a:t>    celery = Celery(app.import_name, backend=app.config['CELERY_RESULT_BACKEND'],</a:t>
            </a:r>
            <a:endParaRPr lang="zh-CN" altLang="en-US" sz="1200"/>
          </a:p>
          <a:p>
            <a:r>
              <a:rPr lang="zh-CN" altLang="en-US" sz="1200"/>
              <a:t>                    broker=app.config['CELERY_BROKER_URL'])</a:t>
            </a:r>
            <a:endParaRPr lang="zh-CN" altLang="en-US" sz="1200"/>
          </a:p>
          <a:p>
            <a:r>
              <a:rPr lang="zh-CN" altLang="en-US" sz="1200"/>
              <a:t>    celery.conf.update(app.config)</a:t>
            </a:r>
            <a:endParaRPr lang="zh-CN" altLang="en-US" sz="1200"/>
          </a:p>
          <a:p>
            <a:r>
              <a:rPr lang="zh-CN" altLang="en-US" sz="1200"/>
              <a:t>    TaskBase = celery.Task</a:t>
            </a:r>
            <a:endParaRPr lang="zh-CN" altLang="en-US" sz="1200"/>
          </a:p>
          <a:p>
            <a:r>
              <a:rPr lang="zh-CN" altLang="en-US" sz="1200"/>
              <a:t>    class ContextTask(TaskBase):</a:t>
            </a:r>
            <a:endParaRPr lang="zh-CN" altLang="en-US" sz="1200"/>
          </a:p>
          <a:p>
            <a:r>
              <a:rPr lang="zh-CN" altLang="en-US" sz="1200"/>
              <a:t>        abstract = True</a:t>
            </a:r>
            <a:endParaRPr lang="zh-CN" altLang="en-US" sz="1200"/>
          </a:p>
          <a:p>
            <a:r>
              <a:rPr lang="zh-CN" altLang="en-US" sz="1200"/>
              <a:t>        def __call__(self, *args, **kwargs):</a:t>
            </a:r>
            <a:endParaRPr lang="zh-CN" altLang="en-US" sz="1200"/>
          </a:p>
          <a:p>
            <a:r>
              <a:rPr lang="zh-CN" altLang="en-US" sz="1200"/>
              <a:t>            with app.app_context():</a:t>
            </a:r>
            <a:endParaRPr lang="zh-CN" altLang="en-US" sz="1200"/>
          </a:p>
          <a:p>
            <a:r>
              <a:rPr lang="zh-CN" altLang="en-US" sz="1200"/>
              <a:t>                return TaskBase.__call__(self, *args, **kwargs)</a:t>
            </a:r>
            <a:endParaRPr lang="zh-CN" altLang="en-US" sz="1200"/>
          </a:p>
          <a:p>
            <a:r>
              <a:rPr lang="zh-CN" altLang="en-US" sz="1200"/>
              <a:t>    celery.Task = ContextTask</a:t>
            </a:r>
            <a:endParaRPr lang="zh-CN" altLang="en-US" sz="1200"/>
          </a:p>
          <a:p>
            <a:r>
              <a:rPr lang="zh-CN" altLang="en-US" sz="1200"/>
              <a:t>    return celery</a:t>
            </a:r>
            <a:endParaRPr lang="zh-CN" altLang="en-US" sz="1200"/>
          </a:p>
        </p:txBody>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Celery - Concept</a:t>
            </a:r>
            <a:endParaRPr lang="en-US" altLang="zh-CN"/>
          </a:p>
        </p:txBody>
      </p:sp>
      <p:sp>
        <p:nvSpPr>
          <p:cNvPr id="3" name="内容占位符 2"/>
          <p:cNvSpPr>
            <a:spLocks noGrp="1"/>
          </p:cNvSpPr>
          <p:nvPr>
            <p:ph idx="1"/>
          </p:nvPr>
        </p:nvSpPr>
        <p:spPr>
          <a:xfrm>
            <a:off x="838200" y="1211580"/>
            <a:ext cx="5505450" cy="4549140"/>
          </a:xfrm>
        </p:spPr>
        <p:txBody>
          <a:bodyPr>
            <a:normAutofit fontScale="70000"/>
          </a:bodyPr>
          <a:p>
            <a:r>
              <a:rPr lang="en-US" altLang="zh-CN"/>
              <a:t>Workers</a:t>
            </a:r>
            <a:endParaRPr lang="en-US" altLang="zh-CN"/>
          </a:p>
          <a:p>
            <a:pPr lvl="1"/>
            <a:r>
              <a:rPr lang="en-US" altLang="zh-CN" sz="2000"/>
              <a:t>background jobs</a:t>
            </a:r>
            <a:endParaRPr lang="en-US" altLang="zh-CN" sz="2000"/>
          </a:p>
          <a:p>
            <a:pPr lvl="0"/>
            <a:r>
              <a:rPr lang="en-US" altLang="zh-CN" sz="2400"/>
              <a:t>Message broker</a:t>
            </a:r>
            <a:endParaRPr lang="en-US" altLang="zh-CN" sz="2400"/>
          </a:p>
          <a:p>
            <a:pPr lvl="1"/>
            <a:r>
              <a:rPr lang="en-US" altLang="zh-CN"/>
              <a:t>The client communicates with the the workers through a message queue, such as Redis</a:t>
            </a:r>
            <a:endParaRPr lang="en-US" altLang="zh-CN"/>
          </a:p>
          <a:p>
            <a:r>
              <a:rPr lang="en-US" altLang="zh-CN"/>
              <a:t>States</a:t>
            </a:r>
            <a:endParaRPr lang="en-US" altLang="zh-CN"/>
          </a:p>
          <a:p>
            <a:pPr lvl="1"/>
            <a:r>
              <a:rPr lang="en-US" altLang="zh-CN"/>
              <a:t>PENDING (waiting for execution or unknown task id)</a:t>
            </a:r>
            <a:endParaRPr lang="en-US" altLang="zh-CN"/>
          </a:p>
          <a:p>
            <a:pPr lvl="1"/>
            <a:r>
              <a:rPr lang="en-US" altLang="zh-CN"/>
              <a:t>STARTED (task has been started)</a:t>
            </a:r>
            <a:endParaRPr lang="en-US" altLang="zh-CN"/>
          </a:p>
          <a:p>
            <a:pPr lvl="1"/>
            <a:r>
              <a:rPr lang="en-US" altLang="zh-CN"/>
              <a:t>SUCCESS (task executed successfully)</a:t>
            </a:r>
            <a:endParaRPr lang="en-US" altLang="zh-CN"/>
          </a:p>
          <a:p>
            <a:pPr lvl="1"/>
            <a:r>
              <a:rPr lang="en-US" altLang="zh-CN"/>
              <a:t>FAILURE (task execution resulted in exception)</a:t>
            </a:r>
            <a:endParaRPr lang="en-US" altLang="zh-CN"/>
          </a:p>
          <a:p>
            <a:pPr lvl="1"/>
            <a:r>
              <a:rPr lang="en-US" altLang="zh-CN"/>
              <a:t>RETRY (task is being retried)</a:t>
            </a:r>
            <a:endParaRPr lang="en-US" altLang="zh-CN"/>
          </a:p>
          <a:p>
            <a:pPr lvl="1"/>
            <a:r>
              <a:rPr lang="en-US" altLang="zh-CN"/>
              <a:t>REVOKED (task has been revoked)</a:t>
            </a:r>
            <a:endParaRPr lang="en-US" altLang="zh-CN"/>
          </a:p>
          <a:p>
            <a:pPr lvl="0"/>
            <a:r>
              <a:rPr lang="en-US" altLang="zh-CN"/>
              <a:t>state, info</a:t>
            </a:r>
            <a:endParaRPr lang="en-US" altLang="zh-CN"/>
          </a:p>
          <a:p>
            <a:pPr lvl="0"/>
            <a:r>
              <a:rPr lang="en-US" altLang="zh-CN"/>
              <a:t>update_state</a:t>
            </a:r>
            <a:endParaRPr lang="en-US" altLang="zh-CN"/>
          </a:p>
          <a:p>
            <a:pPr lvl="1"/>
            <a:r>
              <a:rPr lang="en-US" altLang="zh-CN"/>
              <a:t>self.update_state(state='PROGRESS', meta={'done': i, 'total': n})</a:t>
            </a:r>
            <a:endParaRPr lang="en-US" altLang="zh-CN"/>
          </a:p>
          <a:p>
            <a:pPr lvl="0"/>
            <a:endParaRPr lang="en-US" altLang="zh-CN"/>
          </a:p>
        </p:txBody>
      </p:sp>
      <p:pic>
        <p:nvPicPr>
          <p:cNvPr id="100" name="图片 99"/>
          <p:cNvPicPr/>
          <p:nvPr/>
        </p:nvPicPr>
        <p:blipFill>
          <a:blip r:embed="rId1"/>
          <a:stretch>
            <a:fillRect/>
          </a:stretch>
        </p:blipFill>
        <p:spPr>
          <a:xfrm>
            <a:off x="6497638" y="1211580"/>
            <a:ext cx="5057775" cy="4305300"/>
          </a:xfrm>
          <a:prstGeom prst="rect">
            <a:avLst/>
          </a:prstGeom>
          <a:noFill/>
          <a:ln w="9525">
            <a:noFill/>
          </a:ln>
        </p:spPr>
      </p:pic>
    </p:spTree>
    <p:custDataLst>
      <p:tags r:id="rId2"/>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Celery CLI</a:t>
            </a:r>
            <a:endParaRPr lang="en-US" altLang="zh-CN"/>
          </a:p>
        </p:txBody>
      </p:sp>
      <p:sp>
        <p:nvSpPr>
          <p:cNvPr id="3" name="内容占位符 2"/>
          <p:cNvSpPr>
            <a:spLocks noGrp="1"/>
          </p:cNvSpPr>
          <p:nvPr>
            <p:ph idx="1"/>
          </p:nvPr>
        </p:nvSpPr>
        <p:spPr>
          <a:xfrm>
            <a:off x="838200" y="1211580"/>
            <a:ext cx="4516755" cy="5300345"/>
          </a:xfrm>
        </p:spPr>
        <p:txBody>
          <a:bodyPr>
            <a:noAutofit/>
          </a:bodyPr>
          <a:p>
            <a:pPr lvl="0"/>
            <a:r>
              <a:rPr lang="en-US" altLang="zh-CN" sz="1200">
                <a:sym typeface="+mn-ea"/>
              </a:rPr>
              <a:t>References</a:t>
            </a:r>
            <a:endParaRPr lang="en-US" altLang="zh-CN" sz="1200">
              <a:sym typeface="+mn-ea"/>
            </a:endParaRPr>
          </a:p>
          <a:p>
            <a:pPr lvl="1"/>
            <a:r>
              <a:rPr lang="en-US" altLang="zh-CN" sz="900">
                <a:sym typeface="+mn-ea"/>
              </a:rPr>
              <a:t>https://docs.celeryq.dev/en/stable/reference/cli.html</a:t>
            </a:r>
            <a:endParaRPr lang="en-US" altLang="zh-CN" sz="900">
              <a:sym typeface="+mn-ea"/>
            </a:endParaRPr>
          </a:p>
          <a:p>
            <a:pPr lvl="0"/>
            <a:r>
              <a:rPr lang="en-US" altLang="zh-CN" sz="1200">
                <a:sym typeface="+mn-ea"/>
              </a:rPr>
              <a:t>Run celery</a:t>
            </a:r>
            <a:endParaRPr lang="en-US" altLang="zh-CN" sz="1200"/>
          </a:p>
          <a:p>
            <a:pPr lvl="1"/>
            <a:r>
              <a:rPr lang="en-US" altLang="zh-CN" sz="900">
                <a:sym typeface="+mn-ea"/>
              </a:rPr>
              <a:t>celery </a:t>
            </a:r>
            <a:r>
              <a:rPr lang="en-US" altLang="zh-CN" sz="900" b="1">
                <a:sym typeface="+mn-ea"/>
              </a:rPr>
              <a:t>worker </a:t>
            </a:r>
            <a:r>
              <a:rPr lang="en-US" altLang="zh-CN" sz="900">
                <a:sym typeface="+mn-ea"/>
              </a:rPr>
              <a:t>-A app.celery --loglevel=info -P threads</a:t>
            </a:r>
            <a:endParaRPr lang="en-US" altLang="zh-CN" sz="900"/>
          </a:p>
          <a:p>
            <a:pPr lvl="2"/>
            <a:r>
              <a:rPr lang="en-US" altLang="zh-CN" sz="800">
                <a:sym typeface="+mn-ea"/>
              </a:rPr>
              <a:t>-A &lt;name&gt;: app name</a:t>
            </a:r>
            <a:endParaRPr lang="en-US" altLang="zh-CN" sz="800">
              <a:sym typeface="+mn-ea"/>
            </a:endParaRPr>
          </a:p>
          <a:p>
            <a:pPr lvl="2"/>
            <a:r>
              <a:rPr lang="en-US" altLang="zh-CN" sz="800" b="1">
                <a:sym typeface="+mn-ea"/>
              </a:rPr>
              <a:t>-P --pool</a:t>
            </a:r>
            <a:r>
              <a:rPr lang="en-US" altLang="zh-CN" sz="800">
                <a:sym typeface="+mn-ea"/>
              </a:rPr>
              <a:t> &lt;pool&gt;: pool implementation</a:t>
            </a:r>
            <a:endParaRPr lang="en-US" altLang="zh-CN" sz="800">
              <a:sym typeface="+mn-ea"/>
            </a:endParaRPr>
          </a:p>
          <a:p>
            <a:pPr lvl="3"/>
            <a:r>
              <a:rPr lang="en-US" altLang="zh-CN" sz="700">
                <a:sym typeface="+mn-ea"/>
              </a:rPr>
              <a:t>options: prefork (default, process) |eventlet|gevent|solo|processes|threads</a:t>
            </a:r>
            <a:endParaRPr lang="en-US" altLang="zh-CN" sz="700">
              <a:sym typeface="+mn-ea"/>
            </a:endParaRPr>
          </a:p>
          <a:p>
            <a:pPr lvl="3"/>
            <a:r>
              <a:rPr lang="en-US" altLang="zh-CN" sz="700">
                <a:sym typeface="+mn-ea"/>
              </a:rPr>
              <a:t>threads: allow to spawn child processes</a:t>
            </a:r>
            <a:endParaRPr lang="en-US" altLang="zh-CN" sz="700">
              <a:sym typeface="+mn-ea"/>
            </a:endParaRPr>
          </a:p>
          <a:p>
            <a:pPr lvl="3"/>
            <a:r>
              <a:rPr lang="en-US" altLang="zh-CN" sz="700"/>
              <a:t>solo: forces Celery to run the task in the same process as the worker manager. There is no separation between the process listening for tasks and the process executing the task.</a:t>
            </a:r>
            <a:endParaRPr lang="en-US" altLang="zh-CN" sz="700"/>
          </a:p>
          <a:p>
            <a:pPr lvl="4"/>
            <a:r>
              <a:rPr lang="en-US" altLang="zh-CN" sz="700"/>
              <a:t>may cease running when error/exception happens</a:t>
            </a:r>
            <a:endParaRPr lang="en-US" altLang="zh-CN" sz="700"/>
          </a:p>
          <a:p>
            <a:pPr lvl="3"/>
            <a:r>
              <a:rPr lang="en-US" altLang="zh-CN" sz="700"/>
              <a:t>prefork</a:t>
            </a:r>
            <a:endParaRPr lang="en-US" altLang="zh-CN" sz="700"/>
          </a:p>
          <a:p>
            <a:pPr lvl="4"/>
            <a:r>
              <a:rPr lang="en-US" altLang="zh-CN" sz="700"/>
              <a:t>task </a:t>
            </a:r>
            <a:r>
              <a:rPr lang="zh-CN" altLang="en-US" sz="700"/>
              <a:t>子进程是在一个</a:t>
            </a:r>
            <a:r>
              <a:rPr lang="en-US" altLang="zh-CN" sz="700"/>
              <a:t> daemon </a:t>
            </a:r>
            <a:r>
              <a:rPr lang="zh-CN" altLang="en-US" sz="700"/>
              <a:t>进程</a:t>
            </a:r>
            <a:r>
              <a:rPr lang="en-US" altLang="zh-CN" sz="700"/>
              <a:t> </a:t>
            </a:r>
            <a:r>
              <a:rPr lang="zh-CN" altLang="en-US" sz="700"/>
              <a:t>中启动</a:t>
            </a:r>
            <a:r>
              <a:rPr lang="en-US" altLang="zh-CN" sz="700"/>
              <a:t>, python</a:t>
            </a:r>
            <a:r>
              <a:rPr lang="zh-CN" altLang="en-US" sz="700"/>
              <a:t>中，</a:t>
            </a:r>
            <a:r>
              <a:rPr lang="en-US" altLang="zh-CN" sz="700"/>
              <a:t>daemon </a:t>
            </a:r>
            <a:r>
              <a:rPr lang="zh-CN" altLang="en-US" sz="700"/>
              <a:t>进程不允许再</a:t>
            </a:r>
            <a:r>
              <a:rPr lang="en-US" altLang="zh-CN" sz="700"/>
              <a:t> spawn </a:t>
            </a:r>
            <a:r>
              <a:rPr lang="zh-CN" altLang="en-US" sz="700"/>
              <a:t>子进程</a:t>
            </a:r>
            <a:endParaRPr lang="zh-CN" altLang="en-US" sz="700"/>
          </a:p>
          <a:p>
            <a:pPr lvl="4"/>
            <a:r>
              <a:rPr lang="en-US" altLang="zh-CN" sz="700"/>
              <a:t>May raise error “daemonic processes are not allowed to have children” when call multiprocessing.Process() or concurrent.futures.ProcessorPoolExecutor or os.fork()</a:t>
            </a:r>
            <a:endParaRPr lang="en-US" altLang="zh-CN" sz="700"/>
          </a:p>
          <a:p>
            <a:pPr lvl="4"/>
            <a:r>
              <a:rPr lang="zh-CN" altLang="en-US" sz="700"/>
              <a:t>可以使用</a:t>
            </a:r>
            <a:r>
              <a:rPr lang="en-US" altLang="zh-CN" sz="700"/>
              <a:t>threading </a:t>
            </a:r>
            <a:r>
              <a:rPr lang="zh-CN" altLang="en-US" sz="700"/>
              <a:t>或</a:t>
            </a:r>
            <a:r>
              <a:rPr lang="en-US" altLang="zh-CN" sz="700"/>
              <a:t> concurrent.futures.ThreadPoolExecutor</a:t>
            </a:r>
            <a:r>
              <a:rPr lang="zh-CN" altLang="en-US" sz="700"/>
              <a:t>，</a:t>
            </a:r>
            <a:r>
              <a:rPr lang="en-US" altLang="zh-CN" sz="700"/>
              <a:t>Python GIL </a:t>
            </a:r>
            <a:r>
              <a:rPr lang="zh-CN" altLang="en-US" sz="700"/>
              <a:t>会影响</a:t>
            </a:r>
            <a:r>
              <a:rPr lang="en-US" altLang="zh-CN" sz="700"/>
              <a:t> CPU </a:t>
            </a:r>
            <a:r>
              <a:rPr lang="zh-CN" altLang="en-US" sz="700"/>
              <a:t>密集型任务，但对</a:t>
            </a:r>
            <a:r>
              <a:rPr lang="en-US" altLang="zh-CN" sz="700"/>
              <a:t> I/O </a:t>
            </a:r>
            <a:r>
              <a:rPr lang="zh-CN" altLang="en-US" sz="700"/>
              <a:t>密集型任务有效</a:t>
            </a:r>
            <a:endParaRPr lang="zh-CN" altLang="en-US" sz="700"/>
          </a:p>
          <a:p>
            <a:pPr lvl="2"/>
            <a:r>
              <a:rPr lang="en-US" altLang="zh-CN" sz="800" b="1">
                <a:sym typeface="+mn-ea"/>
              </a:rPr>
              <a:t>-c --concurrency</a:t>
            </a:r>
            <a:r>
              <a:rPr lang="en-US" altLang="zh-CN" sz="800">
                <a:sym typeface="+mn-ea"/>
              </a:rPr>
              <a:t> &lt;concurrency&gt;</a:t>
            </a:r>
            <a:endParaRPr lang="en-US" altLang="zh-CN" sz="800">
              <a:sym typeface="+mn-ea"/>
            </a:endParaRPr>
          </a:p>
          <a:p>
            <a:pPr lvl="3"/>
            <a:r>
              <a:rPr lang="en-US" altLang="zh-CN" sz="700">
                <a:sym typeface="+mn-ea"/>
              </a:rPr>
              <a:t>Number of child processes processing the queue. The default is the number of CPUs available on your system.</a:t>
            </a:r>
            <a:endParaRPr lang="en-US" altLang="zh-CN" sz="700">
              <a:sym typeface="+mn-ea"/>
            </a:endParaRPr>
          </a:p>
          <a:p>
            <a:pPr lvl="2"/>
            <a:r>
              <a:rPr lang="en-US" altLang="zh-CN" sz="800"/>
              <a:t>--time-limit &lt;time_limit&gt;</a:t>
            </a:r>
            <a:endParaRPr lang="en-US" altLang="zh-CN" sz="800">
              <a:sym typeface="+mn-ea"/>
            </a:endParaRPr>
          </a:p>
          <a:p>
            <a:pPr lvl="3"/>
            <a:r>
              <a:rPr lang="en-US" altLang="zh-CN" sz="700"/>
              <a:t>Enables a hard time limit (in seconds int/float) for tasks</a:t>
            </a:r>
            <a:endParaRPr lang="en-US" altLang="zh-CN" sz="700"/>
          </a:p>
          <a:p>
            <a:pPr lvl="2"/>
            <a:r>
              <a:rPr lang="en-US" altLang="zh-CN" sz="800" b="1"/>
              <a:t>--max-tasks-per-child</a:t>
            </a:r>
            <a:r>
              <a:rPr lang="en-US" altLang="zh-CN" sz="800"/>
              <a:t> &lt;max_tasks_per_child&gt;</a:t>
            </a:r>
            <a:endParaRPr lang="en-US" altLang="zh-CN" sz="800"/>
          </a:p>
          <a:p>
            <a:pPr lvl="3"/>
            <a:r>
              <a:rPr lang="en-US" altLang="zh-CN" sz="700"/>
              <a:t>Maximum number of tasks a pool worker can execute before it’s terminated and replaced by a new worker.</a:t>
            </a:r>
            <a:endParaRPr lang="en-US" altLang="zh-CN" sz="700"/>
          </a:p>
          <a:p>
            <a:pPr lvl="3"/>
            <a:r>
              <a:rPr lang="en-US" altLang="zh-CN" sz="700"/>
              <a:t>Reduce memory leak issue</a:t>
            </a:r>
            <a:endParaRPr lang="en-US" altLang="zh-CN" sz="700"/>
          </a:p>
          <a:p>
            <a:pPr lvl="2"/>
            <a:r>
              <a:rPr lang="en-US" altLang="zh-CN" sz="800"/>
              <a:t>--max-memory-per-child &lt;max_memory_per_child&gt;</a:t>
            </a:r>
            <a:endParaRPr lang="en-US" altLang="zh-CN" sz="800"/>
          </a:p>
          <a:p>
            <a:pPr lvl="1"/>
            <a:r>
              <a:rPr lang="en-US" altLang="zh-CN" sz="900">
                <a:sym typeface="+mn-ea"/>
              </a:rPr>
              <a:t>celery </a:t>
            </a:r>
            <a:r>
              <a:rPr lang="en-US" altLang="zh-CN" sz="900" b="1">
                <a:sym typeface="+mn-ea"/>
              </a:rPr>
              <a:t>status</a:t>
            </a:r>
            <a:endParaRPr lang="en-US" altLang="zh-CN" sz="900" b="1">
              <a:sym typeface="+mn-ea"/>
            </a:endParaRPr>
          </a:p>
        </p:txBody>
      </p:sp>
      <p:pic>
        <p:nvPicPr>
          <p:cNvPr id="4" name="图片 3"/>
          <p:cNvPicPr/>
          <p:nvPr/>
        </p:nvPicPr>
        <p:blipFill>
          <a:blip r:embed="rId1"/>
          <a:stretch>
            <a:fillRect/>
          </a:stretch>
        </p:blipFill>
        <p:spPr>
          <a:xfrm>
            <a:off x="5532120" y="182880"/>
            <a:ext cx="6543040" cy="6559550"/>
          </a:xfrm>
          <a:prstGeom prst="rect">
            <a:avLst/>
          </a:prstGeom>
        </p:spPr>
      </p:pic>
    </p:spTree>
    <p:custDataLst>
      <p:tags r:id="rId2"/>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Celery - Impl 2</a:t>
            </a:r>
            <a:endParaRPr lang="en-US" altLang="zh-CN"/>
          </a:p>
        </p:txBody>
      </p:sp>
      <p:sp>
        <p:nvSpPr>
          <p:cNvPr id="3" name="内容占位符 2"/>
          <p:cNvSpPr>
            <a:spLocks noGrp="1"/>
          </p:cNvSpPr>
          <p:nvPr>
            <p:ph idx="1"/>
          </p:nvPr>
        </p:nvSpPr>
        <p:spPr>
          <a:xfrm>
            <a:off x="838200" y="1211580"/>
            <a:ext cx="6958965" cy="4549140"/>
          </a:xfrm>
        </p:spPr>
        <p:txBody>
          <a:bodyPr>
            <a:normAutofit fontScale="60000"/>
          </a:bodyPr>
          <a:p>
            <a:r>
              <a:rPr lang="en-US" altLang="zh-CN"/>
              <a:t>Commands</a:t>
            </a:r>
            <a:endParaRPr lang="en-US" altLang="zh-CN"/>
          </a:p>
          <a:p>
            <a:pPr lvl="1"/>
            <a:r>
              <a:rPr lang="en-US" altLang="zh-CN"/>
              <a:t>celery -A app.celery inspect active</a:t>
            </a:r>
            <a:endParaRPr lang="en-US" altLang="zh-CN"/>
          </a:p>
          <a:p>
            <a:pPr lvl="1"/>
            <a:r>
              <a:rPr lang="en-US" altLang="zh-CN"/>
              <a:t>celery -A app.celery status</a:t>
            </a:r>
            <a:endParaRPr lang="en-US" altLang="zh-CN"/>
          </a:p>
          <a:p>
            <a:pPr lvl="0"/>
            <a:r>
              <a:rPr lang="en-US" altLang="zh-CN"/>
              <a:t>Decorators</a:t>
            </a:r>
            <a:endParaRPr lang="en-US" altLang="zh-CN"/>
          </a:p>
          <a:p>
            <a:pPr lvl="1"/>
            <a:r>
              <a:rPr lang="en-US" altLang="zh-CN"/>
              <a:t>@app.task(bind=True, name=’task_name’)</a:t>
            </a:r>
            <a:endParaRPr lang="en-US" altLang="zh-CN"/>
          </a:p>
          <a:p>
            <a:pPr lvl="2"/>
            <a:r>
              <a:rPr lang="en-US" altLang="zh-CN" sz="1800"/>
              <a:t>bind: the first argument to the task will always be the task instance (self)</a:t>
            </a:r>
            <a:endParaRPr lang="en-US" altLang="zh-CN"/>
          </a:p>
          <a:p>
            <a:pPr lvl="1"/>
            <a:r>
              <a:rPr lang="en-US" altLang="zh-CN"/>
              <a:t>@shared_task</a:t>
            </a:r>
            <a:endParaRPr lang="en-US" altLang="zh-CN"/>
          </a:p>
          <a:p>
            <a:pPr lvl="0"/>
            <a:r>
              <a:rPr lang="en-US" altLang="zh-CN"/>
              <a:t>Task inheritance</a:t>
            </a:r>
            <a:endParaRPr lang="en-US" altLang="zh-CN"/>
          </a:p>
          <a:p>
            <a:pPr lvl="0"/>
            <a:r>
              <a:rPr lang="en-US" altLang="zh-CN"/>
              <a:t>Logging</a:t>
            </a:r>
            <a:endParaRPr lang="en-US" altLang="zh-CN"/>
          </a:p>
          <a:p>
            <a:pPr lvl="1"/>
            <a:r>
              <a:rPr lang="en-US" altLang="zh-CN"/>
              <a:t>from celery.utils.log import get_task_logger</a:t>
            </a:r>
            <a:endParaRPr lang="en-US" altLang="zh-CN"/>
          </a:p>
          <a:p>
            <a:pPr lvl="1"/>
            <a:r>
              <a:rPr lang="en-US" altLang="zh-CN"/>
              <a:t>logger = get_task_logger(__name__)</a:t>
            </a:r>
            <a:endParaRPr lang="en-US" altLang="zh-CN"/>
          </a:p>
          <a:p>
            <a:pPr lvl="0"/>
            <a:r>
              <a:rPr lang="en-US" altLang="zh-CN"/>
              <a:t>Built-in states</a:t>
            </a:r>
            <a:endParaRPr lang="en-US" altLang="zh-CN"/>
          </a:p>
          <a:p>
            <a:pPr lvl="1"/>
            <a:r>
              <a:rPr lang="en-US" altLang="zh-CN"/>
              <a:t>PENDING STARTED SUCCESS FAILURE RETRY REVOKED  </a:t>
            </a:r>
            <a:endParaRPr lang="en-US" altLang="zh-CN"/>
          </a:p>
          <a:p>
            <a:pPr lvl="0"/>
            <a:r>
              <a:rPr lang="en-US" altLang="zh-CN"/>
              <a:t>Class based task</a:t>
            </a:r>
            <a:endParaRPr lang="en-US" altLang="zh-CN"/>
          </a:p>
          <a:p>
            <a:pPr lvl="0"/>
            <a:r>
              <a:rPr lang="en-US" altLang="zh-CN"/>
              <a:t>Set time limit to avoid blocking or endless loop</a:t>
            </a:r>
            <a:endParaRPr lang="en-US" altLang="zh-CN"/>
          </a:p>
          <a:p>
            <a:pPr lvl="1"/>
            <a:r>
              <a:rPr lang="en-US" altLang="zh-CN"/>
              <a:t>app.conf.task_time_limit = 600      # Hard kill after 10 min</a:t>
            </a:r>
            <a:endParaRPr lang="en-US" altLang="zh-CN"/>
          </a:p>
          <a:p>
            <a:pPr lvl="1"/>
            <a:r>
              <a:rPr lang="en-US" altLang="zh-CN"/>
              <a:t>app.conf.task_soft_time_limit = 540 # Raise SoftTimeLimitExceeded at 9 min</a:t>
            </a:r>
            <a:endParaRPr lang="en-US" altLang="zh-CN"/>
          </a:p>
        </p:txBody>
      </p:sp>
      <p:sp>
        <p:nvSpPr>
          <p:cNvPr id="4" name="文本框 3"/>
          <p:cNvSpPr txBox="1"/>
          <p:nvPr/>
        </p:nvSpPr>
        <p:spPr>
          <a:xfrm>
            <a:off x="8156575" y="1144905"/>
            <a:ext cx="3402965" cy="4861560"/>
          </a:xfrm>
          <a:prstGeom prst="rect">
            <a:avLst/>
          </a:prstGeom>
          <a:noFill/>
          <a:ln>
            <a:solidFill>
              <a:srgbClr val="C00000"/>
            </a:solidFill>
          </a:ln>
        </p:spPr>
        <p:txBody>
          <a:bodyPr wrap="square" rtlCol="0">
            <a:spAutoFit/>
          </a:bodyPr>
          <a:p>
            <a:r>
              <a:rPr lang="zh-CN" altLang="en-US" sz="1000"/>
              <a:t>from celery import Task</a:t>
            </a:r>
            <a:endParaRPr lang="zh-CN" altLang="en-US" sz="1000"/>
          </a:p>
          <a:p>
            <a:endParaRPr lang="zh-CN" altLang="en-US" sz="1000"/>
          </a:p>
          <a:p>
            <a:endParaRPr lang="zh-CN" altLang="en-US" sz="1000"/>
          </a:p>
          <a:p>
            <a:r>
              <a:rPr lang="zh-CN" altLang="en-US" sz="1000"/>
              <a:t>class MyTask(Task):</a:t>
            </a:r>
            <a:endParaRPr lang="zh-CN" altLang="en-US" sz="1000"/>
          </a:p>
          <a:p>
            <a:r>
              <a:rPr lang="zh-CN" altLang="en-US" sz="1000"/>
              <a:t>    ignore_result = True</a:t>
            </a:r>
            <a:endParaRPr lang="zh-CN" altLang="en-US" sz="1000"/>
          </a:p>
          <a:p>
            <a:endParaRPr lang="zh-CN" altLang="en-US" sz="1000"/>
          </a:p>
          <a:p>
            <a:r>
              <a:rPr lang="zh-CN" altLang="en-US" sz="1000"/>
              <a:t>    def run(self, source, *args, **kwargs):</a:t>
            </a:r>
            <a:endParaRPr lang="zh-CN" altLang="en-US" sz="1000"/>
          </a:p>
          <a:p>
            <a:r>
              <a:rPr lang="zh-CN" altLang="en-US" sz="1000"/>
              <a:t>        self.source = source</a:t>
            </a:r>
            <a:endParaRPr lang="zh-CN" altLang="en-US" sz="1000"/>
          </a:p>
          <a:p>
            <a:r>
              <a:rPr lang="zh-CN" altLang="en-US" sz="1000"/>
              <a:t>        data = self.collect_data()</a:t>
            </a:r>
            <a:endParaRPr lang="zh-CN" altLang="en-US" sz="1000"/>
          </a:p>
          <a:p>
            <a:r>
              <a:rPr lang="zh-CN" altLang="en-US" sz="1000"/>
              <a:t>        self.generate_file(data)</a:t>
            </a:r>
            <a:endParaRPr lang="zh-CN" altLang="en-US" sz="1000"/>
          </a:p>
          <a:p>
            <a:r>
              <a:rPr lang="zh-CN" altLang="en-US" sz="1000"/>
              <a:t>    </a:t>
            </a:r>
            <a:endParaRPr lang="zh-CN" altLang="en-US" sz="1000"/>
          </a:p>
          <a:p>
            <a:r>
              <a:rPr lang="zh-CN" altLang="en-US" sz="1000"/>
              <a:t> </a:t>
            </a:r>
            <a:r>
              <a:rPr lang="en-US" altLang="zh-CN" sz="1000"/>
              <a:t>   </a:t>
            </a:r>
            <a:r>
              <a:rPr lang="zh-CN" altLang="en-US" sz="1000"/>
              <a:t># Wrap the celery app within the Flask context</a:t>
            </a:r>
            <a:endParaRPr lang="zh-CN" altLang="en-US" sz="1000"/>
          </a:p>
          <a:p>
            <a:r>
              <a:rPr lang="zh-CN" altLang="en-US" sz="1000"/>
              <a:t>    def bind(self, app):</a:t>
            </a:r>
            <a:endParaRPr lang="zh-CN" altLang="en-US" sz="1000"/>
          </a:p>
          <a:p>
            <a:r>
              <a:rPr lang="zh-CN" altLang="en-US" sz="1000"/>
              <a:t>        return super(self.__class__, self).bind(celery_app)</a:t>
            </a:r>
            <a:endParaRPr lang="zh-CN" altLang="en-US" sz="1000"/>
          </a:p>
          <a:p>
            <a:endParaRPr lang="zh-CN" altLang="en-US" sz="1000"/>
          </a:p>
          <a:p>
            <a:r>
              <a:rPr lang="zh-CN" altLang="en-US" sz="1000"/>
              <a:t>@app.task</a:t>
            </a:r>
            <a:endParaRPr lang="zh-CN" altLang="en-US" sz="1000"/>
          </a:p>
          <a:p>
            <a:r>
              <a:rPr lang="zh-CN" altLang="en-US" sz="1000"/>
              <a:t>def my_task(source):</a:t>
            </a:r>
            <a:endParaRPr lang="zh-CN" altLang="en-US" sz="1000"/>
          </a:p>
          <a:p>
            <a:r>
              <a:rPr lang="zh-CN" altLang="en-US" sz="1000"/>
              <a:t>    MyTask().run(source)</a:t>
            </a:r>
            <a:endParaRPr lang="zh-CN" altLang="en-US" sz="1000"/>
          </a:p>
          <a:p>
            <a:endParaRPr lang="zh-CN" altLang="en-US" sz="1000"/>
          </a:p>
          <a:p>
            <a:r>
              <a:rPr lang="zh-CN" altLang="en-US" sz="1000"/>
              <a:t># Run on Celery worker now</a:t>
            </a:r>
            <a:endParaRPr lang="zh-CN" altLang="en-US" sz="1000"/>
          </a:p>
          <a:p>
            <a:r>
              <a:rPr lang="en-US" altLang="zh-CN" sz="1000"/>
              <a:t>result = my_</a:t>
            </a:r>
            <a:r>
              <a:rPr lang="zh-CN" altLang="en-US" sz="1000"/>
              <a:t>task.delay(123)</a:t>
            </a:r>
            <a:endParaRPr lang="zh-CN" altLang="en-US" sz="1000"/>
          </a:p>
          <a:p>
            <a:r>
              <a:rPr lang="zh-CN" altLang="en-US" sz="1000"/>
              <a:t># Run on Celery worker at a sepcfic time </a:t>
            </a:r>
            <a:endParaRPr lang="zh-CN" altLang="en-US" sz="1000"/>
          </a:p>
          <a:p>
            <a:r>
              <a:rPr lang="en-US" altLang="zh-CN" sz="1000"/>
              <a:t>result = </a:t>
            </a:r>
            <a:r>
              <a:rPr lang="en-US" altLang="zh-CN" sz="1000">
                <a:sym typeface="+mn-ea"/>
              </a:rPr>
              <a:t>my_</a:t>
            </a:r>
            <a:r>
              <a:rPr lang="zh-CN" altLang="en-US" sz="1000"/>
              <a:t>task.apply_async(args=[123], eta=datetime(2015, 6, 5, 12, 30, 22))</a:t>
            </a:r>
            <a:endParaRPr lang="zh-CN" altLang="en-US" sz="1000"/>
          </a:p>
          <a:p>
            <a:r>
              <a:rPr lang="zh-CN" altLang="en-US" sz="1000"/>
              <a:t># Run task directly, No celery worker</a:t>
            </a:r>
            <a:endParaRPr lang="zh-CN" altLang="en-US" sz="1000"/>
          </a:p>
          <a:p>
            <a:r>
              <a:rPr lang="en-US" altLang="zh-CN" sz="1000"/>
              <a:t>result = </a:t>
            </a:r>
            <a:r>
              <a:rPr lang="en-US" altLang="zh-CN" sz="1000">
                <a:sym typeface="+mn-ea"/>
              </a:rPr>
              <a:t>my_</a:t>
            </a:r>
            <a:r>
              <a:rPr lang="zh-CN" altLang="en-US" sz="1000"/>
              <a:t>task.run(123)</a:t>
            </a:r>
            <a:endParaRPr lang="zh-CN" altLang="en-US" sz="1000"/>
          </a:p>
          <a:p>
            <a:r>
              <a:rPr lang="en-US" altLang="zh-CN" sz="1000"/>
              <a:t>result = </a:t>
            </a:r>
            <a:r>
              <a:rPr lang="en-US" altLang="zh-CN" sz="1000">
                <a:sym typeface="+mn-ea"/>
              </a:rPr>
              <a:t>my_</a:t>
            </a:r>
            <a:r>
              <a:rPr lang="zh-CN" altLang="en-US" sz="1000"/>
              <a:t>task(123)</a:t>
            </a:r>
            <a:endParaRPr lang="zh-CN" altLang="en-US" sz="1000"/>
          </a:p>
          <a:p>
            <a:endParaRPr lang="zh-CN" altLang="en-US" sz="1000"/>
          </a:p>
          <a:p>
            <a:r>
              <a:rPr lang="zh-CN" altLang="en-US" sz="1000"/>
              <a:t>from celery.result import AsyncResult</a:t>
            </a:r>
            <a:endParaRPr lang="zh-CN" altLang="en-US" sz="1000"/>
          </a:p>
          <a:p>
            <a:r>
              <a:rPr lang="en-US" altLang="zh-CN" sz="1000"/>
              <a:t># query task status</a:t>
            </a:r>
            <a:endParaRPr lang="zh-CN" altLang="en-US" sz="1000"/>
          </a:p>
          <a:p>
            <a:r>
              <a:rPr lang="zh-CN" altLang="en-US" sz="1000"/>
              <a:t>result = </a:t>
            </a:r>
            <a:r>
              <a:rPr lang="en-US" altLang="zh-CN" sz="1000"/>
              <a:t>my_task.</a:t>
            </a:r>
            <a:r>
              <a:rPr lang="zh-CN" altLang="en-US" sz="1000"/>
              <a:t>AsyncResult(</a:t>
            </a:r>
            <a:r>
              <a:rPr lang="en-US" altLang="zh-CN" sz="1000"/>
              <a:t>result.</a:t>
            </a:r>
            <a:r>
              <a:rPr lang="zh-CN" altLang="en-US" sz="1000"/>
              <a:t>id)</a:t>
            </a:r>
            <a:endParaRPr lang="zh-CN" altLang="en-US" sz="1000"/>
          </a:p>
        </p:txBody>
      </p:sp>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Celery - Monitoring</a:t>
            </a:r>
            <a:endParaRPr lang="en-US" altLang="zh-CN"/>
          </a:p>
        </p:txBody>
      </p:sp>
      <p:sp>
        <p:nvSpPr>
          <p:cNvPr id="3" name="内容占位符 2"/>
          <p:cNvSpPr>
            <a:spLocks noGrp="1"/>
          </p:cNvSpPr>
          <p:nvPr>
            <p:ph idx="1"/>
          </p:nvPr>
        </p:nvSpPr>
        <p:spPr>
          <a:xfrm>
            <a:off x="838200" y="1211580"/>
            <a:ext cx="4812030" cy="4549140"/>
          </a:xfrm>
        </p:spPr>
        <p:txBody>
          <a:bodyPr/>
          <a:p>
            <a:r>
              <a:rPr lang="en-US" altLang="zh-CN"/>
              <a:t>References</a:t>
            </a:r>
            <a:endParaRPr lang="en-US" altLang="zh-CN"/>
          </a:p>
          <a:p>
            <a:pPr lvl="1"/>
            <a:r>
              <a:rPr lang="en-US" altLang="zh-CN"/>
              <a:t>https://docs.celeryq.dev/en/latest/userguide/monitoring.html</a:t>
            </a:r>
            <a:endParaRPr lang="en-US" altLang="zh-CN"/>
          </a:p>
          <a:p>
            <a:pPr lvl="0"/>
            <a:r>
              <a:rPr lang="en-US" altLang="zh-CN"/>
              <a:t>Flower</a:t>
            </a:r>
            <a:endParaRPr lang="en-US" altLang="zh-CN"/>
          </a:p>
          <a:p>
            <a:pPr lvl="1"/>
            <a:r>
              <a:rPr lang="en-US" altLang="zh-CN"/>
              <a:t>web-based monitoring</a:t>
            </a:r>
            <a:endParaRPr lang="en-US" altLang="zh-CN"/>
          </a:p>
          <a:p>
            <a:pPr lvl="1"/>
            <a:r>
              <a:rPr lang="en-US" altLang="zh-CN"/>
              <a:t>pip install flower</a:t>
            </a:r>
            <a:endParaRPr lang="en-US" altLang="zh-CN"/>
          </a:p>
          <a:p>
            <a:pPr lvl="0"/>
            <a:r>
              <a:rPr lang="en-US" altLang="zh-CN"/>
              <a:t>celery -A {proj} events</a:t>
            </a:r>
            <a:endParaRPr lang="en-US" altLang="zh-CN"/>
          </a:p>
          <a:p>
            <a:pPr lvl="0"/>
            <a:r>
              <a:rPr lang="en-US" altLang="zh-CN"/>
              <a:t>For Redis broker</a:t>
            </a:r>
            <a:endParaRPr lang="en-US" altLang="zh-CN"/>
          </a:p>
          <a:p>
            <a:pPr lvl="1"/>
            <a:r>
              <a:rPr lang="en-US" altLang="zh-CN"/>
              <a:t>redis-cli -h HOST -p PORT -n DATABASE_NUMBER keys \*</a:t>
            </a:r>
            <a:endParaRPr lang="en-US" altLang="zh-CN"/>
          </a:p>
          <a:p>
            <a:pPr lvl="0"/>
            <a:r>
              <a:rPr lang="en-US" altLang="zh-CN"/>
              <a:t>Event</a:t>
            </a:r>
            <a:endParaRPr lang="en-US" altLang="zh-CN"/>
          </a:p>
        </p:txBody>
      </p:sp>
      <p:pic>
        <p:nvPicPr>
          <p:cNvPr id="101" name="图片 100"/>
          <p:cNvPicPr/>
          <p:nvPr/>
        </p:nvPicPr>
        <p:blipFill>
          <a:blip r:embed="rId1"/>
          <a:stretch>
            <a:fillRect/>
          </a:stretch>
        </p:blipFill>
        <p:spPr>
          <a:xfrm>
            <a:off x="6144260" y="1211580"/>
            <a:ext cx="5477510" cy="4724400"/>
          </a:xfrm>
          <a:prstGeom prst="rect">
            <a:avLst/>
          </a:prstGeom>
          <a:noFill/>
          <a:ln w="9525">
            <a:noFill/>
          </a:ln>
        </p:spPr>
      </p:pic>
    </p:spTree>
    <p:custDataLst>
      <p:tags r:id="rId2"/>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en-US" altLang="zh-CN"/>
              <a:t>DB</a:t>
            </a:r>
            <a:endParaRPr lang="en-US" altLang="zh-CN"/>
          </a:p>
        </p:txBody>
      </p:sp>
      <p:sp>
        <p:nvSpPr>
          <p:cNvPr id="5" name="文本占位符 4"/>
          <p:cNvSpPr>
            <a:spLocks noGrp="1"/>
          </p:cNvSpPr>
          <p:nvPr>
            <p:ph type="body" idx="1"/>
          </p:nvPr>
        </p:nvSpPr>
        <p:spPr/>
        <p:txBody>
          <a:bodyPr/>
          <a:p>
            <a:r>
              <a:rPr lang="en-US" altLang="zh-CN"/>
              <a:t>flask-sqlalchemy</a:t>
            </a:r>
            <a:endParaRPr lang="en-US" altLang="zh-CN"/>
          </a:p>
        </p:txBody>
      </p:sp>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sym typeface="+mn-ea"/>
              </a:rPr>
              <a:t>Overview</a:t>
            </a:r>
            <a:endParaRPr lang="zh-CN" altLang="en-US"/>
          </a:p>
        </p:txBody>
      </p:sp>
      <p:sp>
        <p:nvSpPr>
          <p:cNvPr id="3" name="内容占位符 2"/>
          <p:cNvSpPr>
            <a:spLocks noGrp="1"/>
          </p:cNvSpPr>
          <p:nvPr>
            <p:ph idx="1"/>
          </p:nvPr>
        </p:nvSpPr>
        <p:spPr>
          <a:xfrm>
            <a:off x="838200" y="1211580"/>
            <a:ext cx="5808345" cy="2985135"/>
          </a:xfrm>
        </p:spPr>
        <p:txBody>
          <a:bodyPr>
            <a:noAutofit/>
          </a:bodyPr>
          <a:p>
            <a:r>
              <a:rPr lang="en-US" altLang="zh-CN" sz="1800">
                <a:sym typeface="+mn-ea"/>
              </a:rPr>
              <a:t>References</a:t>
            </a:r>
            <a:endParaRPr lang="en-US" altLang="zh-CN" sz="1800">
              <a:sym typeface="+mn-ea"/>
            </a:endParaRPr>
          </a:p>
          <a:p>
            <a:pPr lvl="1"/>
            <a:r>
              <a:rPr lang="en-US" altLang="zh-CN" sz="1600">
                <a:sym typeface="+mn-ea"/>
              </a:rPr>
              <a:t>https://flask-sqlalchemy.palletsprojects.com/en/2.x/</a:t>
            </a:r>
            <a:endParaRPr lang="en-US" altLang="zh-CN" sz="1600">
              <a:sym typeface="+mn-ea"/>
            </a:endParaRPr>
          </a:p>
          <a:p>
            <a:pPr lvl="1"/>
            <a:r>
              <a:rPr lang="en-US" altLang="zh-CN" sz="1600">
                <a:sym typeface="+mn-ea"/>
              </a:rPr>
              <a:t>https://docs.sqlalchemy.org/en/14/faq</a:t>
            </a:r>
            <a:endParaRPr lang="en-US" altLang="zh-CN" sz="1600">
              <a:sym typeface="+mn-ea"/>
            </a:endParaRPr>
          </a:p>
          <a:p>
            <a:pPr lvl="1"/>
            <a:r>
              <a:rPr lang="en-US" altLang="zh-CN" sz="1600">
                <a:sym typeface="+mn-ea"/>
              </a:rPr>
              <a:t>https://www.codedisciples.in/flask-sqlalchemy-queries.html</a:t>
            </a:r>
            <a:endParaRPr lang="en-US" altLang="zh-CN" sz="1600">
              <a:sym typeface="+mn-ea"/>
            </a:endParaRPr>
          </a:p>
          <a:p>
            <a:pPr lvl="0"/>
            <a:r>
              <a:rPr lang="en-US" altLang="zh-CN" sz="1800">
                <a:sym typeface="+mn-ea"/>
              </a:rPr>
              <a:t>Intro</a:t>
            </a:r>
            <a:endParaRPr lang="en-US" altLang="zh-CN" sz="1800"/>
          </a:p>
          <a:p>
            <a:pPr lvl="1"/>
            <a:r>
              <a:rPr lang="en-US" altLang="zh-CN" sz="1600">
                <a:sym typeface="+mn-ea"/>
              </a:rPr>
              <a:t>DB toolkit and ORM(Object-Relational Mapper) implementation written in Python</a:t>
            </a:r>
            <a:endParaRPr lang="en-US" altLang="zh-CN" sz="1600">
              <a:sym typeface="+mn-ea"/>
            </a:endParaRPr>
          </a:p>
          <a:p>
            <a:pPr lvl="1"/>
            <a:r>
              <a:rPr lang="en-US" altLang="zh-CN" sz="1600"/>
              <a:t>It provides an extra layer on top of SQL which allows us to use Databases and Tables just like Python Class Objects. We just have to create a Class Object and SQLAlchemy will take care of the rest!</a:t>
            </a:r>
            <a:endParaRPr lang="en-US" altLang="zh-CN" sz="1600"/>
          </a:p>
          <a:p>
            <a:pPr lvl="0"/>
            <a:r>
              <a:rPr lang="en-US" altLang="zh-CN" sz="1800">
                <a:sym typeface="+mn-ea"/>
              </a:rPr>
              <a:t>Install</a:t>
            </a:r>
            <a:endParaRPr lang="en-US" altLang="zh-CN" sz="1800"/>
          </a:p>
          <a:p>
            <a:pPr lvl="1"/>
            <a:r>
              <a:rPr lang="en-US" altLang="zh-CN" sz="1600">
                <a:sym typeface="+mn-ea"/>
              </a:rPr>
              <a:t>pip install flask-sqlalchemy</a:t>
            </a:r>
            <a:endParaRPr lang="en-US" altLang="zh-CN" sz="1600"/>
          </a:p>
          <a:p>
            <a:endParaRPr lang="en-US" altLang="zh-CN" sz="1600"/>
          </a:p>
        </p:txBody>
      </p:sp>
      <p:sp>
        <p:nvSpPr>
          <p:cNvPr id="4" name="流程图: 可选过程 3"/>
          <p:cNvSpPr/>
          <p:nvPr/>
        </p:nvSpPr>
        <p:spPr>
          <a:xfrm>
            <a:off x="7601585" y="1942465"/>
            <a:ext cx="2385695" cy="821055"/>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SQLAlchemy</a:t>
            </a:r>
            <a:endParaRPr lang="en-US" altLang="zh-CN"/>
          </a:p>
        </p:txBody>
      </p:sp>
      <p:sp>
        <p:nvSpPr>
          <p:cNvPr id="5" name="流程图: 可选过程 4"/>
          <p:cNvSpPr/>
          <p:nvPr/>
        </p:nvSpPr>
        <p:spPr>
          <a:xfrm>
            <a:off x="6646545" y="3375660"/>
            <a:ext cx="2385695" cy="821055"/>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SignallingSession</a:t>
            </a:r>
            <a:endParaRPr lang="en-US" altLang="zh-CN"/>
          </a:p>
        </p:txBody>
      </p:sp>
      <p:sp>
        <p:nvSpPr>
          <p:cNvPr id="6" name="流程图: 可选过程 5"/>
          <p:cNvSpPr/>
          <p:nvPr/>
        </p:nvSpPr>
        <p:spPr>
          <a:xfrm>
            <a:off x="9427210" y="3375660"/>
            <a:ext cx="2385695" cy="821055"/>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Model</a:t>
            </a:r>
            <a:endParaRPr lang="en-US" altLang="zh-CN"/>
          </a:p>
        </p:txBody>
      </p:sp>
      <p:pic>
        <p:nvPicPr>
          <p:cNvPr id="7" name="图片 6"/>
          <p:cNvPicPr/>
          <p:nvPr/>
        </p:nvPicPr>
        <p:blipFill>
          <a:blip r:embed="rId1"/>
          <a:stretch>
            <a:fillRect/>
          </a:stretch>
        </p:blipFill>
        <p:spPr>
          <a:xfrm>
            <a:off x="7537133" y="4525963"/>
            <a:ext cx="3609975" cy="1247775"/>
          </a:xfrm>
          <a:prstGeom prst="rect">
            <a:avLst/>
          </a:prstGeom>
        </p:spPr>
      </p:pic>
    </p:spTree>
    <p:custDataLst>
      <p:tags r:id="rId2"/>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Init</a:t>
            </a:r>
            <a:endParaRPr lang="en-US" altLang="zh-CN"/>
          </a:p>
        </p:txBody>
      </p:sp>
      <p:sp>
        <p:nvSpPr>
          <p:cNvPr id="3" name="内容占位符 2"/>
          <p:cNvSpPr>
            <a:spLocks noGrp="1"/>
          </p:cNvSpPr>
          <p:nvPr>
            <p:ph idx="1"/>
          </p:nvPr>
        </p:nvSpPr>
        <p:spPr>
          <a:xfrm>
            <a:off x="838200" y="1211580"/>
            <a:ext cx="7045325" cy="5409565"/>
          </a:xfrm>
        </p:spPr>
        <p:txBody>
          <a:bodyPr>
            <a:normAutofit lnSpcReduction="20000"/>
          </a:bodyPr>
          <a:p>
            <a:pPr lvl="0" fontAlgn="auto">
              <a:lnSpc>
                <a:spcPct val="100000"/>
              </a:lnSpc>
            </a:pPr>
            <a:r>
              <a:rPr lang="en-US" altLang="zh-CN"/>
              <a:t>Init</a:t>
            </a:r>
            <a:endParaRPr lang="en-US" altLang="zh-CN"/>
          </a:p>
          <a:p>
            <a:pPr lvl="1" fontAlgn="auto">
              <a:lnSpc>
                <a:spcPct val="100000"/>
              </a:lnSpc>
            </a:pPr>
            <a:r>
              <a:rPr lang="en-US" altLang="zh-CN">
                <a:sym typeface="+mn-ea"/>
              </a:rPr>
              <a:t>from flask_sqlalchemy import SQLAlchemy</a:t>
            </a:r>
            <a:endParaRPr lang="en-US" altLang="zh-CN">
              <a:sym typeface="+mn-ea"/>
            </a:endParaRPr>
          </a:p>
          <a:p>
            <a:pPr lvl="1" fontAlgn="auto">
              <a:lnSpc>
                <a:spcPct val="100000"/>
              </a:lnSpc>
            </a:pPr>
            <a:r>
              <a:rPr lang="en-US" altLang="zh-CN">
                <a:sym typeface="+mn-ea"/>
              </a:rPr>
              <a:t>app = Flask(__name__)</a:t>
            </a:r>
            <a:endParaRPr lang="en-US" altLang="zh-CN">
              <a:sym typeface="+mn-ea"/>
            </a:endParaRPr>
          </a:p>
          <a:p>
            <a:pPr lvl="1" fontAlgn="auto">
              <a:lnSpc>
                <a:spcPct val="100000"/>
              </a:lnSpc>
            </a:pPr>
            <a:r>
              <a:rPr lang="en-US" altLang="zh-CN">
                <a:sym typeface="+mn-ea"/>
              </a:rPr>
              <a:t>app.config['SQLALCHEMY_DATABASE_URI'] = 'sqlite:///users.sqlite3'</a:t>
            </a:r>
            <a:endParaRPr lang="en-US" altLang="zh-CN">
              <a:sym typeface="+mn-ea"/>
            </a:endParaRPr>
          </a:p>
          <a:p>
            <a:pPr lvl="1" fontAlgn="auto">
              <a:lnSpc>
                <a:spcPct val="100000"/>
              </a:lnSpc>
            </a:pPr>
            <a:r>
              <a:rPr lang="en-US" altLang="zh-CN">
                <a:sym typeface="+mn-ea"/>
              </a:rPr>
              <a:t>db = SQLAlchemy(app)	// create db object</a:t>
            </a:r>
            <a:endParaRPr lang="en-US" altLang="zh-CN">
              <a:sym typeface="+mn-ea"/>
            </a:endParaRPr>
          </a:p>
          <a:p>
            <a:pPr lvl="1" fontAlgn="auto">
              <a:lnSpc>
                <a:spcPct val="100000"/>
              </a:lnSpc>
            </a:pPr>
            <a:r>
              <a:rPr lang="en-US" altLang="zh-CN">
                <a:sym typeface="+mn-ea"/>
              </a:rPr>
              <a:t>db.create_all()	// create all tables</a:t>
            </a:r>
            <a:endParaRPr lang="en-US" altLang="zh-CN">
              <a:sym typeface="+mn-ea"/>
            </a:endParaRPr>
          </a:p>
          <a:p>
            <a:pPr lvl="1" fontAlgn="auto">
              <a:lnSpc>
                <a:spcPct val="100000"/>
              </a:lnSpc>
            </a:pPr>
            <a:r>
              <a:rPr lang="en-US" altLang="zh-CN">
                <a:sym typeface="+mn-ea"/>
              </a:rPr>
              <a:t>class MyModel(db.Model)</a:t>
            </a:r>
            <a:endParaRPr lang="en-US" altLang="zh-CN">
              <a:sym typeface="+mn-ea"/>
            </a:endParaRPr>
          </a:p>
          <a:p>
            <a:pPr lvl="1" fontAlgn="auto">
              <a:lnSpc>
                <a:spcPct val="100000"/>
              </a:lnSpc>
            </a:pPr>
            <a:r>
              <a:rPr lang="en-US" altLang="zh-CN">
                <a:sym typeface="+mn-ea"/>
              </a:rPr>
              <a:t>db.Column(...)</a:t>
            </a:r>
            <a:endParaRPr lang="en-US" altLang="zh-CN">
              <a:sym typeface="+mn-ea"/>
            </a:endParaRPr>
          </a:p>
          <a:p>
            <a:pPr lvl="2" fontAlgn="auto">
              <a:lnSpc>
                <a:spcPct val="100000"/>
              </a:lnSpc>
            </a:pPr>
            <a:r>
              <a:rPr lang="en-US" altLang="zh-CN" sz="1800">
                <a:sym typeface="+mn-ea"/>
              </a:rPr>
              <a:t>unique=True/False</a:t>
            </a:r>
            <a:endParaRPr lang="en-US" altLang="zh-CN" sz="1800">
              <a:sym typeface="+mn-ea"/>
            </a:endParaRPr>
          </a:p>
          <a:p>
            <a:pPr lvl="2" fontAlgn="auto">
              <a:lnSpc>
                <a:spcPct val="100000"/>
              </a:lnSpc>
            </a:pPr>
            <a:r>
              <a:rPr lang="en-US" altLang="zh-CN" sz="1800">
                <a:sym typeface="+mn-ea"/>
              </a:rPr>
              <a:t>default=value</a:t>
            </a:r>
            <a:endParaRPr lang="en-US" altLang="zh-CN" sz="1800">
              <a:sym typeface="+mn-ea"/>
            </a:endParaRPr>
          </a:p>
          <a:p>
            <a:pPr lvl="2" fontAlgn="auto">
              <a:lnSpc>
                <a:spcPct val="100000"/>
              </a:lnSpc>
            </a:pPr>
            <a:r>
              <a:rPr lang="en-US" altLang="zh-CN" sz="1800">
                <a:sym typeface="+mn-ea"/>
              </a:rPr>
              <a:t>nullable=True/False</a:t>
            </a:r>
            <a:endParaRPr lang="en-US" altLang="zh-CN" sz="1800">
              <a:sym typeface="+mn-ea"/>
            </a:endParaRPr>
          </a:p>
          <a:p>
            <a:pPr lvl="2" fontAlgn="auto">
              <a:lnSpc>
                <a:spcPct val="100000"/>
              </a:lnSpc>
            </a:pPr>
            <a:r>
              <a:rPr lang="en-US" altLang="zh-CN"/>
              <a:t>primary_key=True/False</a:t>
            </a:r>
            <a:endParaRPr lang="en-US" altLang="zh-CN"/>
          </a:p>
          <a:p>
            <a:pPr lvl="2" fontAlgn="auto">
              <a:lnSpc>
                <a:spcPct val="100000"/>
              </a:lnSpc>
            </a:pPr>
            <a:r>
              <a:rPr lang="en-US" altLang="zh-CN"/>
              <a:t>db.ForeignKey('table.field_name')</a:t>
            </a:r>
            <a:endParaRPr lang="en-US" altLang="zh-CN"/>
          </a:p>
          <a:p>
            <a:pPr lvl="2" fontAlgn="auto">
              <a:lnSpc>
                <a:spcPct val="100000"/>
              </a:lnSpc>
            </a:pPr>
            <a:r>
              <a:rPr lang="en-US" altLang="zh-CN"/>
              <a:t>db.relationship(...)</a:t>
            </a:r>
            <a:endParaRPr lang="en-US" altLang="zh-CN"/>
          </a:p>
          <a:p>
            <a:pPr lvl="2" fontAlgn="auto">
              <a:lnSpc>
                <a:spcPct val="100000"/>
              </a:lnSpc>
            </a:pPr>
            <a:r>
              <a:rPr lang="en-US" altLang="zh-CN"/>
              <a:t>type: db.Integer, db.Float, db.Boolean, db.Datetime, db.String(len), db.Text, </a:t>
            </a:r>
            <a:endParaRPr lang="en-US" altLang="zh-CN"/>
          </a:p>
        </p:txBody>
      </p:sp>
      <p:sp>
        <p:nvSpPr>
          <p:cNvPr id="4" name="流程图: 过程 3"/>
          <p:cNvSpPr/>
          <p:nvPr/>
        </p:nvSpPr>
        <p:spPr>
          <a:xfrm>
            <a:off x="8747760" y="1400810"/>
            <a:ext cx="2606040" cy="63055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a:t>Create SQLAlchemy object</a:t>
            </a:r>
            <a:endParaRPr lang="en-US" altLang="zh-CN" sz="1400"/>
          </a:p>
          <a:p>
            <a:pPr algn="ctr"/>
            <a:r>
              <a:rPr lang="en-US" altLang="zh-CN" sz="1400"/>
              <a:t>db = SQLAlchemy()</a:t>
            </a:r>
            <a:endParaRPr lang="en-US" altLang="zh-CN" sz="1400"/>
          </a:p>
        </p:txBody>
      </p:sp>
      <p:sp>
        <p:nvSpPr>
          <p:cNvPr id="6" name="流程图: 过程 5"/>
          <p:cNvSpPr/>
          <p:nvPr/>
        </p:nvSpPr>
        <p:spPr>
          <a:xfrm>
            <a:off x="8747760" y="2359660"/>
            <a:ext cx="2606040" cy="63055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a:t>Config DB URI</a:t>
            </a:r>
            <a:endParaRPr lang="en-US" altLang="zh-CN" sz="1400"/>
          </a:p>
          <a:p>
            <a:pPr algn="ctr"/>
            <a:r>
              <a:rPr lang="en-US" altLang="zh-CN" sz="1400">
                <a:sym typeface="+mn-ea"/>
              </a:rPr>
              <a:t>app.config['SQLALCHEMY_DATABASE_URI'] = ‘xxx’</a:t>
            </a:r>
            <a:endParaRPr lang="en-US" altLang="zh-CN" sz="1400"/>
          </a:p>
        </p:txBody>
      </p:sp>
      <p:sp>
        <p:nvSpPr>
          <p:cNvPr id="7" name="流程图: 过程 6"/>
          <p:cNvSpPr/>
          <p:nvPr/>
        </p:nvSpPr>
        <p:spPr>
          <a:xfrm>
            <a:off x="8747760" y="3302000"/>
            <a:ext cx="2606040" cy="63055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a:t>Connect DB with app</a:t>
            </a:r>
            <a:endParaRPr lang="en-US" altLang="zh-CN" sz="1400"/>
          </a:p>
          <a:p>
            <a:pPr algn="ctr"/>
            <a:r>
              <a:rPr lang="en-US" altLang="zh-CN" sz="1400"/>
              <a:t>db.init_app(app)</a:t>
            </a:r>
            <a:endParaRPr lang="en-US" altLang="zh-CN" sz="1400"/>
          </a:p>
        </p:txBody>
      </p:sp>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Add/Delete/Update</a:t>
            </a:r>
            <a:endParaRPr lang="en-US" altLang="zh-CN"/>
          </a:p>
        </p:txBody>
      </p:sp>
      <p:sp>
        <p:nvSpPr>
          <p:cNvPr id="3" name="内容占位符 2"/>
          <p:cNvSpPr>
            <a:spLocks noGrp="1"/>
          </p:cNvSpPr>
          <p:nvPr>
            <p:ph idx="1"/>
          </p:nvPr>
        </p:nvSpPr>
        <p:spPr>
          <a:xfrm>
            <a:off x="537845" y="1211580"/>
            <a:ext cx="11428730" cy="5292725"/>
          </a:xfrm>
        </p:spPr>
        <p:txBody>
          <a:bodyPr>
            <a:normAutofit lnSpcReduction="20000"/>
          </a:bodyPr>
          <a:p>
            <a:pPr algn="l">
              <a:buClrTx/>
              <a:buSzTx/>
            </a:pPr>
            <a:r>
              <a:rPr lang="en-US" altLang="zh-CN" sz="1600">
                <a:sym typeface="+mn-ea"/>
              </a:rPr>
              <a:t>Class mapping</a:t>
            </a:r>
            <a:endParaRPr lang="en-US" altLang="zh-CN" sz="1600"/>
          </a:p>
          <a:p>
            <a:pPr lvl="1" algn="l">
              <a:buClrTx/>
              <a:buSzTx/>
            </a:pPr>
            <a:r>
              <a:rPr lang="en-US" altLang="zh-CN" sz="1600">
                <a:sym typeface="+mn-ea"/>
              </a:rPr>
              <a:t>__tablename__ = 'tn'</a:t>
            </a:r>
            <a:endParaRPr lang="en-US" altLang="zh-CN" sz="1600">
              <a:sym typeface="+mn-ea"/>
            </a:endParaRPr>
          </a:p>
          <a:p>
            <a:pPr lvl="0" algn="l">
              <a:buClrTx/>
              <a:buSzTx/>
            </a:pPr>
            <a:r>
              <a:rPr lang="en-US" altLang="zh-CN" sz="1600">
                <a:sym typeface="+mn-ea"/>
              </a:rPr>
              <a:t>Add record</a:t>
            </a:r>
            <a:endParaRPr lang="en-US" altLang="zh-CN" sz="1600"/>
          </a:p>
          <a:p>
            <a:pPr lvl="1"/>
            <a:r>
              <a:rPr lang="en-US" altLang="zh-CN" sz="1400">
                <a:sym typeface="+mn-ea"/>
              </a:rPr>
              <a:t>db.session.add(obj)</a:t>
            </a:r>
            <a:endParaRPr lang="en-US" altLang="zh-CN" sz="1400">
              <a:sym typeface="+mn-ea"/>
            </a:endParaRPr>
          </a:p>
          <a:p>
            <a:pPr lvl="1"/>
            <a:r>
              <a:rPr lang="en-US" altLang="zh-CN" sz="1400">
                <a:sym typeface="+mn-ea"/>
              </a:rPr>
              <a:t>db.session.add_all([fld1, fld2, fld3])</a:t>
            </a:r>
            <a:endParaRPr lang="en-US" altLang="zh-CN" sz="1400">
              <a:sym typeface="+mn-ea"/>
            </a:endParaRPr>
          </a:p>
          <a:p>
            <a:pPr lvl="1"/>
            <a:r>
              <a:rPr lang="en-US" altLang="zh-CN" sz="1400">
                <a:sym typeface="+mn-ea"/>
              </a:rPr>
              <a:t>db.session.commit()</a:t>
            </a:r>
            <a:endParaRPr lang="en-US" altLang="zh-CN" sz="1400">
              <a:sym typeface="+mn-ea"/>
            </a:endParaRPr>
          </a:p>
          <a:p>
            <a:pPr lvl="0"/>
            <a:r>
              <a:rPr lang="en-US" altLang="zh-CN" sz="1600">
                <a:sym typeface="+mn-ea"/>
              </a:rPr>
              <a:t>Delete record</a:t>
            </a:r>
            <a:endParaRPr lang="en-US" altLang="zh-CN" sz="1600">
              <a:sym typeface="+mn-ea"/>
            </a:endParaRPr>
          </a:p>
          <a:p>
            <a:pPr lvl="1"/>
            <a:r>
              <a:rPr lang="en-US" altLang="zh-CN" sz="1400">
                <a:sym typeface="+mn-ea"/>
              </a:rPr>
              <a:t>db.session.delete(obj)</a:t>
            </a:r>
            <a:endParaRPr lang="en-US" altLang="zh-CN" sz="1400">
              <a:sym typeface="+mn-ea"/>
            </a:endParaRPr>
          </a:p>
          <a:p>
            <a:pPr lvl="1"/>
            <a:r>
              <a:rPr lang="en-US" altLang="zh-CN" sz="1400">
                <a:sym typeface="+mn-ea"/>
              </a:rPr>
              <a:t>db.session.commit()</a:t>
            </a:r>
            <a:endParaRPr lang="en-US" altLang="zh-CN" sz="1400">
              <a:sym typeface="+mn-ea"/>
            </a:endParaRPr>
          </a:p>
          <a:p>
            <a:pPr lvl="1"/>
            <a:r>
              <a:rPr lang="en-US" altLang="zh-CN" sz="1400">
                <a:sym typeface="+mn-ea"/>
              </a:rPr>
              <a:t>MyModel.query.delete()	// delete all records in table</a:t>
            </a:r>
            <a:endParaRPr lang="en-US" altLang="zh-CN" sz="1400">
              <a:sym typeface="+mn-ea"/>
            </a:endParaRPr>
          </a:p>
          <a:p>
            <a:pPr lvl="0"/>
            <a:r>
              <a:rPr lang="en-US" altLang="zh-CN" sz="1600">
                <a:sym typeface="+mn-ea"/>
              </a:rPr>
              <a:t>Update record</a:t>
            </a:r>
            <a:endParaRPr lang="en-US" altLang="zh-CN" sz="1600">
              <a:sym typeface="+mn-ea"/>
            </a:endParaRPr>
          </a:p>
          <a:p>
            <a:pPr lvl="1"/>
            <a:r>
              <a:rPr lang="en-US" altLang="zh-CN" sz="1400">
                <a:sym typeface="+mn-ea"/>
              </a:rPr>
              <a:t>db.session.flush()</a:t>
            </a:r>
            <a:endParaRPr lang="en-US" altLang="zh-CN" sz="1400">
              <a:sym typeface="+mn-ea"/>
            </a:endParaRPr>
          </a:p>
          <a:p>
            <a:pPr lvl="1"/>
            <a:r>
              <a:rPr lang="en-US" altLang="zh-CN" sz="1400">
                <a:sym typeface="+mn-ea"/>
              </a:rPr>
              <a:t>db.session.commit()</a:t>
            </a:r>
            <a:endParaRPr lang="en-US" altLang="zh-CN" sz="1400">
              <a:sym typeface="+mn-ea"/>
            </a:endParaRPr>
          </a:p>
        </p:txBody>
      </p:sp>
      <p:graphicFrame>
        <p:nvGraphicFramePr>
          <p:cNvPr id="5" name="表格 4"/>
          <p:cNvGraphicFramePr/>
          <p:nvPr>
            <p:custDataLst>
              <p:tags r:id="rId1"/>
            </p:custDataLst>
          </p:nvPr>
        </p:nvGraphicFramePr>
        <p:xfrm>
          <a:off x="7036435" y="1381125"/>
          <a:ext cx="3985260" cy="3017520"/>
        </p:xfrm>
        <a:graphic>
          <a:graphicData uri="http://schemas.openxmlformats.org/drawingml/2006/table">
            <a:tbl>
              <a:tblPr firstRow="1" bandRow="1">
                <a:tableStyleId>{5C22544A-7EE6-4342-B048-85BDC9FD1C3A}</a:tableStyleId>
              </a:tblPr>
              <a:tblGrid>
                <a:gridCol w="1410970"/>
                <a:gridCol w="2574290"/>
              </a:tblGrid>
              <a:tr h="365760">
                <a:tc>
                  <a:txBody>
                    <a:bodyPr/>
                    <a:p>
                      <a:pPr algn="ctr">
                        <a:buNone/>
                      </a:pPr>
                      <a:r>
                        <a:rPr lang="en-US" altLang="zh-CN"/>
                        <a:t>type</a:t>
                      </a:r>
                      <a:endParaRPr lang="en-US" altLang="zh-CN"/>
                    </a:p>
                  </a:txBody>
                  <a:tcPr anchor="ctr" anchorCtr="0"/>
                </a:tc>
                <a:tc>
                  <a:txBody>
                    <a:bodyPr/>
                    <a:p>
                      <a:pPr algn="ctr">
                        <a:buNone/>
                      </a:pPr>
                      <a:r>
                        <a:rPr lang="en-US" altLang="zh-CN"/>
                        <a:t>explanation</a:t>
                      </a:r>
                      <a:endParaRPr lang="en-US" altLang="zh-CN"/>
                    </a:p>
                  </a:txBody>
                  <a:tcPr anchor="ctr" anchorCtr="0"/>
                </a:tc>
              </a:tr>
              <a:tr h="304800">
                <a:tc>
                  <a:txBody>
                    <a:bodyPr/>
                    <a:p>
                      <a:pPr>
                        <a:buNone/>
                      </a:pPr>
                      <a:r>
                        <a:rPr lang="en-US" altLang="zh-CN" sz="1400"/>
                        <a:t>Integer</a:t>
                      </a:r>
                      <a:endParaRPr lang="en-US" altLang="zh-CN" sz="1400"/>
                    </a:p>
                  </a:txBody>
                  <a:tcPr/>
                </a:tc>
                <a:tc>
                  <a:txBody>
                    <a:bodyPr/>
                    <a:p>
                      <a:pPr>
                        <a:buNone/>
                      </a:pPr>
                      <a:endParaRPr lang="zh-CN" altLang="en-US" sz="1400"/>
                    </a:p>
                  </a:txBody>
                  <a:tcPr/>
                </a:tc>
              </a:tr>
              <a:tr h="304800">
                <a:tc>
                  <a:txBody>
                    <a:bodyPr/>
                    <a:p>
                      <a:pPr>
                        <a:buNone/>
                      </a:pPr>
                      <a:r>
                        <a:rPr lang="en-US" altLang="zh-CN" sz="1400"/>
                        <a:t>String(size)</a:t>
                      </a:r>
                      <a:endParaRPr lang="en-US" altLang="zh-CN" sz="1400"/>
                    </a:p>
                  </a:txBody>
                  <a:tcPr/>
                </a:tc>
                <a:tc>
                  <a:txBody>
                    <a:bodyPr/>
                    <a:p>
                      <a:pPr>
                        <a:buNone/>
                      </a:pPr>
                      <a:endParaRPr lang="zh-CN" altLang="en-US" sz="1400"/>
                    </a:p>
                  </a:txBody>
                  <a:tcPr/>
                </a:tc>
              </a:tr>
              <a:tr h="304800">
                <a:tc>
                  <a:txBody>
                    <a:bodyPr/>
                    <a:p>
                      <a:pPr>
                        <a:buNone/>
                      </a:pPr>
                      <a:r>
                        <a:rPr lang="en-US" altLang="zh-CN" sz="1400"/>
                        <a:t>Text</a:t>
                      </a:r>
                      <a:endParaRPr lang="en-US" altLang="zh-CN" sz="1400"/>
                    </a:p>
                  </a:txBody>
                  <a:tcPr/>
                </a:tc>
                <a:tc>
                  <a:txBody>
                    <a:bodyPr/>
                    <a:p>
                      <a:pPr>
                        <a:buNone/>
                      </a:pPr>
                      <a:r>
                        <a:rPr lang="en-US" altLang="zh-CN" sz="1400"/>
                        <a:t>Unicode text</a:t>
                      </a:r>
                      <a:endParaRPr lang="en-US" altLang="zh-CN" sz="1400"/>
                    </a:p>
                  </a:txBody>
                  <a:tcPr/>
                </a:tc>
              </a:tr>
              <a:tr h="317500">
                <a:tc>
                  <a:txBody>
                    <a:bodyPr/>
                    <a:p>
                      <a:pPr>
                        <a:buNone/>
                      </a:pPr>
                      <a:r>
                        <a:rPr lang="en-US" altLang="zh-CN" sz="1400"/>
                        <a:t>DateTime</a:t>
                      </a:r>
                      <a:endParaRPr lang="en-US" altLang="zh-CN" sz="1400"/>
                    </a:p>
                  </a:txBody>
                  <a:tcPr/>
                </a:tc>
                <a:tc>
                  <a:txBody>
                    <a:bodyPr/>
                    <a:p>
                      <a:pPr>
                        <a:buNone/>
                      </a:pPr>
                      <a:r>
                        <a:rPr lang="en-US" altLang="zh-CN" sz="1400"/>
                        <a:t>expressed as Python datetime object</a:t>
                      </a:r>
                      <a:endParaRPr lang="en-US" altLang="zh-CN" sz="1400"/>
                    </a:p>
                  </a:txBody>
                  <a:tcPr/>
                </a:tc>
              </a:tr>
              <a:tr h="304800">
                <a:tc>
                  <a:txBody>
                    <a:bodyPr/>
                    <a:p>
                      <a:pPr>
                        <a:buNone/>
                      </a:pPr>
                      <a:r>
                        <a:rPr lang="en-US" altLang="zh-CN" sz="1400"/>
                        <a:t>Float</a:t>
                      </a:r>
                      <a:endParaRPr lang="en-US" altLang="zh-CN" sz="1400"/>
                    </a:p>
                  </a:txBody>
                  <a:tcPr/>
                </a:tc>
                <a:tc>
                  <a:txBody>
                    <a:bodyPr/>
                    <a:p>
                      <a:pPr>
                        <a:buNone/>
                      </a:pPr>
                      <a:endParaRPr lang="zh-CN" altLang="en-US" sz="1400"/>
                    </a:p>
                  </a:txBody>
                  <a:tcPr/>
                </a:tc>
              </a:tr>
              <a:tr h="304800">
                <a:tc>
                  <a:txBody>
                    <a:bodyPr/>
                    <a:p>
                      <a:pPr>
                        <a:buNone/>
                      </a:pPr>
                      <a:r>
                        <a:rPr lang="en-US" altLang="zh-CN" sz="1400"/>
                        <a:t>Boolean</a:t>
                      </a:r>
                      <a:endParaRPr lang="en-US" altLang="zh-CN" sz="1400"/>
                    </a:p>
                  </a:txBody>
                  <a:tcPr/>
                </a:tc>
                <a:tc>
                  <a:txBody>
                    <a:bodyPr/>
                    <a:p>
                      <a:pPr>
                        <a:buNone/>
                      </a:pPr>
                      <a:endParaRPr lang="zh-CN" altLang="en-US" sz="1400"/>
                    </a:p>
                  </a:txBody>
                  <a:tcPr/>
                </a:tc>
              </a:tr>
              <a:tr h="304800">
                <a:tc>
                  <a:txBody>
                    <a:bodyPr/>
                    <a:p>
                      <a:pPr>
                        <a:buNone/>
                      </a:pPr>
                      <a:r>
                        <a:rPr lang="en-US" altLang="zh-CN" sz="1400"/>
                        <a:t>PickleType</a:t>
                      </a:r>
                      <a:endParaRPr lang="en-US" altLang="zh-CN" sz="1400"/>
                    </a:p>
                  </a:txBody>
                  <a:tcPr/>
                </a:tc>
                <a:tc>
                  <a:txBody>
                    <a:bodyPr/>
                    <a:p>
                      <a:pPr>
                        <a:buNone/>
                      </a:pPr>
                      <a:r>
                        <a:rPr lang="en-US" altLang="zh-CN" sz="1400"/>
                        <a:t>pickled Python object</a:t>
                      </a:r>
                      <a:endParaRPr lang="en-US" altLang="zh-CN" sz="1400"/>
                    </a:p>
                  </a:txBody>
                  <a:tcPr/>
                </a:tc>
              </a:tr>
              <a:tr h="304800">
                <a:tc>
                  <a:txBody>
                    <a:bodyPr/>
                    <a:p>
                      <a:pPr>
                        <a:buNone/>
                      </a:pPr>
                      <a:r>
                        <a:rPr lang="en-US" altLang="zh-CN" sz="1400"/>
                        <a:t>LargeBinary</a:t>
                      </a:r>
                      <a:endParaRPr lang="en-US" altLang="zh-CN" sz="1400"/>
                    </a:p>
                  </a:txBody>
                  <a:tcPr/>
                </a:tc>
                <a:tc>
                  <a:txBody>
                    <a:bodyPr/>
                    <a:p>
                      <a:pPr>
                        <a:buNone/>
                      </a:pPr>
                      <a:r>
                        <a:rPr lang="en-US" altLang="zh-CN" sz="1400"/>
                        <a:t>arbitrary binay data</a:t>
                      </a:r>
                      <a:endParaRPr lang="en-US" altLang="zh-CN" sz="1400"/>
                    </a:p>
                  </a:txBody>
                  <a:tcPr/>
                </a:tc>
              </a:tr>
            </a:tbl>
          </a:graphicData>
        </a:graphic>
      </p:graphicFrame>
    </p:spTree>
    <p:custDataLst>
      <p:tags r:id="rId2"/>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Query</a:t>
            </a:r>
            <a:endParaRPr lang="en-US" altLang="zh-CN"/>
          </a:p>
        </p:txBody>
      </p:sp>
      <p:sp>
        <p:nvSpPr>
          <p:cNvPr id="3" name="内容占位符 2"/>
          <p:cNvSpPr>
            <a:spLocks noGrp="1"/>
          </p:cNvSpPr>
          <p:nvPr>
            <p:ph idx="1"/>
          </p:nvPr>
        </p:nvSpPr>
        <p:spPr>
          <a:xfrm>
            <a:off x="838200" y="1211580"/>
            <a:ext cx="5128895" cy="4549140"/>
          </a:xfrm>
        </p:spPr>
        <p:txBody>
          <a:bodyPr>
            <a:normAutofit lnSpcReduction="20000"/>
          </a:bodyPr>
          <a:p>
            <a:pPr lvl="0"/>
            <a:r>
              <a:rPr lang="en-US" altLang="zh-CN" sz="1400">
                <a:sym typeface="+mn-ea"/>
              </a:rPr>
              <a:t>Query</a:t>
            </a:r>
            <a:endParaRPr lang="en-US" altLang="zh-CN" sz="1400"/>
          </a:p>
          <a:p>
            <a:pPr lvl="1"/>
            <a:r>
              <a:rPr lang="en-US" altLang="zh-CN" sz="1200">
                <a:sym typeface="+mn-ea"/>
              </a:rPr>
              <a:t>MyModel.query.all()</a:t>
            </a:r>
            <a:endParaRPr lang="en-US" altLang="zh-CN" sz="1200">
              <a:sym typeface="+mn-ea"/>
            </a:endParaRPr>
          </a:p>
          <a:p>
            <a:pPr lvl="1"/>
            <a:r>
              <a:rPr lang="en-US" altLang="zh-CN" sz="1200">
                <a:sym typeface="+mn-ea"/>
              </a:rPr>
              <a:t>obj_list = MyModel.query.filter_by(field='value').all()</a:t>
            </a:r>
            <a:endParaRPr lang="en-US" altLang="zh-CN" sz="1200">
              <a:sym typeface="+mn-ea"/>
            </a:endParaRPr>
          </a:p>
          <a:p>
            <a:pPr lvl="1"/>
            <a:r>
              <a:rPr lang="en-US" altLang="zh-CN" sz="1200">
                <a:sym typeface="+mn-ea"/>
              </a:rPr>
              <a:t>obj = MyModel.query.filter_by(filed='value').first()</a:t>
            </a:r>
            <a:endParaRPr lang="en-US" altLang="zh-CN" sz="1200">
              <a:sym typeface="+mn-ea"/>
            </a:endParaRPr>
          </a:p>
          <a:p>
            <a:pPr lvl="1"/>
            <a:r>
              <a:rPr lang="en-US" altLang="zh-CN" sz="1200">
                <a:sym typeface="+mn-ea"/>
              </a:rPr>
              <a:t>obj_list = MyModel.query.filter(MyModel.field1=='value', MyModel.field2&gt;value2, MyModel.field3.in_((value1, value2)))</a:t>
            </a:r>
            <a:endParaRPr lang="en-US" altLang="zh-CN" sz="1200">
              <a:sym typeface="+mn-ea"/>
            </a:endParaRPr>
          </a:p>
          <a:p>
            <a:pPr lvl="1"/>
            <a:r>
              <a:rPr lang="en-US" altLang="zh-CN" sz="1200">
                <a:sym typeface="+mn-ea"/>
              </a:rPr>
              <a:t>obj_list = MyModel.query.filter(or_(MyMode.field1=='value', MyModel.field2&gt;value2))</a:t>
            </a:r>
            <a:endParaRPr lang="en-US" altLang="zh-CN" sz="1200">
              <a:sym typeface="+mn-ea"/>
            </a:endParaRPr>
          </a:p>
          <a:p>
            <a:pPr lvl="1"/>
            <a:r>
              <a:rPr lang="en-US" altLang="zh-CN" sz="1200"/>
              <a:t>filter = MyModel.title.ilike(f'%{query_str}%')</a:t>
            </a:r>
            <a:endParaRPr lang="en-US" altLang="zh-CN" sz="1200"/>
          </a:p>
          <a:p>
            <a:pPr lvl="1"/>
            <a:r>
              <a:rPr lang="en-US" altLang="zh-CN" sz="1200">
                <a:sym typeface="+mn-ea"/>
              </a:rPr>
              <a:t>obj_list = MyModel.query.order_by(MyModel.field).all()</a:t>
            </a:r>
            <a:endParaRPr lang="en-US" altLang="zh-CN" sz="1200">
              <a:sym typeface="+mn-ea"/>
            </a:endParaRPr>
          </a:p>
          <a:p>
            <a:pPr lvl="1"/>
            <a:r>
              <a:rPr lang="en-US" altLang="zh-CN" sz="1200">
                <a:sym typeface="+mn-ea"/>
              </a:rPr>
              <a:t>obj = MyModel.query.get(1) // query by primary key</a:t>
            </a:r>
            <a:endParaRPr lang="en-US" altLang="zh-CN" sz="1200">
              <a:sym typeface="+mn-ea"/>
            </a:endParaRPr>
          </a:p>
          <a:p>
            <a:pPr lvl="1"/>
            <a:r>
              <a:rPr lang="en-US" altLang="zh-CN" sz="1200">
                <a:sym typeface="+mn-ea"/>
              </a:rPr>
              <a:t>obj = MyModel.query.all()</a:t>
            </a:r>
            <a:endParaRPr lang="en-US" altLang="zh-CN" sz="1200">
              <a:sym typeface="+mn-ea"/>
            </a:endParaRPr>
          </a:p>
          <a:p>
            <a:pPr lvl="1"/>
            <a:r>
              <a:rPr lang="en-US" altLang="zh-CN" sz="1200">
                <a:sym typeface="+mn-ea"/>
              </a:rPr>
              <a:t>paginate(page, per_page, error_out=False)</a:t>
            </a:r>
            <a:endParaRPr lang="en-US" altLang="zh-CN" sz="1200">
              <a:sym typeface="+mn-ea"/>
            </a:endParaRPr>
          </a:p>
          <a:p>
            <a:pPr lvl="1"/>
            <a:r>
              <a:rPr lang="en-US" altLang="zh-CN" sz="1200"/>
              <a:t>from sqlalchemy import or_</a:t>
            </a:r>
            <a:endParaRPr lang="en-US" altLang="zh-CN" sz="1200"/>
          </a:p>
          <a:p>
            <a:pPr algn="l">
              <a:buClrTx/>
              <a:buSzTx/>
            </a:pPr>
            <a:r>
              <a:rPr lang="en-US" altLang="zh-CN" sz="1400">
                <a:sym typeface="+mn-ea"/>
              </a:rPr>
              <a:t>Inner join</a:t>
            </a:r>
            <a:endParaRPr lang="en-US" altLang="zh-CN" sz="1400">
              <a:sym typeface="+mn-ea"/>
            </a:endParaRPr>
          </a:p>
          <a:p>
            <a:pPr lvl="1" algn="l">
              <a:buClrTx/>
              <a:buSzTx/>
            </a:pPr>
            <a:r>
              <a:rPr lang="en-US" altLang="zh-CN" sz="1200">
                <a:sym typeface="+mn-ea"/>
              </a:rPr>
              <a:t>db.session.query(Folder, File)</a:t>
            </a:r>
            <a:endParaRPr lang="en-US" altLang="zh-CN" sz="1200">
              <a:sym typeface="+mn-ea"/>
            </a:endParaRPr>
          </a:p>
          <a:p>
            <a:pPr lvl="1" algn="l">
              <a:buClrTx/>
              <a:buSzTx/>
            </a:pPr>
            <a:r>
              <a:rPr lang="en-US" altLang="zh-CN" sz="1200">
                <a:sym typeface="+mn-ea"/>
              </a:rPr>
              <a:t>    .join(File, Folder.id == File.folder_id)</a:t>
            </a:r>
            <a:endParaRPr lang="en-US" altLang="zh-CN" sz="1200">
              <a:sym typeface="+mn-ea"/>
            </a:endParaRPr>
          </a:p>
          <a:p>
            <a:pPr lvl="1" algn="l">
              <a:buClrTx/>
              <a:buSzTx/>
            </a:pPr>
            <a:r>
              <a:rPr lang="en-US" altLang="zh-CN" sz="1200">
                <a:sym typeface="+mn-ea"/>
              </a:rPr>
              <a:t>    .all()</a:t>
            </a:r>
            <a:endParaRPr lang="en-US" altLang="zh-CN" sz="1200">
              <a:sym typeface="+mn-ea"/>
            </a:endParaRPr>
          </a:p>
          <a:p>
            <a:pPr lvl="0" algn="l">
              <a:buClrTx/>
              <a:buSzTx/>
            </a:pPr>
            <a:r>
              <a:rPr lang="en-US" altLang="zh-CN" sz="1400">
                <a:sym typeface="+mn-ea"/>
              </a:rPr>
              <a:t>Outer join</a:t>
            </a:r>
            <a:endParaRPr lang="en-US" altLang="zh-CN" sz="1400">
              <a:sym typeface="+mn-ea"/>
            </a:endParaRPr>
          </a:p>
          <a:p>
            <a:pPr lvl="1" algn="l">
              <a:buClrTx/>
              <a:buSzTx/>
            </a:pPr>
            <a:r>
              <a:rPr lang="en-US" altLang="zh-CN" sz="1200">
                <a:sym typeface="+mn-ea"/>
              </a:rPr>
              <a:t>db.session.query(Folder, File)</a:t>
            </a:r>
            <a:endParaRPr lang="en-US" altLang="zh-CN" sz="1200">
              <a:sym typeface="+mn-ea"/>
            </a:endParaRPr>
          </a:p>
          <a:p>
            <a:pPr lvl="1" algn="l">
              <a:buClrTx/>
              <a:buSzTx/>
            </a:pPr>
            <a:r>
              <a:rPr lang="en-US" altLang="zh-CN" sz="1200">
                <a:sym typeface="+mn-ea"/>
              </a:rPr>
              <a:t>    .outerjoin(File, Folder.id == File.folder_id)</a:t>
            </a:r>
            <a:endParaRPr lang="en-US" altLang="zh-CN" sz="1200">
              <a:sym typeface="+mn-ea"/>
            </a:endParaRPr>
          </a:p>
          <a:p>
            <a:pPr lvl="1" algn="l">
              <a:buClrTx/>
              <a:buSzTx/>
            </a:pPr>
            <a:r>
              <a:rPr lang="en-US" altLang="zh-CN" sz="1200">
                <a:sym typeface="+mn-ea"/>
              </a:rPr>
              <a:t>    .all()</a:t>
            </a:r>
            <a:endParaRPr lang="en-US" altLang="zh-CN" sz="1200">
              <a:sym typeface="+mn-ea"/>
            </a:endParaRPr>
          </a:p>
        </p:txBody>
      </p:sp>
      <p:graphicFrame>
        <p:nvGraphicFramePr>
          <p:cNvPr id="5" name="表格 4"/>
          <p:cNvGraphicFramePr/>
          <p:nvPr>
            <p:custDataLst>
              <p:tags r:id="rId1"/>
            </p:custDataLst>
          </p:nvPr>
        </p:nvGraphicFramePr>
        <p:xfrm>
          <a:off x="6096000" y="1211580"/>
          <a:ext cx="5813425" cy="2466340"/>
        </p:xfrm>
        <a:graphic>
          <a:graphicData uri="http://schemas.openxmlformats.org/drawingml/2006/table">
            <a:tbl>
              <a:tblPr firstRow="1" bandRow="1">
                <a:tableStyleId>{5C22544A-7EE6-4342-B048-85BDC9FD1C3A}</a:tableStyleId>
              </a:tblPr>
              <a:tblGrid>
                <a:gridCol w="1172845"/>
                <a:gridCol w="4640580"/>
              </a:tblGrid>
              <a:tr h="304800">
                <a:tc>
                  <a:txBody>
                    <a:bodyPr/>
                    <a:p>
                      <a:pPr algn="ctr">
                        <a:buNone/>
                      </a:pPr>
                      <a:r>
                        <a:rPr lang="en-US" altLang="zh-CN" sz="1400"/>
                        <a:t>Function</a:t>
                      </a:r>
                      <a:endParaRPr lang="en-US" altLang="zh-CN" sz="1400"/>
                    </a:p>
                  </a:txBody>
                  <a:tcPr anchor="ctr" anchorCtr="0"/>
                </a:tc>
                <a:tc>
                  <a:txBody>
                    <a:bodyPr/>
                    <a:p>
                      <a:pPr algn="ctr">
                        <a:buNone/>
                      </a:pPr>
                      <a:r>
                        <a:rPr lang="en-US" altLang="zh-CN" sz="1400"/>
                        <a:t>Explanation</a:t>
                      </a:r>
                      <a:endParaRPr lang="en-US" altLang="zh-CN" sz="1400"/>
                    </a:p>
                  </a:txBody>
                  <a:tcPr anchor="ctr" anchorCtr="0"/>
                </a:tc>
              </a:tr>
              <a:tr h="304800">
                <a:tc>
                  <a:txBody>
                    <a:bodyPr/>
                    <a:p>
                      <a:pPr>
                        <a:buNone/>
                      </a:pPr>
                      <a:r>
                        <a:rPr lang="en-US" altLang="zh-CN" sz="1400"/>
                        <a:t>filter()</a:t>
                      </a:r>
                      <a:endParaRPr lang="en-US" altLang="zh-CN" sz="1400"/>
                    </a:p>
                  </a:txBody>
                  <a:tcPr/>
                </a:tc>
                <a:tc>
                  <a:txBody>
                    <a:bodyPr/>
                    <a:p>
                      <a:pPr>
                        <a:buNone/>
                      </a:pPr>
                      <a:r>
                        <a:rPr lang="zh-CN" altLang="en-US" sz="1400"/>
                        <a:t>把过滤器添加到原查询上，返回一个新查询</a:t>
                      </a:r>
                      <a:endParaRPr lang="zh-CN" altLang="en-US" sz="1400"/>
                    </a:p>
                  </a:txBody>
                  <a:tcPr/>
                </a:tc>
              </a:tr>
              <a:tr h="304800">
                <a:tc>
                  <a:txBody>
                    <a:bodyPr/>
                    <a:p>
                      <a:pPr>
                        <a:buNone/>
                      </a:pPr>
                      <a:r>
                        <a:rPr lang="en-US" altLang="zh-CN" sz="1400"/>
                        <a:t>filter_by()</a:t>
                      </a:r>
                      <a:endParaRPr lang="en-US" altLang="zh-CN" sz="1400"/>
                    </a:p>
                  </a:txBody>
                  <a:tcPr/>
                </a:tc>
                <a:tc>
                  <a:txBody>
                    <a:bodyPr/>
                    <a:p>
                      <a:pPr>
                        <a:buNone/>
                      </a:pPr>
                      <a:r>
                        <a:rPr lang="zh-CN" altLang="en-US" sz="1400"/>
                        <a:t>把等值过滤器添加到原查询上，返回一个新查询</a:t>
                      </a:r>
                      <a:endParaRPr lang="zh-CN" altLang="en-US" sz="1400"/>
                    </a:p>
                  </a:txBody>
                  <a:tcPr/>
                </a:tc>
              </a:tr>
              <a:tr h="518160">
                <a:tc>
                  <a:txBody>
                    <a:bodyPr/>
                    <a:p>
                      <a:pPr>
                        <a:buNone/>
                      </a:pPr>
                      <a:r>
                        <a:rPr lang="en-US" altLang="zh-CN" sz="1400"/>
                        <a:t>limit()</a:t>
                      </a:r>
                      <a:endParaRPr lang="en-US" altLang="zh-CN" sz="1400"/>
                    </a:p>
                  </a:txBody>
                  <a:tcPr/>
                </a:tc>
                <a:tc>
                  <a:txBody>
                    <a:bodyPr/>
                    <a:p>
                      <a:pPr>
                        <a:buNone/>
                      </a:pPr>
                      <a:r>
                        <a:rPr lang="zh-CN" altLang="en-US" sz="1400"/>
                        <a:t>使用指定的值限制原查询返回的结果数量，返回一个新查询</a:t>
                      </a:r>
                      <a:endParaRPr lang="zh-CN" altLang="en-US" sz="1400"/>
                    </a:p>
                  </a:txBody>
                  <a:tcPr/>
                </a:tc>
              </a:tr>
              <a:tr h="304800">
                <a:tc>
                  <a:txBody>
                    <a:bodyPr/>
                    <a:p>
                      <a:pPr>
                        <a:buNone/>
                      </a:pPr>
                      <a:r>
                        <a:rPr lang="en-US" altLang="zh-CN" sz="1400"/>
                        <a:t>offset()</a:t>
                      </a:r>
                      <a:endParaRPr lang="en-US" altLang="zh-CN" sz="1400"/>
                    </a:p>
                  </a:txBody>
                  <a:tcPr/>
                </a:tc>
                <a:tc>
                  <a:txBody>
                    <a:bodyPr/>
                    <a:p>
                      <a:pPr>
                        <a:buNone/>
                      </a:pPr>
                      <a:r>
                        <a:rPr lang="zh-CN" altLang="en-US" sz="1400"/>
                        <a:t>偏移原查询返回的结果，返回一个新查询</a:t>
                      </a:r>
                      <a:endParaRPr lang="zh-CN" altLang="en-US" sz="1400"/>
                    </a:p>
                  </a:txBody>
                  <a:tcPr/>
                </a:tc>
              </a:tr>
              <a:tr h="364490">
                <a:tc>
                  <a:txBody>
                    <a:bodyPr/>
                    <a:p>
                      <a:pPr>
                        <a:buNone/>
                      </a:pPr>
                      <a:r>
                        <a:rPr lang="en-US" altLang="zh-CN" sz="1400"/>
                        <a:t>order_by()</a:t>
                      </a:r>
                      <a:endParaRPr lang="en-US" altLang="zh-CN" sz="1400"/>
                    </a:p>
                  </a:txBody>
                  <a:tcPr/>
                </a:tc>
                <a:tc>
                  <a:txBody>
                    <a:bodyPr/>
                    <a:p>
                      <a:pPr>
                        <a:buNone/>
                      </a:pPr>
                      <a:r>
                        <a:rPr lang="zh-CN" altLang="en-US" sz="1400"/>
                        <a:t>根据指定条件对原查询结果进行排序，返回一个新查询</a:t>
                      </a:r>
                      <a:endParaRPr lang="zh-CN" altLang="en-US" sz="1400"/>
                    </a:p>
                  </a:txBody>
                  <a:tcPr/>
                </a:tc>
              </a:tr>
              <a:tr h="364490">
                <a:tc>
                  <a:txBody>
                    <a:bodyPr/>
                    <a:p>
                      <a:pPr>
                        <a:buNone/>
                      </a:pPr>
                      <a:r>
                        <a:rPr lang="en-US" altLang="zh-CN" sz="1400"/>
                        <a:t>group_by()</a:t>
                      </a:r>
                      <a:endParaRPr lang="en-US" altLang="zh-CN" sz="1400"/>
                    </a:p>
                  </a:txBody>
                  <a:tcPr/>
                </a:tc>
                <a:tc>
                  <a:txBody>
                    <a:bodyPr/>
                    <a:p>
                      <a:pPr>
                        <a:buNone/>
                      </a:pPr>
                      <a:r>
                        <a:rPr lang="zh-CN" altLang="en-US" sz="1400"/>
                        <a:t>根据指定条件对原查询结果进行分组，返回一个新查询</a:t>
                      </a:r>
                      <a:endParaRPr lang="zh-CN" altLang="en-US" sz="1400"/>
                    </a:p>
                  </a:txBody>
                  <a:tcPr/>
                </a:tc>
              </a:tr>
            </a:tbl>
          </a:graphicData>
        </a:graphic>
      </p:graphicFrame>
      <p:graphicFrame>
        <p:nvGraphicFramePr>
          <p:cNvPr id="7" name="表格 6"/>
          <p:cNvGraphicFramePr/>
          <p:nvPr>
            <p:custDataLst>
              <p:tags r:id="rId2"/>
            </p:custDataLst>
          </p:nvPr>
        </p:nvGraphicFramePr>
        <p:xfrm>
          <a:off x="6096000" y="3937635"/>
          <a:ext cx="5814060" cy="2360930"/>
        </p:xfrm>
        <a:graphic>
          <a:graphicData uri="http://schemas.openxmlformats.org/drawingml/2006/table">
            <a:tbl>
              <a:tblPr firstRow="1" bandRow="1">
                <a:tableStyleId>{5C22544A-7EE6-4342-B048-85BDC9FD1C3A}</a:tableStyleId>
              </a:tblPr>
              <a:tblGrid>
                <a:gridCol w="1232535"/>
                <a:gridCol w="4581525"/>
              </a:tblGrid>
              <a:tr h="304800">
                <a:tc>
                  <a:txBody>
                    <a:bodyPr/>
                    <a:p>
                      <a:pPr algn="ctr">
                        <a:buNone/>
                      </a:pPr>
                      <a:r>
                        <a:rPr lang="en-US" altLang="zh-CN" sz="1400"/>
                        <a:t>Function</a:t>
                      </a:r>
                      <a:endParaRPr lang="en-US" altLang="zh-CN" sz="1400"/>
                    </a:p>
                  </a:txBody>
                  <a:tcPr anchor="ctr" anchorCtr="0"/>
                </a:tc>
                <a:tc>
                  <a:txBody>
                    <a:bodyPr/>
                    <a:p>
                      <a:pPr algn="ctr">
                        <a:buNone/>
                      </a:pPr>
                      <a:r>
                        <a:rPr lang="en-US" altLang="zh-CN" sz="1400"/>
                        <a:t>Explanation</a:t>
                      </a:r>
                      <a:endParaRPr lang="en-US" altLang="zh-CN" sz="1400"/>
                    </a:p>
                  </a:txBody>
                  <a:tcPr anchor="ctr" anchorCtr="0"/>
                </a:tc>
              </a:tr>
              <a:tr h="304800">
                <a:tc>
                  <a:txBody>
                    <a:bodyPr/>
                    <a:p>
                      <a:pPr>
                        <a:buNone/>
                      </a:pPr>
                      <a:r>
                        <a:rPr lang="en-US" altLang="zh-CN" sz="1400"/>
                        <a:t>all()</a:t>
                      </a:r>
                      <a:endParaRPr lang="en-US" altLang="zh-CN" sz="1400"/>
                    </a:p>
                  </a:txBody>
                  <a:tcPr/>
                </a:tc>
                <a:tc>
                  <a:txBody>
                    <a:bodyPr/>
                    <a:p>
                      <a:pPr>
                        <a:buNone/>
                      </a:pPr>
                      <a:r>
                        <a:rPr lang="zh-CN" altLang="en-US" sz="1400"/>
                        <a:t>以列表形式返回查询的所有结果</a:t>
                      </a:r>
                      <a:endParaRPr lang="zh-CN" altLang="en-US" sz="1400"/>
                    </a:p>
                  </a:txBody>
                  <a:tcPr/>
                </a:tc>
              </a:tr>
              <a:tr h="309245">
                <a:tc>
                  <a:txBody>
                    <a:bodyPr/>
                    <a:p>
                      <a:pPr>
                        <a:buNone/>
                      </a:pPr>
                      <a:r>
                        <a:rPr lang="en-US" altLang="zh-CN" sz="1400"/>
                        <a:t>first()</a:t>
                      </a:r>
                      <a:endParaRPr lang="en-US" altLang="zh-CN" sz="1400"/>
                    </a:p>
                  </a:txBody>
                  <a:tcPr/>
                </a:tc>
                <a:tc>
                  <a:txBody>
                    <a:bodyPr/>
                    <a:p>
                      <a:pPr>
                        <a:buNone/>
                      </a:pPr>
                      <a:r>
                        <a:rPr lang="zh-CN" altLang="en-US" sz="1400"/>
                        <a:t>返回查询的第一个结果，如果没有结果，则返回None</a:t>
                      </a:r>
                      <a:endParaRPr lang="zh-CN" altLang="en-US" sz="1400"/>
                    </a:p>
                  </a:txBody>
                  <a:tcPr/>
                </a:tc>
              </a:tr>
              <a:tr h="518160">
                <a:tc>
                  <a:txBody>
                    <a:bodyPr/>
                    <a:p>
                      <a:pPr>
                        <a:buNone/>
                      </a:pPr>
                      <a:r>
                        <a:rPr lang="en-US" altLang="zh-CN" sz="1400"/>
                        <a:t>get()</a:t>
                      </a:r>
                      <a:endParaRPr lang="en-US" altLang="zh-CN" sz="1400"/>
                    </a:p>
                  </a:txBody>
                  <a:tcPr/>
                </a:tc>
                <a:tc>
                  <a:txBody>
                    <a:bodyPr/>
                    <a:p>
                      <a:pPr>
                        <a:buNone/>
                      </a:pPr>
                      <a:r>
                        <a:rPr lang="zh-CN" altLang="en-US" sz="1400"/>
                        <a:t>返回指定主键对应的行，如果没有对应的行，则返回None</a:t>
                      </a:r>
                      <a:endParaRPr lang="zh-CN" altLang="en-US" sz="1400"/>
                    </a:p>
                  </a:txBody>
                  <a:tcPr/>
                </a:tc>
              </a:tr>
              <a:tr h="304800">
                <a:tc>
                  <a:txBody>
                    <a:bodyPr/>
                    <a:p>
                      <a:pPr>
                        <a:buNone/>
                      </a:pPr>
                      <a:r>
                        <a:rPr lang="en-US" altLang="zh-CN" sz="1400"/>
                        <a:t>count()</a:t>
                      </a:r>
                      <a:endParaRPr lang="en-US" altLang="zh-CN" sz="1400"/>
                    </a:p>
                  </a:txBody>
                  <a:tcPr/>
                </a:tc>
                <a:tc>
                  <a:txBody>
                    <a:bodyPr/>
                    <a:p>
                      <a:pPr>
                        <a:buNone/>
                      </a:pPr>
                      <a:r>
                        <a:rPr lang="zh-CN" altLang="en-US" sz="1400"/>
                        <a:t>返回查询结果的数量</a:t>
                      </a:r>
                      <a:endParaRPr lang="zh-CN" altLang="en-US" sz="1400"/>
                    </a:p>
                  </a:txBody>
                  <a:tcPr/>
                </a:tc>
              </a:tr>
              <a:tr h="309245">
                <a:tc>
                  <a:txBody>
                    <a:bodyPr/>
                    <a:p>
                      <a:pPr>
                        <a:buNone/>
                      </a:pPr>
                      <a:r>
                        <a:rPr lang="en-US" altLang="zh-CN" sz="1400"/>
                        <a:t>paginate()</a:t>
                      </a:r>
                      <a:endParaRPr lang="en-US" altLang="zh-CN" sz="1400"/>
                    </a:p>
                  </a:txBody>
                  <a:tcPr/>
                </a:tc>
                <a:tc>
                  <a:txBody>
                    <a:bodyPr/>
                    <a:p>
                      <a:pPr>
                        <a:buNone/>
                      </a:pPr>
                      <a:r>
                        <a:rPr lang="zh-CN" altLang="en-US" sz="1400"/>
                        <a:t>返回一个Paginate对象，它包含指定范围内的结果</a:t>
                      </a:r>
                      <a:endParaRPr lang="zh-CN" altLang="en-US" sz="1400"/>
                    </a:p>
                  </a:txBody>
                  <a:tcPr/>
                </a:tc>
              </a:tr>
              <a:tr h="309880">
                <a:tc>
                  <a:txBody>
                    <a:bodyPr/>
                    <a:p>
                      <a:pPr>
                        <a:buNone/>
                      </a:pPr>
                      <a:endParaRPr lang="en-US" altLang="zh-CN" sz="1400"/>
                    </a:p>
                  </a:txBody>
                  <a:tcPr/>
                </a:tc>
                <a:tc>
                  <a:txBody>
                    <a:bodyPr/>
                    <a:p>
                      <a:pPr>
                        <a:buNone/>
                      </a:pPr>
                      <a:endParaRPr lang="zh-CN" altLang="en-US" sz="1400"/>
                    </a:p>
                  </a:txBody>
                  <a:tcPr/>
                </a:tc>
              </a:tr>
            </a:tbl>
          </a:graphicData>
        </a:graphic>
      </p:graphicFrame>
    </p:spTree>
    <p:custDataLst>
      <p:tags r:id="rId3"/>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Migrate</a:t>
            </a:r>
            <a:endParaRPr lang="en-US" altLang="zh-CN"/>
          </a:p>
        </p:txBody>
      </p:sp>
      <p:sp>
        <p:nvSpPr>
          <p:cNvPr id="3" name="内容占位符 2"/>
          <p:cNvSpPr>
            <a:spLocks noGrp="1"/>
          </p:cNvSpPr>
          <p:nvPr>
            <p:ph idx="1"/>
          </p:nvPr>
        </p:nvSpPr>
        <p:spPr>
          <a:xfrm>
            <a:off x="838200" y="1211580"/>
            <a:ext cx="5534660" cy="5149215"/>
          </a:xfrm>
        </p:spPr>
        <p:txBody>
          <a:bodyPr>
            <a:normAutofit fontScale="90000" lnSpcReduction="20000"/>
          </a:bodyPr>
          <a:p>
            <a:r>
              <a:rPr lang="en-US" altLang="zh-CN" sz="1600"/>
              <a:t>Flask-Migrate</a:t>
            </a:r>
            <a:endParaRPr lang="en-US" altLang="zh-CN" sz="1600"/>
          </a:p>
          <a:p>
            <a:pPr lvl="1"/>
            <a:r>
              <a:rPr lang="en-US" altLang="zh-CN" sz="1400"/>
              <a:t>pip install Flask-Migrate</a:t>
            </a:r>
            <a:endParaRPr lang="en-US" altLang="zh-CN" sz="1400"/>
          </a:p>
          <a:p>
            <a:pPr lvl="1"/>
            <a:r>
              <a:rPr lang="en-US" altLang="zh-CN" sz="1400">
                <a:sym typeface="+mn-ea"/>
              </a:rPr>
              <a:t>in create_app() in app.py</a:t>
            </a:r>
            <a:endParaRPr lang="en-US" altLang="zh-CN" sz="1400"/>
          </a:p>
          <a:p>
            <a:pPr lvl="2"/>
            <a:r>
              <a:rPr lang="en-US" altLang="zh-CN" sz="1400">
                <a:sym typeface="+mn-ea"/>
              </a:rPr>
              <a:t>from flask_migrate import Migrate</a:t>
            </a:r>
            <a:endParaRPr lang="en-US" altLang="zh-CN" sz="1400">
              <a:sym typeface="+mn-ea"/>
            </a:endParaRPr>
          </a:p>
          <a:p>
            <a:pPr lvl="2"/>
            <a:r>
              <a:rPr lang="en-US" altLang="zh-CN" sz="1400">
                <a:sym typeface="+mn-ea"/>
              </a:rPr>
              <a:t>migrate = Migrate()</a:t>
            </a:r>
            <a:endParaRPr lang="en-US" altLang="zh-CN" sz="1400">
              <a:sym typeface="+mn-ea"/>
            </a:endParaRPr>
          </a:p>
          <a:p>
            <a:pPr lvl="2"/>
            <a:r>
              <a:rPr lang="en-US" altLang="zh-CN" sz="1400">
                <a:sym typeface="+mn-ea"/>
              </a:rPr>
              <a:t>migrate.init_app(app, db)</a:t>
            </a:r>
            <a:endParaRPr lang="en-US" altLang="zh-CN" sz="1400"/>
          </a:p>
          <a:p>
            <a:pPr lvl="1"/>
            <a:r>
              <a:rPr lang="en-US" altLang="zh-CN" sz="1400">
                <a:sym typeface="+mn-ea"/>
              </a:rPr>
              <a:t>docker environment</a:t>
            </a:r>
            <a:endParaRPr lang="en-US" altLang="zh-CN" sz="1400"/>
          </a:p>
          <a:p>
            <a:pPr lvl="2"/>
            <a:r>
              <a:rPr lang="en-US" altLang="zh-CN" sz="1400">
                <a:sym typeface="+mn-ea"/>
              </a:rPr>
              <a:t>enter flask bash first</a:t>
            </a:r>
            <a:endParaRPr lang="en-US" altLang="zh-CN" sz="1400"/>
          </a:p>
          <a:p>
            <a:pPr lvl="1"/>
            <a:r>
              <a:rPr lang="en-US" altLang="zh-CN" sz="1400"/>
              <a:t>flask db --help</a:t>
            </a:r>
            <a:endParaRPr lang="en-US" altLang="zh-CN" sz="1400"/>
          </a:p>
          <a:p>
            <a:pPr lvl="1"/>
            <a:r>
              <a:rPr lang="en-US" altLang="zh-CN" sz="1400"/>
              <a:t>flask db init  // # Initialize migrations (first time only)</a:t>
            </a:r>
            <a:endParaRPr lang="en-US" altLang="zh-CN" sz="1400"/>
          </a:p>
          <a:p>
            <a:pPr lvl="1"/>
            <a:r>
              <a:rPr lang="en-US" altLang="zh-CN" sz="1400"/>
              <a:t>flask db current  // current db version hash</a:t>
            </a:r>
            <a:endParaRPr lang="en-US" altLang="zh-CN" sz="1400"/>
          </a:p>
          <a:p>
            <a:pPr lvl="1"/>
            <a:r>
              <a:rPr lang="en-US" altLang="zh-CN" sz="1400"/>
              <a:t>flask db history</a:t>
            </a:r>
            <a:endParaRPr lang="en-US" altLang="zh-CN" sz="1400"/>
          </a:p>
          <a:p>
            <a:pPr lvl="1"/>
            <a:r>
              <a:rPr lang="en-US" altLang="zh-CN" sz="1400"/>
              <a:t>flask db show  // show pending migrations</a:t>
            </a:r>
            <a:endParaRPr lang="en-US" altLang="zh-CN" sz="1400"/>
          </a:p>
          <a:p>
            <a:pPr lvl="1"/>
            <a:r>
              <a:rPr lang="en-US" altLang="zh-CN" sz="1400"/>
              <a:t>flask db heads</a:t>
            </a:r>
            <a:endParaRPr lang="en-US" altLang="zh-CN" sz="1400"/>
          </a:p>
          <a:p>
            <a:pPr lvl="1"/>
            <a:r>
              <a:rPr lang="en-US" altLang="zh-CN" sz="1400"/>
              <a:t>flask db migrate -m "Add favorites table for house favorites"</a:t>
            </a:r>
            <a:endParaRPr lang="en-US" altLang="zh-CN" sz="1400"/>
          </a:p>
          <a:p>
            <a:pPr lvl="2"/>
            <a:r>
              <a:rPr lang="en-US" altLang="zh-CN" sz="1200"/>
              <a:t>Compares your current models with the actual database structure</a:t>
            </a:r>
            <a:endParaRPr lang="en-US" altLang="zh-CN" sz="1200"/>
          </a:p>
          <a:p>
            <a:pPr lvl="2"/>
            <a:r>
              <a:rPr lang="en-US" altLang="zh-CN" sz="1200"/>
              <a:t>Generates migration script</a:t>
            </a:r>
            <a:endParaRPr lang="en-US" altLang="zh-CN" sz="1200"/>
          </a:p>
          <a:p>
            <a:pPr lvl="2"/>
            <a:r>
              <a:rPr lang="en-US" altLang="zh-CN" sz="1200"/>
              <a:t>Does NOT change the database</a:t>
            </a:r>
            <a:endParaRPr lang="en-US" altLang="zh-CN" sz="1200"/>
          </a:p>
          <a:p>
            <a:pPr lvl="2"/>
            <a:r>
              <a:rPr lang="en-US" altLang="zh-CN" sz="1200"/>
              <a:t>file: migrations/versions/</a:t>
            </a:r>
            <a:endParaRPr lang="en-US" altLang="zh-CN" sz="1200"/>
          </a:p>
          <a:p>
            <a:pPr lvl="1"/>
            <a:r>
              <a:rPr lang="en-US" altLang="zh-CN" sz="1400"/>
              <a:t>flask db upgrade</a:t>
            </a:r>
            <a:endParaRPr lang="en-US" altLang="zh-CN" sz="1400"/>
          </a:p>
          <a:p>
            <a:pPr lvl="2"/>
            <a:r>
              <a:rPr lang="en-US" altLang="zh-CN" sz="1200"/>
              <a:t>Executes the migration</a:t>
            </a:r>
            <a:endParaRPr lang="en-US" altLang="zh-CN" sz="1200"/>
          </a:p>
          <a:p>
            <a:pPr lvl="2"/>
            <a:r>
              <a:rPr lang="en-US" altLang="zh-CN" sz="1200"/>
              <a:t>Updates migration history</a:t>
            </a:r>
            <a:endParaRPr lang="en-US" altLang="zh-CN" sz="1200"/>
          </a:p>
          <a:p>
            <a:pPr lvl="2"/>
            <a:r>
              <a:rPr lang="en-US" altLang="zh-CN" sz="1200"/>
              <a:t>Modifies the database</a:t>
            </a:r>
            <a:endParaRPr lang="en-US" altLang="zh-CN" sz="1200"/>
          </a:p>
          <a:p>
            <a:pPr lvl="1"/>
            <a:r>
              <a:rPr lang="en-US" altLang="zh-CN" sz="1400"/>
              <a:t>flask db downgrade</a:t>
            </a:r>
            <a:endParaRPr lang="en-US" altLang="zh-CN" sz="1400"/>
          </a:p>
          <a:p>
            <a:pPr lvl="2"/>
            <a:r>
              <a:rPr lang="en-US" altLang="zh-CN" sz="1200"/>
              <a:t>roll back</a:t>
            </a:r>
            <a:endParaRPr lang="en-US" altLang="zh-CN" sz="1200"/>
          </a:p>
          <a:p>
            <a:pPr lvl="2"/>
            <a:r>
              <a:rPr lang="en-US" altLang="zh-CN" sz="1200"/>
              <a:t>flask db downgrade &lt;migration_id&gt;</a:t>
            </a:r>
            <a:endParaRPr lang="en-US" altLang="zh-CN" sz="1200"/>
          </a:p>
        </p:txBody>
      </p:sp>
      <p:pic>
        <p:nvPicPr>
          <p:cNvPr id="4" name="图片 3"/>
          <p:cNvPicPr/>
          <p:nvPr/>
        </p:nvPicPr>
        <p:blipFill>
          <a:blip r:embed="rId1"/>
          <a:stretch>
            <a:fillRect/>
          </a:stretch>
        </p:blipFill>
        <p:spPr>
          <a:xfrm>
            <a:off x="6726555" y="1354455"/>
            <a:ext cx="4695190" cy="2432685"/>
          </a:xfrm>
          <a:prstGeom prst="rect">
            <a:avLst/>
          </a:prstGeom>
        </p:spPr>
      </p:pic>
    </p:spTree>
    <p:custDataLst>
      <p:tags r:id="rId2"/>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Pitfalls</a:t>
            </a:r>
            <a:endParaRPr lang="zh-CN" altLang="en-US"/>
          </a:p>
        </p:txBody>
      </p:sp>
      <p:sp>
        <p:nvSpPr>
          <p:cNvPr id="3" name="内容占位符 2"/>
          <p:cNvSpPr>
            <a:spLocks noGrp="1"/>
          </p:cNvSpPr>
          <p:nvPr>
            <p:ph idx="1"/>
          </p:nvPr>
        </p:nvSpPr>
        <p:spPr/>
        <p:txBody>
          <a:bodyPr>
            <a:normAutofit lnSpcReduction="10000"/>
          </a:bodyPr>
          <a:p>
            <a:r>
              <a:rPr lang="en-US" altLang="zh-CN"/>
              <a:t>func</a:t>
            </a:r>
            <a:endParaRPr lang="en-US" altLang="zh-CN"/>
          </a:p>
          <a:p>
            <a:pPr lvl="1"/>
            <a:r>
              <a:rPr lang="en-US" altLang="zh-CN"/>
              <a:t>from sqlalchemy import func</a:t>
            </a:r>
            <a:endParaRPr lang="en-US" altLang="zh-CN" sz="2000"/>
          </a:p>
          <a:p>
            <a:pPr lvl="1"/>
            <a:r>
              <a:rPr lang="en-US" altLang="zh-CN"/>
              <a:t>session.query(func.max(table_name.column_name)).first()</a:t>
            </a:r>
            <a:endParaRPr lang="en-US" altLang="zh-CN"/>
          </a:p>
          <a:p>
            <a:r>
              <a:rPr lang="en-US" altLang="zh-CN"/>
              <a:t>Pitfalls</a:t>
            </a:r>
            <a:endParaRPr lang="en-US" altLang="zh-CN"/>
          </a:p>
          <a:p>
            <a:pPr lvl="1"/>
            <a:r>
              <a:rPr lang="en-US" altLang="zh-CN"/>
              <a:t>Avoid calling commit too many times</a:t>
            </a:r>
            <a:endParaRPr lang="en-US" altLang="zh-CN"/>
          </a:p>
          <a:p>
            <a:pPr lvl="2"/>
            <a:r>
              <a:rPr lang="en-US" altLang="zh-CN"/>
              <a:t>called once near the end of a router handler</a:t>
            </a:r>
            <a:endParaRPr lang="en-US" altLang="zh-CN"/>
          </a:p>
          <a:p>
            <a:pPr lvl="1"/>
            <a:r>
              <a:rPr lang="en-US" altLang="zh-CN"/>
              <a:t>gunicorn</a:t>
            </a:r>
            <a:endParaRPr lang="en-US" altLang="zh-CN"/>
          </a:p>
          <a:p>
            <a:pPr lvl="2"/>
            <a:r>
              <a:rPr lang="en-US" altLang="zh-CN">
                <a:solidFill>
                  <a:srgbClr val="FF0000"/>
                </a:solidFill>
              </a:rPr>
              <a:t>--preload MUST NOT be used</a:t>
            </a:r>
            <a:endParaRPr lang="en-US" altLang="zh-CN">
              <a:solidFill>
                <a:srgbClr val="FF0000"/>
              </a:solidFill>
            </a:endParaRPr>
          </a:p>
          <a:p>
            <a:pPr lvl="3"/>
            <a:r>
              <a:rPr lang="en-US" altLang="zh-CN"/>
              <a:t>uwsgi (or gunicorn) starts, multiple workers are forked from the first process.</a:t>
            </a:r>
            <a:endParaRPr lang="en-US" altLang="zh-CN"/>
          </a:p>
          <a:p>
            <a:pPr lvl="3"/>
            <a:r>
              <a:rPr lang="en-US" altLang="zh-CN"/>
              <a:t>If preload is set: If there is a request in the first process when it starts, then this opens a database connection and the connection is forked to the next process. But in the database, of course, no new connection is opened and a broken connection occurs.</a:t>
            </a:r>
            <a:endParaRPr lang="en-US" altLang="zh-CN"/>
          </a:p>
          <a:p>
            <a:pPr lvl="3"/>
            <a:r>
              <a:rPr lang="en-US" altLang="zh-CN"/>
              <a:t>If preload is not set: workers do not fork, but run themselves and open their normal connections themselves</a:t>
            </a:r>
            <a:endParaRPr lang="en-US" altLang="zh-CN"/>
          </a:p>
          <a:p>
            <a:pPr lvl="2"/>
            <a:r>
              <a:rPr lang="en-US" altLang="zh-CN"/>
              <a:t>https://github.com/psycopg/psycopg2/issues/281</a:t>
            </a:r>
            <a:endParaRPr lang="en-US" altLang="zh-CN"/>
          </a:p>
        </p:txBody>
      </p:sp>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SQLite</a:t>
            </a:r>
            <a:endParaRPr lang="en-US" altLang="zh-CN"/>
          </a:p>
        </p:txBody>
      </p:sp>
      <p:sp>
        <p:nvSpPr>
          <p:cNvPr id="3" name="内容占位符 2"/>
          <p:cNvSpPr>
            <a:spLocks noGrp="1"/>
          </p:cNvSpPr>
          <p:nvPr>
            <p:ph idx="1"/>
          </p:nvPr>
        </p:nvSpPr>
        <p:spPr/>
        <p:txBody>
          <a:bodyPr/>
          <a:p>
            <a:pPr marL="285750" indent="-285750">
              <a:buFont typeface="Arial" panose="020B0604020202020204" pitchFamily="34" charset="0"/>
              <a:buChar char="•"/>
            </a:pPr>
            <a:r>
              <a:rPr lang="en-US" altLang="zh-CN" sz="2400">
                <a:sym typeface="+mn-ea"/>
              </a:rPr>
              <a:t>sudo apt install sqlite3</a:t>
            </a:r>
            <a:endParaRPr lang="en-US" altLang="zh-CN" sz="2400"/>
          </a:p>
          <a:p>
            <a:pPr marL="285750" indent="-285750">
              <a:buFont typeface="Arial" panose="020B0604020202020204" pitchFamily="34" charset="0"/>
              <a:buChar char="•"/>
            </a:pPr>
            <a:r>
              <a:rPr lang="en-US" altLang="zh-CN" sz="2400">
                <a:sym typeface="+mn-ea"/>
              </a:rPr>
              <a:t>sqlite3</a:t>
            </a:r>
            <a:endParaRPr lang="en-US" altLang="zh-CN" sz="2400"/>
          </a:p>
          <a:p>
            <a:pPr marL="742950" lvl="1" indent="-285750">
              <a:buFont typeface="Arial" panose="020B0604020202020204" pitchFamily="34" charset="0"/>
              <a:buChar char="•"/>
            </a:pPr>
            <a:r>
              <a:rPr lang="en-US" altLang="zh-CN" sz="2400">
                <a:sym typeface="+mn-ea"/>
              </a:rPr>
              <a:t>.help</a:t>
            </a:r>
            <a:endParaRPr lang="en-US" altLang="zh-CN" sz="2400"/>
          </a:p>
          <a:p>
            <a:pPr marL="742950" lvl="1" indent="-285750">
              <a:buFont typeface="Arial" panose="020B0604020202020204" pitchFamily="34" charset="0"/>
              <a:buChar char="•"/>
            </a:pPr>
            <a:r>
              <a:rPr lang="en-US" altLang="zh-CN" sz="2400">
                <a:sym typeface="+mn-ea"/>
              </a:rPr>
              <a:t>.open {db_filename}</a:t>
            </a:r>
            <a:endParaRPr lang="en-US" altLang="zh-CN" sz="2400"/>
          </a:p>
          <a:p>
            <a:pPr marL="742950" lvl="1" indent="-285750">
              <a:buFont typeface="Arial" panose="020B0604020202020204" pitchFamily="34" charset="0"/>
              <a:buChar char="•"/>
            </a:pPr>
            <a:r>
              <a:rPr lang="en-US" altLang="zh-CN" sz="2400">
                <a:sym typeface="+mn-ea"/>
              </a:rPr>
              <a:t>.tables</a:t>
            </a:r>
            <a:endParaRPr lang="en-US" altLang="zh-CN" sz="2400"/>
          </a:p>
          <a:p>
            <a:pPr marL="742950" lvl="1" indent="-285750">
              <a:buFont typeface="Arial" panose="020B0604020202020204" pitchFamily="34" charset="0"/>
              <a:buChar char="•"/>
            </a:pPr>
            <a:r>
              <a:rPr lang="en-US" altLang="zh-CN" sz="2400">
                <a:sym typeface="+mn-ea"/>
              </a:rPr>
              <a:t>select * from {table_name};</a:t>
            </a:r>
            <a:endParaRPr lang="en-US" altLang="zh-CN" sz="2400"/>
          </a:p>
          <a:p>
            <a:pPr marL="742950" lvl="1" indent="-285750">
              <a:buFont typeface="Arial" panose="020B0604020202020204" pitchFamily="34" charset="0"/>
              <a:buChar char="•"/>
            </a:pPr>
            <a:r>
              <a:rPr lang="en-US" altLang="zh-CN" sz="2400">
                <a:sym typeface="+mn-ea"/>
              </a:rPr>
              <a:t>.quit</a:t>
            </a:r>
            <a:endParaRPr lang="zh-CN" altLang="en-US"/>
          </a:p>
        </p:txBody>
      </p:sp>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Postgresql</a:t>
            </a:r>
            <a:endParaRPr lang="en-US" altLang="zh-CN"/>
          </a:p>
        </p:txBody>
      </p:sp>
      <p:sp>
        <p:nvSpPr>
          <p:cNvPr id="3" name="内容占位符 2"/>
          <p:cNvSpPr>
            <a:spLocks noGrp="1"/>
          </p:cNvSpPr>
          <p:nvPr>
            <p:ph idx="1"/>
          </p:nvPr>
        </p:nvSpPr>
        <p:spPr>
          <a:xfrm>
            <a:off x="838200" y="1203325"/>
            <a:ext cx="6304280" cy="5033010"/>
          </a:xfrm>
        </p:spPr>
        <p:txBody>
          <a:bodyPr/>
          <a:p>
            <a:r>
              <a:rPr lang="en-US" altLang="zh-CN" sz="1800"/>
              <a:t>Prepare environment</a:t>
            </a:r>
            <a:endParaRPr lang="en-US" altLang="zh-CN" sz="1800"/>
          </a:p>
          <a:p>
            <a:pPr lvl="1"/>
            <a:r>
              <a:rPr lang="en-US" altLang="zh-CN" sz="1600"/>
              <a:t>Install packages</a:t>
            </a:r>
            <a:endParaRPr lang="en-US" altLang="zh-CN" sz="1600"/>
          </a:p>
          <a:p>
            <a:pPr lvl="2"/>
            <a:r>
              <a:rPr lang="en-US" altLang="zh-CN" sz="1400"/>
              <a:t>sudo apt-get install postgresql postgresql-contrib libpq-dev</a:t>
            </a:r>
            <a:endParaRPr lang="en-US" altLang="zh-CN" sz="1400"/>
          </a:p>
          <a:p>
            <a:pPr lvl="2"/>
            <a:r>
              <a:rPr lang="en-US" altLang="zh-CN" sz="1400"/>
              <a:t>pip install psycopg2 Flask-SQLAlchemy Flask-Migrate</a:t>
            </a:r>
            <a:endParaRPr lang="en-US" altLang="zh-CN" sz="1400"/>
          </a:p>
          <a:p>
            <a:pPr lvl="1"/>
            <a:r>
              <a:rPr lang="en-US" altLang="zh-CN" sz="1600"/>
              <a:t>Start</a:t>
            </a:r>
            <a:endParaRPr lang="en-US" altLang="zh-CN" sz="1600"/>
          </a:p>
          <a:p>
            <a:pPr lvl="2"/>
            <a:r>
              <a:rPr lang="en-US" altLang="zh-CN" sz="1400"/>
              <a:t>sudo service postgresql restart</a:t>
            </a:r>
            <a:endParaRPr lang="en-US" altLang="zh-CN" sz="1400"/>
          </a:p>
          <a:p>
            <a:pPr lvl="0"/>
            <a:r>
              <a:rPr lang="en-US" altLang="zh-CN" sz="1800"/>
              <a:t>Steps</a:t>
            </a:r>
            <a:endParaRPr lang="en-US" altLang="zh-CN" sz="1800"/>
          </a:p>
          <a:p>
            <a:pPr lvl="1"/>
            <a:r>
              <a:rPr lang="en-US" altLang="zh-CN" sz="1600"/>
              <a:t>Configure DB URI</a:t>
            </a:r>
            <a:endParaRPr lang="en-US" altLang="zh-CN" sz="1600"/>
          </a:p>
          <a:p>
            <a:pPr lvl="2"/>
            <a:r>
              <a:rPr lang="en-US" altLang="zh-CN" sz="1400"/>
              <a:t>app.config['SQLALCHEMY_DATABASE_URI'] = 'postgresql://DB_USER:PASSWORD@HOST/DATABASE'</a:t>
            </a:r>
            <a:endParaRPr lang="en-US" altLang="zh-CN" sz="1400"/>
          </a:p>
          <a:p>
            <a:pPr lvl="1"/>
            <a:r>
              <a:rPr lang="en-US" altLang="zh-CN" sz="1600"/>
              <a:t>python manage.py db init</a:t>
            </a:r>
            <a:endParaRPr lang="en-US" altLang="zh-CN" sz="1600"/>
          </a:p>
          <a:p>
            <a:pPr lvl="1"/>
            <a:r>
              <a:rPr lang="en-US" altLang="zh-CN" sz="1600">
                <a:sym typeface="+mn-ea"/>
              </a:rPr>
              <a:t>python manage.py db migrate</a:t>
            </a:r>
            <a:endParaRPr lang="en-US" altLang="zh-CN" sz="1600">
              <a:sym typeface="+mn-ea"/>
            </a:endParaRPr>
          </a:p>
          <a:p>
            <a:pPr lvl="1"/>
            <a:r>
              <a:rPr lang="en-US" altLang="zh-CN" sz="1600">
                <a:sym typeface="+mn-ea"/>
              </a:rPr>
              <a:t>python manage.py db upgrade</a:t>
            </a:r>
            <a:endParaRPr lang="en-US" altLang="zh-CN" sz="1600">
              <a:sym typeface="+mn-ea"/>
            </a:endParaRPr>
          </a:p>
          <a:p>
            <a:pPr lvl="0"/>
            <a:r>
              <a:rPr lang="en-US" altLang="zh-CN" sz="1920">
                <a:sym typeface="+mn-ea"/>
              </a:rPr>
              <a:t>Info</a:t>
            </a:r>
            <a:endParaRPr lang="en-US" altLang="zh-CN" sz="1920">
              <a:sym typeface="+mn-ea"/>
            </a:endParaRPr>
          </a:p>
          <a:p>
            <a:pPr lvl="1"/>
            <a:r>
              <a:rPr lang="en-US" altLang="zh-CN" sz="1600">
                <a:sym typeface="+mn-ea"/>
              </a:rPr>
              <a:t>data stored in /var/lib/posgresql/</a:t>
            </a:r>
            <a:endParaRPr lang="en-US" altLang="zh-CN" sz="1600">
              <a:sym typeface="+mn-ea"/>
            </a:endParaRPr>
          </a:p>
        </p:txBody>
      </p:sp>
      <p:sp>
        <p:nvSpPr>
          <p:cNvPr id="4" name="文本框 3"/>
          <p:cNvSpPr txBox="1"/>
          <p:nvPr/>
        </p:nvSpPr>
        <p:spPr>
          <a:xfrm>
            <a:off x="7762875" y="1687195"/>
            <a:ext cx="3907790" cy="4246245"/>
          </a:xfrm>
          <a:prstGeom prst="rect">
            <a:avLst/>
          </a:prstGeom>
          <a:noFill/>
          <a:ln>
            <a:solidFill>
              <a:srgbClr val="FFC000"/>
            </a:solidFill>
          </a:ln>
        </p:spPr>
        <p:txBody>
          <a:bodyPr wrap="square" rtlCol="0">
            <a:spAutoFit/>
          </a:bodyPr>
          <a:p>
            <a:r>
              <a:rPr lang="en-US" altLang="zh-CN"/>
              <a:t>sudo service postgresql restart</a:t>
            </a:r>
            <a:endParaRPr lang="en-US" altLang="zh-CN"/>
          </a:p>
          <a:p>
            <a:r>
              <a:rPr lang="en-US" altLang="zh-CN"/>
              <a:t>sudo -u postgres psql</a:t>
            </a:r>
            <a:endParaRPr lang="en-US" altLang="zh-CN"/>
          </a:p>
          <a:p>
            <a:r>
              <a:rPr lang="en-US" altLang="zh-CN"/>
              <a:t>psql -U {username} {dbname}</a:t>
            </a:r>
            <a:endParaRPr lang="en-US" altLang="zh-CN"/>
          </a:p>
          <a:p>
            <a:endParaRPr lang="en-US" altLang="zh-CN"/>
          </a:p>
          <a:p>
            <a:r>
              <a:rPr lang="en-US" altLang="zh-CN"/>
              <a:t>postgresql Commands:</a:t>
            </a:r>
            <a:endParaRPr lang="en-US" altLang="zh-CN"/>
          </a:p>
          <a:p>
            <a:r>
              <a:rPr lang="en-US" altLang="zh-CN"/>
              <a:t># \q	// quit interactive terminal</a:t>
            </a:r>
            <a:endParaRPr lang="en-US" altLang="zh-CN"/>
          </a:p>
          <a:p>
            <a:r>
              <a:rPr lang="en-US" altLang="zh-CN"/>
              <a:t># create database {dbname};</a:t>
            </a:r>
            <a:endParaRPr lang="en-US" altLang="zh-CN"/>
          </a:p>
          <a:p>
            <a:r>
              <a:rPr lang="en-US" altLang="zh-CN"/>
              <a:t># \l	// list databases</a:t>
            </a:r>
            <a:endParaRPr lang="en-US" altLang="zh-CN"/>
          </a:p>
          <a:p>
            <a:r>
              <a:rPr lang="en-US" altLang="zh-CN">
                <a:sym typeface="+mn-ea"/>
              </a:rPr>
              <a:t># \c {dbname}	// connect db</a:t>
            </a:r>
            <a:endParaRPr lang="en-US" altLang="zh-CN"/>
          </a:p>
          <a:p>
            <a:r>
              <a:rPr lang="en-US" altLang="zh-CN"/>
              <a:t># \dt	// display tables</a:t>
            </a:r>
            <a:endParaRPr lang="en-US" altLang="zh-CN"/>
          </a:p>
          <a:p>
            <a:r>
              <a:rPr lang="en-US" altLang="zh-CN"/>
              <a:t># \d {tablename}	// display columes in table</a:t>
            </a:r>
            <a:endParaRPr lang="en-US" altLang="zh-CN"/>
          </a:p>
          <a:p>
            <a:r>
              <a:rPr lang="en-US" altLang="zh-CN"/>
              <a:t># table {tablename}</a:t>
            </a:r>
            <a:endParaRPr lang="en-US" altLang="zh-CN"/>
          </a:p>
          <a:p>
            <a:r>
              <a:rPr lang="en-US" altLang="zh-CN"/>
              <a:t># select * from {tablename}</a:t>
            </a:r>
            <a:endParaRPr lang="en-US" altLang="zh-CN"/>
          </a:p>
          <a:p>
            <a:endParaRPr lang="en-US" altLang="zh-CN"/>
          </a:p>
        </p:txBody>
      </p:sp>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Postgresql &amp; Docker-compose</a:t>
            </a:r>
            <a:endParaRPr lang="en-US" altLang="zh-CN"/>
          </a:p>
        </p:txBody>
      </p:sp>
      <p:sp>
        <p:nvSpPr>
          <p:cNvPr id="3" name="内容占位符 2"/>
          <p:cNvSpPr>
            <a:spLocks noGrp="1"/>
          </p:cNvSpPr>
          <p:nvPr>
            <p:ph idx="1"/>
          </p:nvPr>
        </p:nvSpPr>
        <p:spPr>
          <a:xfrm>
            <a:off x="838200" y="1211580"/>
            <a:ext cx="7327900" cy="4549140"/>
          </a:xfrm>
        </p:spPr>
        <p:txBody>
          <a:bodyPr>
            <a:normAutofit fontScale="60000"/>
          </a:bodyPr>
          <a:p>
            <a:r>
              <a:rPr lang="en-US" altLang="zh-CN"/>
              <a:t>Steps</a:t>
            </a:r>
            <a:endParaRPr lang="en-US" altLang="zh-CN"/>
          </a:p>
          <a:p>
            <a:pPr lvl="1"/>
            <a:r>
              <a:rPr lang="en-US" altLang="zh-CN"/>
              <a:t>sudo docker-compose up -d --build	// rebuild images</a:t>
            </a:r>
            <a:endParaRPr lang="en-US" altLang="zh-CN"/>
          </a:p>
          <a:p>
            <a:pPr lvl="1"/>
            <a:r>
              <a:rPr lang="en-US" altLang="zh-CN"/>
              <a:t>sudo docker-compose exec flask-fishpano python manage.py create_db</a:t>
            </a:r>
            <a:endParaRPr lang="en-US" altLang="zh-CN"/>
          </a:p>
          <a:p>
            <a:pPr lvl="2"/>
            <a:r>
              <a:rPr lang="en-US" altLang="zh-CN"/>
              <a:t>create db</a:t>
            </a:r>
            <a:endParaRPr lang="en-US" altLang="zh-CN"/>
          </a:p>
          <a:p>
            <a:pPr lvl="1"/>
            <a:r>
              <a:rPr lang="en-US" altLang="zh-CN">
                <a:sym typeface="+mn-ea"/>
              </a:rPr>
              <a:t>docker-compose exec db psql --username=fishpano --dbname=fishpano_db</a:t>
            </a:r>
            <a:endParaRPr lang="en-US" altLang="zh-CN">
              <a:sym typeface="+mn-ea"/>
            </a:endParaRPr>
          </a:p>
          <a:p>
            <a:pPr lvl="0"/>
            <a:r>
              <a:rPr lang="en-US" altLang="zh-CN" sz="2400">
                <a:sym typeface="+mn-ea"/>
              </a:rPr>
              <a:t>Refer</a:t>
            </a:r>
            <a:endParaRPr lang="en-US" altLang="zh-CN" sz="2400"/>
          </a:p>
          <a:p>
            <a:pPr lvl="1"/>
            <a:r>
              <a:rPr lang="en-US" altLang="zh-CN">
                <a:sym typeface="+mn-ea"/>
              </a:rPr>
              <a:t>https://testdriven.io/blog/dockerizing-flask-with-postgres-gunicorn-and-nginx/</a:t>
            </a:r>
            <a:endParaRPr lang="en-US" altLang="zh-CN"/>
          </a:p>
          <a:p>
            <a:pPr lvl="1"/>
            <a:r>
              <a:rPr lang="en-US" altLang="zh-CN">
                <a:sym typeface="+mn-ea"/>
              </a:rPr>
              <a:t>https://blog.theodo.com/2017/03/developping-a-flask-web-app-with-a-postresql-database-making-all-the-possible-errors/</a:t>
            </a:r>
            <a:endParaRPr lang="en-US" altLang="zh-CN">
              <a:sym typeface="+mn-ea"/>
            </a:endParaRPr>
          </a:p>
          <a:p>
            <a:pPr lvl="1"/>
            <a:r>
              <a:rPr lang="en-US" altLang="zh-CN">
                <a:sym typeface="+mn-ea"/>
              </a:rPr>
              <a:t>https://shallowsky.com/blog/tech/web/migrate-flask-sqlite-to-postgresql.html</a:t>
            </a:r>
            <a:endParaRPr lang="en-US" altLang="zh-CN">
              <a:sym typeface="+mn-ea"/>
            </a:endParaRPr>
          </a:p>
          <a:p>
            <a:pPr lvl="1"/>
            <a:r>
              <a:rPr lang="en-US" altLang="zh-CN">
                <a:sym typeface="+mn-ea"/>
              </a:rPr>
              <a:t>https://dev.to/zchtodd_79/building-a-saas-app-beyond-the-basics-part-ii-1h90</a:t>
            </a:r>
            <a:endParaRPr lang="en-US" altLang="zh-CN">
              <a:sym typeface="+mn-ea"/>
            </a:endParaRPr>
          </a:p>
          <a:p>
            <a:pPr lvl="0"/>
            <a:r>
              <a:rPr lang="en-US" altLang="zh-CN" sz="2400">
                <a:sym typeface="+mn-ea"/>
              </a:rPr>
              <a:t>Migrate from SQLite to Postgresql</a:t>
            </a:r>
            <a:endParaRPr lang="en-US" altLang="zh-CN" sz="2400">
              <a:sym typeface="+mn-ea"/>
            </a:endParaRPr>
          </a:p>
          <a:p>
            <a:pPr lvl="1"/>
            <a:r>
              <a:rPr lang="en-US" altLang="zh-CN"/>
              <a:t>Set up postgresql docker environment</a:t>
            </a:r>
            <a:endParaRPr lang="en-US" altLang="zh-CN"/>
          </a:p>
          <a:p>
            <a:pPr lvl="1"/>
            <a:r>
              <a:rPr lang="en-US" altLang="zh-CN"/>
              <a:t>sudo docker-compose exec flask-fishpano apt install pgloader</a:t>
            </a:r>
            <a:endParaRPr lang="en-US" altLang="zh-CN"/>
          </a:p>
          <a:p>
            <a:pPr lvl="1"/>
            <a:r>
              <a:rPr lang="en-US" altLang="zh-CN"/>
              <a:t>sudo docker-compose exec flask-fishpano apt-get install libssl1.0.0</a:t>
            </a:r>
            <a:endParaRPr lang="en-US" altLang="zh-CN"/>
          </a:p>
          <a:p>
            <a:pPr lvl="1"/>
            <a:r>
              <a:rPr lang="en-US" altLang="zh-CN"/>
              <a:t>sudo docker-compose exec flask-fishpano pgloader /www/PanoTools.sqlite3 postgresql://fishpano:password@db:5432/fishpano_db</a:t>
            </a:r>
            <a:endParaRPr lang="en-US" altLang="zh-CN"/>
          </a:p>
          <a:p>
            <a:pPr lvl="1"/>
            <a:r>
              <a:rPr lang="en-US" altLang="zh-CN"/>
              <a:t>Migrate autoincrements to sequences</a:t>
            </a:r>
            <a:endParaRPr lang="en-US" altLang="zh-CN"/>
          </a:p>
        </p:txBody>
      </p:sp>
      <p:sp>
        <p:nvSpPr>
          <p:cNvPr id="4" name="文本框 3"/>
          <p:cNvSpPr txBox="1"/>
          <p:nvPr/>
        </p:nvSpPr>
        <p:spPr>
          <a:xfrm>
            <a:off x="8491855" y="1621790"/>
            <a:ext cx="2917190" cy="2030095"/>
          </a:xfrm>
          <a:prstGeom prst="rect">
            <a:avLst/>
          </a:prstGeom>
          <a:noFill/>
          <a:ln>
            <a:solidFill>
              <a:srgbClr val="C00000"/>
            </a:solidFill>
          </a:ln>
        </p:spPr>
        <p:txBody>
          <a:bodyPr wrap="square" rtlCol="0">
            <a:spAutoFit/>
          </a:bodyPr>
          <a:p>
            <a:r>
              <a:rPr lang="en-US" altLang="zh-CN" sz="1400"/>
              <a:t>* </a:t>
            </a:r>
            <a:r>
              <a:rPr lang="zh-CN" altLang="en-US" sz="1400"/>
              <a:t>CREATE SEQUENCE user_id_seq OWNED by "user".id;</a:t>
            </a:r>
            <a:endParaRPr lang="zh-CN" altLang="en-US" sz="1400"/>
          </a:p>
          <a:p>
            <a:r>
              <a:rPr lang="en-US" altLang="zh-CN" sz="1400"/>
              <a:t>* </a:t>
            </a:r>
            <a:r>
              <a:rPr lang="zh-CN" altLang="en-US" sz="1400"/>
              <a:t>ALTER TABLE "user" ALTER COLUMN id SET default nextval('user_id_seq');</a:t>
            </a:r>
            <a:endParaRPr lang="zh-CN" altLang="en-US" sz="1400"/>
          </a:p>
          <a:p>
            <a:r>
              <a:rPr lang="en-US" altLang="zh-CN" sz="1400"/>
              <a:t>* </a:t>
            </a:r>
            <a:r>
              <a:rPr lang="zh-CN" altLang="en-US" sz="1400"/>
              <a:t>SELECT setval(pg_get_serial_sequence('user', 'id'), coalesce(max(id)+1,1), false) FROM "user";</a:t>
            </a:r>
            <a:endParaRPr lang="zh-CN" altLang="en-US" sz="1400"/>
          </a:p>
        </p:txBody>
      </p:sp>
      <p:sp>
        <p:nvSpPr>
          <p:cNvPr id="5" name="文本框 4"/>
          <p:cNvSpPr txBox="1"/>
          <p:nvPr/>
        </p:nvSpPr>
        <p:spPr>
          <a:xfrm>
            <a:off x="8491855" y="3730625"/>
            <a:ext cx="2917190" cy="2891790"/>
          </a:xfrm>
          <a:prstGeom prst="rect">
            <a:avLst/>
          </a:prstGeom>
          <a:noFill/>
          <a:ln>
            <a:solidFill>
              <a:srgbClr val="C00000"/>
            </a:solidFill>
          </a:ln>
        </p:spPr>
        <p:txBody>
          <a:bodyPr wrap="square" rtlCol="0">
            <a:spAutoFit/>
          </a:bodyPr>
          <a:p>
            <a:r>
              <a:rPr sz="1400"/>
              <a:t>from flask.cli import FlaskGroup</a:t>
            </a:r>
            <a:endParaRPr sz="1400"/>
          </a:p>
          <a:p>
            <a:r>
              <a:rPr sz="1400"/>
              <a:t>from app import app, db</a:t>
            </a:r>
            <a:endParaRPr sz="1400"/>
          </a:p>
          <a:p>
            <a:endParaRPr sz="1400"/>
          </a:p>
          <a:p>
            <a:r>
              <a:rPr sz="1400"/>
              <a:t>cli = FlaskGroup(app)</a:t>
            </a:r>
            <a:endParaRPr sz="1400"/>
          </a:p>
          <a:p>
            <a:endParaRPr sz="1400"/>
          </a:p>
          <a:p>
            <a:r>
              <a:rPr sz="1400"/>
              <a:t>@cli.command('create_db')</a:t>
            </a:r>
            <a:endParaRPr sz="1400"/>
          </a:p>
          <a:p>
            <a:r>
              <a:rPr sz="1400"/>
              <a:t>def create_db():</a:t>
            </a:r>
            <a:endParaRPr sz="1400"/>
          </a:p>
          <a:p>
            <a:r>
              <a:rPr sz="1400"/>
              <a:t>    db.drop_all()</a:t>
            </a:r>
            <a:endParaRPr sz="1400"/>
          </a:p>
          <a:p>
            <a:r>
              <a:rPr sz="1400"/>
              <a:t>    db.create_all()</a:t>
            </a:r>
            <a:endParaRPr sz="1400"/>
          </a:p>
          <a:p>
            <a:r>
              <a:rPr sz="1400"/>
              <a:t>    db.session.commit()</a:t>
            </a:r>
            <a:endParaRPr sz="1400"/>
          </a:p>
          <a:p>
            <a:endParaRPr sz="1400"/>
          </a:p>
          <a:p>
            <a:r>
              <a:rPr sz="1400"/>
              <a:t>if __name__ == "__main__":</a:t>
            </a:r>
            <a:endParaRPr sz="1400"/>
          </a:p>
          <a:p>
            <a:r>
              <a:rPr sz="1400"/>
              <a:t>    cli()</a:t>
            </a:r>
            <a:endParaRPr sz="1400"/>
          </a:p>
        </p:txBody>
      </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CMS</a:t>
            </a:r>
            <a:endParaRPr lang="en-US" altLang="zh-CN"/>
          </a:p>
        </p:txBody>
      </p:sp>
      <p:sp>
        <p:nvSpPr>
          <p:cNvPr id="3" name="内容占位符 2"/>
          <p:cNvSpPr>
            <a:spLocks noGrp="1"/>
          </p:cNvSpPr>
          <p:nvPr>
            <p:ph idx="1"/>
          </p:nvPr>
        </p:nvSpPr>
        <p:spPr>
          <a:xfrm>
            <a:off x="838200" y="1211580"/>
            <a:ext cx="5469890" cy="5027930"/>
          </a:xfrm>
        </p:spPr>
        <p:txBody>
          <a:bodyPr>
            <a:normAutofit fontScale="80000"/>
          </a:bodyPr>
          <a:p>
            <a:pPr marL="457200" lvl="1" indent="0">
              <a:buNone/>
            </a:pPr>
            <a:endParaRPr lang="zh-CN" altLang="en-US"/>
          </a:p>
          <a:p>
            <a:r>
              <a:rPr lang="zh-CN" altLang="en-US" b="1"/>
              <a:t>https://github.com/TaleLin/lin-cms-flask</a:t>
            </a:r>
            <a:endParaRPr lang="zh-CN" altLang="en-US" b="1"/>
          </a:p>
          <a:p>
            <a:pPr lvl="1"/>
            <a:r>
              <a:rPr lang="en-US" altLang="zh-CN" sz="2000"/>
              <a:t>sudo docker compose up</a:t>
            </a:r>
            <a:endParaRPr lang="en-US" altLang="zh-CN" sz="2000"/>
          </a:p>
          <a:p>
            <a:pPr lvl="1"/>
            <a:r>
              <a:rPr lang="en-US" altLang="zh-CN"/>
              <a:t>env</a:t>
            </a:r>
            <a:endParaRPr lang="en-US" altLang="zh-CN"/>
          </a:p>
          <a:p>
            <a:pPr lvl="2"/>
            <a:r>
              <a:rPr lang="en-US" altLang="zh-CN"/>
              <a:t>.development.env</a:t>
            </a:r>
            <a:endParaRPr lang="en-US" altLang="zh-CN"/>
          </a:p>
          <a:p>
            <a:pPr lvl="2"/>
            <a:r>
              <a:rPr lang="en-US" altLang="zh-CN"/>
              <a:t>.production.env</a:t>
            </a:r>
            <a:endParaRPr lang="en-US" altLang="zh-CN"/>
          </a:p>
          <a:p>
            <a:pPr lvl="2"/>
            <a:r>
              <a:rPr lang="en-US" altLang="zh-CN"/>
              <a:t>.flaskenv</a:t>
            </a:r>
            <a:endParaRPr lang="en-US" altLang="zh-CN"/>
          </a:p>
          <a:p>
            <a:pPr lvl="1"/>
            <a:r>
              <a:rPr lang="en-US" altLang="zh-CN"/>
              <a:t>app/config</a:t>
            </a:r>
            <a:endParaRPr lang="en-US" altLang="zh-CN"/>
          </a:p>
          <a:p>
            <a:pPr lvl="2"/>
            <a:r>
              <a:rPr lang="en-US" altLang="zh-CN" sz="1800"/>
              <a:t>base.py</a:t>
            </a:r>
            <a:endParaRPr lang="en-US" altLang="zh-CN" sz="1800"/>
          </a:p>
          <a:p>
            <a:pPr lvl="2"/>
            <a:r>
              <a:rPr lang="en-US" altLang="zh-CN">
                <a:solidFill>
                  <a:schemeClr val="tx1"/>
                </a:solidFill>
              </a:rPr>
              <a:t>development.py</a:t>
            </a:r>
            <a:endParaRPr lang="en-US" altLang="zh-CN">
              <a:solidFill>
                <a:schemeClr val="tx1"/>
              </a:solidFill>
            </a:endParaRPr>
          </a:p>
          <a:p>
            <a:pPr lvl="2"/>
            <a:r>
              <a:rPr lang="en-US" altLang="zh-CN">
                <a:solidFill>
                  <a:schemeClr val="tx1"/>
                </a:solidFill>
              </a:rPr>
              <a:t>production.py</a:t>
            </a:r>
            <a:endParaRPr lang="en-US" altLang="zh-CN">
              <a:solidFill>
                <a:schemeClr val="tx1"/>
              </a:solidFill>
            </a:endParaRPr>
          </a:p>
          <a:p>
            <a:pPr lvl="1"/>
            <a:r>
              <a:rPr lang="en-US" altLang="zh-CN">
                <a:solidFill>
                  <a:schemeClr val="tx1"/>
                </a:solidFill>
              </a:rPr>
              <a:t>db</a:t>
            </a:r>
            <a:endParaRPr lang="en-US" altLang="zh-CN">
              <a:solidFill>
                <a:schemeClr val="tx1"/>
              </a:solidFill>
            </a:endParaRPr>
          </a:p>
          <a:p>
            <a:pPr lvl="2"/>
            <a:r>
              <a:rPr lang="en-US" altLang="zh-CN" sz="1800">
                <a:solidFill>
                  <a:schemeClr val="tx1"/>
                </a:solidFill>
              </a:rPr>
              <a:t>default: sqlite3, lincmsprod.db</a:t>
            </a:r>
            <a:endParaRPr lang="en-US" altLang="zh-CN" sz="1800">
              <a:solidFill>
                <a:schemeClr val="tx1"/>
              </a:solidFill>
            </a:endParaRPr>
          </a:p>
          <a:p>
            <a:pPr lvl="2"/>
            <a:r>
              <a:rPr lang="en-US" altLang="zh-CN" sz="1800">
                <a:solidFill>
                  <a:schemeClr val="tx1"/>
                </a:solidFill>
              </a:rPr>
              <a:t>flask db init --force</a:t>
            </a:r>
            <a:endParaRPr lang="en-US" altLang="zh-CN" sz="1800">
              <a:solidFill>
                <a:schemeClr val="tx1"/>
              </a:solidFill>
            </a:endParaRPr>
          </a:p>
          <a:p>
            <a:pPr lvl="1"/>
            <a:r>
              <a:rPr lang="en-US" altLang="zh-CN" sz="1800">
                <a:sym typeface="+mn-ea"/>
              </a:rPr>
              <a:t>permissions</a:t>
            </a:r>
            <a:endParaRPr lang="en-US" altLang="zh-CN" sz="1800"/>
          </a:p>
          <a:p>
            <a:pPr lvl="2"/>
            <a:r>
              <a:rPr lang="en-US" altLang="zh-CN" sz="1800">
                <a:sym typeface="+mn-ea"/>
              </a:rPr>
              <a:t>@login_required @group_required @admin_required</a:t>
            </a:r>
            <a:endParaRPr lang="en-US" altLang="zh-CN">
              <a:solidFill>
                <a:schemeClr val="tx1"/>
              </a:solidFill>
            </a:endParaRPr>
          </a:p>
          <a:p>
            <a:pPr lvl="2"/>
            <a:endParaRPr lang="en-US" altLang="zh-CN">
              <a:solidFill>
                <a:schemeClr val="tx1"/>
              </a:solidFill>
            </a:endParaRPr>
          </a:p>
        </p:txBody>
      </p:sp>
      <p:sp>
        <p:nvSpPr>
          <p:cNvPr id="4" name="内容占位符 2"/>
          <p:cNvSpPr>
            <a:spLocks noGrp="1"/>
          </p:cNvSpPr>
          <p:nvPr/>
        </p:nvSpPr>
        <p:spPr>
          <a:xfrm>
            <a:off x="6737350" y="1211580"/>
            <a:ext cx="5097145" cy="4549140"/>
          </a:xfrm>
          <a:prstGeom prst="rect">
            <a:avLst/>
          </a:prstGeom>
        </p:spPr>
        <p:txBody>
          <a:bodyPr vert="horz" lIns="91440" tIns="45720" rIns="91440" bIns="45720" rtlCol="0">
            <a:normAutofit fontScale="80000"/>
          </a:bodyPr>
          <a:lstStyle>
            <a:lvl1pPr marL="342900" indent="-342900" algn="l" defTabSz="914400" rtl="0" eaLnBrk="1" latinLnBrk="0" hangingPunct="1">
              <a:lnSpc>
                <a:spcPct val="90000"/>
              </a:lnSpc>
              <a:spcBef>
                <a:spcPts val="1000"/>
              </a:spcBef>
              <a:buFont typeface="黑体" panose="02010609060101010101" pitchFamily="49" charset="-122"/>
              <a:buChar char="〉"/>
              <a:defRPr sz="240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114550" indent="-28575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zh-CN" altLang="en-US"/>
          </a:p>
          <a:p>
            <a:r>
              <a:rPr lang="zh-CN" altLang="en-US"/>
              <a:t>https://github.com/jstacoder/flask-cms</a:t>
            </a:r>
            <a:endParaRPr lang="zh-CN" altLang="en-US"/>
          </a:p>
          <a:p>
            <a:pPr lvl="1"/>
            <a:r>
              <a:rPr lang="zh-CN" altLang="en-US"/>
              <a:t>sudo docker compose build</a:t>
            </a:r>
            <a:endParaRPr lang="zh-CN" altLang="en-US"/>
          </a:p>
          <a:p>
            <a:pPr lvl="2"/>
            <a:r>
              <a:rPr lang="en-US" altLang="zh-CN">
                <a:solidFill>
                  <a:srgbClr val="FF0000"/>
                </a:solidFill>
              </a:rPr>
              <a:t>error </a:t>
            </a:r>
            <a:r>
              <a:rPr lang="zh-CN" altLang="en-US"/>
              <a:t>ctx: "Context", incomplete: str</a:t>
            </a:r>
            <a:r>
              <a:rPr lang="en-US" altLang="zh-CN"/>
              <a:t> </a:t>
            </a:r>
            <a:r>
              <a:rPr lang="zh-CN" altLang="en-US"/>
              <a:t>SyntaxError: invalid syntax</a:t>
            </a:r>
            <a:endParaRPr lang="zh-CN" altLang="en-US"/>
          </a:p>
          <a:p>
            <a:r>
              <a:rPr lang="zh-CN" altLang="en-US"/>
              <a:t>https://github.com/hjlarry/flask-vue-cms</a:t>
            </a:r>
            <a:endParaRPr lang="zh-CN" altLang="en-US"/>
          </a:p>
          <a:p>
            <a:pPr lvl="1"/>
            <a:r>
              <a:rPr lang="zh-CN" altLang="en-US"/>
              <a:t>cd flask-vue-cms/dashboard_api</a:t>
            </a:r>
            <a:endParaRPr lang="zh-CN" altLang="en-US"/>
          </a:p>
          <a:p>
            <a:pPr lvl="1"/>
            <a:r>
              <a:rPr lang="zh-CN" altLang="en-US"/>
              <a:t>sudo apt install </a:t>
            </a:r>
            <a:r>
              <a:rPr lang="en-US" altLang="zh-CN"/>
              <a:t>python3.8-dev </a:t>
            </a:r>
            <a:r>
              <a:rPr lang="zh-CN" altLang="en-US"/>
              <a:t>libmysqlclient-dev</a:t>
            </a:r>
            <a:endParaRPr lang="zh-CN" altLang="en-US"/>
          </a:p>
          <a:p>
            <a:pPr lvl="1"/>
            <a:r>
              <a:rPr lang="zh-CN" altLang="en-US"/>
              <a:t>pip install -r requirements.txt</a:t>
            </a:r>
            <a:endParaRPr lang="zh-CN" altLang="en-US"/>
          </a:p>
          <a:p>
            <a:pPr lvl="1"/>
            <a:r>
              <a:rPr lang="zh-CN" altLang="en-US"/>
              <a:t>pip install --upgrade alembic </a:t>
            </a:r>
            <a:endParaRPr lang="zh-CN" altLang="en-US"/>
          </a:p>
          <a:p>
            <a:pPr lvl="1"/>
            <a:r>
              <a:rPr lang="zh-CN" altLang="en-US"/>
              <a:t>flask --debug run</a:t>
            </a:r>
            <a:endParaRPr lang="zh-CN" altLang="en-US"/>
          </a:p>
          <a:p>
            <a:pPr lvl="1"/>
            <a:r>
              <a:rPr lang="en-US" altLang="zh-CN">
                <a:solidFill>
                  <a:srgbClr val="FF0000"/>
                </a:solidFill>
              </a:rPr>
              <a:t>Fail to run</a:t>
            </a:r>
            <a:endParaRPr lang="en-US" altLang="zh-CN">
              <a:solidFill>
                <a:srgbClr val="FF0000"/>
              </a:solidFill>
            </a:endParaRPr>
          </a:p>
          <a:p>
            <a:pPr lvl="2"/>
            <a:r>
              <a:rPr lang="en-US" altLang="zh-CN">
                <a:solidFill>
                  <a:srgbClr val="FF0000"/>
                </a:solidFill>
              </a:rPr>
              <a:t>sqlalchemy.orm.exc.UnmappedClassError: Class 'builtins.list' is not mapped</a:t>
            </a:r>
            <a:endParaRPr lang="en-US" altLang="zh-CN">
              <a:solidFill>
                <a:srgbClr val="FF0000"/>
              </a:solidFill>
            </a:endParaRPr>
          </a:p>
        </p:txBody>
      </p:sp>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Shopping</a:t>
            </a:r>
            <a:endParaRPr lang="en-US" altLang="zh-CN"/>
          </a:p>
        </p:txBody>
      </p:sp>
      <p:sp>
        <p:nvSpPr>
          <p:cNvPr id="3" name="内容占位符 2"/>
          <p:cNvSpPr>
            <a:spLocks noGrp="1"/>
          </p:cNvSpPr>
          <p:nvPr>
            <p:ph idx="1"/>
          </p:nvPr>
        </p:nvSpPr>
        <p:spPr/>
        <p:txBody>
          <a:bodyPr/>
          <a:p>
            <a:r>
              <a:rPr lang="en-US" altLang="zh-CN"/>
              <a:t>OSS</a:t>
            </a:r>
            <a:endParaRPr lang="en-US" altLang="zh-CN"/>
          </a:p>
          <a:p>
            <a:pPr lvl="1"/>
            <a:r>
              <a:rPr lang="en-US" altLang="zh-CN"/>
              <a:t>https://github.com/hjlarry/flask-shop</a:t>
            </a:r>
            <a:endParaRPr lang="en-US" altLang="zh-CN"/>
          </a:p>
          <a:p>
            <a:pPr lvl="1"/>
            <a:r>
              <a:rPr lang="en-US" altLang="zh-CN"/>
              <a:t>https://github.com/Durgaprasad-Nagarkatte/Simple-Flask-Shopping-Cart</a:t>
            </a:r>
            <a:endParaRPr lang="en-US" altLang="zh-CN"/>
          </a:p>
          <a:p>
            <a:pPr lvl="1"/>
            <a:r>
              <a:rPr lang="en-US" altLang="zh-CN"/>
              <a:t>https://github.com/caongochoangvan/FashionShopApp</a:t>
            </a:r>
            <a:endParaRPr lang="en-US" altLang="zh-CN"/>
          </a:p>
          <a:p>
            <a:pPr lvl="1"/>
            <a:r>
              <a:rPr lang="en-US" altLang="zh-CN"/>
              <a:t>https://github.com/YutingYou/Flask-WeShop</a:t>
            </a:r>
            <a:endParaRPr lang="en-US" altLang="zh-CN"/>
          </a:p>
          <a:p>
            <a:pPr lvl="1"/>
            <a:r>
              <a:rPr lang="en-US" altLang="zh-CN"/>
              <a:t>https://github.com/diwash007/Flask-O-shop</a:t>
            </a:r>
            <a:endParaRPr lang="en-US" altLang="zh-CN"/>
          </a:p>
        </p:txBody>
      </p:sp>
    </p:spTree>
    <p:custDataLst>
      <p:tags r:id="rId1"/>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en-US" altLang="zh-CN"/>
              <a:t>FAQ</a:t>
            </a:r>
            <a:endParaRPr lang="en-US" altLang="zh-CN"/>
          </a:p>
        </p:txBody>
      </p:sp>
      <p:sp>
        <p:nvSpPr>
          <p:cNvPr id="5" name="文本占位符 4"/>
          <p:cNvSpPr>
            <a:spLocks noGrp="1"/>
          </p:cNvSpPr>
          <p:nvPr>
            <p:ph type="body" idx="1"/>
          </p:nvPr>
        </p:nvSpPr>
        <p:spPr/>
        <p:txBody>
          <a:bodyPr/>
          <a:p>
            <a:endParaRPr lang="zh-CN" altLang="en-US"/>
          </a:p>
        </p:txBody>
      </p:sp>
    </p:spTree>
    <p:custDataLst>
      <p:tags r:id="rId1"/>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en-US" altLang="zh-CN"/>
              <a:t>Application Context Issue</a:t>
            </a:r>
            <a:endParaRPr lang="en-US" altLang="zh-CN"/>
          </a:p>
        </p:txBody>
      </p:sp>
      <p:sp>
        <p:nvSpPr>
          <p:cNvPr id="5" name="内容占位符 4"/>
          <p:cNvSpPr>
            <a:spLocks noGrp="1"/>
          </p:cNvSpPr>
          <p:nvPr>
            <p:ph idx="1"/>
          </p:nvPr>
        </p:nvSpPr>
        <p:spPr/>
        <p:txBody>
          <a:bodyPr/>
          <a:p>
            <a:r>
              <a:rPr lang="en-US" altLang="zh-CN"/>
              <a:t>Issue</a:t>
            </a:r>
            <a:endParaRPr lang="en-US" altLang="zh-CN"/>
          </a:p>
          <a:p>
            <a:r>
              <a:rPr lang="en-US" altLang="zh-CN"/>
              <a:t>Solution</a:t>
            </a:r>
            <a:endParaRPr lang="en-US" altLang="zh-CN"/>
          </a:p>
          <a:p>
            <a:pPr lvl="1"/>
            <a:r>
              <a:rPr lang="en-US" altLang="zh-CN"/>
              <a:t>with app.app_context():</a:t>
            </a:r>
            <a:endParaRPr lang="en-US" altLang="zh-CN"/>
          </a:p>
          <a:p>
            <a:pPr lvl="0"/>
            <a:r>
              <a:rPr lang="en-US" altLang="zh-CN"/>
              <a:t>References</a:t>
            </a:r>
            <a:endParaRPr lang="en-US" altLang="zh-CN"/>
          </a:p>
          <a:p>
            <a:pPr lvl="1"/>
            <a:r>
              <a:rPr lang="en-US" altLang="zh-CN"/>
              <a:t>https://testdriven.io/blog/flask-contexts/</a:t>
            </a:r>
            <a:endParaRPr lang="en-US" altLang="zh-CN"/>
          </a:p>
        </p:txBody>
      </p:sp>
    </p:spTree>
    <p:custDataLst>
      <p:tags r:id="rId1"/>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en-US" altLang="zh-CN"/>
              <a:t>Request Context Issue</a:t>
            </a:r>
            <a:endParaRPr lang="en-US" altLang="zh-CN"/>
          </a:p>
        </p:txBody>
      </p:sp>
      <p:sp>
        <p:nvSpPr>
          <p:cNvPr id="5" name="内容占位符 4"/>
          <p:cNvSpPr>
            <a:spLocks noGrp="1"/>
          </p:cNvSpPr>
          <p:nvPr>
            <p:ph idx="1"/>
          </p:nvPr>
        </p:nvSpPr>
        <p:spPr/>
        <p:txBody>
          <a:bodyPr/>
          <a:p>
            <a:r>
              <a:rPr lang="en-US" altLang="zh-CN"/>
              <a:t>Issue</a:t>
            </a:r>
            <a:endParaRPr lang="en-US" altLang="zh-CN"/>
          </a:p>
          <a:p>
            <a:pPr lvl="1"/>
            <a:r>
              <a:rPr lang="en-US" altLang="zh-CN"/>
              <a:t> Working outside of request context.</a:t>
            </a:r>
            <a:endParaRPr lang="en-US" altLang="zh-CN"/>
          </a:p>
          <a:p>
            <a:pPr lvl="1"/>
            <a:r>
              <a:rPr lang="en-US" altLang="zh-CN"/>
              <a:t>fishai-celery-1  |</a:t>
            </a:r>
            <a:endParaRPr lang="en-US" altLang="zh-CN"/>
          </a:p>
          <a:p>
            <a:pPr lvl="1"/>
            <a:r>
              <a:rPr lang="en-US" altLang="zh-CN"/>
              <a:t>fishai-celery-1  | This typically means that you attempted to use functionality that needed</a:t>
            </a:r>
            <a:endParaRPr lang="en-US" altLang="zh-CN"/>
          </a:p>
          <a:p>
            <a:pPr lvl="1"/>
            <a:r>
              <a:rPr lang="en-US" altLang="zh-CN"/>
              <a:t>fishai-celery-1  | an active HTTP request. Consult the documentation on testing for</a:t>
            </a:r>
            <a:endParaRPr lang="en-US" altLang="zh-CN"/>
          </a:p>
          <a:p>
            <a:pPr lvl="1"/>
            <a:r>
              <a:rPr lang="en-US" altLang="zh-CN"/>
              <a:t>fishai-celery-1  | information about how to avoid this problem.</a:t>
            </a:r>
            <a:endParaRPr lang="en-US" altLang="zh-CN"/>
          </a:p>
          <a:p>
            <a:pPr lvl="0"/>
            <a:r>
              <a:rPr lang="en-US" altLang="zh-CN"/>
              <a:t>Solution</a:t>
            </a:r>
            <a:endParaRPr lang="en-US" altLang="zh-CN"/>
          </a:p>
          <a:p>
            <a:pPr lvl="1"/>
            <a:r>
              <a:rPr lang="en-US" altLang="zh-CN"/>
              <a:t>with app.test_request_context('/'):</a:t>
            </a:r>
            <a:endParaRPr lang="en-US" altLang="zh-CN"/>
          </a:p>
          <a:p>
            <a:pPr lvl="0"/>
            <a:r>
              <a:rPr lang="en-US" altLang="zh-CN"/>
              <a:t>References</a:t>
            </a:r>
            <a:endParaRPr lang="en-US" altLang="zh-CN"/>
          </a:p>
          <a:p>
            <a:pPr lvl="1"/>
            <a:r>
              <a:rPr lang="en-US" altLang="zh-CN"/>
              <a:t>https://testdriven.io/blog/flask-contexts/</a:t>
            </a:r>
            <a:endParaRPr lang="en-US" altLang="zh-CN"/>
          </a:p>
        </p:txBody>
      </p:sp>
    </p:spTree>
    <p:custDataLst>
      <p:tags r:id="rId1"/>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Issues &amp; Solutions</a:t>
            </a:r>
            <a:endParaRPr lang="en-US" altLang="zh-CN"/>
          </a:p>
        </p:txBody>
      </p:sp>
      <p:sp>
        <p:nvSpPr>
          <p:cNvPr id="3" name="内容占位符 2"/>
          <p:cNvSpPr>
            <a:spLocks noGrp="1"/>
          </p:cNvSpPr>
          <p:nvPr>
            <p:ph idx="1"/>
          </p:nvPr>
        </p:nvSpPr>
        <p:spPr>
          <a:xfrm>
            <a:off x="838200" y="1211580"/>
            <a:ext cx="5198110" cy="5040630"/>
          </a:xfrm>
        </p:spPr>
        <p:txBody>
          <a:bodyPr>
            <a:noAutofit/>
          </a:bodyPr>
          <a:p>
            <a:r>
              <a:rPr lang="en-US" altLang="zh-CN" sz="1200"/>
              <a:t>References</a:t>
            </a:r>
            <a:endParaRPr lang="en-US" altLang="zh-CN" sz="1200"/>
          </a:p>
          <a:p>
            <a:pPr lvl="1"/>
            <a:r>
              <a:rPr lang="en-US" altLang="zh-CN" sz="1000"/>
              <a:t>https://docs.sqlalchemy.org/en/14/faq/sessions.html</a:t>
            </a:r>
            <a:endParaRPr lang="en-US" altLang="zh-CN" sz="1000"/>
          </a:p>
          <a:p>
            <a:r>
              <a:rPr lang="zh-CN" altLang="en-US" sz="1200"/>
              <a:t>ImportError: cannot import name '_app_ctx_stack' from 'flask'</a:t>
            </a:r>
            <a:endParaRPr lang="zh-CN" altLang="en-US" sz="1200"/>
          </a:p>
          <a:p>
            <a:pPr lvl="1"/>
            <a:r>
              <a:rPr lang="en-US" altLang="zh-CN" sz="1000"/>
              <a:t>cause: flask version &lt; 0.42.1</a:t>
            </a:r>
            <a:endParaRPr lang="en-US" altLang="zh-CN" sz="1000"/>
          </a:p>
          <a:p>
            <a:pPr lvl="1"/>
            <a:r>
              <a:rPr lang="en-US" altLang="zh-CN" sz="1000"/>
              <a:t>solution: pip install flask==2.1.3</a:t>
            </a:r>
            <a:endParaRPr lang="en-US" altLang="zh-CN" sz="1000"/>
          </a:p>
          <a:p>
            <a:pPr lvl="0"/>
            <a:r>
              <a:rPr lang="en-US" altLang="zh-CN" sz="1200"/>
              <a:t>ImportError: cannot import name 'url_quote' from 'werkzeug.urls'</a:t>
            </a:r>
            <a:endParaRPr lang="en-US" altLang="zh-CN" sz="1200"/>
          </a:p>
          <a:p>
            <a:pPr lvl="1"/>
            <a:r>
              <a:rPr lang="en-US" altLang="zh-CN" sz="1000"/>
              <a:t>Flask==2.0.2</a:t>
            </a:r>
            <a:endParaRPr lang="en-US" altLang="zh-CN" sz="1000"/>
          </a:p>
          <a:p>
            <a:pPr lvl="1"/>
            <a:r>
              <a:rPr lang="en-US" altLang="zh-CN" sz="1000"/>
              <a:t>Werkzeug==2.2.2</a:t>
            </a:r>
            <a:endParaRPr lang="en-US" altLang="zh-CN" sz="1000"/>
          </a:p>
          <a:p>
            <a:pPr lvl="0"/>
            <a:r>
              <a:rPr lang="en-US" altLang="zh-CN" sz="1200"/>
              <a:t>413 Request Entity Too Large: The data value transmitted exceeds the capacity limit.</a:t>
            </a:r>
            <a:endParaRPr lang="en-US" altLang="zh-CN" sz="1200"/>
          </a:p>
          <a:p>
            <a:pPr lvl="1"/>
            <a:r>
              <a:rPr lang="en-US" altLang="zh-CN" sz="1000"/>
              <a:t>    from werkzeug.wrappers import Request</a:t>
            </a:r>
            <a:endParaRPr lang="en-US" altLang="zh-CN" sz="1000"/>
          </a:p>
          <a:p>
            <a:pPr lvl="1"/>
            <a:r>
              <a:rPr lang="en-US" altLang="zh-CN" sz="1000"/>
              <a:t>    app = Flask(__name__)</a:t>
            </a:r>
            <a:endParaRPr lang="en-US" altLang="zh-CN" sz="1000"/>
          </a:p>
          <a:p>
            <a:pPr lvl="1"/>
            <a:r>
              <a:rPr lang="en-US" altLang="zh-CN" sz="1000"/>
              <a:t>    Request.max_form_memory_size = 50 * 1024 * 1024 # 50 Megabytes</a:t>
            </a:r>
            <a:endParaRPr lang="en-US" altLang="zh-CN" sz="1000"/>
          </a:p>
          <a:p>
            <a:pPr lvl="1"/>
            <a:r>
              <a:rPr lang="en-US" altLang="zh-CN" sz="1000"/>
              <a:t>    Request.max_form_parts = 5000 # Increase the number of form parts</a:t>
            </a:r>
            <a:endParaRPr lang="en-US" altLang="zh-CN" sz="1000"/>
          </a:p>
          <a:p>
            <a:pPr lvl="0"/>
            <a:r>
              <a:rPr lang="en-US" altLang="zh-CN" sz="1200"/>
              <a:t>Response status_code: 422, code: None, msg: Subject must be a string</a:t>
            </a:r>
            <a:endParaRPr lang="en-US" altLang="zh-CN" sz="1200"/>
          </a:p>
          <a:p>
            <a:pPr lvl="1"/>
            <a:r>
              <a:rPr lang="en-US" altLang="zh-CN" sz="1000"/>
              <a:t>caused by jwt_required().</a:t>
            </a:r>
            <a:endParaRPr lang="en-US" altLang="zh-CN" sz="1000"/>
          </a:p>
          <a:p>
            <a:pPr lvl="1"/>
            <a:r>
              <a:rPr lang="en-US" altLang="zh-CN" sz="1000"/>
              <a:t>Error: access_token = create_access_token(identity=user.id)</a:t>
            </a:r>
            <a:endParaRPr lang="en-US" altLang="zh-CN" sz="1000"/>
          </a:p>
          <a:p>
            <a:pPr lvl="1"/>
            <a:r>
              <a:rPr lang="en-US" altLang="zh-CN" sz="1000"/>
              <a:t>Correction: access_token = create_access_token(identity=str(user.id))</a:t>
            </a:r>
            <a:endParaRPr lang="en-US" altLang="zh-CN" sz="1000"/>
          </a:p>
        </p:txBody>
      </p:sp>
      <p:sp>
        <p:nvSpPr>
          <p:cNvPr id="4" name="内容占位符 2"/>
          <p:cNvSpPr>
            <a:spLocks noGrp="1"/>
          </p:cNvSpPr>
          <p:nvPr/>
        </p:nvSpPr>
        <p:spPr>
          <a:xfrm>
            <a:off x="6546850" y="1211580"/>
            <a:ext cx="5198110" cy="5040630"/>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Font typeface="黑体" panose="02010609060101010101" pitchFamily="49" charset="-122"/>
              <a:buChar char="〉"/>
              <a:defRPr sz="240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114550" indent="-28575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400"/>
              <a:t>telegram_be_app    | 2026-01-13 05:58:04 [WARNING] app: JWT</a:t>
            </a:r>
            <a:r>
              <a:rPr lang="zh-CN" altLang="en-US" sz="1400"/>
              <a:t>令牌无效</a:t>
            </a:r>
            <a:r>
              <a:rPr lang="en-US" altLang="zh-CN" sz="1400"/>
              <a:t> - POST /api/auth/logout - </a:t>
            </a:r>
            <a:r>
              <a:rPr lang="zh-CN" altLang="en-US" sz="1400"/>
              <a:t>错误</a:t>
            </a:r>
            <a:r>
              <a:rPr lang="en-US" altLang="zh-CN" sz="1400"/>
              <a:t>: Subject must be a string</a:t>
            </a:r>
            <a:endParaRPr lang="en-US" altLang="zh-CN" sz="1400"/>
          </a:p>
          <a:p>
            <a:pPr lvl="1"/>
            <a:r>
              <a:rPr lang="en-US" altLang="zh-CN" sz="1200"/>
              <a:t>Using flask-jwt-extended, create_access_token() or create_refresh_token(), identity param MUST be string. user.id needs to be converted to string here.</a:t>
            </a:r>
            <a:endParaRPr lang="en-US" altLang="zh-CN" sz="1200"/>
          </a:p>
          <a:p>
            <a:pPr lvl="0"/>
            <a:r>
              <a:rPr lang="en-US" altLang="zh-CN" sz="1440">
                <a:sym typeface="+mn-ea"/>
              </a:rPr>
              <a:t>wsgi error</a:t>
            </a:r>
            <a:endParaRPr lang="en-US" altLang="zh-CN" sz="1440"/>
          </a:p>
          <a:p>
            <a:pPr lvl="1"/>
            <a:r>
              <a:rPr lang="en-US" altLang="zh-CN" sz="1440">
                <a:sym typeface="+mn-ea"/>
              </a:rPr>
              <a:t>Add “--preload” option to gunicorn command</a:t>
            </a:r>
            <a:endParaRPr lang="en-US" altLang="zh-CN" sz="1440"/>
          </a:p>
          <a:p>
            <a:pPr lvl="2"/>
            <a:r>
              <a:rPr lang="en-US" altLang="zh-CN" sz="1440">
                <a:sym typeface="+mn-ea"/>
              </a:rPr>
              <a:t>more error message can output</a:t>
            </a:r>
            <a:endParaRPr lang="en-US" altLang="zh-CN" sz="1440"/>
          </a:p>
        </p:txBody>
      </p:sp>
    </p:spTree>
    <p:custDataLst>
      <p:tags r:id="rId1"/>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en-US" altLang="zh-CN"/>
              <a:t>Best Practice</a:t>
            </a:r>
            <a:endParaRPr lang="en-US" altLang="zh-CN"/>
          </a:p>
        </p:txBody>
      </p:sp>
      <p:sp>
        <p:nvSpPr>
          <p:cNvPr id="5" name="文本占位符 4"/>
          <p:cNvSpPr>
            <a:spLocks noGrp="1"/>
          </p:cNvSpPr>
          <p:nvPr>
            <p:ph type="body" idx="1"/>
          </p:nvPr>
        </p:nvSpPr>
        <p:spPr/>
        <p:txBody>
          <a:bodyPr/>
          <a:p>
            <a:endParaRPr lang="zh-CN" altLang="en-US"/>
          </a:p>
        </p:txBody>
      </p:sp>
    </p:spTree>
    <p:custDataLst>
      <p:tags r:id="rId1"/>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Best Practice</a:t>
            </a:r>
            <a:endParaRPr lang="en-US" altLang="zh-CN"/>
          </a:p>
        </p:txBody>
      </p:sp>
      <p:sp>
        <p:nvSpPr>
          <p:cNvPr id="3" name="内容占位符 2"/>
          <p:cNvSpPr>
            <a:spLocks noGrp="1"/>
          </p:cNvSpPr>
          <p:nvPr>
            <p:ph idx="1"/>
          </p:nvPr>
        </p:nvSpPr>
        <p:spPr>
          <a:xfrm>
            <a:off x="838200" y="1211580"/>
            <a:ext cx="4864100" cy="4933950"/>
          </a:xfrm>
        </p:spPr>
        <p:txBody>
          <a:bodyPr>
            <a:normAutofit fontScale="60000"/>
          </a:bodyPr>
          <a:p>
            <a:r>
              <a:rPr lang="en-US" altLang="zh-CN"/>
              <a:t>General Rules</a:t>
            </a:r>
            <a:endParaRPr lang="en-US" altLang="zh-CN"/>
          </a:p>
          <a:p>
            <a:pPr lvl="1"/>
            <a:r>
              <a:rPr lang="en-US" altLang="zh-CN"/>
              <a:t>Exception Handling</a:t>
            </a:r>
            <a:endParaRPr lang="en-US" altLang="zh-CN"/>
          </a:p>
          <a:p>
            <a:pPr lvl="2"/>
            <a:r>
              <a:rPr lang="en-US" altLang="zh-CN" sz="1800"/>
              <a:t>in each API endpoint</a:t>
            </a:r>
            <a:endParaRPr lang="en-US" altLang="zh-CN" sz="1800"/>
          </a:p>
          <a:p>
            <a:pPr lvl="1"/>
            <a:r>
              <a:rPr lang="en-US" altLang="zh-CN" sz="2000"/>
              <a:t>Logs</a:t>
            </a:r>
            <a:endParaRPr lang="en-US" altLang="zh-CN" sz="2000"/>
          </a:p>
          <a:p>
            <a:pPr lvl="2"/>
            <a:r>
              <a:rPr lang="en-US" altLang="zh-CN" sz="1800"/>
              <a:t>Using logging package</a:t>
            </a:r>
            <a:endParaRPr lang="en-US" altLang="zh-CN" sz="1800"/>
          </a:p>
          <a:p>
            <a:pPr lvl="1"/>
            <a:r>
              <a:rPr lang="en-US" altLang="zh-CN"/>
              <a:t>App Hooks</a:t>
            </a:r>
            <a:endParaRPr lang="en-US" altLang="zh-CN"/>
          </a:p>
          <a:p>
            <a:pPr lvl="2"/>
            <a:r>
              <a:rPr lang="en-US" altLang="zh-CN" sz="1800"/>
              <a:t>before_request, after_request</a:t>
            </a:r>
            <a:endParaRPr lang="en-US" altLang="zh-CN"/>
          </a:p>
          <a:p>
            <a:pPr lvl="1"/>
            <a:r>
              <a:rPr lang="en-US" altLang="zh-CN"/>
              <a:t>Request Tracing</a:t>
            </a:r>
            <a:endParaRPr lang="en-US" altLang="zh-CN"/>
          </a:p>
          <a:p>
            <a:pPr lvl="2"/>
            <a:r>
              <a:rPr lang="en-US" altLang="zh-CN"/>
              <a:t>Every request gets a unique ID (X-Request-ID) that's logged and returned in responses</a:t>
            </a:r>
            <a:endParaRPr lang="en-US" altLang="zh-CN"/>
          </a:p>
          <a:p>
            <a:pPr lvl="1"/>
            <a:r>
              <a:rPr lang="en-US" altLang="zh-CN"/>
              <a:t>Performance Monitoring</a:t>
            </a:r>
            <a:endParaRPr lang="en-US" altLang="zh-CN"/>
          </a:p>
          <a:p>
            <a:pPr lvl="2"/>
            <a:r>
              <a:rPr lang="en-US" altLang="zh-CN"/>
              <a:t>Response time is tracked and logged (X-Response-Time header)</a:t>
            </a:r>
            <a:endParaRPr lang="en-US" altLang="zh-CN"/>
          </a:p>
          <a:p>
            <a:pPr lvl="1"/>
            <a:r>
              <a:rPr lang="en-US" altLang="zh-CN"/>
              <a:t>Sensitive Data Masking</a:t>
            </a:r>
            <a:endParaRPr lang="en-US" altLang="zh-CN"/>
          </a:p>
          <a:p>
            <a:pPr lvl="2"/>
            <a:r>
              <a:rPr lang="en-US" altLang="zh-CN"/>
              <a:t>Passwords, tokens, and API keys are masked in logs</a:t>
            </a:r>
            <a:endParaRPr lang="en-US" altLang="zh-CN"/>
          </a:p>
          <a:p>
            <a:pPr lvl="1"/>
            <a:r>
              <a:rPr lang="en-US" altLang="zh-CN"/>
              <a:t>Structured Error Responses</a:t>
            </a:r>
            <a:endParaRPr lang="en-US" altLang="zh-CN"/>
          </a:p>
          <a:p>
            <a:pPr lvl="2"/>
            <a:r>
              <a:rPr lang="en-US" altLang="zh-CN"/>
              <a:t>All errors follow a consistent format with success, error, message, request_id, and optional details</a:t>
            </a:r>
            <a:endParaRPr lang="en-US" altLang="zh-CN"/>
          </a:p>
          <a:p>
            <a:pPr lvl="1"/>
            <a:r>
              <a:rPr lang="en-US" altLang="zh-CN"/>
              <a:t>Database Safety</a:t>
            </a:r>
            <a:endParaRPr lang="en-US" altLang="zh-CN"/>
          </a:p>
          <a:p>
            <a:pPr lvl="2"/>
            <a:r>
              <a:rPr lang="en-US" altLang="zh-CN"/>
              <a:t>Automatic rollback on exceptions, proper session cleanup</a:t>
            </a:r>
            <a:endParaRPr lang="en-US" altLang="zh-CN"/>
          </a:p>
          <a:p>
            <a:pPr lvl="1"/>
            <a:r>
              <a:rPr lang="en-US" altLang="zh-CN"/>
              <a:t>Rate Limiting</a:t>
            </a:r>
            <a:endParaRPr lang="en-US" altLang="zh-CN"/>
          </a:p>
          <a:p>
            <a:pPr lvl="2"/>
            <a:endParaRPr lang="en-US" altLang="zh-CN"/>
          </a:p>
        </p:txBody>
      </p:sp>
      <p:sp>
        <p:nvSpPr>
          <p:cNvPr id="4" name="内容占位符 2"/>
          <p:cNvSpPr>
            <a:spLocks noGrp="1"/>
          </p:cNvSpPr>
          <p:nvPr/>
        </p:nvSpPr>
        <p:spPr>
          <a:xfrm>
            <a:off x="6489700" y="1211580"/>
            <a:ext cx="4864100" cy="4933950"/>
          </a:xfrm>
          <a:prstGeom prst="rect">
            <a:avLst/>
          </a:prstGeom>
        </p:spPr>
        <p:txBody>
          <a:bodyPr vert="horz" lIns="91440" tIns="45720" rIns="91440" bIns="45720" rtlCol="0"/>
          <a:lstStyle>
            <a:lvl1pPr marL="342900" indent="-342900" algn="l" defTabSz="914400" rtl="0" eaLnBrk="1" latinLnBrk="0" hangingPunct="1">
              <a:lnSpc>
                <a:spcPct val="90000"/>
              </a:lnSpc>
              <a:spcBef>
                <a:spcPts val="1000"/>
              </a:spcBef>
              <a:buFont typeface="黑体" panose="02010609060101010101" pitchFamily="49" charset="-122"/>
              <a:buChar char="〉"/>
              <a:defRPr sz="240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114550" indent="-28575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000"/>
              <a:t>Rules for API Endpoints</a:t>
            </a:r>
            <a:endParaRPr lang="en-US" altLang="zh-CN" sz="2000"/>
          </a:p>
          <a:p>
            <a:pPr lvl="1"/>
            <a:r>
              <a:rPr lang="en-US" altLang="zh-CN" sz="1800"/>
              <a:t>Paging</a:t>
            </a:r>
            <a:endParaRPr lang="en-US" altLang="zh-CN" sz="1800"/>
          </a:p>
          <a:p>
            <a:pPr lvl="2"/>
            <a:r>
              <a:rPr lang="en-US" altLang="zh-CN" sz="1600"/>
              <a:t>Support paging in list-fetch operations.</a:t>
            </a:r>
            <a:endParaRPr lang="en-US" altLang="zh-CN" sz="1600"/>
          </a:p>
        </p:txBody>
      </p:sp>
    </p:spTree>
    <p:custDataLst>
      <p:tags r:id="rId1"/>
    </p:custDataLst>
  </p:cSld>
  <p:clrMapOvr>
    <a:masterClrMapping/>
  </p:clrMapOvr>
</p:sld>
</file>

<file path=ppt/tags/tag1.xml><?xml version="1.0" encoding="utf-8"?>
<p:tagLst xmlns:p="http://schemas.openxmlformats.org/presentationml/2006/main">
  <p:tag name="KSO_WM_TAG_VERSION" val="1.0"/>
  <p:tag name="KSO_WM_TEMPLATE_CATEGORY" val="custom"/>
  <p:tag name="KSO_WM_TEMPLATE_INDEX" val="160402"/>
</p:tagLst>
</file>

<file path=ppt/tags/tag2.xml><?xml version="1.0" encoding="utf-8"?>
<p:tagLst xmlns:p="http://schemas.openxmlformats.org/presentationml/2006/main">
  <p:tag name="KSO_WM_TAG_VERSION" val="1.0"/>
  <p:tag name="KSO_WM_TEMPLATE_CATEGORY" val="custom"/>
  <p:tag name="KSO_WM_TEMPLATE_INDEX" val="160402"/>
</p:tagLst>
</file>

<file path=ppt/tags/tag3.xml><?xml version="1.0" encoding="utf-8"?>
<p:tagLst xmlns:p="http://schemas.openxmlformats.org/presentationml/2006/main">
  <p:tag name="KSO_WM_TEMPLATE_THUMBS_INDEX" val="1、9、12、16、19、20、24、27、28"/>
  <p:tag name="KSO_WM_TEMPLATE_CATEGORY" val="custom"/>
  <p:tag name="KSO_WM_TEMPLATE_INDEX" val="160402"/>
  <p:tag name="KSO_WM_TAG_VERSION" val="1.0"/>
  <p:tag name="KSO_WM_BEAUTIFY_FLAG" val="#wm#"/>
</p:tagLst>
</file>

<file path=ppt/tags/tag4.xml><?xml version="1.0" encoding="utf-8"?>
<p:tagLst xmlns:p="http://schemas.openxmlformats.org/presentationml/2006/main">
  <p:tag name="KSO_WM_TAG_VERSION" val="1.0"/>
  <p:tag name="KSO_WM_BEAUTIFY_FLAG" val="#wm#"/>
  <p:tag name="KSO_WM_TEMPLATE_CATEGORY" val="custom"/>
  <p:tag name="KSO_WM_TEMPLATE_INDEX" val="160402"/>
  <p:tag name="KSO_WM_UNIT_TYPE" val="a"/>
  <p:tag name="KSO_WM_UNIT_INDEX" val="1"/>
  <p:tag name="KSO_WM_UNIT_ID" val="custom160402_1*a*1"/>
  <p:tag name="KSO_WM_UNIT_CLEAR" val="1"/>
  <p:tag name="KSO_WM_UNIT_LAYERLEVEL" val="1"/>
  <p:tag name="KSO_WM_UNIT_VALUE" val="19"/>
  <p:tag name="KSO_WM_UNIT_ISCONTENTSTITLE" val="0"/>
  <p:tag name="KSO_WM_UNIT_HIGHLIGHT" val="0"/>
  <p:tag name="KSO_WM_UNIT_COMPATIBLE" val="0"/>
  <p:tag name="KSO_WM_UNIT_PRESET_TEXT_INDEX" val="3"/>
  <p:tag name="KSO_WM_UNIT_PRESET_TEXT_LEN" val="17"/>
</p:tagLst>
</file>

<file path=ppt/tags/tag5.xml><?xml version="1.0" encoding="utf-8"?>
<p:tagLst xmlns:p="http://schemas.openxmlformats.org/presentationml/2006/main">
  <p:tag name="KSO_WM_TAG_VERSION" val="1.0"/>
  <p:tag name="KSO_WM_BEAUTIFY_FLAG" val="#wm#"/>
  <p:tag name="KSO_WM_TEMPLATE_CATEGORY" val="custom"/>
  <p:tag name="KSO_WM_TEMPLATE_INDEX" val="160402"/>
  <p:tag name="KSO_WM_UNIT_TYPE" val="b"/>
  <p:tag name="KSO_WM_UNIT_INDEX" val="1"/>
  <p:tag name="KSO_WM_UNIT_ID" val="custom160402_1*b*1"/>
  <p:tag name="KSO_WM_UNIT_CLEAR" val="1"/>
  <p:tag name="KSO_WM_UNIT_LAYERLEVEL" val="1"/>
  <p:tag name="KSO_WM_UNIT_VALUE" val="35"/>
  <p:tag name="KSO_WM_UNIT_ISCONTENTSTITLE" val="0"/>
  <p:tag name="KSO_WM_UNIT_HIGHLIGHT" val="0"/>
  <p:tag name="KSO_WM_UNIT_COMPATIBLE" val="0"/>
  <p:tag name="KSO_WM_UNIT_PRESET_TEXT_INDEX" val="3"/>
  <p:tag name="KSO_WM_UNIT_PRESET_TEXT_LEN" val="17"/>
</p:tagLst>
</file>

<file path=ppt/tags/tag6.xml><?xml version="1.0" encoding="utf-8"?>
<p:tagLst xmlns:p="http://schemas.openxmlformats.org/presentationml/2006/main">
  <p:tag name="KSO_WM_TEMPLATE_THUMBS_INDEX" val="1、9、12、16、19、20、24、27、28"/>
  <p:tag name="KSO_WM_SLIDE_ID" val="custom160402_1"/>
  <p:tag name="KSO_WM_TEMPLATE_SUBCATEGORY" val="0"/>
  <p:tag name="KSO_WM_SLIDE_TYPE" val="title"/>
  <p:tag name="KSO_WM_SLIDE_SUBTYPE" val="defaultBlank"/>
  <p:tag name="KSO_WM_SLIDE_ITEM_CNT" val="2"/>
  <p:tag name="KSO_WM_SLIDE_INDEX" val="1"/>
  <p:tag name="KSO_WM_TAG_VERSION" val="1.0"/>
  <p:tag name="KSO_WM_BEAUTIFY_FLAG" val="#wm#"/>
  <p:tag name="KSO_WM_TEMPLATE_CATEGORY" val="custom"/>
  <p:tag name="KSO_WM_TEMPLATE_INDEX" val="160402"/>
  <p:tag name="KSO_WM_SLIDE_LAYOUT" val="a_b"/>
  <p:tag name="KSO_WM_SLIDE_LAYOUT_CNT" val="1_1"/>
  <p:tag name="KSO_WM_SLIDE_MODEL_TYPE" val="cover"/>
</p:tagLst>
</file>

<file path=ppt/tags/tag7.xml><?xml version="1.0" encoding="utf-8"?>
<p:tagLst xmlns:p="http://schemas.openxmlformats.org/presentationml/2006/main">
  <p:tag name="KSO_WM_BEAUTIFY_FLAG" val="#wm#"/>
  <p:tag name="KSO_WM_TEMPLATE_CATEGORY" val="custom"/>
  <p:tag name="KSO_WM_TEMPLATE_INDEX" val="160402"/>
</p:tagLst>
</file>

<file path=ppt/tags/tag8.xml><?xml version="1.0" encoding="utf-8"?>
<p:tagLst xmlns:p="http://schemas.openxmlformats.org/presentationml/2006/main">
  <p:tag name="KSO_WM_BEAUTIFY_FLAG" val="#wm#"/>
  <p:tag name="KSO_WM_TEMPLATE_CATEGORY" val="custom"/>
  <p:tag name="KSO_WM_TEMPLATE_INDEX" val="160402"/>
</p:tagLst>
</file>

<file path=ppt/tags/tag9.xml><?xml version="1.0" encoding="utf-8"?>
<p:tagLst xmlns:p="http://schemas.openxmlformats.org/presentationml/2006/main">
  <p:tag name="KSO_WM_BEAUTIFY_FLAG" val="#wm#"/>
  <p:tag name="KSO_WM_TEMPLATE_CATEGORY" val="custom"/>
  <p:tag name="KSO_WM_TEMPLATE_INDEX" val="160402"/>
</p:tagLst>
</file>

<file path=ppt/tags/tag10.xml><?xml version="1.0" encoding="utf-8"?>
<p:tagLst xmlns:p="http://schemas.openxmlformats.org/presentationml/2006/main">
  <p:tag name="KSO_WM_BEAUTIFY_FLAG" val="#wm#"/>
  <p:tag name="KSO_WM_TEMPLATE_CATEGORY" val="custom"/>
  <p:tag name="KSO_WM_TEMPLATE_INDEX" val="160402"/>
</p:tagLst>
</file>

<file path=ppt/tags/tag11.xml><?xml version="1.0" encoding="utf-8"?>
<p:tagLst xmlns:p="http://schemas.openxmlformats.org/presentationml/2006/main">
  <p:tag name="KSO_WM_BEAUTIFY_FLAG" val="#wm#"/>
  <p:tag name="KSO_WM_TEMPLATE_CATEGORY" val="custom"/>
  <p:tag name="KSO_WM_TEMPLATE_INDEX" val="160402"/>
</p:tagLst>
</file>

<file path=ppt/tags/tag12.xml><?xml version="1.0" encoding="utf-8"?>
<p:tagLst xmlns:p="http://schemas.openxmlformats.org/presentationml/2006/main">
  <p:tag name="KSO_WM_UNIT_TABLE_BEAUTIFY" val="smartTable{5a3cc7b8-1dad-4a3f-a3c4-9d25e9040f81}"/>
  <p:tag name="TABLE_ENDDRAG_ORIGIN_RECT" val="443*223"/>
  <p:tag name="TABLE_ENDDRAG_RECT" val="475*127*443*223"/>
</p:tagLst>
</file>

<file path=ppt/tags/tag13.xml><?xml version="1.0" encoding="utf-8"?>
<p:tagLst xmlns:p="http://schemas.openxmlformats.org/presentationml/2006/main">
  <p:tag name="KSO_WM_BEAUTIFY_FLAG" val="#wm#"/>
  <p:tag name="KSO_WM_TEMPLATE_CATEGORY" val="custom"/>
  <p:tag name="KSO_WM_TEMPLATE_INDEX" val="160402"/>
</p:tagLst>
</file>

<file path=ppt/tags/tag14.xml><?xml version="1.0" encoding="utf-8"?>
<p:tagLst xmlns:p="http://schemas.openxmlformats.org/presentationml/2006/main">
  <p:tag name="KSO_WM_UNIT_TABLE_BEAUTIFY" val="smartTable{9e9eaa18-dccd-4b18-bb14-9606eb1fb721}"/>
  <p:tag name="TABLE_ENDDRAG_ORIGIN_RECT" val="434*147"/>
  <p:tag name="TABLE_ENDDRAG_RECT" val="509*147*434*147"/>
</p:tagLst>
</file>

<file path=ppt/tags/tag15.xml><?xml version="1.0" encoding="utf-8"?>
<p:tagLst xmlns:p="http://schemas.openxmlformats.org/presentationml/2006/main">
  <p:tag name="KSO_WM_BEAUTIFY_FLAG" val="#wm#"/>
  <p:tag name="KSO_WM_TEMPLATE_CATEGORY" val="custom"/>
  <p:tag name="KSO_WM_TEMPLATE_INDEX" val="160402"/>
</p:tagLst>
</file>

<file path=ppt/tags/tag16.xml><?xml version="1.0" encoding="utf-8"?>
<p:tagLst xmlns:p="http://schemas.openxmlformats.org/presentationml/2006/main">
  <p:tag name="KSO_WM_BEAUTIFY_FLAG" val="#wm#"/>
  <p:tag name="KSO_WM_TEMPLATE_CATEGORY" val="custom"/>
  <p:tag name="KSO_WM_TEMPLATE_INDEX" val="160402"/>
</p:tagLst>
</file>

<file path=ppt/tags/tag17.xml><?xml version="1.0" encoding="utf-8"?>
<p:tagLst xmlns:p="http://schemas.openxmlformats.org/presentationml/2006/main">
  <p:tag name="KSO_WM_BEAUTIFY_FLAG" val="#wm#"/>
  <p:tag name="KSO_WM_TEMPLATE_CATEGORY" val="custom"/>
  <p:tag name="KSO_WM_TEMPLATE_INDEX" val="160402"/>
</p:tagLst>
</file>

<file path=ppt/tags/tag18.xml><?xml version="1.0" encoding="utf-8"?>
<p:tagLst xmlns:p="http://schemas.openxmlformats.org/presentationml/2006/main">
  <p:tag name="KSO_WM_BEAUTIFY_FLAG" val="#wm#"/>
  <p:tag name="KSO_WM_TEMPLATE_CATEGORY" val="custom"/>
  <p:tag name="KSO_WM_TEMPLATE_INDEX" val="160402"/>
</p:tagLst>
</file>

<file path=ppt/tags/tag19.xml><?xml version="1.0" encoding="utf-8"?>
<p:tagLst xmlns:p="http://schemas.openxmlformats.org/presentationml/2006/main">
  <p:tag name="KSO_WM_BEAUTIFY_FLAG" val="#wm#"/>
  <p:tag name="KSO_WM_TEMPLATE_CATEGORY" val="custom"/>
  <p:tag name="KSO_WM_TEMPLATE_INDEX" val="160402"/>
</p:tagLst>
</file>

<file path=ppt/tags/tag20.xml><?xml version="1.0" encoding="utf-8"?>
<p:tagLst xmlns:p="http://schemas.openxmlformats.org/presentationml/2006/main">
  <p:tag name="KSO_WM_BEAUTIFY_FLAG" val="#wm#"/>
  <p:tag name="KSO_WM_TEMPLATE_CATEGORY" val="custom"/>
  <p:tag name="KSO_WM_TEMPLATE_INDEX" val="160402"/>
</p:tagLst>
</file>

<file path=ppt/tags/tag21.xml><?xml version="1.0" encoding="utf-8"?>
<p:tagLst xmlns:p="http://schemas.openxmlformats.org/presentationml/2006/main">
  <p:tag name="REFSHAPE" val="492350884"/>
  <p:tag name="KSO_WM_UNIT_PLACING_PICTURE_USER_VIEWPORT" val="{&quot;height&quot;:9705,&quot;width&quot;:14070}"/>
</p:tagLst>
</file>

<file path=ppt/tags/tag22.xml><?xml version="1.0" encoding="utf-8"?>
<p:tagLst xmlns:p="http://schemas.openxmlformats.org/presentationml/2006/main">
  <p:tag name="KSO_WM_BEAUTIFY_FLAG" val="#wm#"/>
  <p:tag name="KSO_WM_TEMPLATE_CATEGORY" val="custom"/>
  <p:tag name="KSO_WM_TEMPLATE_INDEX" val="160402"/>
</p:tagLst>
</file>

<file path=ppt/tags/tag23.xml><?xml version="1.0" encoding="utf-8"?>
<p:tagLst xmlns:p="http://schemas.openxmlformats.org/presentationml/2006/main">
  <p:tag name="REFSHAPE" val="491091100"/>
  <p:tag name="KSO_WM_UNIT_PLACING_PICTURE_USER_VIEWPORT" val="{&quot;height&quot;:7035,&quot;width&quot;:14055}"/>
</p:tagLst>
</file>

<file path=ppt/tags/tag24.xml><?xml version="1.0" encoding="utf-8"?>
<p:tagLst xmlns:p="http://schemas.openxmlformats.org/presentationml/2006/main">
  <p:tag name="KSO_WM_BEAUTIFY_FLAG" val="#wm#"/>
  <p:tag name="KSO_WM_TEMPLATE_CATEGORY" val="custom"/>
  <p:tag name="KSO_WM_TEMPLATE_INDEX" val="160402"/>
</p:tagLst>
</file>

<file path=ppt/tags/tag25.xml><?xml version="1.0" encoding="utf-8"?>
<p:tagLst xmlns:p="http://schemas.openxmlformats.org/presentationml/2006/main">
  <p:tag name="KSO_WM_BEAUTIFY_FLAG" val="#wm#"/>
  <p:tag name="KSO_WM_TEMPLATE_CATEGORY" val="custom"/>
  <p:tag name="KSO_WM_TEMPLATE_INDEX" val="160402"/>
</p:tagLst>
</file>

<file path=ppt/tags/tag26.xml><?xml version="1.0" encoding="utf-8"?>
<p:tagLst xmlns:p="http://schemas.openxmlformats.org/presentationml/2006/main">
  <p:tag name="KSO_WM_BEAUTIFY_FLAG" val="#wm#"/>
  <p:tag name="KSO_WM_TEMPLATE_CATEGORY" val="custom"/>
  <p:tag name="KSO_WM_TEMPLATE_INDEX" val="160402"/>
</p:tagLst>
</file>

<file path=ppt/tags/tag27.xml><?xml version="1.0" encoding="utf-8"?>
<p:tagLst xmlns:p="http://schemas.openxmlformats.org/presentationml/2006/main">
  <p:tag name="KSO_WM_BEAUTIFY_FLAG" val="#wm#"/>
  <p:tag name="KSO_WM_TEMPLATE_CATEGORY" val="custom"/>
  <p:tag name="KSO_WM_TEMPLATE_INDEX" val="160402"/>
</p:tagLst>
</file>

<file path=ppt/tags/tag28.xml><?xml version="1.0" encoding="utf-8"?>
<p:tagLst xmlns:p="http://schemas.openxmlformats.org/presentationml/2006/main">
  <p:tag name="KSO_WM_BEAUTIFY_FLAG" val="#wm#"/>
  <p:tag name="KSO_WM_TEMPLATE_CATEGORY" val="custom"/>
  <p:tag name="KSO_WM_TEMPLATE_INDEX" val="160402"/>
</p:tagLst>
</file>

<file path=ppt/tags/tag29.xml><?xml version="1.0" encoding="utf-8"?>
<p:tagLst xmlns:p="http://schemas.openxmlformats.org/presentationml/2006/main">
  <p:tag name="KSO_WM_BEAUTIFY_FLAG" val="#wm#"/>
  <p:tag name="KSO_WM_TEMPLATE_CATEGORY" val="custom"/>
  <p:tag name="KSO_WM_TEMPLATE_INDEX" val="160402"/>
</p:tagLst>
</file>

<file path=ppt/tags/tag30.xml><?xml version="1.0" encoding="utf-8"?>
<p:tagLst xmlns:p="http://schemas.openxmlformats.org/presentationml/2006/main">
  <p:tag name="KSO_WM_BEAUTIFY_FLAG" val="#wm#"/>
  <p:tag name="KSO_WM_TEMPLATE_CATEGORY" val="custom"/>
  <p:tag name="KSO_WM_TEMPLATE_INDEX" val="160402"/>
</p:tagLst>
</file>

<file path=ppt/tags/tag31.xml><?xml version="1.0" encoding="utf-8"?>
<p:tagLst xmlns:p="http://schemas.openxmlformats.org/presentationml/2006/main">
  <p:tag name="KSO_WM_BEAUTIFY_FLAG" val="#wm#"/>
  <p:tag name="KSO_WM_TEMPLATE_CATEGORY" val="custom"/>
  <p:tag name="KSO_WM_TEMPLATE_INDEX" val="160402"/>
</p:tagLst>
</file>

<file path=ppt/tags/tag32.xml><?xml version="1.0" encoding="utf-8"?>
<p:tagLst xmlns:p="http://schemas.openxmlformats.org/presentationml/2006/main">
  <p:tag name="KSO_WM_BEAUTIFY_FLAG" val="#wm#"/>
  <p:tag name="KSO_WM_TEMPLATE_CATEGORY" val="custom"/>
  <p:tag name="KSO_WM_TEMPLATE_INDEX" val="160402"/>
</p:tagLst>
</file>

<file path=ppt/tags/tag33.xml><?xml version="1.0" encoding="utf-8"?>
<p:tagLst xmlns:p="http://schemas.openxmlformats.org/presentationml/2006/main">
  <p:tag name="KSO_WM_BEAUTIFY_FLAG" val="#wm#"/>
  <p:tag name="KSO_WM_TEMPLATE_CATEGORY" val="custom"/>
  <p:tag name="KSO_WM_TEMPLATE_INDEX" val="160402"/>
</p:tagLst>
</file>

<file path=ppt/tags/tag34.xml><?xml version="1.0" encoding="utf-8"?>
<p:tagLst xmlns:p="http://schemas.openxmlformats.org/presentationml/2006/main">
  <p:tag name="KSO_WM_BEAUTIFY_FLAG" val="#wm#"/>
  <p:tag name="KSO_WM_TEMPLATE_CATEGORY" val="custom"/>
  <p:tag name="KSO_WM_TEMPLATE_INDEX" val="160402"/>
</p:tagLst>
</file>

<file path=ppt/tags/tag35.xml><?xml version="1.0" encoding="utf-8"?>
<p:tagLst xmlns:p="http://schemas.openxmlformats.org/presentationml/2006/main">
  <p:tag name="KSO_WM_BEAUTIFY_FLAG" val="#wm#"/>
  <p:tag name="KSO_WM_TEMPLATE_CATEGORY" val="custom"/>
  <p:tag name="KSO_WM_TEMPLATE_INDEX" val="160402"/>
</p:tagLst>
</file>

<file path=ppt/tags/tag36.xml><?xml version="1.0" encoding="utf-8"?>
<p:tagLst xmlns:p="http://schemas.openxmlformats.org/presentationml/2006/main">
  <p:tag name="KSO_WM_BEAUTIFY_FLAG" val="#wm#"/>
  <p:tag name="KSO_WM_TEMPLATE_CATEGORY" val="custom"/>
  <p:tag name="KSO_WM_TEMPLATE_INDEX" val="160402"/>
</p:tagLst>
</file>

<file path=ppt/tags/tag37.xml><?xml version="1.0" encoding="utf-8"?>
<p:tagLst xmlns:p="http://schemas.openxmlformats.org/presentationml/2006/main">
  <p:tag name="KSO_WM_BEAUTIFY_FLAG" val="#wm#"/>
  <p:tag name="KSO_WM_TEMPLATE_CATEGORY" val="custom"/>
  <p:tag name="KSO_WM_TEMPLATE_INDEX" val="160402"/>
</p:tagLst>
</file>

<file path=ppt/tags/tag38.xml><?xml version="1.0" encoding="utf-8"?>
<p:tagLst xmlns:p="http://schemas.openxmlformats.org/presentationml/2006/main">
  <p:tag name="KSO_WM_BEAUTIFY_FLAG" val="#wm#"/>
  <p:tag name="KSO_WM_TEMPLATE_CATEGORY" val="custom"/>
  <p:tag name="KSO_WM_TEMPLATE_INDEX" val="160402"/>
</p:tagLst>
</file>

<file path=ppt/tags/tag39.xml><?xml version="1.0" encoding="utf-8"?>
<p:tagLst xmlns:p="http://schemas.openxmlformats.org/presentationml/2006/main">
  <p:tag name="KSO_WM_BEAUTIFY_FLAG" val="#wm#"/>
  <p:tag name="KSO_WM_TEMPLATE_CATEGORY" val="custom"/>
  <p:tag name="KSO_WM_TEMPLATE_INDEX" val="160402"/>
</p:tagLst>
</file>

<file path=ppt/tags/tag40.xml><?xml version="1.0" encoding="utf-8"?>
<p:tagLst xmlns:p="http://schemas.openxmlformats.org/presentationml/2006/main">
  <p:tag name="KSO_WM_BEAUTIFY_FLAG" val="#wm#"/>
  <p:tag name="KSO_WM_TEMPLATE_CATEGORY" val="custom"/>
  <p:tag name="KSO_WM_TEMPLATE_INDEX" val="160402"/>
</p:tagLst>
</file>

<file path=ppt/tags/tag41.xml><?xml version="1.0" encoding="utf-8"?>
<p:tagLst xmlns:p="http://schemas.openxmlformats.org/presentationml/2006/main">
  <p:tag name="KSO_WM_BEAUTIFY_FLAG" val="#wm#"/>
  <p:tag name="KSO_WM_TEMPLATE_CATEGORY" val="custom"/>
  <p:tag name="KSO_WM_TEMPLATE_INDEX" val="160402"/>
</p:tagLst>
</file>

<file path=ppt/tags/tag42.xml><?xml version="1.0" encoding="utf-8"?>
<p:tagLst xmlns:p="http://schemas.openxmlformats.org/presentationml/2006/main">
  <p:tag name="KSO_WM_BEAUTIFY_FLAG" val="#wm#"/>
  <p:tag name="KSO_WM_TEMPLATE_CATEGORY" val="custom"/>
  <p:tag name="KSO_WM_TEMPLATE_INDEX" val="160402"/>
</p:tagLst>
</file>

<file path=ppt/tags/tag43.xml><?xml version="1.0" encoding="utf-8"?>
<p:tagLst xmlns:p="http://schemas.openxmlformats.org/presentationml/2006/main">
  <p:tag name="KSO_WM_BEAUTIFY_FLAG" val="#wm#"/>
  <p:tag name="KSO_WM_TEMPLATE_CATEGORY" val="custom"/>
  <p:tag name="KSO_WM_TEMPLATE_INDEX" val="160402"/>
</p:tagLst>
</file>

<file path=ppt/tags/tag44.xml><?xml version="1.0" encoding="utf-8"?>
<p:tagLst xmlns:p="http://schemas.openxmlformats.org/presentationml/2006/main">
  <p:tag name="KSO_WM_BEAUTIFY_FLAG" val="#wm#"/>
  <p:tag name="KSO_WM_TEMPLATE_CATEGORY" val="custom"/>
  <p:tag name="KSO_WM_TEMPLATE_INDEX" val="160402"/>
</p:tagLst>
</file>

<file path=ppt/tags/tag45.xml><?xml version="1.0" encoding="utf-8"?>
<p:tagLst xmlns:p="http://schemas.openxmlformats.org/presentationml/2006/main">
  <p:tag name="KSO_WM_BEAUTIFY_FLAG" val="#wm#"/>
  <p:tag name="KSO_WM_TEMPLATE_CATEGORY" val="custom"/>
  <p:tag name="KSO_WM_TEMPLATE_INDEX" val="160402"/>
</p:tagLst>
</file>

<file path=ppt/tags/tag46.xml><?xml version="1.0" encoding="utf-8"?>
<p:tagLst xmlns:p="http://schemas.openxmlformats.org/presentationml/2006/main">
  <p:tag name="KSO_WM_BEAUTIFY_FLAG" val="#wm#"/>
  <p:tag name="KSO_WM_TEMPLATE_CATEGORY" val="custom"/>
  <p:tag name="KSO_WM_TEMPLATE_INDEX" val="160402"/>
</p:tagLst>
</file>

<file path=ppt/tags/tag47.xml><?xml version="1.0" encoding="utf-8"?>
<p:tagLst xmlns:p="http://schemas.openxmlformats.org/presentationml/2006/main">
  <p:tag name="KSO_WM_BEAUTIFY_FLAG" val="#wm#"/>
  <p:tag name="KSO_WM_TEMPLATE_CATEGORY" val="custom"/>
  <p:tag name="KSO_WM_TEMPLATE_INDEX" val="160402"/>
</p:tagLst>
</file>

<file path=ppt/tags/tag48.xml><?xml version="1.0" encoding="utf-8"?>
<p:tagLst xmlns:p="http://schemas.openxmlformats.org/presentationml/2006/main">
  <p:tag name="KSO_WM_BEAUTIFY_FLAG" val="#wm#"/>
  <p:tag name="KSO_WM_TEMPLATE_CATEGORY" val="custom"/>
  <p:tag name="KSO_WM_TEMPLATE_INDEX" val="160402"/>
</p:tagLst>
</file>

<file path=ppt/tags/tag49.xml><?xml version="1.0" encoding="utf-8"?>
<p:tagLst xmlns:p="http://schemas.openxmlformats.org/presentationml/2006/main">
  <p:tag name="KSO_WM_BEAUTIFY_FLAG" val="#wm#"/>
  <p:tag name="KSO_WM_TEMPLATE_CATEGORY" val="custom"/>
  <p:tag name="KSO_WM_TEMPLATE_INDEX" val="160402"/>
</p:tagLst>
</file>

<file path=ppt/tags/tag50.xml><?xml version="1.0" encoding="utf-8"?>
<p:tagLst xmlns:p="http://schemas.openxmlformats.org/presentationml/2006/main">
  <p:tag name="KSO_WM_BEAUTIFY_FLAG" val="#wm#"/>
  <p:tag name="KSO_WM_TEMPLATE_CATEGORY" val="custom"/>
  <p:tag name="KSO_WM_TEMPLATE_INDEX" val="160402"/>
</p:tagLst>
</file>

<file path=ppt/tags/tag51.xml><?xml version="1.0" encoding="utf-8"?>
<p:tagLst xmlns:p="http://schemas.openxmlformats.org/presentationml/2006/main">
  <p:tag name="KSO_WM_BEAUTIFY_FLAG" val="#wm#"/>
  <p:tag name="KSO_WM_TEMPLATE_CATEGORY" val="custom"/>
  <p:tag name="KSO_WM_TEMPLATE_INDEX" val="160402"/>
</p:tagLst>
</file>

<file path=ppt/tags/tag52.xml><?xml version="1.0" encoding="utf-8"?>
<p:tagLst xmlns:p="http://schemas.openxmlformats.org/presentationml/2006/main">
  <p:tag name="KSO_WM_BEAUTIFY_FLAG" val="#wm#"/>
  <p:tag name="KSO_WM_TEMPLATE_CATEGORY" val="custom"/>
  <p:tag name="KSO_WM_TEMPLATE_INDEX" val="160402"/>
</p:tagLst>
</file>

<file path=ppt/tags/tag53.xml><?xml version="1.0" encoding="utf-8"?>
<p:tagLst xmlns:p="http://schemas.openxmlformats.org/presentationml/2006/main">
  <p:tag name="KSO_WM_BEAUTIFY_FLAG" val="#wm#"/>
  <p:tag name="KSO_WM_TEMPLATE_CATEGORY" val="custom"/>
  <p:tag name="KSO_WM_TEMPLATE_INDEX" val="160402"/>
</p:tagLst>
</file>

<file path=ppt/tags/tag54.xml><?xml version="1.0" encoding="utf-8"?>
<p:tagLst xmlns:p="http://schemas.openxmlformats.org/presentationml/2006/main">
  <p:tag name="KSO_WM_BEAUTIFY_FLAG" val="#wm#"/>
  <p:tag name="KSO_WM_TEMPLATE_CATEGORY" val="custom"/>
  <p:tag name="KSO_WM_TEMPLATE_INDEX" val="160402"/>
</p:tagLst>
</file>

<file path=ppt/tags/tag55.xml><?xml version="1.0" encoding="utf-8"?>
<p:tagLst xmlns:p="http://schemas.openxmlformats.org/presentationml/2006/main">
  <p:tag name="KSO_WM_BEAUTIFY_FLAG" val="#wm#"/>
  <p:tag name="KSO_WM_TEMPLATE_CATEGORY" val="custom"/>
  <p:tag name="KSO_WM_TEMPLATE_INDEX" val="160402"/>
</p:tagLst>
</file>

<file path=ppt/tags/tag56.xml><?xml version="1.0" encoding="utf-8"?>
<p:tagLst xmlns:p="http://schemas.openxmlformats.org/presentationml/2006/main">
  <p:tag name="KSO_WM_BEAUTIFY_FLAG" val="#wm#"/>
  <p:tag name="KSO_WM_TEMPLATE_CATEGORY" val="custom"/>
  <p:tag name="KSO_WM_TEMPLATE_INDEX" val="160402"/>
</p:tagLst>
</file>

<file path=ppt/tags/tag57.xml><?xml version="1.0" encoding="utf-8"?>
<p:tagLst xmlns:p="http://schemas.openxmlformats.org/presentationml/2006/main">
  <p:tag name="KSO_WM_BEAUTIFY_FLAG" val="#wm#"/>
  <p:tag name="KSO_WM_TEMPLATE_CATEGORY" val="custom"/>
  <p:tag name="KSO_WM_TEMPLATE_INDEX" val="160402"/>
</p:tagLst>
</file>

<file path=ppt/tags/tag58.xml><?xml version="1.0" encoding="utf-8"?>
<p:tagLst xmlns:p="http://schemas.openxmlformats.org/presentationml/2006/main">
  <p:tag name="KSO_WM_UNIT_TABLE_BEAUTIFY" val="smartTable{374ed1ad-ebe7-4bed-8289-1ef287e363d7}"/>
</p:tagLst>
</file>

<file path=ppt/tags/tag59.xml><?xml version="1.0" encoding="utf-8"?>
<p:tagLst xmlns:p="http://schemas.openxmlformats.org/presentationml/2006/main">
  <p:tag name="KSO_WM_BEAUTIFY_FLAG" val="#wm#"/>
  <p:tag name="KSO_WM_TEMPLATE_CATEGORY" val="custom"/>
  <p:tag name="KSO_WM_TEMPLATE_INDEX" val="160402"/>
</p:tagLst>
</file>

<file path=ppt/tags/tag60.xml><?xml version="1.0" encoding="utf-8"?>
<p:tagLst xmlns:p="http://schemas.openxmlformats.org/presentationml/2006/main">
  <p:tag name="TABLE_ENDDRAG_ORIGIN_RECT" val="457*153"/>
  <p:tag name="TABLE_ENDDRAG_RECT" val="480*95*457*153"/>
</p:tagLst>
</file>

<file path=ppt/tags/tag61.xml><?xml version="1.0" encoding="utf-8"?>
<p:tagLst xmlns:p="http://schemas.openxmlformats.org/presentationml/2006/main">
  <p:tag name="TABLE_ENDDRAG_ORIGIN_RECT" val="457*142"/>
  <p:tag name="TABLE_ENDDRAG_RECT" val="480*310*457*142"/>
  <p:tag name="KSO_WM_BEAUTIFY_FLAG" val=""/>
</p:tagLst>
</file>

<file path=ppt/tags/tag62.xml><?xml version="1.0" encoding="utf-8"?>
<p:tagLst xmlns:p="http://schemas.openxmlformats.org/presentationml/2006/main">
  <p:tag name="KSO_WM_BEAUTIFY_FLAG" val="#wm#"/>
  <p:tag name="KSO_WM_TEMPLATE_CATEGORY" val="custom"/>
  <p:tag name="KSO_WM_TEMPLATE_INDEX" val="160402"/>
</p:tagLst>
</file>

<file path=ppt/tags/tag63.xml><?xml version="1.0" encoding="utf-8"?>
<p:tagLst xmlns:p="http://schemas.openxmlformats.org/presentationml/2006/main">
  <p:tag name="KSO_WM_BEAUTIFY_FLAG" val="#wm#"/>
  <p:tag name="KSO_WM_TEMPLATE_CATEGORY" val="custom"/>
  <p:tag name="KSO_WM_TEMPLATE_INDEX" val="160402"/>
</p:tagLst>
</file>

<file path=ppt/tags/tag64.xml><?xml version="1.0" encoding="utf-8"?>
<p:tagLst xmlns:p="http://schemas.openxmlformats.org/presentationml/2006/main">
  <p:tag name="KSO_WM_BEAUTIFY_FLAG" val="#wm#"/>
  <p:tag name="KSO_WM_TEMPLATE_CATEGORY" val="custom"/>
  <p:tag name="KSO_WM_TEMPLATE_INDEX" val="160402"/>
</p:tagLst>
</file>

<file path=ppt/tags/tag65.xml><?xml version="1.0" encoding="utf-8"?>
<p:tagLst xmlns:p="http://schemas.openxmlformats.org/presentationml/2006/main">
  <p:tag name="KSO_WM_BEAUTIFY_FLAG" val="#wm#"/>
  <p:tag name="KSO_WM_TEMPLATE_CATEGORY" val="custom"/>
  <p:tag name="KSO_WM_TEMPLATE_INDEX" val="160402"/>
</p:tagLst>
</file>

<file path=ppt/tags/tag66.xml><?xml version="1.0" encoding="utf-8"?>
<p:tagLst xmlns:p="http://schemas.openxmlformats.org/presentationml/2006/main">
  <p:tag name="KSO_WM_BEAUTIFY_FLAG" val="#wm#"/>
  <p:tag name="KSO_WM_TEMPLATE_CATEGORY" val="custom"/>
  <p:tag name="KSO_WM_TEMPLATE_INDEX" val="160402"/>
</p:tagLst>
</file>

<file path=ppt/tags/tag67.xml><?xml version="1.0" encoding="utf-8"?>
<p:tagLst xmlns:p="http://schemas.openxmlformats.org/presentationml/2006/main">
  <p:tag name="KSO_WM_BEAUTIFY_FLAG" val="#wm#"/>
  <p:tag name="KSO_WM_TEMPLATE_CATEGORY" val="custom"/>
  <p:tag name="KSO_WM_TEMPLATE_INDEX" val="160402"/>
</p:tagLst>
</file>

<file path=ppt/tags/tag68.xml><?xml version="1.0" encoding="utf-8"?>
<p:tagLst xmlns:p="http://schemas.openxmlformats.org/presentationml/2006/main">
  <p:tag name="KSO_WM_BEAUTIFY_FLAG" val="#wm#"/>
  <p:tag name="KSO_WM_TEMPLATE_CATEGORY" val="custom"/>
  <p:tag name="KSO_WM_TEMPLATE_INDEX" val="160402"/>
</p:tagLst>
</file>

<file path=ppt/tags/tag69.xml><?xml version="1.0" encoding="utf-8"?>
<p:tagLst xmlns:p="http://schemas.openxmlformats.org/presentationml/2006/main">
  <p:tag name="KSO_WM_BEAUTIFY_FLAG" val="#wm#"/>
  <p:tag name="KSO_WM_TEMPLATE_CATEGORY" val="custom"/>
  <p:tag name="KSO_WM_TEMPLATE_INDEX" val="160402"/>
</p:tagLst>
</file>

<file path=ppt/tags/tag70.xml><?xml version="1.0" encoding="utf-8"?>
<p:tagLst xmlns:p="http://schemas.openxmlformats.org/presentationml/2006/main">
  <p:tag name="KSO_WM_BEAUTIFY_FLAG" val="#wm#"/>
  <p:tag name="KSO_WM_TEMPLATE_CATEGORY" val="custom"/>
  <p:tag name="KSO_WM_TEMPLATE_INDEX" val="160402"/>
</p:tagLst>
</file>

<file path=ppt/tags/tag71.xml><?xml version="1.0" encoding="utf-8"?>
<p:tagLst xmlns:p="http://schemas.openxmlformats.org/presentationml/2006/main">
  <p:tag name="KSO_WM_BEAUTIFY_FLAG" val="#wm#"/>
  <p:tag name="KSO_WM_TEMPLATE_CATEGORY" val="custom"/>
  <p:tag name="KSO_WM_TEMPLATE_INDEX" val="160402"/>
</p:tagLst>
</file>

<file path=ppt/tags/tag72.xml><?xml version="1.0" encoding="utf-8"?>
<p:tagLst xmlns:p="http://schemas.openxmlformats.org/presentationml/2006/main">
  <p:tag name="KSO_WM_BEAUTIFY_FLAG" val="#wm#"/>
  <p:tag name="KSO_WM_TEMPLATE_CATEGORY" val="custom"/>
  <p:tag name="KSO_WM_TEMPLATE_INDEX" val="160402"/>
</p:tagLst>
</file>

<file path=ppt/tags/tag73.xml><?xml version="1.0" encoding="utf-8"?>
<p:tagLst xmlns:p="http://schemas.openxmlformats.org/presentationml/2006/main">
  <p:tag name="KSO_WM_BEAUTIFY_FLAG" val="#wm#"/>
  <p:tag name="KSO_WM_TEMPLATE_CATEGORY" val="custom"/>
  <p:tag name="KSO_WM_TEMPLATE_INDEX" val="160402"/>
</p:tagLst>
</file>

<file path=ppt/tags/tag74.xml><?xml version="1.0" encoding="utf-8"?>
<p:tagLst xmlns:p="http://schemas.openxmlformats.org/presentationml/2006/main">
  <p:tag name="KSO_WM_BEAUTIFY_FLAG" val="#wm#"/>
  <p:tag name="KSO_WM_TEMPLATE_CATEGORY" val="custom"/>
  <p:tag name="KSO_WM_TEMPLATE_INDEX" val="160402"/>
</p:tagLst>
</file>

<file path=ppt/tags/tag75.xml><?xml version="1.0" encoding="utf-8"?>
<p:tagLst xmlns:p="http://schemas.openxmlformats.org/presentationml/2006/main">
  <p:tag name="KSO_WM_BEAUTIFY_FLAG" val="#wm#"/>
  <p:tag name="KSO_WM_TEMPLATE_CATEGORY" val="custom"/>
  <p:tag name="KSO_WM_TEMPLATE_INDEX" val="160402"/>
</p:tagLst>
</file>

<file path=ppt/tags/tag76.xml><?xml version="1.0" encoding="utf-8"?>
<p:tagLst xmlns:p="http://schemas.openxmlformats.org/presentationml/2006/main">
  <p:tag name="COMMONDATA" val="eyJoZGlkIjoiYjRhZjQ5NWVmZmQxNmM3NmNkNDYxNWRmNzNmMjA1ZDAifQ=="/>
  <p:tag name="KSO_WPP_MARK_KEY" val="e9a546bb-c7d6-43e7-bf66-f54869cf80fb"/>
</p:tagLst>
</file>

<file path=ppt/theme/theme1.xml><?xml version="1.0" encoding="utf-8"?>
<a:theme xmlns:a="http://schemas.openxmlformats.org/drawingml/2006/main" name="1_A000120140530A02PPBG">
  <a:themeElements>
    <a:clrScheme name="160114.114">
      <a:dk1>
        <a:srgbClr val="47494B"/>
      </a:dk1>
      <a:lt1>
        <a:srgbClr val="FFFFFF"/>
      </a:lt1>
      <a:dk2>
        <a:srgbClr val="454749"/>
      </a:dk2>
      <a:lt2>
        <a:srgbClr val="FFFFFF"/>
      </a:lt2>
      <a:accent1>
        <a:srgbClr val="358CC1"/>
      </a:accent1>
      <a:accent2>
        <a:srgbClr val="2D9C9F"/>
      </a:accent2>
      <a:accent3>
        <a:srgbClr val="A4C37B"/>
      </a:accent3>
      <a:accent4>
        <a:srgbClr val="9D9394"/>
      </a:accent4>
      <a:accent5>
        <a:srgbClr val="84ADE4"/>
      </a:accent5>
      <a:accent6>
        <a:srgbClr val="FFC000"/>
      </a:accent6>
      <a:hlink>
        <a:srgbClr val="00B0F0"/>
      </a:hlink>
      <a:folHlink>
        <a:srgbClr val="AFB2B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31050</Words>
  <Application>WPS 演示</Application>
  <PresentationFormat>宽屏</PresentationFormat>
  <Paragraphs>1293</Paragraphs>
  <Slides>63</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63</vt:i4>
      </vt:variant>
    </vt:vector>
  </HeadingPairs>
  <TitlesOfParts>
    <vt:vector size="70" baseType="lpstr">
      <vt:lpstr>Arial</vt:lpstr>
      <vt:lpstr>宋体</vt:lpstr>
      <vt:lpstr>Wingdings</vt:lpstr>
      <vt:lpstr>黑体</vt:lpstr>
      <vt:lpstr>微软雅黑</vt:lpstr>
      <vt:lpstr>Arial Unicode MS</vt:lpstr>
      <vt:lpstr>1_A000120140530A02PPBG</vt:lpstr>
      <vt:lpstr>Flask Notes</vt:lpstr>
      <vt:lpstr>Topics</vt:lpstr>
      <vt:lpstr>Basic</vt:lpstr>
      <vt:lpstr>Intro</vt:lpstr>
      <vt:lpstr>Tech Stack</vt:lpstr>
      <vt:lpstr>Basic</vt:lpstr>
      <vt:lpstr>App Configuration</vt:lpstr>
      <vt:lpstr>Request</vt:lpstr>
      <vt:lpstr>Response</vt:lpstr>
      <vt:lpstr>Session</vt:lpstr>
      <vt:lpstr>Render Template</vt:lpstr>
      <vt:lpstr>Misc Functions</vt:lpstr>
      <vt:lpstr>Web Forms</vt:lpstr>
      <vt:lpstr>Deploy</vt:lpstr>
      <vt:lpstr>Deploy (Docker)</vt:lpstr>
      <vt:lpstr>Deploy (Docker 2)</vt:lpstr>
      <vt:lpstr>Static Files</vt:lpstr>
      <vt:lpstr>Media</vt:lpstr>
      <vt:lpstr>Redis</vt:lpstr>
      <vt:lpstr>Blueprint</vt:lpstr>
      <vt:lpstr>Cli</vt:lpstr>
      <vt:lpstr>Cache</vt:lpstr>
      <vt:lpstr>Authentication - Concepts</vt:lpstr>
      <vt:lpstr>Authentication - Werkzeug</vt:lpstr>
      <vt:lpstr>Authentication - Flask-JWT-Extended</vt:lpstr>
      <vt:lpstr>Authentication - Sliding Token Refresh</vt:lpstr>
      <vt:lpstr>Authentication - flask_login</vt:lpstr>
      <vt:lpstr>Wechat Pay</vt:lpstr>
      <vt:lpstr>Upload Files</vt:lpstr>
      <vt:lpstr>CORS</vt:lpstr>
      <vt:lpstr>Full Text Search</vt:lpstr>
      <vt:lpstr>Scheduler</vt:lpstr>
      <vt:lpstr>Flask Cli</vt:lpstr>
      <vt:lpstr>Mail</vt:lpstr>
      <vt:lpstr>SMS</vt:lpstr>
      <vt:lpstr>Password Handling</vt:lpstr>
      <vt:lpstr>Others</vt:lpstr>
      <vt:lpstr>Performance</vt:lpstr>
      <vt:lpstr>Hooks</vt:lpstr>
      <vt:lpstr>Task Queue</vt:lpstr>
      <vt:lpstr>Celery - Intro</vt:lpstr>
      <vt:lpstr>Celery - Concept</vt:lpstr>
      <vt:lpstr>Celery CLI</vt:lpstr>
      <vt:lpstr>Celery - Impl 2</vt:lpstr>
      <vt:lpstr>Celery - Monitoring</vt:lpstr>
      <vt:lpstr>DB</vt:lpstr>
      <vt:lpstr>Overview</vt:lpstr>
      <vt:lpstr>Init</vt:lpstr>
      <vt:lpstr>Add/Delete/Update</vt:lpstr>
      <vt:lpstr>Query</vt:lpstr>
      <vt:lpstr>Migrate</vt:lpstr>
      <vt:lpstr>Pitfalls</vt:lpstr>
      <vt:lpstr>SQLite</vt:lpstr>
      <vt:lpstr>Postgresql</vt:lpstr>
      <vt:lpstr>Postgresql &amp; Docker-compose</vt:lpstr>
      <vt:lpstr>CMS</vt:lpstr>
      <vt:lpstr>Shopping</vt:lpstr>
      <vt:lpstr>FAQ</vt:lpstr>
      <vt:lpstr>Application Context Issue</vt:lpstr>
      <vt:lpstr>Request Context Issue</vt:lpstr>
      <vt:lpstr>Issues &amp; Solutions</vt:lpstr>
      <vt:lpstr>Best Practice</vt:lpstr>
      <vt:lpstr>Best Practice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VhuanTech</cp:lastModifiedBy>
  <cp:revision>853</cp:revision>
  <dcterms:created xsi:type="dcterms:W3CDTF">2019-06-19T02:08:00Z</dcterms:created>
  <dcterms:modified xsi:type="dcterms:W3CDTF">2026-04-10T04:56:00Z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4C2FCB5610E5434E9A2BA7717263E037</vt:lpwstr>
  </property>
</Properties>
</file>